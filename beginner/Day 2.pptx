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Lst>
  <p:sldSz cy="5143500" cx="9144000"/>
  <p:notesSz cx="6858000" cy="9144000"/>
  <p:embeddedFontLst>
    <p:embeddedFont>
      <p:font typeface="Raleway"/>
      <p:regular r:id="rId97"/>
      <p:bold r:id="rId98"/>
      <p:italic r:id="rId99"/>
      <p:boldItalic r:id="rId100"/>
    </p:embeddedFont>
    <p:embeddedFont>
      <p:font typeface="Inter Light"/>
      <p:regular r:id="rId101"/>
      <p:bold r:id="rId102"/>
      <p:italic r:id="rId103"/>
      <p:boldItalic r:id="rId104"/>
    </p:embeddedFont>
    <p:embeddedFont>
      <p:font typeface="Nunito"/>
      <p:regular r:id="rId105"/>
      <p:bold r:id="rId106"/>
      <p:italic r:id="rId107"/>
      <p:boldItalic r:id="rId108"/>
    </p:embeddedFont>
    <p:embeddedFont>
      <p:font typeface="Quattrocento Sans"/>
      <p:regular r:id="rId109"/>
      <p:bold r:id="rId110"/>
      <p:italic r:id="rId111"/>
      <p:boldItalic r:id="rId112"/>
    </p:embeddedFont>
    <p:embeddedFont>
      <p:font typeface="Century Gothic"/>
      <p:regular r:id="rId113"/>
      <p:bold r:id="rId114"/>
      <p:italic r:id="rId115"/>
      <p:boldItalic r:id="rId1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0C029A5-F50C-4C77-A6D6-2CE4461C021A}">
  <a:tblStyle styleId="{10C029A5-F50C-4C77-A6D6-2CE4461C021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font" Target="fonts/Nunito-italic.fntdata"/><Relationship Id="rId106" Type="http://schemas.openxmlformats.org/officeDocument/2006/relationships/font" Target="fonts/Nunito-bold.fntdata"/><Relationship Id="rId105" Type="http://schemas.openxmlformats.org/officeDocument/2006/relationships/font" Target="fonts/Nunito-regular.fntdata"/><Relationship Id="rId104" Type="http://schemas.openxmlformats.org/officeDocument/2006/relationships/font" Target="fonts/InterLight-boldItalic.fntdata"/><Relationship Id="rId109" Type="http://schemas.openxmlformats.org/officeDocument/2006/relationships/font" Target="fonts/QuattrocentoSans-regular.fntdata"/><Relationship Id="rId108" Type="http://schemas.openxmlformats.org/officeDocument/2006/relationships/font" Target="fonts/Nunito-boldItalic.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font" Target="fonts/InterLight-italic.fntdata"/><Relationship Id="rId102" Type="http://schemas.openxmlformats.org/officeDocument/2006/relationships/font" Target="fonts/InterLight-bold.fntdata"/><Relationship Id="rId101" Type="http://schemas.openxmlformats.org/officeDocument/2006/relationships/font" Target="fonts/InterLight-regular.fntdata"/><Relationship Id="rId100" Type="http://schemas.openxmlformats.org/officeDocument/2006/relationships/font" Target="fonts/Raleway-bold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font" Target="fonts/Raleway-regular.fntdata"/><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font" Target="fonts/Raleway-italic.fntdata"/><Relationship Id="rId10" Type="http://schemas.openxmlformats.org/officeDocument/2006/relationships/slide" Target="slides/slide3.xml"/><Relationship Id="rId98" Type="http://schemas.openxmlformats.org/officeDocument/2006/relationships/font" Target="fonts/Raleway-bold.fntdata"/><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6" Type="http://schemas.openxmlformats.org/officeDocument/2006/relationships/font" Target="fonts/CenturyGothic-boldItalic.fntdata"/><Relationship Id="rId115" Type="http://schemas.openxmlformats.org/officeDocument/2006/relationships/font" Target="fonts/CenturyGothic-italic.fntdata"/><Relationship Id="rId15" Type="http://schemas.openxmlformats.org/officeDocument/2006/relationships/slide" Target="slides/slide8.xml"/><Relationship Id="rId110" Type="http://schemas.openxmlformats.org/officeDocument/2006/relationships/font" Target="fonts/QuattrocentoSans-bold.fntdata"/><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font" Target="fonts/CenturyGothic-bold.fntdata"/><Relationship Id="rId18" Type="http://schemas.openxmlformats.org/officeDocument/2006/relationships/slide" Target="slides/slide11.xml"/><Relationship Id="rId113" Type="http://schemas.openxmlformats.org/officeDocument/2006/relationships/font" Target="fonts/CenturyGothic-regular.fntdata"/><Relationship Id="rId112" Type="http://schemas.openxmlformats.org/officeDocument/2006/relationships/font" Target="fonts/QuattrocentoSans-boldItalic.fntdata"/><Relationship Id="rId111" Type="http://schemas.openxmlformats.org/officeDocument/2006/relationships/font" Target="fonts/QuattrocentoSans-italic.fntdata"/><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594a4dc68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594a4dc68a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594a4dc68a_0_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c4affc7411_4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c4affc7411_4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cd2bba0f8f_1_17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g3cd2bba0f8f_1_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4cee2660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205" name="Google Shape;205;g3c4cee2660b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c4cee266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214" name="Google Shape;214;g3c4cee2660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cd2bba0f8f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222" name="Google Shape;222;g3cd2bba0f8f_1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cd2bba0f8f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229" name="Google Shape;229;g3cd2bba0f8f_1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cd2bba0f8f_1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236" name="Google Shape;236;g3cd2bba0f8f_1_2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cd2bba0f8f_1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243" name="Google Shape;243;g3cd2bba0f8f_1_2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cd2bba0f8f_1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253" name="Google Shape;253;g3cd2bba0f8f_1_2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cd2bba0f8f_1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260" name="Google Shape;260;g3cd2bba0f8f_1_2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cd2bba0f8f_1_44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g3cd2bba0f8f_1_4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cd2bba0f8f_1_45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g3cd2bba0f8f_1_4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cd2bba0f8f_1_457: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g3cd2bba0f8f_1_4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cd2bba0f8f_1_463: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g3cd2bba0f8f_1_4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cd2bba0f8f_1_47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0" name="Google Shape;300;g3cd2bba0f8f_1_4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cd2bba0f8f_1_47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8" name="Google Shape;308;g3cd2bba0f8f_1_4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cd2bba0f8f_1_48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g3cd2bba0f8f_1_4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cd2bba0f8f_1_488: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3cd2bba0f8f_1_4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cd2bba0f8f_1_494: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2" name="Google Shape;332;g3cd2bba0f8f_1_4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cd2bba0f8f_1_50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0" name="Google Shape;340;g3cd2bba0f8f_1_5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cd2bba0f8f_1_50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g3cd2bba0f8f_1_5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cd2bba0f8f_1_51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6" name="Google Shape;356;g3cd2bba0f8f_1_5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c4cee2660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g3c4cee2660b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cd2bba0f8f_1_22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4" name="Google Shape;374;g3cd2bba0f8f_1_2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cd2bba0f8f_1_22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1" name="Google Shape;381;g3cd2bba0f8f_1_2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c4affc7411_1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399" name="Google Shape;399;g3c4affc7411_1_5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cd2bba0f8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407" name="Google Shape;407;g3cd2bba0f8f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cd2bba0f8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416" name="Google Shape;416;g3cd2bba0f8f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c4affc7411_1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425" name="Google Shape;425;g3c4affc7411_1_5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cd2bba0f8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433" name="Google Shape;433;g3cd2bba0f8f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cd2bba0f8f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441" name="Google Shape;441;g3cd2bba0f8f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cd2bba0f8f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450" name="Google Shape;450;g3cd2bba0f8f_1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cd323b3586_0_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8" name="Google Shape;458;g3cd323b3586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cd323b3586_0_8: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6" name="Google Shape;466;g3cd323b3586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cd323b3586_0_2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1" name="Google Shape;481;g3cd323b3586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c4cee2660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g3c4cee2660b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cd2bba0f8f_1_25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4" name="Google Shape;504;g3cd2bba0f8f_1_2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cd2bba0f8f_1_264: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1" name="Google Shape;511;g3cd2bba0f8f_1_2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c51614b56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526" name="Google Shape;526;g3c51614b564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c51614b56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533" name="Google Shape;533;g3c51614b564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c51614b564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541" name="Google Shape;541;g3c51614b564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c51614b564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549" name="Google Shape;549;g3c51614b564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c51614b564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557" name="Google Shape;557;g3c51614b564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c51614b5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g3c51614b56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c51614b564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576" name="Google Shape;576;g3c51614b564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c51614b564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584" name="Google Shape;584;g3c51614b564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c51614b564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591" name="Google Shape;591;g3c51614b564_0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c51614b564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598" name="Google Shape;598;g3c51614b564_0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c51614b564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05" name="Google Shape;605;g3c51614b564_0_1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c51614b564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12" name="Google Shape;612;g3c51614b564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c51614b564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19" name="Google Shape;619;g3c51614b564_0_1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c51614b564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26" name="Google Shape;626;g3c51614b564_0_1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c51614b564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33" name="Google Shape;633;g3c51614b564_0_1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c51614b564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45" name="Google Shape;645;g3c51614b564_0_1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c51614b564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57" name="Google Shape;657;g3c51614b564_0_1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c51614b564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64" name="Google Shape;664;g3c51614b564_0_1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c51614b564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71" name="Google Shape;671;g3c51614b564_0_1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cd2bba0f8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79" name="Google Shape;679;g3cd2bba0f8f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c51614b56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g3c51614b564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cd2bba0f8f_1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98" name="Google Shape;698;g3cd2bba0f8f_1_5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cd2bba0f8f_1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05" name="Google Shape;705;g3cd2bba0f8f_1_5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cd2bba0f8f_1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14" name="Google Shape;714;g3cd2bba0f8f_1_5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cd2bba0f8f_1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23" name="Google Shape;723;g3cd2bba0f8f_1_5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cd2bba0f8f_1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31" name="Google Shape;731;g3cd2bba0f8f_1_5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cd2bba0f8f_1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39" name="Google Shape;739;g3cd2bba0f8f_1_5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cd2bba0f8f_1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46" name="Google Shape;746;g3cd2bba0f8f_1_5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cd2bba0f8f_1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53" name="Google Shape;753;g3cd2bba0f8f_1_5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cd2bba0f8f_1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61" name="Google Shape;761;g3cd2bba0f8f_1_6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cd2bba0f8f_1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70" name="Google Shape;770;g3cd2bba0f8f_1_6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c51614b56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g3c51614b564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cd2bba0f8f_1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90" name="Google Shape;790;g3cd2bba0f8f_1_6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cd2bba0f8f_1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98" name="Google Shape;798;g3cd2bba0f8f_1_6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cd2bba0f8f_1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05" name="Google Shape;805;g3cd2bba0f8f_1_6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3cd2bba0f8f_1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12" name="Google Shape;812;g3cd2bba0f8f_1_6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cd2bba0f8f_1_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19" name="Google Shape;819;g3cd2bba0f8f_1_6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cd2bba0f8f_1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27" name="Google Shape;827;g3cd2bba0f8f_1_6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cd2bba0f8f_1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34" name="Google Shape;834;g3cd2bba0f8f_1_6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cd2bba0f8f_1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41" name="Google Shape;841;g3cd2bba0f8f_1_7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cd2bba0f8f_1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48" name="Google Shape;848;g3cd2bba0f8f_1_7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cd2bba0f8f_1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55" name="Google Shape;855;g3cd2bba0f8f_1_7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3cd2bba0f8f_1_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63" name="Google Shape;863;g3cd2bba0f8f_1_7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cd2bba0f8f_1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70" name="Google Shape;870;g3cd2bba0f8f_1_7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cd2bba0f8f_1_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77" name="Google Shape;877;g3cd2bba0f8f_1_7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cd2bba0f8f_1_7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85" name="Google Shape;885;g3cd2bba0f8f_1_7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cd2bba0f8f_1_7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93" name="Google Shape;893;g3cd2bba0f8f_1_7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cd2bba0f8f_1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901" name="Google Shape;901;g3cd2bba0f8f_1_7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5b164f5962_0_8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1200"/>
              </a:spcAft>
              <a:buNone/>
            </a:pPr>
            <a:r>
              <a:t/>
            </a:r>
            <a:endParaRPr b="1">
              <a:solidFill>
                <a:schemeClr val="dk1"/>
              </a:solidFill>
            </a:endParaRPr>
          </a:p>
        </p:txBody>
      </p:sp>
      <p:sp>
        <p:nvSpPr>
          <p:cNvPr id="909" name="Google Shape;909;g35b164f5962_0_8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594a4dc68a_0_9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3594a4dc68a_0_99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g3594a4dc68a_0_99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Fade">
  <p:cSld name="2_Fade">
    <p:spTree>
      <p:nvGrpSpPr>
        <p:cNvPr id="50" name="Shape 50"/>
        <p:cNvGrpSpPr/>
        <p:nvPr/>
      </p:nvGrpSpPr>
      <p:grpSpPr>
        <a:xfrm>
          <a:off x="0" y="0"/>
          <a:ext cx="0" cy="0"/>
          <a:chOff x="0" y="0"/>
          <a:chExt cx="0" cy="0"/>
        </a:xfrm>
      </p:grpSpPr>
      <p:sp>
        <p:nvSpPr>
          <p:cNvPr id="51" name="Google Shape;51;p13"/>
          <p:cNvSpPr/>
          <p:nvPr>
            <p:ph idx="2" type="pic"/>
          </p:nvPr>
        </p:nvSpPr>
        <p:spPr>
          <a:xfrm>
            <a:off x="352196" y="979955"/>
            <a:ext cx="2900400" cy="3217500"/>
          </a:xfrm>
          <a:prstGeom prst="rect">
            <a:avLst/>
          </a:prstGeom>
          <a:solidFill>
            <a:schemeClr val="dk1"/>
          </a:solidFill>
          <a:ln>
            <a:noFill/>
          </a:ln>
        </p:spPr>
        <p:txBody>
          <a:bodyPr anchorCtr="0" anchor="ctr" bIns="34275" lIns="68575" spcFirstLastPara="1" rIns="68575" wrap="square" tIns="34275">
            <a:noAutofit/>
          </a:bodyPr>
          <a:lstStyle>
            <a:lvl1pPr lvl="0" marR="0" algn="ctr">
              <a:lnSpc>
                <a:spcPct val="90000"/>
              </a:lnSpc>
              <a:spcBef>
                <a:spcPts val="800"/>
              </a:spcBef>
              <a:spcAft>
                <a:spcPts val="0"/>
              </a:spcAft>
              <a:buClr>
                <a:schemeClr val="lt1"/>
              </a:buClr>
              <a:buSzPts val="1200"/>
              <a:buFont typeface="Arial"/>
              <a:buNone/>
              <a:defRPr b="0" i="0" sz="1200" u="none" cap="none" strike="noStrike">
                <a:solidFill>
                  <a:schemeClr val="lt1"/>
                </a:solidFill>
                <a:latin typeface="Raleway"/>
                <a:ea typeface="Raleway"/>
                <a:cs typeface="Raleway"/>
                <a:sym typeface="Raleway"/>
              </a:defRPr>
            </a:lvl1pPr>
            <a:lvl2pPr lvl="1" marR="0" algn="l">
              <a:lnSpc>
                <a:spcPct val="90000"/>
              </a:lnSpc>
              <a:spcBef>
                <a:spcPts val="4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2pPr>
            <a:lvl3pPr lvl="2" marR="0" algn="l">
              <a:lnSpc>
                <a:spcPct val="90000"/>
              </a:lnSpc>
              <a:spcBef>
                <a:spcPts val="400"/>
              </a:spcBef>
              <a:spcAft>
                <a:spcPts val="0"/>
              </a:spcAft>
              <a:buClr>
                <a:schemeClr val="lt1"/>
              </a:buClr>
              <a:buSzPts val="1500"/>
              <a:buFont typeface="Arial"/>
              <a:buChar char="•"/>
              <a:defRPr b="0" i="0" sz="1500" u="none" cap="none" strike="noStrike">
                <a:solidFill>
                  <a:schemeClr val="lt1"/>
                </a:solidFill>
                <a:latin typeface="Calibri"/>
                <a:ea typeface="Calibri"/>
                <a:cs typeface="Calibri"/>
                <a:sym typeface="Calibri"/>
              </a:defRPr>
            </a:lvl3pPr>
            <a:lvl4pPr lvl="3"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4pPr>
            <a:lvl5pPr lvl="4"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5pPr>
            <a:lvl6pPr lvl="5"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6pPr>
            <a:lvl7pPr lvl="6"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7pPr>
            <a:lvl8pPr lvl="7"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8pPr>
            <a:lvl9pPr lvl="8"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9pPr>
          </a:lstStyle>
          <a:p/>
        </p:txBody>
      </p:sp>
      <p:sp>
        <p:nvSpPr>
          <p:cNvPr id="52" name="Google Shape;52;p1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000"/>
            </a:lvl1pPr>
            <a:lvl2pPr lvl="1">
              <a:buNone/>
              <a:defRPr sz="1000"/>
            </a:lvl2pPr>
            <a:lvl3pPr lvl="2">
              <a:buNone/>
              <a:defRPr sz="1000"/>
            </a:lvl3pPr>
            <a:lvl4pPr lvl="3">
              <a:buNone/>
              <a:defRPr sz="1000"/>
            </a:lvl4pPr>
            <a:lvl5pPr lvl="4">
              <a:buNone/>
              <a:defRPr sz="1000"/>
            </a:lvl5pPr>
            <a:lvl6pPr lvl="5">
              <a:buNone/>
              <a:defRPr sz="1000"/>
            </a:lvl6pPr>
            <a:lvl7pPr lvl="6">
              <a:buNone/>
              <a:defRPr sz="1000"/>
            </a:lvl7pPr>
            <a:lvl8pPr lvl="7">
              <a:buNone/>
              <a:defRPr sz="1000"/>
            </a:lvl8pPr>
            <a:lvl9pPr lvl="8">
              <a:buNone/>
              <a:defRPr sz="10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1000"/>
                                        <p:tgtEl>
                                          <p:spTgt spid="5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nvSpPr>
        <p:spPr>
          <a:xfrm rot="-5400000">
            <a:off x="7586821" y="2875834"/>
            <a:ext cx="2887800" cy="6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400"/>
              <a:buFont typeface="Arial"/>
              <a:buNone/>
            </a:pPr>
            <a:r>
              <a:rPr b="0" i="0" lang="en" sz="500" u="none" cap="none" strike="noStrike">
                <a:solidFill>
                  <a:schemeClr val="lt1"/>
                </a:solidFill>
                <a:latin typeface="Trebuchet MS"/>
                <a:ea typeface="Trebuchet MS"/>
                <a:cs typeface="Trebuchet MS"/>
                <a:sym typeface="Trebuchet MS"/>
              </a:rPr>
              <a:t>Copyright © </a:t>
            </a:r>
            <a:r>
              <a:rPr lang="en" sz="500">
                <a:solidFill>
                  <a:schemeClr val="lt1"/>
                </a:solidFill>
                <a:latin typeface="Trebuchet MS"/>
                <a:ea typeface="Trebuchet MS"/>
                <a:cs typeface="Trebuchet MS"/>
                <a:sym typeface="Trebuchet MS"/>
              </a:rPr>
              <a:t>2026 </a:t>
            </a:r>
            <a:r>
              <a:rPr b="0" i="0" lang="en" sz="500" u="none" cap="none" strike="noStrike">
                <a:solidFill>
                  <a:schemeClr val="lt1"/>
                </a:solidFill>
                <a:latin typeface="Trebuchet MS"/>
                <a:ea typeface="Trebuchet MS"/>
                <a:cs typeface="Trebuchet MS"/>
                <a:sym typeface="Trebuchet MS"/>
              </a:rPr>
              <a:t> by </a:t>
            </a:r>
            <a:r>
              <a:rPr lang="en" sz="500">
                <a:solidFill>
                  <a:schemeClr val="lt1"/>
                </a:solidFill>
                <a:latin typeface="Trebuchet MS"/>
                <a:ea typeface="Trebuchet MS"/>
                <a:cs typeface="Trebuchet MS"/>
                <a:sym typeface="Trebuchet MS"/>
              </a:rPr>
              <a:t>DataCouch Pvt. Ltd.</a:t>
            </a:r>
            <a:r>
              <a:rPr b="0" i="0" lang="en" sz="500" u="none" cap="none" strike="noStrike">
                <a:solidFill>
                  <a:schemeClr val="lt1"/>
                </a:solidFill>
                <a:latin typeface="Trebuchet MS"/>
                <a:ea typeface="Trebuchet MS"/>
                <a:cs typeface="Trebuchet MS"/>
                <a:sym typeface="Trebuchet MS"/>
              </a:rPr>
              <a:t>. All rights reserved.</a:t>
            </a:r>
            <a:endParaRPr b="0" i="0" sz="500" u="none" cap="none" strike="noStrike">
              <a:solidFill>
                <a:schemeClr val="lt1"/>
              </a:solidFill>
              <a:latin typeface="Trebuchet MS"/>
              <a:ea typeface="Trebuchet MS"/>
              <a:cs typeface="Trebuchet MS"/>
              <a:sym typeface="Trebuchet MS"/>
            </a:endParaRPr>
          </a:p>
        </p:txBody>
      </p:sp>
      <p:cxnSp>
        <p:nvCxnSpPr>
          <p:cNvPr id="66" name="Google Shape;66;p15"/>
          <p:cNvCxnSpPr/>
          <p:nvPr/>
        </p:nvCxnSpPr>
        <p:spPr>
          <a:xfrm>
            <a:off x="454144" y="4904187"/>
            <a:ext cx="8391600" cy="0"/>
          </a:xfrm>
          <a:prstGeom prst="straightConnector1">
            <a:avLst/>
          </a:prstGeom>
          <a:noFill/>
          <a:ln cap="flat" cmpd="sng" w="9525">
            <a:solidFill>
              <a:srgbClr val="455262"/>
            </a:solidFill>
            <a:prstDash val="solid"/>
            <a:miter lim="800000"/>
            <a:headEnd len="sm" w="sm" type="none"/>
            <a:tailEnd len="sm" w="sm" type="none"/>
          </a:ln>
        </p:spPr>
      </p:cxnSp>
      <p:sp>
        <p:nvSpPr>
          <p:cNvPr id="67" name="Google Shape;67;p15"/>
          <p:cNvSpPr txBox="1"/>
          <p:nvPr>
            <p:ph idx="12" type="sldNum"/>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lvl1pPr indent="0" lvl="0" marL="0">
              <a:spcBef>
                <a:spcPts val="0"/>
              </a:spcBef>
              <a:buNone/>
              <a:defRPr/>
            </a:lvl1pPr>
            <a:lvl2pPr indent="0" lvl="1" marL="0">
              <a:spcBef>
                <a:spcPts val="0"/>
              </a:spcBef>
              <a:buNone/>
              <a:defRPr/>
            </a:lvl2pPr>
            <a:lvl3pPr indent="0" lvl="2" marL="0">
              <a:spcBef>
                <a:spcPts val="0"/>
              </a:spcBef>
              <a:buNone/>
              <a:defRPr/>
            </a:lvl3pPr>
            <a:lvl4pPr indent="0" lvl="3" marL="0">
              <a:spcBef>
                <a:spcPts val="0"/>
              </a:spcBef>
              <a:buNone/>
              <a:defRPr/>
            </a:lvl4pPr>
            <a:lvl5pPr indent="0" lvl="4" marL="0">
              <a:spcBef>
                <a:spcPts val="0"/>
              </a:spcBef>
              <a:buNone/>
              <a:defRPr/>
            </a:lvl5pPr>
            <a:lvl6pPr indent="0" lvl="5" marL="0">
              <a:spcBef>
                <a:spcPts val="0"/>
              </a:spcBef>
              <a:buNone/>
              <a:defRPr/>
            </a:lvl6pPr>
            <a:lvl7pPr indent="0" lvl="6" marL="0">
              <a:spcBef>
                <a:spcPts val="0"/>
              </a:spcBef>
              <a:buNone/>
              <a:defRPr/>
            </a:lvl7pPr>
            <a:lvl8pPr indent="0" lvl="7" marL="0">
              <a:spcBef>
                <a:spcPts val="0"/>
              </a:spcBef>
              <a:buNone/>
              <a:defRPr/>
            </a:lvl8pPr>
            <a:lvl9pPr indent="0" lvl="8" marL="0">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16"/>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lvl1pPr lvl="0" algn="ctr">
              <a:lnSpc>
                <a:spcPct val="90000"/>
              </a:lnSpc>
              <a:spcBef>
                <a:spcPts val="0"/>
              </a:spcBef>
              <a:spcAft>
                <a:spcPts val="0"/>
              </a:spcAft>
              <a:buClr>
                <a:schemeClr val="dk1"/>
              </a:buClr>
              <a:buSzPts val="4500"/>
              <a:buFont typeface="Century Gothic"/>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71" name="Google Shape;71;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lvl1pPr indent="0" lvl="0" marL="0">
              <a:spcBef>
                <a:spcPts val="0"/>
              </a:spcBef>
              <a:buNone/>
              <a:defRPr/>
            </a:lvl1pPr>
            <a:lvl2pPr indent="0" lvl="1" marL="0">
              <a:spcBef>
                <a:spcPts val="0"/>
              </a:spcBef>
              <a:buNone/>
              <a:defRPr/>
            </a:lvl2pPr>
            <a:lvl3pPr indent="0" lvl="2" marL="0">
              <a:spcBef>
                <a:spcPts val="0"/>
              </a:spcBef>
              <a:buNone/>
              <a:defRPr/>
            </a:lvl3pPr>
            <a:lvl4pPr indent="0" lvl="3" marL="0">
              <a:spcBef>
                <a:spcPts val="0"/>
              </a:spcBef>
              <a:buNone/>
              <a:defRPr/>
            </a:lvl4pPr>
            <a:lvl5pPr indent="0" lvl="4" marL="0">
              <a:spcBef>
                <a:spcPts val="0"/>
              </a:spcBef>
              <a:buNone/>
              <a:defRPr/>
            </a:lvl5pPr>
            <a:lvl6pPr indent="0" lvl="5" marL="0">
              <a:spcBef>
                <a:spcPts val="0"/>
              </a:spcBef>
              <a:buNone/>
              <a:defRPr/>
            </a:lvl6pPr>
            <a:lvl7pPr indent="0" lvl="6" marL="0">
              <a:spcBef>
                <a:spcPts val="0"/>
              </a:spcBef>
              <a:buNone/>
              <a:defRPr/>
            </a:lvl7pPr>
            <a:lvl8pPr indent="0" lvl="7" marL="0">
              <a:spcBef>
                <a:spcPts val="0"/>
              </a:spcBef>
              <a:buNone/>
              <a:defRPr/>
            </a:lvl8pPr>
            <a:lvl9pPr indent="0" lvl="8" marL="0">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4" name="Shape 74"/>
        <p:cNvGrpSpPr/>
        <p:nvPr/>
      </p:nvGrpSpPr>
      <p:grpSpPr>
        <a:xfrm>
          <a:off x="0" y="0"/>
          <a:ext cx="0" cy="0"/>
          <a:chOff x="0" y="0"/>
          <a:chExt cx="0" cy="0"/>
        </a:xfrm>
      </p:grpSpPr>
      <p:sp>
        <p:nvSpPr>
          <p:cNvPr id="75" name="Google Shape;75;p1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2" type="sldNum"/>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lvl1pPr indent="0" lvl="0" marL="0">
              <a:spcBef>
                <a:spcPts val="0"/>
              </a:spcBef>
              <a:buNone/>
              <a:defRPr/>
            </a:lvl1pPr>
            <a:lvl2pPr indent="0" lvl="1" marL="0">
              <a:spcBef>
                <a:spcPts val="0"/>
              </a:spcBef>
              <a:buNone/>
              <a:defRPr/>
            </a:lvl2pPr>
            <a:lvl3pPr indent="0" lvl="2" marL="0">
              <a:spcBef>
                <a:spcPts val="0"/>
              </a:spcBef>
              <a:buNone/>
              <a:defRPr/>
            </a:lvl3pPr>
            <a:lvl4pPr indent="0" lvl="3" marL="0">
              <a:spcBef>
                <a:spcPts val="0"/>
              </a:spcBef>
              <a:buNone/>
              <a:defRPr/>
            </a:lvl4pPr>
            <a:lvl5pPr indent="0" lvl="4" marL="0">
              <a:spcBef>
                <a:spcPts val="0"/>
              </a:spcBef>
              <a:buNone/>
              <a:defRPr/>
            </a:lvl5pPr>
            <a:lvl6pPr indent="0" lvl="5" marL="0">
              <a:spcBef>
                <a:spcPts val="0"/>
              </a:spcBef>
              <a:buNone/>
              <a:defRPr/>
            </a:lvl6pPr>
            <a:lvl7pPr indent="0" lvl="6" marL="0">
              <a:spcBef>
                <a:spcPts val="0"/>
              </a:spcBef>
              <a:buNone/>
              <a:defRPr/>
            </a:lvl7pPr>
            <a:lvl8pPr indent="0" lvl="7" marL="0">
              <a:spcBef>
                <a:spcPts val="0"/>
              </a:spcBef>
              <a:buNone/>
              <a:defRPr/>
            </a:lvl8pPr>
            <a:lvl9pPr indent="0" lvl="8" marL="0">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18"/>
          <p:cNvSpPr txBox="1"/>
          <p:nvPr>
            <p:ph type="title"/>
          </p:nvPr>
        </p:nvSpPr>
        <p:spPr>
          <a:xfrm>
            <a:off x="623888" y="1282304"/>
            <a:ext cx="7886700" cy="2139600"/>
          </a:xfrm>
          <a:prstGeom prst="rect">
            <a:avLst/>
          </a:prstGeom>
          <a:noFill/>
          <a:ln>
            <a:noFill/>
          </a:ln>
        </p:spPr>
        <p:txBody>
          <a:bodyPr anchorCtr="0" anchor="b" bIns="34275" lIns="68575" spcFirstLastPara="1" rIns="68575" wrap="square" tIns="34275">
            <a:noAutofit/>
          </a:bodyPr>
          <a:lstStyle>
            <a:lvl1pPr lvl="0" algn="l">
              <a:lnSpc>
                <a:spcPct val="90000"/>
              </a:lnSpc>
              <a:spcBef>
                <a:spcPts val="0"/>
              </a:spcBef>
              <a:spcAft>
                <a:spcPts val="0"/>
              </a:spcAft>
              <a:buClr>
                <a:schemeClr val="dk1"/>
              </a:buClr>
              <a:buSzPts val="4500"/>
              <a:buFont typeface="Century Gothic"/>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2" name="Google Shape;82;p18"/>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83" name="Google Shape;83;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18"/>
          <p:cNvSpPr txBox="1"/>
          <p:nvPr>
            <p:ph idx="12" type="sldNum"/>
          </p:nvPr>
        </p:nvSpPr>
        <p:spPr>
          <a:xfrm>
            <a:off x="8094694" y="4778981"/>
            <a:ext cx="750900" cy="2505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6" name="Shape 86"/>
        <p:cNvGrpSpPr/>
        <p:nvPr/>
      </p:nvGrpSpPr>
      <p:grpSpPr>
        <a:xfrm>
          <a:off x="0" y="0"/>
          <a:ext cx="0" cy="0"/>
          <a:chOff x="0" y="0"/>
          <a:chExt cx="0" cy="0"/>
        </a:xfrm>
      </p:grpSpPr>
      <p:sp>
        <p:nvSpPr>
          <p:cNvPr id="87" name="Google Shape;87;p1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8" name="Google Shape;88;p19"/>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19"/>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1" name="Google Shape;91;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2" type="sldNum"/>
          </p:nvPr>
        </p:nvSpPr>
        <p:spPr>
          <a:xfrm>
            <a:off x="8094694" y="4778981"/>
            <a:ext cx="750900" cy="2505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 name="Shape 93"/>
        <p:cNvGrpSpPr/>
        <p:nvPr/>
      </p:nvGrpSpPr>
      <p:grpSpPr>
        <a:xfrm>
          <a:off x="0" y="0"/>
          <a:ext cx="0" cy="0"/>
          <a:chOff x="0" y="0"/>
          <a:chExt cx="0" cy="0"/>
        </a:xfrm>
      </p:grpSpPr>
      <p:sp>
        <p:nvSpPr>
          <p:cNvPr id="94" name="Google Shape;94;p20"/>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5" name="Google Shape;95;p20"/>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6" name="Google Shape;96;p20"/>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 name="Google Shape;97;p20"/>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8" name="Google Shape;98;p20"/>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 name="Google Shape;99;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0" name="Google Shape;100;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 name="Google Shape;101;p20"/>
          <p:cNvSpPr txBox="1"/>
          <p:nvPr>
            <p:ph idx="12" type="sldNum"/>
          </p:nvPr>
        </p:nvSpPr>
        <p:spPr>
          <a:xfrm>
            <a:off x="8094694" y="4778981"/>
            <a:ext cx="750900" cy="2505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2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4" name="Google Shape;104;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21"/>
          <p:cNvSpPr txBox="1"/>
          <p:nvPr>
            <p:ph idx="12" type="sldNum"/>
          </p:nvPr>
        </p:nvSpPr>
        <p:spPr>
          <a:xfrm>
            <a:off x="8094694" y="4778981"/>
            <a:ext cx="750900" cy="2505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7" name="Shape 107"/>
        <p:cNvGrpSpPr/>
        <p:nvPr/>
      </p:nvGrpSpPr>
      <p:grpSpPr>
        <a:xfrm>
          <a:off x="0" y="0"/>
          <a:ext cx="0" cy="0"/>
          <a:chOff x="0" y="0"/>
          <a:chExt cx="0" cy="0"/>
        </a:xfrm>
      </p:grpSpPr>
      <p:sp>
        <p:nvSpPr>
          <p:cNvPr id="108" name="Google Shape;108;p22"/>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Autofit/>
          </a:bodyPr>
          <a:lstStyle>
            <a:lvl1pPr lvl="0" algn="l">
              <a:lnSpc>
                <a:spcPct val="90000"/>
              </a:lnSpc>
              <a:spcBef>
                <a:spcPts val="0"/>
              </a:spcBef>
              <a:spcAft>
                <a:spcPts val="0"/>
              </a:spcAft>
              <a:buClr>
                <a:schemeClr val="dk1"/>
              </a:buClr>
              <a:buSzPts val="2400"/>
              <a:buFont typeface="Century Gothic"/>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9" name="Google Shape;109;p22"/>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10" name="Google Shape;110;p22"/>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1" name="Google Shape;111;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3" name="Google Shape;113;p22"/>
          <p:cNvSpPr txBox="1"/>
          <p:nvPr>
            <p:ph idx="12" type="sldNum"/>
          </p:nvPr>
        </p:nvSpPr>
        <p:spPr>
          <a:xfrm>
            <a:off x="8094694" y="4778981"/>
            <a:ext cx="750900" cy="2505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4" name="Shape 114"/>
        <p:cNvGrpSpPr/>
        <p:nvPr/>
      </p:nvGrpSpPr>
      <p:grpSpPr>
        <a:xfrm>
          <a:off x="0" y="0"/>
          <a:ext cx="0" cy="0"/>
          <a:chOff x="0" y="0"/>
          <a:chExt cx="0" cy="0"/>
        </a:xfrm>
      </p:grpSpPr>
      <p:sp>
        <p:nvSpPr>
          <p:cNvPr id="115" name="Google Shape;115;p23"/>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Autofit/>
          </a:bodyPr>
          <a:lstStyle>
            <a:lvl1pPr lvl="0" algn="l">
              <a:lnSpc>
                <a:spcPct val="90000"/>
              </a:lnSpc>
              <a:spcBef>
                <a:spcPts val="0"/>
              </a:spcBef>
              <a:spcAft>
                <a:spcPts val="0"/>
              </a:spcAft>
              <a:buClr>
                <a:schemeClr val="dk1"/>
              </a:buClr>
              <a:buSzPts val="2400"/>
              <a:buFont typeface="Century Gothic"/>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6" name="Google Shape;116;p23"/>
          <p:cNvSpPr/>
          <p:nvPr>
            <p:ph idx="2" type="pic"/>
          </p:nvPr>
        </p:nvSpPr>
        <p:spPr>
          <a:xfrm>
            <a:off x="3887391" y="740569"/>
            <a:ext cx="4629300" cy="3655200"/>
          </a:xfrm>
          <a:prstGeom prst="rect">
            <a:avLst/>
          </a:prstGeom>
          <a:noFill/>
          <a:ln>
            <a:noFill/>
          </a:ln>
        </p:spPr>
        <p:txBody>
          <a:bodyPr anchorCtr="0" anchor="t" bIns="34275" lIns="68575" spcFirstLastPara="1" rIns="68575" wrap="square" tIns="34275">
            <a:noAutofit/>
          </a:bodyPr>
          <a:lstStyle>
            <a:lvl1pPr lvl="0" marR="0" algn="l">
              <a:lnSpc>
                <a:spcPct val="90000"/>
              </a:lnSpc>
              <a:spcBef>
                <a:spcPts val="8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algn="l">
              <a:lnSpc>
                <a:spcPct val="90000"/>
              </a:lnSpc>
              <a:spcBef>
                <a:spcPts val="400"/>
              </a:spcBef>
              <a:spcAft>
                <a:spcPts val="0"/>
              </a:spcAft>
              <a:buClr>
                <a:schemeClr val="dk1"/>
              </a:buClr>
              <a:buSzPts val="2100"/>
              <a:buFont typeface="Arial"/>
              <a:buNone/>
              <a:defRPr b="0" i="0" sz="2100" u="none" cap="none" strike="noStrike">
                <a:solidFill>
                  <a:schemeClr val="dk1"/>
                </a:solidFill>
                <a:latin typeface="Calibri"/>
                <a:ea typeface="Calibri"/>
                <a:cs typeface="Calibri"/>
                <a:sym typeface="Calibri"/>
              </a:defRPr>
            </a:lvl2pPr>
            <a:lvl3pPr lvl="2" marR="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4pPr>
            <a:lvl5pPr lvl="4" marR="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5pPr>
            <a:lvl6pPr lvl="5" marR="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6pPr>
            <a:lvl7pPr lvl="6" marR="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7pPr>
            <a:lvl8pPr lvl="7" marR="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8pPr>
            <a:lvl9pPr lvl="8" marR="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9pPr>
          </a:lstStyle>
          <a:p/>
        </p:txBody>
      </p:sp>
      <p:sp>
        <p:nvSpPr>
          <p:cNvPr id="117" name="Google Shape;117;p23"/>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8" name="Google Shape;118;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9" name="Google Shape;119;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0" name="Google Shape;120;p23"/>
          <p:cNvSpPr txBox="1"/>
          <p:nvPr>
            <p:ph idx="12" type="sldNum"/>
          </p:nvPr>
        </p:nvSpPr>
        <p:spPr>
          <a:xfrm>
            <a:off x="8094694" y="4778981"/>
            <a:ext cx="750900" cy="2505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1" name="Shape 121"/>
        <p:cNvGrpSpPr/>
        <p:nvPr/>
      </p:nvGrpSpPr>
      <p:grpSpPr>
        <a:xfrm>
          <a:off x="0" y="0"/>
          <a:ext cx="0" cy="0"/>
          <a:chOff x="0" y="0"/>
          <a:chExt cx="0" cy="0"/>
        </a:xfrm>
      </p:grpSpPr>
      <p:sp>
        <p:nvSpPr>
          <p:cNvPr id="122" name="Google Shape;122;p2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3" name="Google Shape;123;p24"/>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4" name="Google Shape;124;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6" name="Google Shape;126;p24"/>
          <p:cNvSpPr txBox="1"/>
          <p:nvPr>
            <p:ph idx="12" type="sldNum"/>
          </p:nvPr>
        </p:nvSpPr>
        <p:spPr>
          <a:xfrm>
            <a:off x="8094694" y="4778981"/>
            <a:ext cx="750900" cy="2505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7" name="Shape 127"/>
        <p:cNvGrpSpPr/>
        <p:nvPr/>
      </p:nvGrpSpPr>
      <p:grpSpPr>
        <a:xfrm>
          <a:off x="0" y="0"/>
          <a:ext cx="0" cy="0"/>
          <a:chOff x="0" y="0"/>
          <a:chExt cx="0" cy="0"/>
        </a:xfrm>
      </p:grpSpPr>
      <p:sp>
        <p:nvSpPr>
          <p:cNvPr id="128" name="Google Shape;128;p25"/>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9" name="Google Shape;129;p25"/>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0" name="Google Shape;130;p2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1" name="Google Shape;131;p2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2" name="Google Shape;132;p25"/>
          <p:cNvSpPr txBox="1"/>
          <p:nvPr>
            <p:ph idx="12" type="sldNum"/>
          </p:nvPr>
        </p:nvSpPr>
        <p:spPr>
          <a:xfrm>
            <a:off x="8094694" y="4778981"/>
            <a:ext cx="750900" cy="2505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Fade">
  <p:cSld name="2_Fade">
    <p:spTree>
      <p:nvGrpSpPr>
        <p:cNvPr id="133" name="Shape 133"/>
        <p:cNvGrpSpPr/>
        <p:nvPr/>
      </p:nvGrpSpPr>
      <p:grpSpPr>
        <a:xfrm>
          <a:off x="0" y="0"/>
          <a:ext cx="0" cy="0"/>
          <a:chOff x="0" y="0"/>
          <a:chExt cx="0" cy="0"/>
        </a:xfrm>
      </p:grpSpPr>
      <p:sp>
        <p:nvSpPr>
          <p:cNvPr id="134" name="Google Shape;134;p26"/>
          <p:cNvSpPr/>
          <p:nvPr>
            <p:ph idx="2" type="pic"/>
          </p:nvPr>
        </p:nvSpPr>
        <p:spPr>
          <a:xfrm>
            <a:off x="352196" y="979955"/>
            <a:ext cx="2900400" cy="3217500"/>
          </a:xfrm>
          <a:prstGeom prst="rect">
            <a:avLst/>
          </a:prstGeom>
          <a:solidFill>
            <a:schemeClr val="dk1"/>
          </a:solidFill>
          <a:ln>
            <a:noFill/>
          </a:ln>
        </p:spPr>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134"/>
                                        </p:tgtEl>
                                        <p:attrNameLst>
                                          <p:attrName>style.visibility</p:attrName>
                                        </p:attrNameLst>
                                      </p:cBhvr>
                                      <p:to>
                                        <p:strVal val="visible"/>
                                      </p:to>
                                    </p:set>
                                    <p:anim calcmode="lin" valueType="num">
                                      <p:cBhvr additive="base">
                                        <p:cTn dur="1000"/>
                                        <p:tgtEl>
                                          <p:spTgt spid="13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 Only">
    <p:bg>
      <p:bgPr>
        <a:solidFill>
          <a:schemeClr val="lt2"/>
        </a:solidFill>
      </p:bgPr>
    </p:bg>
    <p:spTree>
      <p:nvGrpSpPr>
        <p:cNvPr id="135" name="Shape 135"/>
        <p:cNvGrpSpPr/>
        <p:nvPr/>
      </p:nvGrpSpPr>
      <p:grpSpPr>
        <a:xfrm>
          <a:off x="0" y="0"/>
          <a:ext cx="0" cy="0"/>
          <a:chOff x="0" y="0"/>
          <a:chExt cx="0" cy="0"/>
        </a:xfrm>
      </p:grpSpPr>
      <p:sp>
        <p:nvSpPr>
          <p:cNvPr id="136" name="Google Shape;136;p27"/>
          <p:cNvSpPr txBox="1"/>
          <p:nvPr>
            <p:ph idx="10" type="dt"/>
          </p:nvPr>
        </p:nvSpPr>
        <p:spPr>
          <a:xfrm>
            <a:off x="7258050" y="4803777"/>
            <a:ext cx="1111500" cy="115500"/>
          </a:xfrm>
          <a:prstGeom prst="rect">
            <a:avLst/>
          </a:prstGeom>
          <a:noFill/>
          <a:ln>
            <a:noFill/>
          </a:ln>
        </p:spPr>
        <p:txBody>
          <a:bodyPr anchorCtr="0" anchor="b" bIns="0" lIns="0" spcFirstLastPara="1" rIns="0" wrap="square" tIns="0">
            <a:spAutoFit/>
          </a:bodyPr>
          <a:lstStyle>
            <a:lvl1pPr lvl="0" algn="r">
              <a:lnSpc>
                <a:spcPct val="100000"/>
              </a:lnSpc>
              <a:spcBef>
                <a:spcPts val="0"/>
              </a:spcBef>
              <a:spcAft>
                <a:spcPts val="0"/>
              </a:spcAft>
              <a:buSzPts val="1100"/>
              <a:buNone/>
              <a:defRPr>
                <a:latin typeface="Trebuchet MS"/>
                <a:ea typeface="Trebuchet MS"/>
                <a:cs typeface="Trebuchet MS"/>
                <a:sym typeface="Trebuchet M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7" name="Google Shape;137;p27"/>
          <p:cNvSpPr txBox="1"/>
          <p:nvPr/>
        </p:nvSpPr>
        <p:spPr>
          <a:xfrm rot="-5400000">
            <a:off x="7112786" y="2943570"/>
            <a:ext cx="3850500" cy="6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400"/>
              <a:buFont typeface="Arial"/>
              <a:buNone/>
            </a:pPr>
            <a:r>
              <a:rPr b="0" i="0" lang="en" sz="500" u="none" cap="none" strike="noStrike">
                <a:solidFill>
                  <a:srgbClr val="666666"/>
                </a:solidFill>
                <a:latin typeface="Trebuchet MS"/>
                <a:ea typeface="Trebuchet MS"/>
                <a:cs typeface="Trebuchet MS"/>
                <a:sym typeface="Trebuchet MS"/>
              </a:rPr>
              <a:t>Copyright © 2023 by DataCouch Pvt. Ltd.. All rights reserved.</a:t>
            </a:r>
            <a:endParaRPr b="0" i="0" sz="500" u="none" cap="none" strike="noStrike">
              <a:solidFill>
                <a:srgbClr val="666666"/>
              </a:solidFill>
              <a:latin typeface="Trebuchet MS"/>
              <a:ea typeface="Trebuchet MS"/>
              <a:cs typeface="Trebuchet MS"/>
              <a:sym typeface="Trebuchet MS"/>
            </a:endParaRPr>
          </a:p>
        </p:txBody>
      </p:sp>
      <p:sp>
        <p:nvSpPr>
          <p:cNvPr id="138" name="Google Shape;138;p27"/>
          <p:cNvSpPr txBox="1"/>
          <p:nvPr>
            <p:ph type="title"/>
          </p:nvPr>
        </p:nvSpPr>
        <p:spPr>
          <a:xfrm>
            <a:off x="472500" y="467100"/>
            <a:ext cx="8199900" cy="3534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000000"/>
              </a:buClr>
              <a:buSzPts val="2600"/>
              <a:buFont typeface="Trebuchet MS"/>
              <a:buNone/>
              <a:defRPr b="0" i="0" sz="2600" u="none">
                <a:solidFill>
                  <a:srgbClr val="000000"/>
                </a:solidFill>
                <a:latin typeface="Trebuchet MS"/>
                <a:ea typeface="Trebuchet MS"/>
                <a:cs typeface="Trebuchet MS"/>
                <a:sym typeface="Trebuchet M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Title Only">
  <p:cSld name="D. Title Only">
    <p:spTree>
      <p:nvGrpSpPr>
        <p:cNvPr id="139" name="Shape 139"/>
        <p:cNvGrpSpPr/>
        <p:nvPr/>
      </p:nvGrpSpPr>
      <p:grpSpPr>
        <a:xfrm>
          <a:off x="0" y="0"/>
          <a:ext cx="0" cy="0"/>
          <a:chOff x="0" y="0"/>
          <a:chExt cx="0" cy="0"/>
        </a:xfrm>
      </p:grpSpPr>
      <p:sp>
        <p:nvSpPr>
          <p:cNvPr id="140" name="Google Shape;140;p28"/>
          <p:cNvSpPr txBox="1"/>
          <p:nvPr>
            <p:ph idx="10" type="dt"/>
          </p:nvPr>
        </p:nvSpPr>
        <p:spPr>
          <a:xfrm>
            <a:off x="7258050" y="4803777"/>
            <a:ext cx="1111500" cy="115500"/>
          </a:xfrm>
          <a:prstGeom prst="rect">
            <a:avLst/>
          </a:prstGeom>
          <a:noFill/>
          <a:ln>
            <a:noFill/>
          </a:ln>
        </p:spPr>
        <p:txBody>
          <a:bodyPr anchorCtr="0" anchor="b" bIns="0" lIns="0" spcFirstLastPara="1" rIns="0" wrap="square" tIns="0">
            <a:spAutoFit/>
          </a:bodyPr>
          <a:lstStyle>
            <a:lvl1pPr lvl="0" algn="r">
              <a:lnSpc>
                <a:spcPct val="100000"/>
              </a:lnSpc>
              <a:spcBef>
                <a:spcPts val="0"/>
              </a:spcBef>
              <a:spcAft>
                <a:spcPts val="0"/>
              </a:spcAft>
              <a:buSzPts val="11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1" name="Google Shape;141;p28"/>
          <p:cNvSpPr txBox="1"/>
          <p:nvPr>
            <p:ph type="title"/>
          </p:nvPr>
        </p:nvSpPr>
        <p:spPr>
          <a:xfrm>
            <a:off x="472500" y="467100"/>
            <a:ext cx="8200200" cy="2493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181818"/>
              </a:buClr>
              <a:buSzPts val="1800"/>
              <a:buFont typeface="Trebuchet MS"/>
              <a:buNone/>
              <a:defRPr>
                <a:solidFill>
                  <a:srgbClr val="181818"/>
                </a:solidFill>
                <a:latin typeface="Trebuchet MS"/>
                <a:ea typeface="Trebuchet MS"/>
                <a:cs typeface="Trebuchet MS"/>
                <a:sym typeface="Trebuchet M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mc:AlternateContent>
    <mc:Choice Requires="p14">
      <p:transition p14:dur="250">
        <p:fade/>
      </p:transition>
    </mc:Choice>
    <mc:Fallback>
      <p:transition>
        <p:fade/>
      </p:transition>
    </mc:Fallback>
  </mc:AlternateContent>
  <p:extLst>
    <p:ext uri="{DCECCB84-F9BA-43D5-87BE-67443E8EF086}">
      <p15:sldGuideLst>
        <p15:guide id="1" orient="horz" pos="32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Content">
  <p:cSld name="CUSTOM_2_3">
    <p:spTree>
      <p:nvGrpSpPr>
        <p:cNvPr id="142" name="Shape 142"/>
        <p:cNvGrpSpPr/>
        <p:nvPr/>
      </p:nvGrpSpPr>
      <p:grpSpPr>
        <a:xfrm>
          <a:off x="0" y="0"/>
          <a:ext cx="0" cy="0"/>
          <a:chOff x="0" y="0"/>
          <a:chExt cx="0" cy="0"/>
        </a:xfrm>
      </p:grpSpPr>
      <p:sp>
        <p:nvSpPr>
          <p:cNvPr id="143" name="Google Shape;143;p29"/>
          <p:cNvSpPr txBox="1"/>
          <p:nvPr>
            <p:ph idx="1" type="body"/>
          </p:nvPr>
        </p:nvSpPr>
        <p:spPr>
          <a:xfrm>
            <a:off x="457175" y="1536250"/>
            <a:ext cx="5459100" cy="30822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44" name="Google Shape;144;p29"/>
          <p:cNvSpPr txBox="1"/>
          <p:nvPr>
            <p:ph type="title"/>
          </p:nvPr>
        </p:nvSpPr>
        <p:spPr>
          <a:xfrm>
            <a:off x="457175" y="460250"/>
            <a:ext cx="5459100" cy="999900"/>
          </a:xfrm>
          <a:prstGeom prst="rect">
            <a:avLst/>
          </a:prstGeom>
          <a:noFill/>
          <a:ln>
            <a:noFill/>
          </a:ln>
        </p:spPr>
        <p:txBody>
          <a:bodyPr anchorCtr="0" anchor="t" bIns="0" lIns="0" spcFirstLastPara="1" rIns="91425" wrap="square" tIns="0">
            <a:noAutofit/>
          </a:bodyPr>
          <a:lstStyle>
            <a:lvl1pPr lvl="0" algn="l">
              <a:lnSpc>
                <a:spcPct val="120000"/>
              </a:lnSpc>
              <a:spcBef>
                <a:spcPts val="0"/>
              </a:spcBef>
              <a:spcAft>
                <a:spcPts val="0"/>
              </a:spcAft>
              <a:buSzPts val="2400"/>
              <a:buNone/>
              <a:defRPr/>
            </a:lvl1pPr>
            <a:lvl2pPr lvl="1" algn="l">
              <a:lnSpc>
                <a:spcPct val="120000"/>
              </a:lnSpc>
              <a:spcBef>
                <a:spcPts val="0"/>
              </a:spcBef>
              <a:spcAft>
                <a:spcPts val="0"/>
              </a:spcAft>
              <a:buSzPts val="2400"/>
              <a:buNone/>
              <a:defRPr/>
            </a:lvl2pPr>
            <a:lvl3pPr lvl="2" algn="l">
              <a:lnSpc>
                <a:spcPct val="120000"/>
              </a:lnSpc>
              <a:spcBef>
                <a:spcPts val="0"/>
              </a:spcBef>
              <a:spcAft>
                <a:spcPts val="0"/>
              </a:spcAft>
              <a:buSzPts val="2400"/>
              <a:buNone/>
              <a:defRPr/>
            </a:lvl3pPr>
            <a:lvl4pPr lvl="3" algn="l">
              <a:lnSpc>
                <a:spcPct val="120000"/>
              </a:lnSpc>
              <a:spcBef>
                <a:spcPts val="0"/>
              </a:spcBef>
              <a:spcAft>
                <a:spcPts val="0"/>
              </a:spcAft>
              <a:buSzPts val="2400"/>
              <a:buNone/>
              <a:defRPr/>
            </a:lvl4pPr>
            <a:lvl5pPr lvl="4" algn="l">
              <a:lnSpc>
                <a:spcPct val="120000"/>
              </a:lnSpc>
              <a:spcBef>
                <a:spcPts val="0"/>
              </a:spcBef>
              <a:spcAft>
                <a:spcPts val="0"/>
              </a:spcAft>
              <a:buSzPts val="2400"/>
              <a:buNone/>
              <a:defRPr/>
            </a:lvl5pPr>
            <a:lvl6pPr lvl="5" algn="l">
              <a:lnSpc>
                <a:spcPct val="120000"/>
              </a:lnSpc>
              <a:spcBef>
                <a:spcPts val="0"/>
              </a:spcBef>
              <a:spcAft>
                <a:spcPts val="0"/>
              </a:spcAft>
              <a:buSzPts val="2400"/>
              <a:buNone/>
              <a:defRPr/>
            </a:lvl6pPr>
            <a:lvl7pPr lvl="6" algn="l">
              <a:lnSpc>
                <a:spcPct val="120000"/>
              </a:lnSpc>
              <a:spcBef>
                <a:spcPts val="0"/>
              </a:spcBef>
              <a:spcAft>
                <a:spcPts val="0"/>
              </a:spcAft>
              <a:buSzPts val="2400"/>
              <a:buNone/>
              <a:defRPr/>
            </a:lvl7pPr>
            <a:lvl8pPr lvl="7" algn="l">
              <a:lnSpc>
                <a:spcPct val="120000"/>
              </a:lnSpc>
              <a:spcBef>
                <a:spcPts val="0"/>
              </a:spcBef>
              <a:spcAft>
                <a:spcPts val="0"/>
              </a:spcAft>
              <a:buSzPts val="2400"/>
              <a:buNone/>
              <a:defRPr/>
            </a:lvl8pPr>
            <a:lvl9pPr lvl="8" algn="l">
              <a:lnSpc>
                <a:spcPct val="120000"/>
              </a:lnSpc>
              <a:spcBef>
                <a:spcPts val="0"/>
              </a:spcBef>
              <a:spcAft>
                <a:spcPts val="0"/>
              </a:spcAft>
              <a:buSzPts val="2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Fade 1">
  <p:cSld name="2_Fade_1">
    <p:spTree>
      <p:nvGrpSpPr>
        <p:cNvPr id="145" name="Shape 145"/>
        <p:cNvGrpSpPr/>
        <p:nvPr/>
      </p:nvGrpSpPr>
      <p:grpSpPr>
        <a:xfrm>
          <a:off x="0" y="0"/>
          <a:ext cx="0" cy="0"/>
          <a:chOff x="0" y="0"/>
          <a:chExt cx="0" cy="0"/>
        </a:xfrm>
      </p:grpSpPr>
      <p:sp>
        <p:nvSpPr>
          <p:cNvPr id="146" name="Google Shape;146;p30"/>
          <p:cNvSpPr/>
          <p:nvPr>
            <p:ph idx="2" type="pic"/>
          </p:nvPr>
        </p:nvSpPr>
        <p:spPr>
          <a:xfrm>
            <a:off x="352196" y="979955"/>
            <a:ext cx="2900400" cy="3217500"/>
          </a:xfrm>
          <a:prstGeom prst="rect">
            <a:avLst/>
          </a:prstGeom>
          <a:solidFill>
            <a:schemeClr val="dk1"/>
          </a:solidFill>
          <a:ln>
            <a:noFill/>
          </a:ln>
        </p:spPr>
        <p:txBody>
          <a:bodyPr anchorCtr="0" anchor="ctr" bIns="34275" lIns="68575" spcFirstLastPara="1" rIns="68575" wrap="square" tIns="34275">
            <a:noAutofit/>
          </a:bodyPr>
          <a:lstStyle>
            <a:lvl1pPr lvl="0" marR="0" algn="ctr">
              <a:lnSpc>
                <a:spcPct val="90000"/>
              </a:lnSpc>
              <a:spcBef>
                <a:spcPts val="800"/>
              </a:spcBef>
              <a:spcAft>
                <a:spcPts val="0"/>
              </a:spcAft>
              <a:buClr>
                <a:schemeClr val="lt1"/>
              </a:buClr>
              <a:buSzPts val="1200"/>
              <a:buFont typeface="Arial"/>
              <a:buNone/>
              <a:defRPr b="0" i="0" sz="1200" u="none" cap="none" strike="noStrike">
                <a:solidFill>
                  <a:schemeClr val="lt1"/>
                </a:solidFill>
                <a:latin typeface="Raleway"/>
                <a:ea typeface="Raleway"/>
                <a:cs typeface="Raleway"/>
                <a:sym typeface="Raleway"/>
              </a:defRPr>
            </a:lvl1pPr>
            <a:lvl2pPr lvl="1" marR="0" algn="l">
              <a:lnSpc>
                <a:spcPct val="90000"/>
              </a:lnSpc>
              <a:spcBef>
                <a:spcPts val="4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2pPr>
            <a:lvl3pPr lvl="2" marR="0" algn="l">
              <a:lnSpc>
                <a:spcPct val="90000"/>
              </a:lnSpc>
              <a:spcBef>
                <a:spcPts val="400"/>
              </a:spcBef>
              <a:spcAft>
                <a:spcPts val="0"/>
              </a:spcAft>
              <a:buClr>
                <a:schemeClr val="lt1"/>
              </a:buClr>
              <a:buSzPts val="1500"/>
              <a:buFont typeface="Arial"/>
              <a:buChar char="•"/>
              <a:defRPr b="0" i="0" sz="1500" u="none" cap="none" strike="noStrike">
                <a:solidFill>
                  <a:schemeClr val="lt1"/>
                </a:solidFill>
                <a:latin typeface="Calibri"/>
                <a:ea typeface="Calibri"/>
                <a:cs typeface="Calibri"/>
                <a:sym typeface="Calibri"/>
              </a:defRPr>
            </a:lvl3pPr>
            <a:lvl4pPr lvl="3"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4pPr>
            <a:lvl5pPr lvl="4"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5pPr>
            <a:lvl6pPr lvl="5"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6pPr>
            <a:lvl7pPr lvl="6"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7pPr>
            <a:lvl8pPr lvl="7"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8pPr>
            <a:lvl9pPr lvl="8"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9pPr>
          </a:lstStyle>
          <a:p/>
        </p:txBody>
      </p:sp>
      <p:sp>
        <p:nvSpPr>
          <p:cNvPr id="147" name="Google Shape;147;p30"/>
          <p:cNvSpPr txBox="1"/>
          <p:nvPr>
            <p:ph idx="12" type="sldNum"/>
          </p:nvPr>
        </p:nvSpPr>
        <p:spPr>
          <a:xfrm>
            <a:off x="8556784" y="4749851"/>
            <a:ext cx="548700" cy="393600"/>
          </a:xfrm>
          <a:prstGeom prst="rect">
            <a:avLst/>
          </a:prstGeom>
        </p:spPr>
        <p:txBody>
          <a:bodyPr anchorCtr="0" anchor="t" bIns="34275" lIns="68575" spcFirstLastPara="1" rIns="68575" wrap="square" tIns="34275">
            <a:noAutofit/>
          </a:bodyPr>
          <a:lstStyle>
            <a:lvl1pPr lvl="0">
              <a:buNone/>
              <a:defRPr sz="1000"/>
            </a:lvl1pPr>
            <a:lvl2pPr lvl="1">
              <a:buNone/>
              <a:defRPr sz="1000"/>
            </a:lvl2pPr>
            <a:lvl3pPr lvl="2">
              <a:buNone/>
              <a:defRPr sz="1000"/>
            </a:lvl3pPr>
            <a:lvl4pPr lvl="3">
              <a:buNone/>
              <a:defRPr sz="1000"/>
            </a:lvl4pPr>
            <a:lvl5pPr lvl="4">
              <a:buNone/>
              <a:defRPr sz="1000"/>
            </a:lvl5pPr>
            <a:lvl6pPr lvl="5">
              <a:buNone/>
              <a:defRPr sz="1000"/>
            </a:lvl6pPr>
            <a:lvl7pPr lvl="6">
              <a:buNone/>
              <a:defRPr sz="1000"/>
            </a:lvl7pPr>
            <a:lvl8pPr lvl="7">
              <a:buNone/>
              <a:defRPr sz="1000"/>
            </a:lvl8pPr>
            <a:lvl9pPr lvl="8">
              <a:buNone/>
              <a:defRPr sz="1000"/>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146"/>
                                        </p:tgtEl>
                                        <p:attrNameLst>
                                          <p:attrName>style.visibility</p:attrName>
                                        </p:attrNameLst>
                                      </p:cBhvr>
                                      <p:to>
                                        <p:strVal val="visible"/>
                                      </p:to>
                                    </p:set>
                                    <p:anim calcmode="lin" valueType="num">
                                      <p:cBhvr additive="base">
                                        <p:cTn dur="1000"/>
                                        <p:tgtEl>
                                          <p:spTgt spid="14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Y Title Only">
  <p:cSld name="EY Title Only">
    <p:spTree>
      <p:nvGrpSpPr>
        <p:cNvPr id="148" name="Shape 148"/>
        <p:cNvGrpSpPr/>
        <p:nvPr/>
      </p:nvGrpSpPr>
      <p:grpSpPr>
        <a:xfrm>
          <a:off x="0" y="0"/>
          <a:ext cx="0" cy="0"/>
          <a:chOff x="0" y="0"/>
          <a:chExt cx="0" cy="0"/>
        </a:xfrm>
      </p:grpSpPr>
      <p:sp>
        <p:nvSpPr>
          <p:cNvPr id="149" name="Google Shape;149;p31"/>
          <p:cNvSpPr txBox="1"/>
          <p:nvPr>
            <p:ph type="title"/>
          </p:nvPr>
        </p:nvSpPr>
        <p:spPr>
          <a:xfrm>
            <a:off x="457200" y="220650"/>
            <a:ext cx="8229600" cy="443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1600"/>
              <a:buFont typeface="Inter Light"/>
              <a:buNone/>
              <a:defRPr>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cxnSp>
        <p:nvCxnSpPr>
          <p:cNvPr id="150" name="Google Shape;150;p31"/>
          <p:cNvCxnSpPr/>
          <p:nvPr/>
        </p:nvCxnSpPr>
        <p:spPr>
          <a:xfrm>
            <a:off x="457200" y="680813"/>
            <a:ext cx="8230800" cy="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slide 2">
  <p:cSld name="Standard slide 2">
    <p:spTree>
      <p:nvGrpSpPr>
        <p:cNvPr id="151" name="Shape 151"/>
        <p:cNvGrpSpPr/>
        <p:nvPr/>
      </p:nvGrpSpPr>
      <p:grpSpPr>
        <a:xfrm>
          <a:off x="0" y="0"/>
          <a:ext cx="0" cy="0"/>
          <a:chOff x="0" y="0"/>
          <a:chExt cx="0" cy="0"/>
        </a:xfrm>
      </p:grpSpPr>
      <p:pic>
        <p:nvPicPr>
          <p:cNvPr descr="A picture containing indoor, person, automaton&#10;&#10;Description automatically generated" id="152" name="Google Shape;152;p32"/>
          <p:cNvPicPr preferRelativeResize="0"/>
          <p:nvPr/>
        </p:nvPicPr>
        <p:blipFill rotWithShape="1">
          <a:blip r:embed="rId2">
            <a:alphaModFix amt="20000"/>
          </a:blip>
          <a:srcRect b="0" l="0" r="0" t="0"/>
          <a:stretch/>
        </p:blipFill>
        <p:spPr>
          <a:xfrm>
            <a:off x="0" y="-1"/>
            <a:ext cx="9143996" cy="5143502"/>
          </a:xfrm>
          <a:prstGeom prst="rect">
            <a:avLst/>
          </a:prstGeom>
          <a:noFill/>
          <a:ln>
            <a:noFill/>
          </a:ln>
        </p:spPr>
      </p:pic>
      <p:sp>
        <p:nvSpPr>
          <p:cNvPr id="153" name="Google Shape;153;p32"/>
          <p:cNvSpPr/>
          <p:nvPr/>
        </p:nvSpPr>
        <p:spPr>
          <a:xfrm>
            <a:off x="0" y="0"/>
            <a:ext cx="9144000" cy="5143500"/>
          </a:xfrm>
          <a:prstGeom prst="rect">
            <a:avLst/>
          </a:prstGeom>
          <a:solidFill>
            <a:schemeClr val="lt2">
              <a:alpha val="26670"/>
            </a:schemeClr>
          </a:solid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t/>
            </a:r>
            <a:endParaRPr b="0" i="0" sz="900" u="none" cap="none" strike="noStrike">
              <a:solidFill>
                <a:schemeClr val="dk1"/>
              </a:solidFill>
              <a:latin typeface="Inter Light"/>
              <a:ea typeface="Inter Light"/>
              <a:cs typeface="Inter Light"/>
              <a:sym typeface="Inter Light"/>
            </a:endParaRPr>
          </a:p>
        </p:txBody>
      </p:sp>
      <p:sp>
        <p:nvSpPr>
          <p:cNvPr id="154" name="Google Shape;154;p32"/>
          <p:cNvSpPr txBox="1"/>
          <p:nvPr>
            <p:ph type="title"/>
          </p:nvPr>
        </p:nvSpPr>
        <p:spPr>
          <a:xfrm>
            <a:off x="457201" y="220650"/>
            <a:ext cx="8229600" cy="4428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1800"/>
              <a:buFont typeface="Inter Light"/>
              <a:buNone/>
              <a:defRPr sz="18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2">
  <p:cSld name="TITLE_2_1_1_2_2">
    <p:bg>
      <p:bgPr>
        <a:solidFill>
          <a:srgbClr val="000000"/>
        </a:solidFill>
      </p:bgPr>
    </p:bg>
    <p:spTree>
      <p:nvGrpSpPr>
        <p:cNvPr id="155" name="Shape 155"/>
        <p:cNvGrpSpPr/>
        <p:nvPr/>
      </p:nvGrpSpPr>
      <p:grpSpPr>
        <a:xfrm>
          <a:off x="0" y="0"/>
          <a:ext cx="0" cy="0"/>
          <a:chOff x="0" y="0"/>
          <a:chExt cx="0" cy="0"/>
        </a:xfrm>
      </p:grpSpPr>
      <p:sp>
        <p:nvSpPr>
          <p:cNvPr id="156" name="Google Shape;156;p33"/>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chemeClr val="lt1"/>
              </a:buClr>
              <a:buSzPts val="2000"/>
              <a:buNone/>
              <a:defRPr sz="2000">
                <a:solidFill>
                  <a:schemeClr val="lt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57" name="Google Shape;157;p33"/>
          <p:cNvSpPr txBox="1"/>
          <p:nvPr>
            <p:ph idx="1" type="body"/>
          </p:nvPr>
        </p:nvSpPr>
        <p:spPr>
          <a:xfrm>
            <a:off x="4935755" y="1139150"/>
            <a:ext cx="3771000" cy="3416400"/>
          </a:xfrm>
          <a:prstGeom prst="rect">
            <a:avLst/>
          </a:prstGeom>
          <a:noFill/>
          <a:ln>
            <a:noFill/>
          </a:ln>
        </p:spPr>
        <p:txBody>
          <a:bodyPr anchorCtr="0" anchor="t" bIns="91400" lIns="91400" spcFirstLastPara="1" rIns="91400" wrap="square" tIns="91400">
            <a:noAutofit/>
          </a:bodyPr>
          <a:lstStyle>
            <a:lvl1pPr indent="-228600" lvl="0" marL="457200" algn="l">
              <a:lnSpc>
                <a:spcPct val="100000"/>
              </a:lnSpc>
              <a:spcBef>
                <a:spcPts val="0"/>
              </a:spcBef>
              <a:spcAft>
                <a:spcPts val="0"/>
              </a:spcAft>
              <a:buSzPts val="1500"/>
              <a:buNone/>
              <a:defRPr sz="1500"/>
            </a:lvl1pPr>
            <a:lvl2pPr indent="-228600" lvl="1" marL="914400" algn="l">
              <a:lnSpc>
                <a:spcPct val="100000"/>
              </a:lnSpc>
              <a:spcBef>
                <a:spcPts val="0"/>
              </a:spcBef>
              <a:spcAft>
                <a:spcPts val="0"/>
              </a:spcAft>
              <a:buSzPts val="1500"/>
              <a:buNone/>
              <a:defRPr sz="1500"/>
            </a:lvl2pPr>
            <a:lvl3pPr indent="-228600" lvl="2" marL="1371600" algn="l">
              <a:lnSpc>
                <a:spcPct val="100000"/>
              </a:lnSpc>
              <a:spcBef>
                <a:spcPts val="0"/>
              </a:spcBef>
              <a:spcAft>
                <a:spcPts val="0"/>
              </a:spcAft>
              <a:buSzPts val="1500"/>
              <a:buNone/>
              <a:defRPr sz="1500"/>
            </a:lvl3pPr>
            <a:lvl4pPr indent="-228600" lvl="3" marL="1828800" algn="l">
              <a:lnSpc>
                <a:spcPct val="100000"/>
              </a:lnSpc>
              <a:spcBef>
                <a:spcPts val="0"/>
              </a:spcBef>
              <a:spcAft>
                <a:spcPts val="0"/>
              </a:spcAft>
              <a:buSzPts val="1500"/>
              <a:buNone/>
              <a:defRPr sz="1500"/>
            </a:lvl4pPr>
            <a:lvl5pPr indent="-228600" lvl="4" marL="2286000" algn="l">
              <a:lnSpc>
                <a:spcPct val="100000"/>
              </a:lnSpc>
              <a:spcBef>
                <a:spcPts val="0"/>
              </a:spcBef>
              <a:spcAft>
                <a:spcPts val="0"/>
              </a:spcAft>
              <a:buSzPts val="1500"/>
              <a:buNone/>
              <a:defRPr sz="1500"/>
            </a:lvl5pPr>
            <a:lvl6pPr indent="-323850" lvl="5" marL="2743200" algn="l">
              <a:lnSpc>
                <a:spcPct val="100000"/>
              </a:lnSpc>
              <a:spcBef>
                <a:spcPts val="0"/>
              </a:spcBef>
              <a:spcAft>
                <a:spcPts val="0"/>
              </a:spcAft>
              <a:buSzPts val="1500"/>
              <a:buChar char="•"/>
              <a:defRPr sz="1500"/>
            </a:lvl6pPr>
            <a:lvl7pPr indent="-323850" lvl="6" marL="3200400" algn="l">
              <a:lnSpc>
                <a:spcPct val="100000"/>
              </a:lnSpc>
              <a:spcBef>
                <a:spcPts val="0"/>
              </a:spcBef>
              <a:spcAft>
                <a:spcPts val="0"/>
              </a:spcAft>
              <a:buSzPts val="1500"/>
              <a:buChar char="•"/>
              <a:defRPr sz="1500"/>
            </a:lvl7pPr>
            <a:lvl8pPr indent="-323850" lvl="7" marL="3657600" algn="l">
              <a:lnSpc>
                <a:spcPct val="100000"/>
              </a:lnSpc>
              <a:spcBef>
                <a:spcPts val="0"/>
              </a:spcBef>
              <a:spcAft>
                <a:spcPts val="0"/>
              </a:spcAft>
              <a:buSzPts val="1500"/>
              <a:buChar char="•"/>
              <a:defRPr sz="1500"/>
            </a:lvl8pPr>
            <a:lvl9pPr indent="-323850" lvl="8" marL="4114800" algn="l">
              <a:lnSpc>
                <a:spcPct val="100000"/>
              </a:lnSpc>
              <a:spcBef>
                <a:spcPts val="0"/>
              </a:spcBef>
              <a:spcAft>
                <a:spcPts val="0"/>
              </a:spcAft>
              <a:buSzPts val="1500"/>
              <a:buChar char="•"/>
              <a:defRPr sz="1500"/>
            </a:lvl9pPr>
          </a:lstStyle>
          <a:p/>
        </p:txBody>
      </p:sp>
      <p:sp>
        <p:nvSpPr>
          <p:cNvPr id="158" name="Google Shape;158;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kills Gradient" type="tx">
  <p:cSld name="TITLE_AND_BODY">
    <p:bg>
      <p:bgPr>
        <a:gradFill>
          <a:gsLst>
            <a:gs pos="0">
              <a:schemeClr val="accent1"/>
            </a:gs>
            <a:gs pos="100000">
              <a:schemeClr val="accent2"/>
            </a:gs>
          </a:gsLst>
          <a:lin ang="0" scaled="0"/>
        </a:gradFill>
      </p:bgPr>
    </p:bg>
    <p:spTree>
      <p:nvGrpSpPr>
        <p:cNvPr id="159" name="Shape 159"/>
        <p:cNvGrpSpPr/>
        <p:nvPr/>
      </p:nvGrpSpPr>
      <p:grpSpPr>
        <a:xfrm>
          <a:off x="0" y="0"/>
          <a:ext cx="0" cy="0"/>
          <a:chOff x="0" y="0"/>
          <a:chExt cx="0" cy="0"/>
        </a:xfrm>
      </p:grpSpPr>
      <p:sp>
        <p:nvSpPr>
          <p:cNvPr id="160" name="Google Shape;160;p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showMasterSp="0">
  <p:cSld name="Title Slide">
    <p:spTree>
      <p:nvGrpSpPr>
        <p:cNvPr id="161" name="Shape 161"/>
        <p:cNvGrpSpPr/>
        <p:nvPr/>
      </p:nvGrpSpPr>
      <p:grpSpPr>
        <a:xfrm>
          <a:off x="0" y="0"/>
          <a:ext cx="0" cy="0"/>
          <a:chOff x="0" y="0"/>
          <a:chExt cx="0" cy="0"/>
        </a:xfrm>
      </p:grpSpPr>
      <p:sp>
        <p:nvSpPr>
          <p:cNvPr id="162" name="Google Shape;162;p35"/>
          <p:cNvSpPr/>
          <p:nvPr/>
        </p:nvSpPr>
        <p:spPr>
          <a:xfrm>
            <a:off x="0" y="0"/>
            <a:ext cx="9144000" cy="5143500"/>
          </a:xfrm>
          <a:custGeom>
            <a:rect b="b" l="l" r="r" t="t"/>
            <a:pathLst>
              <a:path extrusionOk="0" h="6858000" w="12192000">
                <a:moveTo>
                  <a:pt x="874713" y="873125"/>
                </a:moveTo>
                <a:lnTo>
                  <a:pt x="874713" y="5984875"/>
                </a:lnTo>
                <a:lnTo>
                  <a:pt x="11317288" y="5984875"/>
                </a:lnTo>
                <a:lnTo>
                  <a:pt x="11317288" y="873125"/>
                </a:lnTo>
                <a:close/>
                <a:moveTo>
                  <a:pt x="0" y="0"/>
                </a:moveTo>
                <a:lnTo>
                  <a:pt x="12192000" y="0"/>
                </a:lnTo>
                <a:lnTo>
                  <a:pt x="12192000" y="6858000"/>
                </a:lnTo>
                <a:lnTo>
                  <a:pt x="0" y="6858000"/>
                </a:ln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2700"/>
              <a:buFont typeface="Arial"/>
              <a:buNone/>
            </a:pPr>
            <a:r>
              <a:t/>
            </a:r>
            <a:endParaRPr b="0" i="0" sz="2700" u="none" cap="none" strike="noStrike">
              <a:solidFill>
                <a:schemeClr val="lt2"/>
              </a:solidFill>
              <a:latin typeface="Arial"/>
              <a:ea typeface="Arial"/>
              <a:cs typeface="Arial"/>
              <a:sym typeface="Arial"/>
            </a:endParaRPr>
          </a:p>
        </p:txBody>
      </p:sp>
      <p:pic>
        <p:nvPicPr>
          <p:cNvPr id="163" name="Google Shape;163;p35"/>
          <p:cNvPicPr preferRelativeResize="0"/>
          <p:nvPr/>
        </p:nvPicPr>
        <p:blipFill rotWithShape="1">
          <a:blip r:embed="rId2">
            <a:alphaModFix/>
          </a:blip>
          <a:srcRect b="0" l="0" r="0" t="0"/>
          <a:stretch/>
        </p:blipFill>
        <p:spPr>
          <a:xfrm>
            <a:off x="8572499" y="139266"/>
            <a:ext cx="400950" cy="437400"/>
          </a:xfrm>
          <a:prstGeom prst="rect">
            <a:avLst/>
          </a:prstGeom>
          <a:noFill/>
          <a:ln>
            <a:noFill/>
          </a:ln>
        </p:spPr>
      </p:pic>
      <p:sp>
        <p:nvSpPr>
          <p:cNvPr id="164" name="Google Shape;164;p35"/>
          <p:cNvSpPr txBox="1"/>
          <p:nvPr>
            <p:ph type="ctrTitle"/>
          </p:nvPr>
        </p:nvSpPr>
        <p:spPr>
          <a:xfrm>
            <a:off x="980035" y="1117765"/>
            <a:ext cx="6724500" cy="11682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3300"/>
              <a:buNone/>
              <a:defRPr b="1" i="0" sz="2400">
                <a:solidFill>
                  <a:schemeClr val="dk1"/>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5" name="Google Shape;165;p35"/>
          <p:cNvSpPr txBox="1"/>
          <p:nvPr>
            <p:ph idx="1" type="subTitle"/>
          </p:nvPr>
        </p:nvSpPr>
        <p:spPr>
          <a:xfrm>
            <a:off x="984619" y="2334798"/>
            <a:ext cx="6372300" cy="307800"/>
          </a:xfrm>
          <a:prstGeom prst="rect">
            <a:avLst/>
          </a:prstGeom>
          <a:noFill/>
          <a:ln>
            <a:noFill/>
          </a:ln>
        </p:spPr>
        <p:txBody>
          <a:bodyPr anchorCtr="0" anchor="t" bIns="0" lIns="0" spcFirstLastPara="1" rIns="0" wrap="square" tIns="0">
            <a:noAutofit/>
          </a:bodyPr>
          <a:lstStyle>
            <a:lvl1pPr lvl="0" algn="l">
              <a:lnSpc>
                <a:spcPct val="100000"/>
              </a:lnSpc>
              <a:spcBef>
                <a:spcPts val="800"/>
              </a:spcBef>
              <a:spcAft>
                <a:spcPts val="0"/>
              </a:spcAft>
              <a:buSzPts val="1500"/>
              <a:buFont typeface="Noto Sans Symbols"/>
              <a:buNone/>
              <a:defRPr b="0" i="0" sz="1500">
                <a:solidFill>
                  <a:schemeClr val="dk1"/>
                </a:solidFill>
                <a:latin typeface="Arial"/>
                <a:ea typeface="Arial"/>
                <a:cs typeface="Arial"/>
                <a:sym typeface="Arial"/>
              </a:defRPr>
            </a:lvl1pPr>
            <a:lvl2pPr lvl="1" algn="l">
              <a:lnSpc>
                <a:spcPct val="100000"/>
              </a:lnSpc>
              <a:spcBef>
                <a:spcPts val="700"/>
              </a:spcBef>
              <a:spcAft>
                <a:spcPts val="0"/>
              </a:spcAft>
              <a:buClr>
                <a:schemeClr val="dk1"/>
              </a:buClr>
              <a:buSzPts val="1400"/>
              <a:buChar char="•"/>
              <a:defRPr/>
            </a:lvl2pPr>
            <a:lvl3pPr lvl="2" algn="l">
              <a:lnSpc>
                <a:spcPct val="100000"/>
              </a:lnSpc>
              <a:spcBef>
                <a:spcPts val="700"/>
              </a:spcBef>
              <a:spcAft>
                <a:spcPts val="0"/>
              </a:spcAft>
              <a:buClr>
                <a:schemeClr val="dk1"/>
              </a:buClr>
              <a:buSzPts val="1400"/>
              <a:buChar char="•"/>
              <a:defRPr/>
            </a:lvl3pPr>
            <a:lvl4pPr lvl="3" algn="l">
              <a:lnSpc>
                <a:spcPct val="100000"/>
              </a:lnSpc>
              <a:spcBef>
                <a:spcPts val="700"/>
              </a:spcBef>
              <a:spcAft>
                <a:spcPts val="0"/>
              </a:spcAft>
              <a:buClr>
                <a:schemeClr val="dk1"/>
              </a:buClr>
              <a:buSzPts val="1400"/>
              <a:buChar char="•"/>
              <a:defRPr/>
            </a:lvl4pPr>
            <a:lvl5pPr lvl="4" algn="l">
              <a:lnSpc>
                <a:spcPct val="100000"/>
              </a:lnSpc>
              <a:spcBef>
                <a:spcPts val="700"/>
              </a:spcBef>
              <a:spcAft>
                <a:spcPts val="0"/>
              </a:spcAft>
              <a:buClr>
                <a:schemeClr val="dk1"/>
              </a:buClr>
              <a:buSzPts val="1400"/>
              <a:buChar char="•"/>
              <a:defRPr/>
            </a:lvl5pPr>
            <a:lvl6pPr lvl="5" algn="l">
              <a:lnSpc>
                <a:spcPct val="110000"/>
              </a:lnSpc>
              <a:spcBef>
                <a:spcPts val="700"/>
              </a:spcBef>
              <a:spcAft>
                <a:spcPts val="0"/>
              </a:spcAft>
              <a:buSzPts val="1400"/>
              <a:buChar char="•"/>
              <a:defRPr/>
            </a:lvl6pPr>
            <a:lvl7pPr lvl="6" algn="l">
              <a:lnSpc>
                <a:spcPct val="110000"/>
              </a:lnSpc>
              <a:spcBef>
                <a:spcPts val="700"/>
              </a:spcBef>
              <a:spcAft>
                <a:spcPts val="0"/>
              </a:spcAft>
              <a:buSzPts val="1400"/>
              <a:buChar char="•"/>
              <a:defRPr/>
            </a:lvl7pPr>
            <a:lvl8pPr lvl="7" algn="l">
              <a:lnSpc>
                <a:spcPct val="110000"/>
              </a:lnSpc>
              <a:spcBef>
                <a:spcPts val="700"/>
              </a:spcBef>
              <a:spcAft>
                <a:spcPts val="0"/>
              </a:spcAft>
              <a:buSzPts val="1400"/>
              <a:buChar char="•"/>
              <a:defRPr/>
            </a:lvl8pPr>
            <a:lvl9pPr lvl="8" algn="l">
              <a:lnSpc>
                <a:spcPct val="110000"/>
              </a:lnSpc>
              <a:spcBef>
                <a:spcPts val="700"/>
              </a:spcBef>
              <a:spcAft>
                <a:spcPts val="0"/>
              </a:spcAft>
              <a:buSzPts val="1400"/>
              <a:buChar char="•"/>
              <a:defRPr/>
            </a:lvl9pPr>
          </a:lstStyle>
          <a:p/>
        </p:txBody>
      </p:sp>
      <p:sp>
        <p:nvSpPr>
          <p:cNvPr id="166" name="Google Shape;166;p35"/>
          <p:cNvSpPr txBox="1"/>
          <p:nvPr>
            <p:ph idx="2" type="body"/>
          </p:nvPr>
        </p:nvSpPr>
        <p:spPr>
          <a:xfrm>
            <a:off x="984622" y="2900949"/>
            <a:ext cx="2787300" cy="212700"/>
          </a:xfrm>
          <a:prstGeom prst="rect">
            <a:avLst/>
          </a:prstGeom>
          <a:noFill/>
          <a:ln>
            <a:noFill/>
          </a:ln>
        </p:spPr>
        <p:txBody>
          <a:bodyPr anchorCtr="0" anchor="t" bIns="0" lIns="0" spcFirstLastPara="1" rIns="0" wrap="square" tIns="0">
            <a:noAutofit/>
          </a:bodyPr>
          <a:lstStyle>
            <a:lvl1pPr indent="-285750" lvl="0" marL="457200" algn="l">
              <a:lnSpc>
                <a:spcPct val="100000"/>
              </a:lnSpc>
              <a:spcBef>
                <a:spcPts val="500"/>
              </a:spcBef>
              <a:spcAft>
                <a:spcPts val="0"/>
              </a:spcAft>
              <a:buSzPts val="900"/>
              <a:buChar char="•"/>
              <a:defRPr sz="900">
                <a:latin typeface="Arial"/>
                <a:ea typeface="Arial"/>
                <a:cs typeface="Arial"/>
                <a:sym typeface="Arial"/>
              </a:defRPr>
            </a:lvl1pPr>
            <a:lvl2pPr indent="-317500" lvl="1" marL="914400" algn="l">
              <a:lnSpc>
                <a:spcPct val="100000"/>
              </a:lnSpc>
              <a:spcBef>
                <a:spcPts val="700"/>
              </a:spcBef>
              <a:spcAft>
                <a:spcPts val="0"/>
              </a:spcAft>
              <a:buClr>
                <a:schemeClr val="dk1"/>
              </a:buClr>
              <a:buSzPts val="1400"/>
              <a:buChar char="•"/>
              <a:defRPr/>
            </a:lvl2pPr>
            <a:lvl3pPr indent="-317500" lvl="2" marL="1371600" algn="l">
              <a:lnSpc>
                <a:spcPct val="100000"/>
              </a:lnSpc>
              <a:spcBef>
                <a:spcPts val="700"/>
              </a:spcBef>
              <a:spcAft>
                <a:spcPts val="0"/>
              </a:spcAft>
              <a:buClr>
                <a:schemeClr val="dk1"/>
              </a:buClr>
              <a:buSzPts val="1400"/>
              <a:buChar char="•"/>
              <a:defRPr/>
            </a:lvl3pPr>
            <a:lvl4pPr indent="-317500" lvl="3" marL="1828800" algn="l">
              <a:lnSpc>
                <a:spcPct val="100000"/>
              </a:lnSpc>
              <a:spcBef>
                <a:spcPts val="700"/>
              </a:spcBef>
              <a:spcAft>
                <a:spcPts val="0"/>
              </a:spcAft>
              <a:buClr>
                <a:schemeClr val="dk1"/>
              </a:buClr>
              <a:buSzPts val="1400"/>
              <a:buChar char="•"/>
              <a:defRPr/>
            </a:lvl4pPr>
            <a:lvl5pPr indent="-317500" lvl="4" marL="2286000" algn="l">
              <a:lnSpc>
                <a:spcPct val="100000"/>
              </a:lnSpc>
              <a:spcBef>
                <a:spcPts val="700"/>
              </a:spcBef>
              <a:spcAft>
                <a:spcPts val="0"/>
              </a:spcAft>
              <a:buClr>
                <a:schemeClr val="dk1"/>
              </a:buClr>
              <a:buSzPts val="1400"/>
              <a:buChar char="•"/>
              <a:defRPr/>
            </a:lvl5pPr>
            <a:lvl6pPr indent="-317500" lvl="5" marL="2743200" algn="l">
              <a:lnSpc>
                <a:spcPct val="110000"/>
              </a:lnSpc>
              <a:spcBef>
                <a:spcPts val="700"/>
              </a:spcBef>
              <a:spcAft>
                <a:spcPts val="0"/>
              </a:spcAft>
              <a:buSzPts val="1400"/>
              <a:buChar char="•"/>
              <a:defRPr/>
            </a:lvl6pPr>
            <a:lvl7pPr indent="-317500" lvl="6" marL="3200400" algn="l">
              <a:lnSpc>
                <a:spcPct val="110000"/>
              </a:lnSpc>
              <a:spcBef>
                <a:spcPts val="700"/>
              </a:spcBef>
              <a:spcAft>
                <a:spcPts val="0"/>
              </a:spcAft>
              <a:buSzPts val="1400"/>
              <a:buChar char="•"/>
              <a:defRPr/>
            </a:lvl7pPr>
            <a:lvl8pPr indent="-317500" lvl="7" marL="3657600" algn="l">
              <a:lnSpc>
                <a:spcPct val="110000"/>
              </a:lnSpc>
              <a:spcBef>
                <a:spcPts val="700"/>
              </a:spcBef>
              <a:spcAft>
                <a:spcPts val="0"/>
              </a:spcAft>
              <a:buSzPts val="1400"/>
              <a:buChar char="•"/>
              <a:defRPr/>
            </a:lvl8pPr>
            <a:lvl9pPr indent="-317500" lvl="8" marL="4114800" algn="l">
              <a:lnSpc>
                <a:spcPct val="110000"/>
              </a:lnSpc>
              <a:spcBef>
                <a:spcPts val="700"/>
              </a:spcBef>
              <a:spcAft>
                <a:spcPts val="0"/>
              </a:spcAft>
              <a:buSzPts val="1400"/>
              <a:buChar char="•"/>
              <a:defRPr/>
            </a:lvl9pPr>
          </a:lstStyle>
          <a:p/>
        </p:txBody>
      </p:sp>
      <p:sp>
        <p:nvSpPr>
          <p:cNvPr id="167" name="Google Shape;167;p35"/>
          <p:cNvSpPr txBox="1"/>
          <p:nvPr>
            <p:ph idx="3" type="body"/>
          </p:nvPr>
        </p:nvSpPr>
        <p:spPr>
          <a:xfrm>
            <a:off x="984622" y="3113680"/>
            <a:ext cx="2787300" cy="212700"/>
          </a:xfrm>
          <a:prstGeom prst="rect">
            <a:avLst/>
          </a:prstGeom>
          <a:noFill/>
          <a:ln>
            <a:noFill/>
          </a:ln>
        </p:spPr>
        <p:txBody>
          <a:bodyPr anchorCtr="0" anchor="t" bIns="0" lIns="0" spcFirstLastPara="1" rIns="0" wrap="square" tIns="0">
            <a:noAutofit/>
          </a:bodyPr>
          <a:lstStyle>
            <a:lvl1pPr indent="-285750" lvl="0" marL="457200" algn="l">
              <a:lnSpc>
                <a:spcPct val="100000"/>
              </a:lnSpc>
              <a:spcBef>
                <a:spcPts val="500"/>
              </a:spcBef>
              <a:spcAft>
                <a:spcPts val="0"/>
              </a:spcAft>
              <a:buSzPts val="900"/>
              <a:buChar char="•"/>
              <a:defRPr sz="900">
                <a:latin typeface="Arial"/>
                <a:ea typeface="Arial"/>
                <a:cs typeface="Arial"/>
                <a:sym typeface="Arial"/>
              </a:defRPr>
            </a:lvl1pPr>
            <a:lvl2pPr indent="-317500" lvl="1" marL="914400" algn="l">
              <a:lnSpc>
                <a:spcPct val="100000"/>
              </a:lnSpc>
              <a:spcBef>
                <a:spcPts val="700"/>
              </a:spcBef>
              <a:spcAft>
                <a:spcPts val="0"/>
              </a:spcAft>
              <a:buClr>
                <a:schemeClr val="dk1"/>
              </a:buClr>
              <a:buSzPts val="1400"/>
              <a:buChar char="•"/>
              <a:defRPr/>
            </a:lvl2pPr>
            <a:lvl3pPr indent="-317500" lvl="2" marL="1371600" algn="l">
              <a:lnSpc>
                <a:spcPct val="100000"/>
              </a:lnSpc>
              <a:spcBef>
                <a:spcPts val="700"/>
              </a:spcBef>
              <a:spcAft>
                <a:spcPts val="0"/>
              </a:spcAft>
              <a:buClr>
                <a:schemeClr val="dk1"/>
              </a:buClr>
              <a:buSzPts val="1400"/>
              <a:buChar char="•"/>
              <a:defRPr/>
            </a:lvl3pPr>
            <a:lvl4pPr indent="-317500" lvl="3" marL="1828800" algn="l">
              <a:lnSpc>
                <a:spcPct val="100000"/>
              </a:lnSpc>
              <a:spcBef>
                <a:spcPts val="700"/>
              </a:spcBef>
              <a:spcAft>
                <a:spcPts val="0"/>
              </a:spcAft>
              <a:buClr>
                <a:schemeClr val="dk1"/>
              </a:buClr>
              <a:buSzPts val="1400"/>
              <a:buChar char="•"/>
              <a:defRPr/>
            </a:lvl4pPr>
            <a:lvl5pPr indent="-317500" lvl="4" marL="2286000" algn="l">
              <a:lnSpc>
                <a:spcPct val="100000"/>
              </a:lnSpc>
              <a:spcBef>
                <a:spcPts val="700"/>
              </a:spcBef>
              <a:spcAft>
                <a:spcPts val="0"/>
              </a:spcAft>
              <a:buClr>
                <a:schemeClr val="dk1"/>
              </a:buClr>
              <a:buSzPts val="1400"/>
              <a:buChar char="•"/>
              <a:defRPr/>
            </a:lvl5pPr>
            <a:lvl6pPr indent="-317500" lvl="5" marL="2743200" algn="l">
              <a:lnSpc>
                <a:spcPct val="110000"/>
              </a:lnSpc>
              <a:spcBef>
                <a:spcPts val="700"/>
              </a:spcBef>
              <a:spcAft>
                <a:spcPts val="0"/>
              </a:spcAft>
              <a:buSzPts val="1400"/>
              <a:buChar char="•"/>
              <a:defRPr/>
            </a:lvl6pPr>
            <a:lvl7pPr indent="-317500" lvl="6" marL="3200400" algn="l">
              <a:lnSpc>
                <a:spcPct val="110000"/>
              </a:lnSpc>
              <a:spcBef>
                <a:spcPts val="700"/>
              </a:spcBef>
              <a:spcAft>
                <a:spcPts val="0"/>
              </a:spcAft>
              <a:buSzPts val="1400"/>
              <a:buChar char="•"/>
              <a:defRPr/>
            </a:lvl7pPr>
            <a:lvl8pPr indent="-317500" lvl="7" marL="3657600" algn="l">
              <a:lnSpc>
                <a:spcPct val="110000"/>
              </a:lnSpc>
              <a:spcBef>
                <a:spcPts val="700"/>
              </a:spcBef>
              <a:spcAft>
                <a:spcPts val="0"/>
              </a:spcAft>
              <a:buSzPts val="1400"/>
              <a:buChar char="•"/>
              <a:defRPr/>
            </a:lvl8pPr>
            <a:lvl9pPr indent="-317500" lvl="8" marL="4114800" algn="l">
              <a:lnSpc>
                <a:spcPct val="110000"/>
              </a:lnSpc>
              <a:spcBef>
                <a:spcPts val="700"/>
              </a:spcBef>
              <a:spcAft>
                <a:spcPts val="0"/>
              </a:spcAft>
              <a:buSzPts val="1400"/>
              <a:buChar char="•"/>
              <a:defRPr/>
            </a:lvl9pPr>
          </a:lstStyle>
          <a:p/>
        </p:txBody>
      </p:sp>
      <p:pic>
        <p:nvPicPr>
          <p:cNvPr id="168" name="Google Shape;168;p35"/>
          <p:cNvPicPr preferRelativeResize="0"/>
          <p:nvPr/>
        </p:nvPicPr>
        <p:blipFill rotWithShape="1">
          <a:blip r:embed="rId3">
            <a:alphaModFix/>
          </a:blip>
          <a:srcRect b="0" l="0" r="0" t="0"/>
          <a:stretch/>
        </p:blipFill>
        <p:spPr>
          <a:xfrm>
            <a:off x="991280" y="3642268"/>
            <a:ext cx="1735143" cy="2943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2.xml"/><Relationship Id="rId11" Type="http://schemas.openxmlformats.org/officeDocument/2006/relationships/slideLayout" Target="../slideLayouts/slideLayout23.xml"/><Relationship Id="rId22" Type="http://schemas.openxmlformats.org/officeDocument/2006/relationships/theme" Target="../theme/theme2.xml"/><Relationship Id="rId10" Type="http://schemas.openxmlformats.org/officeDocument/2006/relationships/slideLayout" Target="../slideLayouts/slideLayout22.xml"/><Relationship Id="rId21" Type="http://schemas.openxmlformats.org/officeDocument/2006/relationships/slideLayout" Target="../slideLayouts/slideLayout33.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7" Type="http://schemas.openxmlformats.org/officeDocument/2006/relationships/slideLayout" Target="../slideLayouts/slideLayout29.xml"/><Relationship Id="rId16" Type="http://schemas.openxmlformats.org/officeDocument/2006/relationships/slideLayout" Target="../slideLayouts/slideLayout28.xml"/><Relationship Id="rId5" Type="http://schemas.openxmlformats.org/officeDocument/2006/relationships/slideLayout" Target="../slideLayouts/slideLayout17.xml"/><Relationship Id="rId19" Type="http://schemas.openxmlformats.org/officeDocument/2006/relationships/slideLayout" Target="../slideLayouts/slideLayout31.xml"/><Relationship Id="rId6" Type="http://schemas.openxmlformats.org/officeDocument/2006/relationships/slideLayout" Target="../slideLayouts/slideLayout18.xml"/><Relationship Id="rId18" Type="http://schemas.openxmlformats.org/officeDocument/2006/relationships/slideLayout" Target="../slideLayouts/slideLayout30.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marR="0" algn="l">
              <a:lnSpc>
                <a:spcPct val="90000"/>
              </a:lnSpc>
              <a:spcBef>
                <a:spcPts val="0"/>
              </a:spcBef>
              <a:spcAft>
                <a:spcPts val="0"/>
              </a:spcAft>
              <a:buClr>
                <a:schemeClr val="dk1"/>
              </a:buClr>
              <a:buSzPts val="3300"/>
              <a:buFont typeface="Century Gothic"/>
              <a:buNone/>
              <a:defRPr b="0" i="0" sz="3300" u="none" cap="none" strike="noStrike">
                <a:solidFill>
                  <a:schemeClr val="dk1"/>
                </a:solidFill>
                <a:latin typeface="Century Gothic"/>
                <a:ea typeface="Century Gothic"/>
                <a:cs typeface="Century Gothic"/>
                <a:sym typeface="Century Gothic"/>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5" name="Google Shape;55;p1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6" name="Google Shape;56;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7" name="Google Shape;57;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8" name="Google Shape;58;p14"/>
          <p:cNvSpPr/>
          <p:nvPr/>
        </p:nvSpPr>
        <p:spPr>
          <a:xfrm>
            <a:off x="8943975" y="0"/>
            <a:ext cx="200100" cy="5143500"/>
          </a:xfrm>
          <a:prstGeom prst="rect">
            <a:avLst/>
          </a:prstGeom>
          <a:solidFill>
            <a:srgbClr val="99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59" name="Google Shape;59;p14"/>
          <p:cNvCxnSpPr/>
          <p:nvPr/>
        </p:nvCxnSpPr>
        <p:spPr>
          <a:xfrm>
            <a:off x="454144" y="4904187"/>
            <a:ext cx="8391600" cy="0"/>
          </a:xfrm>
          <a:prstGeom prst="straightConnector1">
            <a:avLst/>
          </a:prstGeom>
          <a:noFill/>
          <a:ln cap="flat" cmpd="sng" w="9525">
            <a:solidFill>
              <a:srgbClr val="455262"/>
            </a:solidFill>
            <a:prstDash val="solid"/>
            <a:miter lim="800000"/>
            <a:headEnd len="sm" w="sm" type="none"/>
            <a:tailEnd len="sm" w="sm" type="none"/>
          </a:ln>
        </p:spPr>
      </p:cxnSp>
      <p:sp>
        <p:nvSpPr>
          <p:cNvPr id="60" name="Google Shape;60;p14"/>
          <p:cNvSpPr txBox="1"/>
          <p:nvPr>
            <p:ph idx="12" type="sldNum"/>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lvl1pPr indent="0" lvl="0" marL="0" marR="0" algn="ctr">
              <a:spcBef>
                <a:spcPts val="0"/>
              </a:spcBef>
              <a:buNone/>
              <a:defRPr b="0" i="0" sz="900" u="none" cap="none" strike="noStrike">
                <a:solidFill>
                  <a:schemeClr val="lt1"/>
                </a:solidFill>
                <a:latin typeface="Calibri"/>
                <a:ea typeface="Calibri"/>
                <a:cs typeface="Calibri"/>
                <a:sym typeface="Calibri"/>
              </a:defRPr>
            </a:lvl1pPr>
            <a:lvl2pPr indent="0" lvl="1" marL="0" marR="0" algn="ctr">
              <a:spcBef>
                <a:spcPts val="0"/>
              </a:spcBef>
              <a:buNone/>
              <a:defRPr b="0" i="0" sz="900" u="none" cap="none" strike="noStrike">
                <a:solidFill>
                  <a:schemeClr val="lt1"/>
                </a:solidFill>
                <a:latin typeface="Calibri"/>
                <a:ea typeface="Calibri"/>
                <a:cs typeface="Calibri"/>
                <a:sym typeface="Calibri"/>
              </a:defRPr>
            </a:lvl2pPr>
            <a:lvl3pPr indent="0" lvl="2" marL="0" marR="0" algn="ctr">
              <a:spcBef>
                <a:spcPts val="0"/>
              </a:spcBef>
              <a:buNone/>
              <a:defRPr b="0" i="0" sz="900" u="none" cap="none" strike="noStrike">
                <a:solidFill>
                  <a:schemeClr val="lt1"/>
                </a:solidFill>
                <a:latin typeface="Calibri"/>
                <a:ea typeface="Calibri"/>
                <a:cs typeface="Calibri"/>
                <a:sym typeface="Calibri"/>
              </a:defRPr>
            </a:lvl3pPr>
            <a:lvl4pPr indent="0" lvl="3" marL="0" marR="0" algn="ctr">
              <a:spcBef>
                <a:spcPts val="0"/>
              </a:spcBef>
              <a:buNone/>
              <a:defRPr b="0" i="0" sz="900" u="none" cap="none" strike="noStrike">
                <a:solidFill>
                  <a:schemeClr val="lt1"/>
                </a:solidFill>
                <a:latin typeface="Calibri"/>
                <a:ea typeface="Calibri"/>
                <a:cs typeface="Calibri"/>
                <a:sym typeface="Calibri"/>
              </a:defRPr>
            </a:lvl4pPr>
            <a:lvl5pPr indent="0" lvl="4" marL="0" marR="0" algn="ctr">
              <a:spcBef>
                <a:spcPts val="0"/>
              </a:spcBef>
              <a:buNone/>
              <a:defRPr b="0" i="0" sz="900" u="none" cap="none" strike="noStrike">
                <a:solidFill>
                  <a:schemeClr val="lt1"/>
                </a:solidFill>
                <a:latin typeface="Calibri"/>
                <a:ea typeface="Calibri"/>
                <a:cs typeface="Calibri"/>
                <a:sym typeface="Calibri"/>
              </a:defRPr>
            </a:lvl5pPr>
            <a:lvl6pPr indent="0" lvl="5" marL="0" marR="0" algn="ctr">
              <a:spcBef>
                <a:spcPts val="0"/>
              </a:spcBef>
              <a:buNone/>
              <a:defRPr b="0" i="0" sz="900" u="none" cap="none" strike="noStrike">
                <a:solidFill>
                  <a:schemeClr val="lt1"/>
                </a:solidFill>
                <a:latin typeface="Calibri"/>
                <a:ea typeface="Calibri"/>
                <a:cs typeface="Calibri"/>
                <a:sym typeface="Calibri"/>
              </a:defRPr>
            </a:lvl6pPr>
            <a:lvl7pPr indent="0" lvl="6" marL="0" marR="0" algn="ctr">
              <a:spcBef>
                <a:spcPts val="0"/>
              </a:spcBef>
              <a:buNone/>
              <a:defRPr b="0" i="0" sz="900" u="none" cap="none" strike="noStrike">
                <a:solidFill>
                  <a:schemeClr val="lt1"/>
                </a:solidFill>
                <a:latin typeface="Calibri"/>
                <a:ea typeface="Calibri"/>
                <a:cs typeface="Calibri"/>
                <a:sym typeface="Calibri"/>
              </a:defRPr>
            </a:lvl7pPr>
            <a:lvl8pPr indent="0" lvl="7" marL="0" marR="0" algn="ctr">
              <a:spcBef>
                <a:spcPts val="0"/>
              </a:spcBef>
              <a:buNone/>
              <a:defRPr b="0" i="0" sz="900" u="none" cap="none" strike="noStrike">
                <a:solidFill>
                  <a:schemeClr val="lt1"/>
                </a:solidFill>
                <a:latin typeface="Calibri"/>
                <a:ea typeface="Calibri"/>
                <a:cs typeface="Calibri"/>
                <a:sym typeface="Calibri"/>
              </a:defRPr>
            </a:lvl8pPr>
            <a:lvl9pPr indent="0" lvl="8" marL="0" marR="0" algn="ctr">
              <a:spcBef>
                <a:spcPts val="0"/>
              </a:spcBef>
              <a:buNone/>
              <a:defRPr b="0" i="0" sz="900" u="none" cap="none" strike="noStrike">
                <a:solidFill>
                  <a:schemeClr val="lt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
              <a:t>‹#›</a:t>
            </a:fld>
            <a:endParaRPr/>
          </a:p>
        </p:txBody>
      </p:sp>
      <p:sp>
        <p:nvSpPr>
          <p:cNvPr id="61" name="Google Shape;61;p14"/>
          <p:cNvSpPr/>
          <p:nvPr/>
        </p:nvSpPr>
        <p:spPr>
          <a:xfrm>
            <a:off x="752475" y="5042467"/>
            <a:ext cx="750900" cy="101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hyperlink" Target="https://www.geeksforgeeks.org/machine-learning/understanding-logistic-regress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1.xml"/><Relationship Id="rId3"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29.png"/><Relationship Id="rId4" Type="http://schemas.openxmlformats.org/officeDocument/2006/relationships/hyperlink" Target="https://www.geeksforgeeks.org/machine-learning/decision-tree-introduction-example/"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31.png"/><Relationship Id="rId4" Type="http://schemas.openxmlformats.org/officeDocument/2006/relationships/hyperlink" Target="https://www.geeksforgeeks.org/machine-learning/decision-tree-introduction-example/"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28.png"/><Relationship Id="rId4" Type="http://schemas.openxmlformats.org/officeDocument/2006/relationships/hyperlink" Target="https://www.geeksforgeeks.org/machine-learning/decision-tree-introduction-example/"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34.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5.xml"/><Relationship Id="rId3" Type="http://schemas.openxmlformats.org/officeDocument/2006/relationships/image" Target="../media/image36.png"/><Relationship Id="rId4" Type="http://schemas.openxmlformats.org/officeDocument/2006/relationships/image" Target="../media/image30.png"/><Relationship Id="rId5" Type="http://schemas.openxmlformats.org/officeDocument/2006/relationships/image" Target="../media/image5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6.xml"/><Relationship Id="rId3" Type="http://schemas.openxmlformats.org/officeDocument/2006/relationships/image" Target="../media/image32.png"/><Relationship Id="rId4" Type="http://schemas.openxmlformats.org/officeDocument/2006/relationships/image" Target="../media/image6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3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4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image" Target="../media/image5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4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 Id="rId3" Type="http://schemas.openxmlformats.org/officeDocument/2006/relationships/image" Target="../media/image4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image" Target="../media/image4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image" Target="../media/image4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5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image" Target="../media/image60.png"/><Relationship Id="rId4" Type="http://schemas.openxmlformats.org/officeDocument/2006/relationships/image" Target="../media/image56.png"/><Relationship Id="rId5" Type="http://schemas.openxmlformats.org/officeDocument/2006/relationships/image" Target="../media/image5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 Id="rId3" Type="http://schemas.openxmlformats.org/officeDocument/2006/relationships/image" Target="../media/image5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image" Target="../media/image2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 Id="rId3" Type="http://schemas.openxmlformats.org/officeDocument/2006/relationships/image" Target="../media/image58.png"/><Relationship Id="rId4" Type="http://schemas.openxmlformats.org/officeDocument/2006/relationships/image" Target="../media/image4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 Id="rId3" Type="http://schemas.openxmlformats.org/officeDocument/2006/relationships/image" Target="../media/image55.png"/><Relationship Id="rId4" Type="http://schemas.openxmlformats.org/officeDocument/2006/relationships/hyperlink" Target="https://www.geeksforgeeks.org/deep-learning/neural-networks-a-beginners-guide/"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4.xml"/><Relationship Id="rId3" Type="http://schemas.openxmlformats.org/officeDocument/2006/relationships/hyperlink" Target="https://www.geeksforgeeks.org/deep-learning/neural-networks-a-beginners-guide/"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 Id="rId3" Type="http://schemas.openxmlformats.org/officeDocument/2006/relationships/image" Target="../media/image5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 Id="rId3" Type="http://schemas.openxmlformats.org/officeDocument/2006/relationships/image" Target="../media/image6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 Id="rId3" Type="http://schemas.openxmlformats.org/officeDocument/2006/relationships/hyperlink" Target="https://www.geeksforgeeks.org/deep-learning/relu-activation-function-in-deep-learning/"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9.xml"/><Relationship Id="rId3" Type="http://schemas.openxmlformats.org/officeDocument/2006/relationships/image" Target="../media/image54.png"/><Relationship Id="rId4" Type="http://schemas.openxmlformats.org/officeDocument/2006/relationships/image" Target="../media/image6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0.xml"/><Relationship Id="rId3" Type="http://schemas.openxmlformats.org/officeDocument/2006/relationships/image" Target="../media/image54.png"/><Relationship Id="rId4" Type="http://schemas.openxmlformats.org/officeDocument/2006/relationships/image" Target="../media/image6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1.xml"/><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image" Target="../media/image2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 Id="rId3" Type="http://schemas.openxmlformats.org/officeDocument/2006/relationships/image" Target="../media/image7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6.xml"/><Relationship Id="rId3" Type="http://schemas.openxmlformats.org/officeDocument/2006/relationships/image" Target="../media/image6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1.xml"/><Relationship Id="rId3" Type="http://schemas.openxmlformats.org/officeDocument/2006/relationships/image" Target="../media/image6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 Id="rId3" Type="http://schemas.openxmlformats.org/officeDocument/2006/relationships/image" Target="../media/image7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5.xml"/><Relationship Id="rId3" Type="http://schemas.openxmlformats.org/officeDocument/2006/relationships/image" Target="../media/image6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6.xml"/><Relationship Id="rId3" Type="http://schemas.openxmlformats.org/officeDocument/2006/relationships/image" Target="../media/image6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7.xml"/><Relationship Id="rId3" Type="http://schemas.openxmlformats.org/officeDocument/2006/relationships/image" Target="../media/image66.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8.xml"/><Relationship Id="rId3" Type="http://schemas.openxmlformats.org/officeDocument/2006/relationships/image" Target="../media/image6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9.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36"/>
          <p:cNvPicPr preferRelativeResize="0"/>
          <p:nvPr/>
        </p:nvPicPr>
        <p:blipFill rotWithShape="1">
          <a:blip r:embed="rId3">
            <a:alphaModFix/>
          </a:blip>
          <a:srcRect b="0" l="0" r="0" t="27347"/>
          <a:stretch/>
        </p:blipFill>
        <p:spPr>
          <a:xfrm>
            <a:off x="0" y="0"/>
            <a:ext cx="9365268" cy="5393794"/>
          </a:xfrm>
          <a:prstGeom prst="rect">
            <a:avLst/>
          </a:prstGeom>
          <a:noFill/>
          <a:ln>
            <a:noFill/>
          </a:ln>
        </p:spPr>
      </p:pic>
      <p:sp>
        <p:nvSpPr>
          <p:cNvPr id="175" name="Google Shape;175;p36"/>
          <p:cNvSpPr/>
          <p:nvPr/>
        </p:nvSpPr>
        <p:spPr>
          <a:xfrm>
            <a:off x="56" y="0"/>
            <a:ext cx="9365100" cy="5393700"/>
          </a:xfrm>
          <a:prstGeom prst="rect">
            <a:avLst/>
          </a:prstGeom>
          <a:solidFill>
            <a:srgbClr val="00070A">
              <a:alpha val="51959"/>
            </a:srgbClr>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6" name="Google Shape;176;p36"/>
          <p:cNvSpPr/>
          <p:nvPr/>
        </p:nvSpPr>
        <p:spPr>
          <a:xfrm>
            <a:off x="1009650" y="1752600"/>
            <a:ext cx="8134500" cy="1752600"/>
          </a:xfrm>
          <a:prstGeom prst="rect">
            <a:avLst/>
          </a:prstGeom>
          <a:solidFill>
            <a:srgbClr val="000000">
              <a:alpha val="8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77" name="Google Shape;177;p36"/>
          <p:cNvSpPr/>
          <p:nvPr/>
        </p:nvSpPr>
        <p:spPr>
          <a:xfrm>
            <a:off x="1143000" y="-1"/>
            <a:ext cx="1790700" cy="1901700"/>
          </a:xfrm>
          <a:prstGeom prst="rect">
            <a:avLst/>
          </a:prstGeom>
          <a:solidFill>
            <a:srgbClr val="990000">
              <a:alpha val="7647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sz="1400">
              <a:solidFill>
                <a:schemeClr val="lt1"/>
              </a:solidFill>
              <a:latin typeface="Calibri"/>
              <a:ea typeface="Calibri"/>
              <a:cs typeface="Calibri"/>
              <a:sym typeface="Calibri"/>
            </a:endParaRPr>
          </a:p>
        </p:txBody>
      </p:sp>
      <p:sp>
        <p:nvSpPr>
          <p:cNvPr id="178" name="Google Shape;178;p36"/>
          <p:cNvSpPr/>
          <p:nvPr/>
        </p:nvSpPr>
        <p:spPr>
          <a:xfrm>
            <a:off x="5606143" y="3331028"/>
            <a:ext cx="750900" cy="500700"/>
          </a:xfrm>
          <a:prstGeom prst="rect">
            <a:avLst/>
          </a:prstGeom>
          <a:solidFill>
            <a:srgbClr val="990000">
              <a:alpha val="7647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sz="1400">
              <a:solidFill>
                <a:schemeClr val="lt1"/>
              </a:solidFill>
              <a:latin typeface="Calibri"/>
              <a:ea typeface="Calibri"/>
              <a:cs typeface="Calibri"/>
              <a:sym typeface="Calibri"/>
            </a:endParaRPr>
          </a:p>
        </p:txBody>
      </p:sp>
      <p:sp>
        <p:nvSpPr>
          <p:cNvPr id="179" name="Google Shape;179;p36"/>
          <p:cNvSpPr/>
          <p:nvPr/>
        </p:nvSpPr>
        <p:spPr>
          <a:xfrm>
            <a:off x="5606143" y="3902188"/>
            <a:ext cx="750900" cy="2022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80" name="Google Shape;180;p36"/>
          <p:cNvSpPr txBox="1"/>
          <p:nvPr/>
        </p:nvSpPr>
        <p:spPr>
          <a:xfrm>
            <a:off x="1535683" y="1985041"/>
            <a:ext cx="7533900" cy="55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4400">
                <a:solidFill>
                  <a:schemeClr val="lt1"/>
                </a:solidFill>
                <a:latin typeface="Century Gothic"/>
                <a:ea typeface="Century Gothic"/>
                <a:cs typeface="Century Gothic"/>
                <a:sym typeface="Century Gothic"/>
              </a:rPr>
              <a:t>Day:1 AI/ML for Beginners</a:t>
            </a:r>
            <a:endParaRPr b="1" sz="4400">
              <a:solidFill>
                <a:schemeClr val="lt1"/>
              </a:solidFill>
              <a:latin typeface="Century Gothic"/>
              <a:ea typeface="Century Gothic"/>
              <a:cs typeface="Century Gothic"/>
              <a:sym typeface="Century Gothic"/>
            </a:endParaRPr>
          </a:p>
          <a:p>
            <a:pPr indent="0" lvl="0" marL="0" rtl="0" algn="l">
              <a:spcBef>
                <a:spcPts val="0"/>
              </a:spcBef>
              <a:spcAft>
                <a:spcPts val="0"/>
              </a:spcAft>
              <a:buClr>
                <a:schemeClr val="dk1"/>
              </a:buClr>
              <a:buSzPts val="1100"/>
              <a:buFont typeface="Arial"/>
              <a:buNone/>
            </a:pPr>
            <a:r>
              <a:t/>
            </a:r>
            <a:endParaRPr b="1" sz="4400">
              <a:solidFill>
                <a:schemeClr val="lt1"/>
              </a:solidFill>
              <a:latin typeface="Century Gothic"/>
              <a:ea typeface="Century Gothic"/>
              <a:cs typeface="Century Gothic"/>
              <a:sym typeface="Century Gothic"/>
            </a:endParaRPr>
          </a:p>
          <a:p>
            <a:pPr indent="0" lvl="0" marL="0" rtl="0" algn="l">
              <a:spcBef>
                <a:spcPts val="0"/>
              </a:spcBef>
              <a:spcAft>
                <a:spcPts val="0"/>
              </a:spcAft>
              <a:buClr>
                <a:schemeClr val="dk1"/>
              </a:buClr>
              <a:buSzPts val="1100"/>
              <a:buFont typeface="Arial"/>
              <a:buNone/>
            </a:pPr>
            <a:r>
              <a:t/>
            </a:r>
            <a:endParaRPr b="1" sz="4400">
              <a:solidFill>
                <a:schemeClr val="lt1"/>
              </a:solidFill>
              <a:latin typeface="Century Gothic"/>
              <a:ea typeface="Century Gothic"/>
              <a:cs typeface="Century Gothic"/>
              <a:sym typeface="Century Gothic"/>
            </a:endParaRPr>
          </a:p>
          <a:p>
            <a:pPr indent="0" lvl="0" marL="0" rtl="0" algn="l">
              <a:spcBef>
                <a:spcPts val="0"/>
              </a:spcBef>
              <a:spcAft>
                <a:spcPts val="0"/>
              </a:spcAft>
              <a:buClr>
                <a:schemeClr val="dk1"/>
              </a:buClr>
              <a:buSzPts val="1100"/>
              <a:buFont typeface="Arial"/>
              <a:buNone/>
            </a:pPr>
            <a:r>
              <a:t/>
            </a:r>
            <a:endParaRPr b="1" sz="44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t/>
            </a:r>
            <a:endParaRPr b="1" sz="4400">
              <a:solidFill>
                <a:schemeClr val="lt1"/>
              </a:solidFill>
              <a:latin typeface="Century Gothic"/>
              <a:ea typeface="Century Gothic"/>
              <a:cs typeface="Century Gothic"/>
              <a:sym typeface="Century Gothic"/>
            </a:endParaRPr>
          </a:p>
        </p:txBody>
      </p:sp>
      <p:sp>
        <p:nvSpPr>
          <p:cNvPr id="181" name="Google Shape;181;p36"/>
          <p:cNvSpPr txBox="1"/>
          <p:nvPr/>
        </p:nvSpPr>
        <p:spPr>
          <a:xfrm>
            <a:off x="1535675" y="2874397"/>
            <a:ext cx="7416900" cy="24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chemeClr val="lt1"/>
                </a:solidFill>
              </a:rPr>
              <a:t>Fundamentals of AI and ML with a hands-on approach using Python</a:t>
            </a:r>
            <a:endParaRPr>
              <a:solidFill>
                <a:schemeClr val="lt1"/>
              </a:solidFill>
            </a:endParaRPr>
          </a:p>
        </p:txBody>
      </p:sp>
      <p:cxnSp>
        <p:nvCxnSpPr>
          <p:cNvPr id="182" name="Google Shape;182;p36"/>
          <p:cNvCxnSpPr/>
          <p:nvPr/>
        </p:nvCxnSpPr>
        <p:spPr>
          <a:xfrm>
            <a:off x="1535677" y="3241731"/>
            <a:ext cx="756300" cy="0"/>
          </a:xfrm>
          <a:prstGeom prst="straightConnector1">
            <a:avLst/>
          </a:prstGeom>
          <a:noFill/>
          <a:ln cap="flat" cmpd="sng" w="38100">
            <a:solidFill>
              <a:schemeClr val="lt1"/>
            </a:solidFill>
            <a:prstDash val="solid"/>
            <a:miter lim="800000"/>
            <a:headEnd len="sm" w="sm" type="none"/>
            <a:tailEnd len="sm" w="sm" type="none"/>
          </a:ln>
        </p:spPr>
      </p:cxnSp>
      <p:pic>
        <p:nvPicPr>
          <p:cNvPr id="183" name="Google Shape;183;p36"/>
          <p:cNvPicPr preferRelativeResize="0"/>
          <p:nvPr/>
        </p:nvPicPr>
        <p:blipFill>
          <a:blip r:embed="rId4">
            <a:alphaModFix/>
          </a:blip>
          <a:stretch>
            <a:fillRect/>
          </a:stretch>
        </p:blipFill>
        <p:spPr>
          <a:xfrm>
            <a:off x="1183125" y="708525"/>
            <a:ext cx="1710530" cy="484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 name="Shape 187"/>
        <p:cNvGrpSpPr/>
        <p:nvPr/>
      </p:nvGrpSpPr>
      <p:grpSpPr>
        <a:xfrm>
          <a:off x="0" y="0"/>
          <a:ext cx="0" cy="0"/>
          <a:chOff x="0" y="0"/>
          <a:chExt cx="0" cy="0"/>
        </a:xfrm>
      </p:grpSpPr>
      <p:cxnSp>
        <p:nvCxnSpPr>
          <p:cNvPr id="188" name="Google Shape;188;p37"/>
          <p:cNvCxnSpPr/>
          <p:nvPr/>
        </p:nvCxnSpPr>
        <p:spPr>
          <a:xfrm>
            <a:off x="2358131" y="683550"/>
            <a:ext cx="0" cy="3776400"/>
          </a:xfrm>
          <a:prstGeom prst="straightConnector1">
            <a:avLst/>
          </a:prstGeom>
          <a:noFill/>
          <a:ln cap="flat" cmpd="sng" w="9525">
            <a:solidFill>
              <a:srgbClr val="000000"/>
            </a:solidFill>
            <a:prstDash val="solid"/>
            <a:miter lim="800000"/>
            <a:headEnd len="sm" w="sm" type="none"/>
            <a:tailEnd len="sm" w="sm" type="none"/>
          </a:ln>
        </p:spPr>
      </p:cxnSp>
      <p:sp>
        <p:nvSpPr>
          <p:cNvPr id="189" name="Google Shape;189;p37"/>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fld id="{00000000-1234-1234-1234-123412341234}" type="slidenum">
              <a:rPr lang="en"/>
              <a:t>‹#›</a:t>
            </a:fld>
            <a:endParaRPr/>
          </a:p>
        </p:txBody>
      </p:sp>
      <p:sp>
        <p:nvSpPr>
          <p:cNvPr id="190" name="Google Shape;190;p37"/>
          <p:cNvSpPr/>
          <p:nvPr/>
        </p:nvSpPr>
        <p:spPr>
          <a:xfrm rot="-5400000">
            <a:off x="716856" y="2364036"/>
            <a:ext cx="2622300" cy="41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2700">
                <a:latin typeface="Trebuchet MS"/>
                <a:ea typeface="Trebuchet MS"/>
                <a:cs typeface="Trebuchet MS"/>
                <a:sym typeface="Trebuchet MS"/>
              </a:rPr>
              <a:t>AGENDA</a:t>
            </a:r>
            <a:r>
              <a:rPr lang="en" sz="2700">
                <a:latin typeface="Trebuchet MS"/>
                <a:ea typeface="Trebuchet MS"/>
                <a:cs typeface="Trebuchet MS"/>
                <a:sym typeface="Trebuchet MS"/>
              </a:rPr>
              <a:t> </a:t>
            </a:r>
            <a:endParaRPr sz="1100">
              <a:latin typeface="Trebuchet MS"/>
              <a:ea typeface="Trebuchet MS"/>
              <a:cs typeface="Trebuchet MS"/>
              <a:sym typeface="Trebuchet MS"/>
            </a:endParaRPr>
          </a:p>
        </p:txBody>
      </p:sp>
      <p:pic>
        <p:nvPicPr>
          <p:cNvPr id="191" name="Google Shape;191;p37"/>
          <p:cNvPicPr preferRelativeResize="0"/>
          <p:nvPr/>
        </p:nvPicPr>
        <p:blipFill rotWithShape="1">
          <a:blip r:embed="rId3">
            <a:alphaModFix/>
          </a:blip>
          <a:srcRect b="0" l="34609" r="33565" t="5330"/>
          <a:stretch/>
        </p:blipFill>
        <p:spPr>
          <a:xfrm>
            <a:off x="549281" y="604350"/>
            <a:ext cx="1198838" cy="3946389"/>
          </a:xfrm>
          <a:prstGeom prst="rect">
            <a:avLst/>
          </a:prstGeom>
          <a:noFill/>
          <a:ln>
            <a:noFill/>
          </a:ln>
        </p:spPr>
      </p:pic>
      <p:sp>
        <p:nvSpPr>
          <p:cNvPr id="192" name="Google Shape;192;p37"/>
          <p:cNvSpPr/>
          <p:nvPr/>
        </p:nvSpPr>
        <p:spPr>
          <a:xfrm>
            <a:off x="2737850" y="822800"/>
            <a:ext cx="5551800" cy="3727800"/>
          </a:xfrm>
          <a:prstGeom prst="rect">
            <a:avLst/>
          </a:prstGeom>
          <a:noFill/>
          <a:ln>
            <a:noFill/>
          </a:ln>
        </p:spPr>
        <p:txBody>
          <a:bodyPr anchorCtr="0" anchor="ctr" bIns="0" lIns="0" spcFirstLastPara="1" rIns="0" wrap="square" tIns="0">
            <a:noAutofit/>
          </a:bodyPr>
          <a:lstStyle/>
          <a:p>
            <a:pPr indent="-241300" lvl="0" marL="342900" rtl="0" algn="l">
              <a:lnSpc>
                <a:spcPct val="200000"/>
              </a:lnSpc>
              <a:spcBef>
                <a:spcPts val="800"/>
              </a:spcBef>
              <a:spcAft>
                <a:spcPts val="0"/>
              </a:spcAft>
              <a:buClr>
                <a:schemeClr val="dk1"/>
              </a:buClr>
              <a:buSzPts val="1200"/>
              <a:buFont typeface="Trebuchet MS"/>
              <a:buChar char="●"/>
            </a:pPr>
            <a:r>
              <a:rPr lang="en" sz="1200">
                <a:solidFill>
                  <a:schemeClr val="dk1"/>
                </a:solidFill>
                <a:latin typeface="Trebuchet MS"/>
                <a:ea typeface="Trebuchet MS"/>
                <a:cs typeface="Trebuchet MS"/>
                <a:sym typeface="Trebuchet MS"/>
              </a:rPr>
              <a:t>Classification – Logistic Regression &amp; Metrics</a:t>
            </a:r>
            <a:endParaRPr sz="1200">
              <a:solidFill>
                <a:schemeClr val="dk1"/>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Tree-based Learning – Decision Trees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 Nearest Neighbors – KNN</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Unsupervised Learning – Clustering with K-Means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Intro to Neural Networks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Case Study </a:t>
            </a:r>
            <a:endParaRPr sz="1200">
              <a:solidFill>
                <a:srgbClr val="888888"/>
              </a:solidFill>
              <a:latin typeface="Trebuchet MS"/>
              <a:ea typeface="Trebuchet MS"/>
              <a:cs typeface="Trebuchet MS"/>
              <a:sym typeface="Trebuchet MS"/>
            </a:endParaRPr>
          </a:p>
          <a:p>
            <a:pPr indent="0" lvl="0" marL="342900" rtl="0" algn="l">
              <a:lnSpc>
                <a:spcPct val="200000"/>
              </a:lnSpc>
              <a:spcBef>
                <a:spcPts val="800"/>
              </a:spcBef>
              <a:spcAft>
                <a:spcPts val="800"/>
              </a:spcAft>
              <a:buNone/>
            </a:pPr>
            <a:r>
              <a:t/>
            </a:r>
            <a:endParaRPr sz="1200">
              <a:solidFill>
                <a:srgbClr val="888888"/>
              </a:solidFill>
              <a:latin typeface="Trebuchet MS"/>
              <a:ea typeface="Trebuchet MS"/>
              <a:cs typeface="Trebuchet MS"/>
              <a:sym typeface="Trebuchet MS"/>
            </a:endParaRPr>
          </a:p>
        </p:txBody>
      </p:sp>
      <p:pic>
        <p:nvPicPr>
          <p:cNvPr id="193" name="Google Shape;193;p37"/>
          <p:cNvPicPr preferRelativeResize="0"/>
          <p:nvPr/>
        </p:nvPicPr>
        <p:blipFill>
          <a:blip r:embed="rId4">
            <a:alphaModFix/>
          </a:blip>
          <a:stretch>
            <a:fillRect/>
          </a:stretch>
        </p:blipFill>
        <p:spPr>
          <a:xfrm>
            <a:off x="2565731" y="1127031"/>
            <a:ext cx="172125" cy="172125"/>
          </a:xfrm>
          <a:prstGeom prst="rect">
            <a:avLst/>
          </a:prstGeom>
          <a:noFill/>
          <a:ln>
            <a:noFill/>
          </a:ln>
        </p:spPr>
      </p:pic>
      <p:pic>
        <p:nvPicPr>
          <p:cNvPr id="194" name="Google Shape;194;p37"/>
          <p:cNvPicPr preferRelativeResize="0"/>
          <p:nvPr/>
        </p:nvPicPr>
        <p:blipFill rotWithShape="1">
          <a:blip r:embed="rId5">
            <a:alphaModFix amt="10000"/>
          </a:blip>
          <a:srcRect b="0" l="0" r="48909" t="0"/>
          <a:stretch/>
        </p:blipFill>
        <p:spPr>
          <a:xfrm>
            <a:off x="7159192" y="771525"/>
            <a:ext cx="1795377" cy="351410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98" name="Shape 198"/>
        <p:cNvGrpSpPr/>
        <p:nvPr/>
      </p:nvGrpSpPr>
      <p:grpSpPr>
        <a:xfrm>
          <a:off x="0" y="0"/>
          <a:ext cx="0" cy="0"/>
          <a:chOff x="0" y="0"/>
          <a:chExt cx="0" cy="0"/>
        </a:xfrm>
      </p:grpSpPr>
      <p:sp>
        <p:nvSpPr>
          <p:cNvPr id="199" name="Google Shape;199;p38"/>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lnSpc>
                <a:spcPct val="90000"/>
              </a:lnSpc>
              <a:spcBef>
                <a:spcPts val="0"/>
              </a:spcBef>
              <a:spcAft>
                <a:spcPts val="0"/>
              </a:spcAft>
              <a:buSzPts val="2000"/>
              <a:buNone/>
            </a:pPr>
            <a:r>
              <a:rPr lang="en">
                <a:solidFill>
                  <a:schemeClr val="dk1"/>
                </a:solidFill>
              </a:rPr>
              <a:t>Regression-based Algorithms</a:t>
            </a:r>
            <a:endParaRPr>
              <a:solidFill>
                <a:schemeClr val="dk1"/>
              </a:solidFill>
            </a:endParaRPr>
          </a:p>
        </p:txBody>
      </p:sp>
      <p:sp>
        <p:nvSpPr>
          <p:cNvPr id="200" name="Google Shape;200;p38"/>
          <p:cNvSpPr txBox="1"/>
          <p:nvPr/>
        </p:nvSpPr>
        <p:spPr>
          <a:xfrm>
            <a:off x="1067250" y="1285000"/>
            <a:ext cx="7009500" cy="400200"/>
          </a:xfrm>
          <a:prstGeom prst="rect">
            <a:avLst/>
          </a:prstGeom>
          <a:noFill/>
          <a:ln cap="flat" cmpd="sng" w="19050">
            <a:solidFill>
              <a:schemeClr val="accent1"/>
            </a:solidFill>
            <a:prstDash val="dot"/>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t> According to Oracle, Regression is a data mining function to predict a number</a:t>
            </a:r>
            <a:endParaRPr b="1"/>
          </a:p>
        </p:txBody>
      </p:sp>
      <p:sp>
        <p:nvSpPr>
          <p:cNvPr id="201" name="Google Shape;201;p38"/>
          <p:cNvSpPr txBox="1"/>
          <p:nvPr/>
        </p:nvSpPr>
        <p:spPr>
          <a:xfrm>
            <a:off x="461300" y="1941475"/>
            <a:ext cx="8343000" cy="2555100"/>
          </a:xfrm>
          <a:prstGeom prst="rect">
            <a:avLst/>
          </a:prstGeom>
          <a:noFill/>
          <a:ln>
            <a:noFill/>
          </a:ln>
        </p:spPr>
        <p:txBody>
          <a:bodyPr anchorCtr="0" anchor="t" bIns="91425" lIns="91425" spcFirstLastPara="1" rIns="91425" wrap="square" tIns="91425">
            <a:spAutoFit/>
          </a:bodyPr>
          <a:lstStyle/>
          <a:p>
            <a:pPr indent="-317500" lvl="0" marL="457200" rtl="0" algn="just">
              <a:lnSpc>
                <a:spcPct val="200000"/>
              </a:lnSpc>
              <a:spcBef>
                <a:spcPts val="0"/>
              </a:spcBef>
              <a:spcAft>
                <a:spcPts val="0"/>
              </a:spcAft>
              <a:buSzPts val="1400"/>
              <a:buChar char="●"/>
            </a:pPr>
            <a:r>
              <a:rPr lang="en"/>
              <a:t>It predicts output labels or replies, which are continuous numeric values, for the provided input data</a:t>
            </a:r>
            <a:endParaRPr/>
          </a:p>
          <a:p>
            <a:pPr indent="-317500" lvl="0" marL="457200" rtl="0" algn="just">
              <a:lnSpc>
                <a:spcPct val="200000"/>
              </a:lnSpc>
              <a:spcBef>
                <a:spcPts val="0"/>
              </a:spcBef>
              <a:spcAft>
                <a:spcPts val="0"/>
              </a:spcAft>
              <a:buSzPts val="1400"/>
              <a:buChar char="●"/>
            </a:pPr>
            <a:r>
              <a:rPr lang="en"/>
              <a:t>The model's learning from the training phase will be used to determine the output</a:t>
            </a:r>
            <a:endParaRPr/>
          </a:p>
          <a:p>
            <a:pPr indent="-317500" lvl="0" marL="457200" rtl="0" algn="just">
              <a:lnSpc>
                <a:spcPct val="200000"/>
              </a:lnSpc>
              <a:spcBef>
                <a:spcPts val="0"/>
              </a:spcBef>
              <a:spcAft>
                <a:spcPts val="0"/>
              </a:spcAft>
              <a:buSzPts val="1400"/>
              <a:buChar char="●"/>
            </a:pPr>
            <a:r>
              <a:rPr lang="en"/>
              <a:t>Regression models learn precise associations between inputs and outputs using the input data features (independent variables) and their matching continuous numeric output values (dependent or outcome variables)</a:t>
            </a:r>
            <a:endParaRPr/>
          </a:p>
        </p:txBody>
      </p:sp>
      <p:sp>
        <p:nvSpPr>
          <p:cNvPr id="202" name="Google Shape;202;p38"/>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6" name="Shape 206"/>
        <p:cNvGrpSpPr/>
        <p:nvPr/>
      </p:nvGrpSpPr>
      <p:grpSpPr>
        <a:xfrm>
          <a:off x="0" y="0"/>
          <a:ext cx="0" cy="0"/>
          <a:chOff x="0" y="0"/>
          <a:chExt cx="0" cy="0"/>
        </a:xfrm>
      </p:grpSpPr>
      <p:sp>
        <p:nvSpPr>
          <p:cNvPr id="207" name="Google Shape;207;p39"/>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Logistic Regression</a:t>
            </a:r>
            <a:endParaRPr sz="2000">
              <a:solidFill>
                <a:schemeClr val="dk1"/>
              </a:solidFill>
              <a:latin typeface="Century Gothic"/>
              <a:ea typeface="Century Gothic"/>
              <a:cs typeface="Century Gothic"/>
              <a:sym typeface="Century Gothic"/>
            </a:endParaRPr>
          </a:p>
        </p:txBody>
      </p:sp>
      <p:sp>
        <p:nvSpPr>
          <p:cNvPr id="208" name="Google Shape;208;p39"/>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209" name="Google Shape;209;p39"/>
          <p:cNvSpPr txBox="1"/>
          <p:nvPr>
            <p:ph idx="4294967295" type="body"/>
          </p:nvPr>
        </p:nvSpPr>
        <p:spPr>
          <a:xfrm>
            <a:off x="752475" y="917725"/>
            <a:ext cx="8093100" cy="2680200"/>
          </a:xfrm>
          <a:prstGeom prst="rect">
            <a:avLst/>
          </a:prstGeom>
          <a:noFill/>
          <a:ln>
            <a:noFill/>
          </a:ln>
        </p:spPr>
        <p:txBody>
          <a:bodyPr anchorCtr="0" anchor="t" bIns="91400" lIns="91400" spcFirstLastPara="1" rIns="91400" wrap="square" tIns="91400">
            <a:noAutofit/>
          </a:bodyPr>
          <a:lstStyle/>
          <a:p>
            <a:pPr indent="0" lvl="0" marL="0" marR="0" rtl="0" algn="l">
              <a:lnSpc>
                <a:spcPct val="150000"/>
              </a:lnSpc>
              <a:spcBef>
                <a:spcPts val="0"/>
              </a:spcBef>
              <a:spcAft>
                <a:spcPts val="0"/>
              </a:spcAft>
              <a:buNone/>
            </a:pPr>
            <a:r>
              <a:rPr lang="en" sz="1300">
                <a:latin typeface="Century Gothic"/>
                <a:ea typeface="Century Gothic"/>
                <a:cs typeface="Century Gothic"/>
                <a:sym typeface="Century Gothic"/>
              </a:rPr>
              <a:t>Logistic Regression is a supervised machine learning algorithm used for classification problems. Unlike linear regression which predicts continuous values it predicts the probability that an input belongs to a specific class.</a:t>
            </a:r>
            <a:endParaRPr sz="1300">
              <a:latin typeface="Century Gothic"/>
              <a:ea typeface="Century Gothic"/>
              <a:cs typeface="Century Gothic"/>
              <a:sym typeface="Century Gothic"/>
            </a:endParaRPr>
          </a:p>
        </p:txBody>
      </p:sp>
      <p:pic>
        <p:nvPicPr>
          <p:cNvPr id="210" name="Google Shape;210;p39"/>
          <p:cNvPicPr preferRelativeResize="0"/>
          <p:nvPr/>
        </p:nvPicPr>
        <p:blipFill>
          <a:blip r:embed="rId3">
            <a:alphaModFix/>
          </a:blip>
          <a:stretch>
            <a:fillRect/>
          </a:stretch>
        </p:blipFill>
        <p:spPr>
          <a:xfrm>
            <a:off x="826750" y="1896925"/>
            <a:ext cx="4987151" cy="2464750"/>
          </a:xfrm>
          <a:prstGeom prst="rect">
            <a:avLst/>
          </a:prstGeom>
          <a:noFill/>
          <a:ln>
            <a:noFill/>
          </a:ln>
        </p:spPr>
      </p:pic>
      <p:sp>
        <p:nvSpPr>
          <p:cNvPr id="211" name="Google Shape;211;p39"/>
          <p:cNvSpPr txBox="1"/>
          <p:nvPr/>
        </p:nvSpPr>
        <p:spPr>
          <a:xfrm>
            <a:off x="404375" y="4600775"/>
            <a:ext cx="73326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 sz="900">
                <a:solidFill>
                  <a:srgbClr val="7F7F7F"/>
                </a:solidFill>
              </a:rPr>
              <a:t>Source: </a:t>
            </a:r>
            <a:r>
              <a:rPr lang="en" sz="900" u="sng">
                <a:solidFill>
                  <a:schemeClr val="hlink"/>
                </a:solidFill>
                <a:hlinkClick r:id="rId4"/>
              </a:rPr>
              <a:t>https://www.geeksforgeeks.org/machine-learning/understanding-logistic-regression/</a:t>
            </a:r>
            <a:r>
              <a:rPr lang="en" sz="900">
                <a:solidFill>
                  <a:srgbClr val="7F7F7F"/>
                </a:solidFill>
              </a:rPr>
              <a:t> </a:t>
            </a:r>
            <a:endParaRPr sz="900">
              <a:solidFill>
                <a:srgbClr val="7F7F7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5" name="Shape 215"/>
        <p:cNvGrpSpPr/>
        <p:nvPr/>
      </p:nvGrpSpPr>
      <p:grpSpPr>
        <a:xfrm>
          <a:off x="0" y="0"/>
          <a:ext cx="0" cy="0"/>
          <a:chOff x="0" y="0"/>
          <a:chExt cx="0" cy="0"/>
        </a:xfrm>
      </p:grpSpPr>
      <p:sp>
        <p:nvSpPr>
          <p:cNvPr id="216" name="Google Shape;216;p40"/>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Logistic Regression (continued)</a:t>
            </a:r>
            <a:endParaRPr sz="2000">
              <a:solidFill>
                <a:schemeClr val="dk1"/>
              </a:solidFill>
              <a:latin typeface="Century Gothic"/>
              <a:ea typeface="Century Gothic"/>
              <a:cs typeface="Century Gothic"/>
              <a:sym typeface="Century Gothic"/>
            </a:endParaRPr>
          </a:p>
        </p:txBody>
      </p:sp>
      <p:sp>
        <p:nvSpPr>
          <p:cNvPr id="217" name="Google Shape;217;p40"/>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218" name="Google Shape;218;p40"/>
          <p:cNvSpPr txBox="1"/>
          <p:nvPr>
            <p:ph idx="4294967295" type="body"/>
          </p:nvPr>
        </p:nvSpPr>
        <p:spPr>
          <a:xfrm>
            <a:off x="680100" y="917725"/>
            <a:ext cx="5070000" cy="2137500"/>
          </a:xfrm>
          <a:prstGeom prst="rect">
            <a:avLst/>
          </a:prstGeom>
          <a:noFill/>
          <a:ln>
            <a:noFill/>
          </a:ln>
        </p:spPr>
        <p:txBody>
          <a:bodyPr anchorCtr="0" anchor="t" bIns="91400" lIns="91400" spcFirstLastPara="1" rIns="91400" wrap="square" tIns="91400">
            <a:noAutofit/>
          </a:bodyPr>
          <a:lstStyle/>
          <a:p>
            <a:pPr indent="0" lvl="0" marL="0" rtl="0" algn="l">
              <a:lnSpc>
                <a:spcPct val="150000"/>
              </a:lnSpc>
              <a:spcBef>
                <a:spcPts val="0"/>
              </a:spcBef>
              <a:spcAft>
                <a:spcPts val="0"/>
              </a:spcAft>
              <a:buNone/>
            </a:pPr>
            <a:r>
              <a:rPr lang="en" sz="1300">
                <a:latin typeface="Century Gothic"/>
                <a:ea typeface="Century Gothic"/>
                <a:cs typeface="Century Gothic"/>
                <a:sym typeface="Century Gothic"/>
              </a:rPr>
              <a:t>Despite the name, it’s a </a:t>
            </a:r>
            <a:r>
              <a:rPr i="1" lang="en" sz="1300">
                <a:latin typeface="Century Gothic"/>
                <a:ea typeface="Century Gothic"/>
                <a:cs typeface="Century Gothic"/>
                <a:sym typeface="Century Gothic"/>
              </a:rPr>
              <a:t>classification</a:t>
            </a:r>
            <a:r>
              <a:rPr lang="en" sz="1300">
                <a:latin typeface="Century Gothic"/>
                <a:ea typeface="Century Gothic"/>
                <a:cs typeface="Century Gothic"/>
                <a:sym typeface="Century Gothic"/>
              </a:rPr>
              <a:t> algorithm</a:t>
            </a:r>
            <a:endParaRPr sz="1300">
              <a:latin typeface="Century Gothic"/>
              <a:ea typeface="Century Gothic"/>
              <a:cs typeface="Century Gothic"/>
              <a:sym typeface="Century Gothic"/>
            </a:endParaRPr>
          </a:p>
          <a:p>
            <a:pPr indent="-311150" lvl="0" marL="457200" rtl="0" algn="l">
              <a:lnSpc>
                <a:spcPct val="150000"/>
              </a:lnSpc>
              <a:spcBef>
                <a:spcPts val="0"/>
              </a:spcBef>
              <a:spcAft>
                <a:spcPts val="0"/>
              </a:spcAft>
              <a:buSzPts val="1300"/>
              <a:buFont typeface="Century Gothic"/>
              <a:buChar char="•"/>
            </a:pPr>
            <a:r>
              <a:rPr lang="en" sz="1300">
                <a:latin typeface="Century Gothic"/>
                <a:ea typeface="Century Gothic"/>
                <a:cs typeface="Century Gothic"/>
                <a:sym typeface="Century Gothic"/>
              </a:rPr>
              <a:t>It shares some properties with Linear Regression</a:t>
            </a:r>
            <a:endParaRPr sz="1300">
              <a:latin typeface="Century Gothic"/>
              <a:ea typeface="Century Gothic"/>
              <a:cs typeface="Century Gothic"/>
              <a:sym typeface="Century Gothic"/>
            </a:endParaRPr>
          </a:p>
          <a:p>
            <a:pPr indent="-311150" lvl="0" marL="457200" rtl="0" algn="l">
              <a:lnSpc>
                <a:spcPct val="150000"/>
              </a:lnSpc>
              <a:spcBef>
                <a:spcPts val="0"/>
              </a:spcBef>
              <a:spcAft>
                <a:spcPts val="0"/>
              </a:spcAft>
              <a:buSzPts val="1300"/>
              <a:buFont typeface="Century Gothic"/>
              <a:buChar char="•"/>
            </a:pPr>
            <a:r>
              <a:rPr lang="en" sz="1300">
                <a:latin typeface="Century Gothic"/>
                <a:ea typeface="Century Gothic"/>
                <a:cs typeface="Century Gothic"/>
                <a:sym typeface="Century Gothic"/>
              </a:rPr>
              <a:t>It's a linear model, that is, it determine a linear combination of all the features using coefficients to scale each feature</a:t>
            </a:r>
            <a:endParaRPr sz="1300">
              <a:latin typeface="Century Gothic"/>
              <a:ea typeface="Century Gothic"/>
              <a:cs typeface="Century Gothic"/>
              <a:sym typeface="Century Gothic"/>
            </a:endParaRPr>
          </a:p>
          <a:p>
            <a:pPr indent="0" lvl="0" marL="0" rtl="0" algn="l">
              <a:lnSpc>
                <a:spcPct val="150000"/>
              </a:lnSpc>
              <a:spcBef>
                <a:spcPts val="0"/>
              </a:spcBef>
              <a:spcAft>
                <a:spcPts val="0"/>
              </a:spcAft>
              <a:buNone/>
            </a:pPr>
            <a:r>
              <a:rPr lang="en" sz="1300">
                <a:latin typeface="Century Gothic"/>
                <a:ea typeface="Century Gothic"/>
                <a:cs typeface="Century Gothic"/>
                <a:sym typeface="Century Gothic"/>
              </a:rPr>
              <a:t>The coefficients are what is being "learned".</a:t>
            </a:r>
            <a:endParaRPr sz="1300">
              <a:latin typeface="Century Gothic"/>
              <a:ea typeface="Century Gothic"/>
              <a:cs typeface="Century Gothic"/>
              <a:sym typeface="Century Gothic"/>
            </a:endParaRPr>
          </a:p>
          <a:p>
            <a:pPr indent="0" lvl="0" marL="0" rtl="0" algn="l">
              <a:lnSpc>
                <a:spcPct val="150000"/>
              </a:lnSpc>
              <a:spcBef>
                <a:spcPts val="0"/>
              </a:spcBef>
              <a:spcAft>
                <a:spcPts val="0"/>
              </a:spcAft>
              <a:buNone/>
            </a:pPr>
            <a:r>
              <a:rPr lang="en" sz="1300">
                <a:latin typeface="Century Gothic"/>
                <a:ea typeface="Century Gothic"/>
                <a:cs typeface="Century Gothic"/>
                <a:sym typeface="Century Gothic"/>
              </a:rPr>
              <a:t>Ultimately the model can be represented by a fairly simple mathematical function</a:t>
            </a:r>
            <a:endParaRPr sz="1300">
              <a:latin typeface="Century Gothic"/>
              <a:ea typeface="Century Gothic"/>
              <a:cs typeface="Century Gothic"/>
              <a:sym typeface="Century Gothic"/>
            </a:endParaRPr>
          </a:p>
        </p:txBody>
      </p:sp>
      <p:pic>
        <p:nvPicPr>
          <p:cNvPr id="219" name="Google Shape;219;p40"/>
          <p:cNvPicPr preferRelativeResize="0"/>
          <p:nvPr/>
        </p:nvPicPr>
        <p:blipFill>
          <a:blip r:embed="rId3">
            <a:alphaModFix/>
          </a:blip>
          <a:stretch>
            <a:fillRect/>
          </a:stretch>
        </p:blipFill>
        <p:spPr>
          <a:xfrm>
            <a:off x="5750102" y="1071901"/>
            <a:ext cx="3095501" cy="230177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3" name="Shape 223"/>
        <p:cNvGrpSpPr/>
        <p:nvPr/>
      </p:nvGrpSpPr>
      <p:grpSpPr>
        <a:xfrm>
          <a:off x="0" y="0"/>
          <a:ext cx="0" cy="0"/>
          <a:chOff x="0" y="0"/>
          <a:chExt cx="0" cy="0"/>
        </a:xfrm>
      </p:grpSpPr>
      <p:sp>
        <p:nvSpPr>
          <p:cNvPr id="224" name="Google Shape;224;p41"/>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Types of </a:t>
            </a:r>
            <a:r>
              <a:rPr lang="en" sz="2000">
                <a:solidFill>
                  <a:schemeClr val="dk1"/>
                </a:solidFill>
                <a:latin typeface="Century Gothic"/>
                <a:ea typeface="Century Gothic"/>
                <a:cs typeface="Century Gothic"/>
                <a:sym typeface="Century Gothic"/>
              </a:rPr>
              <a:t>Logistic Regression </a:t>
            </a:r>
            <a:endParaRPr sz="2000">
              <a:solidFill>
                <a:schemeClr val="dk1"/>
              </a:solidFill>
              <a:latin typeface="Century Gothic"/>
              <a:ea typeface="Century Gothic"/>
              <a:cs typeface="Century Gothic"/>
              <a:sym typeface="Century Gothic"/>
            </a:endParaRPr>
          </a:p>
        </p:txBody>
      </p:sp>
      <p:sp>
        <p:nvSpPr>
          <p:cNvPr id="225" name="Google Shape;225;p41"/>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226" name="Google Shape;226;p41"/>
          <p:cNvPicPr preferRelativeResize="0"/>
          <p:nvPr/>
        </p:nvPicPr>
        <p:blipFill>
          <a:blip r:embed="rId3">
            <a:alphaModFix/>
          </a:blip>
          <a:stretch>
            <a:fillRect/>
          </a:stretch>
        </p:blipFill>
        <p:spPr>
          <a:xfrm>
            <a:off x="1097613" y="1185523"/>
            <a:ext cx="6948776" cy="2538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0" name="Shape 230"/>
        <p:cNvGrpSpPr/>
        <p:nvPr/>
      </p:nvGrpSpPr>
      <p:grpSpPr>
        <a:xfrm>
          <a:off x="0" y="0"/>
          <a:ext cx="0" cy="0"/>
          <a:chOff x="0" y="0"/>
          <a:chExt cx="0" cy="0"/>
        </a:xfrm>
      </p:grpSpPr>
      <p:sp>
        <p:nvSpPr>
          <p:cNvPr id="231" name="Google Shape;231;p42"/>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Linear VS</a:t>
            </a:r>
            <a:r>
              <a:rPr lang="en" sz="2000">
                <a:solidFill>
                  <a:schemeClr val="dk1"/>
                </a:solidFill>
                <a:latin typeface="Century Gothic"/>
                <a:ea typeface="Century Gothic"/>
                <a:cs typeface="Century Gothic"/>
                <a:sym typeface="Century Gothic"/>
              </a:rPr>
              <a:t> Logistic Regression </a:t>
            </a:r>
            <a:endParaRPr sz="2000">
              <a:solidFill>
                <a:schemeClr val="dk1"/>
              </a:solidFill>
              <a:latin typeface="Century Gothic"/>
              <a:ea typeface="Century Gothic"/>
              <a:cs typeface="Century Gothic"/>
              <a:sym typeface="Century Gothic"/>
            </a:endParaRPr>
          </a:p>
        </p:txBody>
      </p:sp>
      <p:sp>
        <p:nvSpPr>
          <p:cNvPr id="232" name="Google Shape;232;p42"/>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graphicFrame>
        <p:nvGraphicFramePr>
          <p:cNvPr id="233" name="Google Shape;233;p42"/>
          <p:cNvGraphicFramePr/>
          <p:nvPr/>
        </p:nvGraphicFramePr>
        <p:xfrm>
          <a:off x="752475" y="1133425"/>
          <a:ext cx="3000000" cy="3000000"/>
        </p:xfrm>
        <a:graphic>
          <a:graphicData uri="http://schemas.openxmlformats.org/drawingml/2006/table">
            <a:tbl>
              <a:tblPr>
                <a:noFill/>
                <a:tableStyleId>{10C029A5-F50C-4C77-A6D6-2CE4461C021A}</a:tableStyleId>
              </a:tblPr>
              <a:tblGrid>
                <a:gridCol w="1510675"/>
                <a:gridCol w="3002950"/>
                <a:gridCol w="3469350"/>
              </a:tblGrid>
              <a:tr h="326000">
                <a:tc>
                  <a:txBody>
                    <a:bodyPr/>
                    <a:lstStyle/>
                    <a:p>
                      <a:pPr indent="0" lvl="0" marL="0" rtl="0" algn="ctr">
                        <a:lnSpc>
                          <a:spcPct val="100000"/>
                        </a:lnSpc>
                        <a:spcBef>
                          <a:spcPts val="0"/>
                        </a:spcBef>
                        <a:spcAft>
                          <a:spcPts val="0"/>
                        </a:spcAft>
                        <a:buNone/>
                      </a:pPr>
                      <a:r>
                        <a:rPr b="1" lang="en" sz="1100">
                          <a:solidFill>
                            <a:srgbClr val="980000"/>
                          </a:solidFill>
                          <a:latin typeface="Century Gothic"/>
                          <a:ea typeface="Century Gothic"/>
                          <a:cs typeface="Century Gothic"/>
                          <a:sym typeface="Century Gothic"/>
                        </a:rPr>
                        <a:t>Aspect</a:t>
                      </a:r>
                      <a:endParaRPr b="1" sz="1100">
                        <a:solidFill>
                          <a:srgbClr val="980000"/>
                        </a:solidFill>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lnSpc>
                          <a:spcPct val="100000"/>
                        </a:lnSpc>
                        <a:spcBef>
                          <a:spcPts val="0"/>
                        </a:spcBef>
                        <a:spcAft>
                          <a:spcPts val="0"/>
                        </a:spcAft>
                        <a:buNone/>
                      </a:pPr>
                      <a:r>
                        <a:rPr b="1" lang="en" sz="1100">
                          <a:solidFill>
                            <a:srgbClr val="980000"/>
                          </a:solidFill>
                          <a:latin typeface="Century Gothic"/>
                          <a:ea typeface="Century Gothic"/>
                          <a:cs typeface="Century Gothic"/>
                          <a:sym typeface="Century Gothic"/>
                        </a:rPr>
                        <a:t>Linear Regression</a:t>
                      </a:r>
                      <a:endParaRPr b="1" sz="1100">
                        <a:solidFill>
                          <a:srgbClr val="980000"/>
                        </a:solidFill>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lnSpc>
                          <a:spcPct val="100000"/>
                        </a:lnSpc>
                        <a:spcBef>
                          <a:spcPts val="0"/>
                        </a:spcBef>
                        <a:spcAft>
                          <a:spcPts val="0"/>
                        </a:spcAft>
                        <a:buNone/>
                      </a:pPr>
                      <a:r>
                        <a:rPr b="1" lang="en" sz="1100">
                          <a:solidFill>
                            <a:srgbClr val="980000"/>
                          </a:solidFill>
                          <a:latin typeface="Century Gothic"/>
                          <a:ea typeface="Century Gothic"/>
                          <a:cs typeface="Century Gothic"/>
                          <a:sym typeface="Century Gothic"/>
                        </a:rPr>
                        <a:t>Logistic Regression</a:t>
                      </a:r>
                      <a:endParaRPr b="1" sz="1100">
                        <a:solidFill>
                          <a:srgbClr val="980000"/>
                        </a:solidFill>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r>
              <a:tr h="308475">
                <a:tc>
                  <a:txBody>
                    <a:bodyPr/>
                    <a:lstStyle/>
                    <a:p>
                      <a:pPr indent="0" lvl="0" marL="0" rtl="0" algn="l">
                        <a:lnSpc>
                          <a:spcPct val="100000"/>
                        </a:lnSpc>
                        <a:spcBef>
                          <a:spcPts val="50"/>
                        </a:spcBef>
                        <a:spcAft>
                          <a:spcPts val="50"/>
                        </a:spcAft>
                        <a:buNone/>
                      </a:pPr>
                      <a:r>
                        <a:rPr b="1" lang="en" sz="1000">
                          <a:latin typeface="Century Gothic"/>
                          <a:ea typeface="Century Gothic"/>
                          <a:cs typeface="Century Gothic"/>
                          <a:sym typeface="Century Gothic"/>
                        </a:rPr>
                        <a:t>Primary Purpose</a:t>
                      </a:r>
                      <a:endParaRPr b="1"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lnSpc>
                          <a:spcPct val="100000"/>
                        </a:lnSpc>
                        <a:spcBef>
                          <a:spcPts val="50"/>
                        </a:spcBef>
                        <a:spcAft>
                          <a:spcPts val="50"/>
                        </a:spcAft>
                        <a:buNone/>
                      </a:pPr>
                      <a:r>
                        <a:rPr lang="en" sz="1000">
                          <a:latin typeface="Century Gothic"/>
                          <a:ea typeface="Century Gothic"/>
                          <a:cs typeface="Century Gothic"/>
                          <a:sym typeface="Century Gothic"/>
                        </a:rPr>
                        <a:t>Used to predict </a:t>
                      </a:r>
                      <a:r>
                        <a:rPr b="1" lang="en" sz="1000">
                          <a:latin typeface="Century Gothic"/>
                          <a:ea typeface="Century Gothic"/>
                          <a:cs typeface="Century Gothic"/>
                          <a:sym typeface="Century Gothic"/>
                        </a:rPr>
                        <a:t>continuous numerical values</a:t>
                      </a:r>
                      <a:endParaRPr b="1"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lnSpc>
                          <a:spcPct val="100000"/>
                        </a:lnSpc>
                        <a:spcBef>
                          <a:spcPts val="50"/>
                        </a:spcBef>
                        <a:spcAft>
                          <a:spcPts val="50"/>
                        </a:spcAft>
                        <a:buNone/>
                      </a:pPr>
                      <a:r>
                        <a:rPr lang="en" sz="1000">
                          <a:latin typeface="Century Gothic"/>
                          <a:ea typeface="Century Gothic"/>
                          <a:cs typeface="Century Gothic"/>
                          <a:sym typeface="Century Gothic"/>
                        </a:rPr>
                        <a:t>Used to predict </a:t>
                      </a:r>
                      <a:r>
                        <a:rPr b="1" lang="en" sz="1000">
                          <a:latin typeface="Century Gothic"/>
                          <a:ea typeface="Century Gothic"/>
                          <a:cs typeface="Century Gothic"/>
                          <a:sym typeface="Century Gothic"/>
                        </a:rPr>
                        <a:t>categorical outcomes (classification)</a:t>
                      </a:r>
                      <a:endParaRPr b="1"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r>
              <a:tr h="308475">
                <a:tc>
                  <a:txBody>
                    <a:bodyPr/>
                    <a:lstStyle/>
                    <a:p>
                      <a:pPr indent="0" lvl="0" marL="0" rtl="0" algn="l">
                        <a:lnSpc>
                          <a:spcPct val="100000"/>
                        </a:lnSpc>
                        <a:spcBef>
                          <a:spcPts val="50"/>
                        </a:spcBef>
                        <a:spcAft>
                          <a:spcPts val="50"/>
                        </a:spcAft>
                        <a:buNone/>
                      </a:pPr>
                      <a:r>
                        <a:rPr b="1" lang="en" sz="1000">
                          <a:latin typeface="Century Gothic"/>
                          <a:ea typeface="Century Gothic"/>
                          <a:cs typeface="Century Gothic"/>
                          <a:sym typeface="Century Gothic"/>
                        </a:rPr>
                        <a:t>Type of Output</a:t>
                      </a:r>
                      <a:endParaRPr b="1"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lnSpc>
                          <a:spcPct val="100000"/>
                        </a:lnSpc>
                        <a:spcBef>
                          <a:spcPts val="50"/>
                        </a:spcBef>
                        <a:spcAft>
                          <a:spcPts val="50"/>
                        </a:spcAft>
                        <a:buNone/>
                      </a:pPr>
                      <a:r>
                        <a:rPr lang="en" sz="1000">
                          <a:latin typeface="Century Gothic"/>
                          <a:ea typeface="Century Gothic"/>
                          <a:cs typeface="Century Gothic"/>
                          <a:sym typeface="Century Gothic"/>
                        </a:rPr>
                        <a:t>Produces a </a:t>
                      </a:r>
                      <a:r>
                        <a:rPr b="1" lang="en" sz="1000">
                          <a:latin typeface="Century Gothic"/>
                          <a:ea typeface="Century Gothic"/>
                          <a:cs typeface="Century Gothic"/>
                          <a:sym typeface="Century Gothic"/>
                        </a:rPr>
                        <a:t>continuous value</a:t>
                      </a:r>
                      <a:r>
                        <a:rPr lang="en" sz="1000">
                          <a:latin typeface="Century Gothic"/>
                          <a:ea typeface="Century Gothic"/>
                          <a:cs typeface="Century Gothic"/>
                          <a:sym typeface="Century Gothic"/>
                        </a:rPr>
                        <a:t> </a:t>
                      </a:r>
                      <a:endParaRPr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lnSpc>
                          <a:spcPct val="100000"/>
                        </a:lnSpc>
                        <a:spcBef>
                          <a:spcPts val="50"/>
                        </a:spcBef>
                        <a:spcAft>
                          <a:spcPts val="50"/>
                        </a:spcAft>
                        <a:buNone/>
                      </a:pPr>
                      <a:r>
                        <a:rPr lang="en" sz="1000">
                          <a:latin typeface="Century Gothic"/>
                          <a:ea typeface="Century Gothic"/>
                          <a:cs typeface="Century Gothic"/>
                          <a:sym typeface="Century Gothic"/>
                        </a:rPr>
                        <a:t>Produces a </a:t>
                      </a:r>
                      <a:r>
                        <a:rPr b="1" lang="en" sz="1000">
                          <a:latin typeface="Century Gothic"/>
                          <a:ea typeface="Century Gothic"/>
                          <a:cs typeface="Century Gothic"/>
                          <a:sym typeface="Century Gothic"/>
                        </a:rPr>
                        <a:t>probability between 0 and 1</a:t>
                      </a:r>
                      <a:endParaRPr b="1"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r>
              <a:tr h="308475">
                <a:tc>
                  <a:txBody>
                    <a:bodyPr/>
                    <a:lstStyle/>
                    <a:p>
                      <a:pPr indent="0" lvl="0" marL="0" rtl="0" algn="l">
                        <a:lnSpc>
                          <a:spcPct val="100000"/>
                        </a:lnSpc>
                        <a:spcBef>
                          <a:spcPts val="50"/>
                        </a:spcBef>
                        <a:spcAft>
                          <a:spcPts val="50"/>
                        </a:spcAft>
                        <a:buNone/>
                      </a:pPr>
                      <a:r>
                        <a:rPr b="1" lang="en" sz="1000">
                          <a:latin typeface="Century Gothic"/>
                          <a:ea typeface="Century Gothic"/>
                          <a:cs typeface="Century Gothic"/>
                          <a:sym typeface="Century Gothic"/>
                        </a:rPr>
                        <a:t>Example Use Case</a:t>
                      </a:r>
                      <a:endParaRPr b="1"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lnSpc>
                          <a:spcPct val="100000"/>
                        </a:lnSpc>
                        <a:spcBef>
                          <a:spcPts val="50"/>
                        </a:spcBef>
                        <a:spcAft>
                          <a:spcPts val="50"/>
                        </a:spcAft>
                        <a:buNone/>
                      </a:pPr>
                      <a:r>
                        <a:rPr lang="en" sz="1000">
                          <a:latin typeface="Century Gothic"/>
                          <a:ea typeface="Century Gothic"/>
                          <a:cs typeface="Century Gothic"/>
                          <a:sym typeface="Century Gothic"/>
                        </a:rPr>
                        <a:t>Predicting </a:t>
                      </a:r>
                      <a:r>
                        <a:rPr b="1" lang="en" sz="1000">
                          <a:latin typeface="Century Gothic"/>
                          <a:ea typeface="Century Gothic"/>
                          <a:cs typeface="Century Gothic"/>
                          <a:sym typeface="Century Gothic"/>
                        </a:rPr>
                        <a:t>house prices, temperature, sales</a:t>
                      </a:r>
                      <a:endParaRPr b="1"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lnSpc>
                          <a:spcPct val="100000"/>
                        </a:lnSpc>
                        <a:spcBef>
                          <a:spcPts val="50"/>
                        </a:spcBef>
                        <a:spcAft>
                          <a:spcPts val="50"/>
                        </a:spcAft>
                        <a:buNone/>
                      </a:pPr>
                      <a:r>
                        <a:rPr b="1" lang="en" sz="1000">
                          <a:latin typeface="Century Gothic"/>
                          <a:ea typeface="Century Gothic"/>
                          <a:cs typeface="Century Gothic"/>
                          <a:sym typeface="Century Gothic"/>
                        </a:rPr>
                        <a:t>Spam detection</a:t>
                      </a:r>
                      <a:r>
                        <a:rPr lang="en" sz="1000">
                          <a:latin typeface="Century Gothic"/>
                          <a:ea typeface="Century Gothic"/>
                          <a:cs typeface="Century Gothic"/>
                          <a:sym typeface="Century Gothic"/>
                        </a:rPr>
                        <a:t>, disease prediction, customer churn</a:t>
                      </a:r>
                      <a:endParaRPr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r>
              <a:tr h="308475">
                <a:tc>
                  <a:txBody>
                    <a:bodyPr/>
                    <a:lstStyle/>
                    <a:p>
                      <a:pPr indent="0" lvl="0" marL="0" rtl="0" algn="l">
                        <a:lnSpc>
                          <a:spcPct val="100000"/>
                        </a:lnSpc>
                        <a:spcBef>
                          <a:spcPts val="50"/>
                        </a:spcBef>
                        <a:spcAft>
                          <a:spcPts val="50"/>
                        </a:spcAft>
                        <a:buNone/>
                      </a:pPr>
                      <a:r>
                        <a:rPr b="1" lang="en" sz="1000">
                          <a:latin typeface="Century Gothic"/>
                          <a:ea typeface="Century Gothic"/>
                          <a:cs typeface="Century Gothic"/>
                          <a:sym typeface="Century Gothic"/>
                        </a:rPr>
                        <a:t>Final Decision</a:t>
                      </a:r>
                      <a:endParaRPr b="1"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lnSpc>
                          <a:spcPct val="100000"/>
                        </a:lnSpc>
                        <a:spcBef>
                          <a:spcPts val="50"/>
                        </a:spcBef>
                        <a:spcAft>
                          <a:spcPts val="50"/>
                        </a:spcAft>
                        <a:buNone/>
                      </a:pPr>
                      <a:r>
                        <a:rPr lang="en" sz="1000">
                          <a:latin typeface="Century Gothic"/>
                          <a:ea typeface="Century Gothic"/>
                          <a:cs typeface="Century Gothic"/>
                          <a:sym typeface="Century Gothic"/>
                        </a:rPr>
                        <a:t>Output itself is the final prediction</a:t>
                      </a:r>
                      <a:endParaRPr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lnSpc>
                          <a:spcPct val="100000"/>
                        </a:lnSpc>
                        <a:spcBef>
                          <a:spcPts val="50"/>
                        </a:spcBef>
                        <a:spcAft>
                          <a:spcPts val="50"/>
                        </a:spcAft>
                        <a:buNone/>
                      </a:pPr>
                      <a:r>
                        <a:rPr lang="en" sz="1000">
                          <a:latin typeface="Century Gothic"/>
                          <a:ea typeface="Century Gothic"/>
                          <a:cs typeface="Century Gothic"/>
                          <a:sym typeface="Century Gothic"/>
                        </a:rPr>
                        <a:t>Probability is converted to a class using a </a:t>
                      </a:r>
                      <a:r>
                        <a:rPr b="1" lang="en" sz="1000">
                          <a:latin typeface="Century Gothic"/>
                          <a:ea typeface="Century Gothic"/>
                          <a:cs typeface="Century Gothic"/>
                          <a:sym typeface="Century Gothic"/>
                        </a:rPr>
                        <a:t>threshold</a:t>
                      </a:r>
                      <a:endParaRPr b="1"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r>
              <a:tr h="308475">
                <a:tc>
                  <a:txBody>
                    <a:bodyPr/>
                    <a:lstStyle/>
                    <a:p>
                      <a:pPr indent="0" lvl="0" marL="0" rtl="0" algn="l">
                        <a:lnSpc>
                          <a:spcPct val="100000"/>
                        </a:lnSpc>
                        <a:spcBef>
                          <a:spcPts val="50"/>
                        </a:spcBef>
                        <a:spcAft>
                          <a:spcPts val="50"/>
                        </a:spcAft>
                        <a:buNone/>
                      </a:pPr>
                      <a:r>
                        <a:rPr b="1" lang="en" sz="1000">
                          <a:latin typeface="Century Gothic"/>
                          <a:ea typeface="Century Gothic"/>
                          <a:cs typeface="Century Gothic"/>
                          <a:sym typeface="Century Gothic"/>
                        </a:rPr>
                        <a:t>Problem Type</a:t>
                      </a:r>
                      <a:endParaRPr b="1"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lnSpc>
                          <a:spcPct val="100000"/>
                        </a:lnSpc>
                        <a:spcBef>
                          <a:spcPts val="50"/>
                        </a:spcBef>
                        <a:spcAft>
                          <a:spcPts val="50"/>
                        </a:spcAft>
                        <a:buNone/>
                      </a:pPr>
                      <a:r>
                        <a:rPr b="1" lang="en" sz="1000">
                          <a:latin typeface="Century Gothic"/>
                          <a:ea typeface="Century Gothic"/>
                          <a:cs typeface="Century Gothic"/>
                          <a:sym typeface="Century Gothic"/>
                        </a:rPr>
                        <a:t>Regression problem</a:t>
                      </a:r>
                      <a:endParaRPr b="1"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lnSpc>
                          <a:spcPct val="100000"/>
                        </a:lnSpc>
                        <a:spcBef>
                          <a:spcPts val="50"/>
                        </a:spcBef>
                        <a:spcAft>
                          <a:spcPts val="50"/>
                        </a:spcAft>
                        <a:buNone/>
                      </a:pPr>
                      <a:r>
                        <a:rPr b="1" lang="en" sz="1000">
                          <a:latin typeface="Century Gothic"/>
                          <a:ea typeface="Century Gothic"/>
                          <a:cs typeface="Century Gothic"/>
                          <a:sym typeface="Century Gothic"/>
                        </a:rPr>
                        <a:t>Classification problem</a:t>
                      </a:r>
                      <a:endParaRPr b="1"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r>
              <a:tr h="308475">
                <a:tc>
                  <a:txBody>
                    <a:bodyPr/>
                    <a:lstStyle/>
                    <a:p>
                      <a:pPr indent="0" lvl="0" marL="0" rtl="0" algn="l">
                        <a:lnSpc>
                          <a:spcPct val="100000"/>
                        </a:lnSpc>
                        <a:spcBef>
                          <a:spcPts val="50"/>
                        </a:spcBef>
                        <a:spcAft>
                          <a:spcPts val="50"/>
                        </a:spcAft>
                        <a:buNone/>
                      </a:pPr>
                      <a:r>
                        <a:rPr b="1" lang="en" sz="1000">
                          <a:latin typeface="Century Gothic"/>
                          <a:ea typeface="Century Gothic"/>
                          <a:cs typeface="Century Gothic"/>
                          <a:sym typeface="Century Gothic"/>
                        </a:rPr>
                        <a:t>Output Range</a:t>
                      </a:r>
                      <a:endParaRPr b="1"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lnSpc>
                          <a:spcPct val="100000"/>
                        </a:lnSpc>
                        <a:spcBef>
                          <a:spcPts val="50"/>
                        </a:spcBef>
                        <a:spcAft>
                          <a:spcPts val="50"/>
                        </a:spcAft>
                        <a:buNone/>
                      </a:pPr>
                      <a:r>
                        <a:rPr lang="en" sz="1000">
                          <a:latin typeface="Century Gothic"/>
                          <a:ea typeface="Century Gothic"/>
                          <a:cs typeface="Century Gothic"/>
                          <a:sym typeface="Century Gothic"/>
                        </a:rPr>
                        <a:t>(-∞ to +∞)</a:t>
                      </a:r>
                      <a:endParaRPr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lnSpc>
                          <a:spcPct val="100000"/>
                        </a:lnSpc>
                        <a:spcBef>
                          <a:spcPts val="50"/>
                        </a:spcBef>
                        <a:spcAft>
                          <a:spcPts val="50"/>
                        </a:spcAft>
                        <a:buNone/>
                      </a:pPr>
                      <a:r>
                        <a:rPr lang="en" sz="1000">
                          <a:latin typeface="Century Gothic"/>
                          <a:ea typeface="Century Gothic"/>
                          <a:cs typeface="Century Gothic"/>
                          <a:sym typeface="Century Gothic"/>
                        </a:rPr>
                        <a:t>0 to 1</a:t>
                      </a:r>
                      <a:endParaRPr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r>
              <a:tr h="308475">
                <a:tc>
                  <a:txBody>
                    <a:bodyPr/>
                    <a:lstStyle/>
                    <a:p>
                      <a:pPr indent="0" lvl="0" marL="0" rtl="0" algn="l">
                        <a:lnSpc>
                          <a:spcPct val="100000"/>
                        </a:lnSpc>
                        <a:spcBef>
                          <a:spcPts val="50"/>
                        </a:spcBef>
                        <a:spcAft>
                          <a:spcPts val="50"/>
                        </a:spcAft>
                        <a:buNone/>
                      </a:pPr>
                      <a:r>
                        <a:rPr b="1" lang="en" sz="1000">
                          <a:latin typeface="Century Gothic"/>
                          <a:ea typeface="Century Gothic"/>
                          <a:cs typeface="Century Gothic"/>
                          <a:sym typeface="Century Gothic"/>
                        </a:rPr>
                        <a:t>Model Behavior</a:t>
                      </a:r>
                      <a:endParaRPr b="1"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lnSpc>
                          <a:spcPct val="100000"/>
                        </a:lnSpc>
                        <a:spcBef>
                          <a:spcPts val="50"/>
                        </a:spcBef>
                        <a:spcAft>
                          <a:spcPts val="50"/>
                        </a:spcAft>
                        <a:buNone/>
                      </a:pPr>
                      <a:r>
                        <a:rPr lang="en" sz="1000">
                          <a:latin typeface="Century Gothic"/>
                          <a:ea typeface="Century Gothic"/>
                          <a:cs typeface="Century Gothic"/>
                          <a:sym typeface="Century Gothic"/>
                        </a:rPr>
                        <a:t>Fits a </a:t>
                      </a:r>
                      <a:r>
                        <a:rPr b="1" lang="en" sz="1000">
                          <a:latin typeface="Century Gothic"/>
                          <a:ea typeface="Century Gothic"/>
                          <a:cs typeface="Century Gothic"/>
                          <a:sym typeface="Century Gothic"/>
                        </a:rPr>
                        <a:t>straight line</a:t>
                      </a:r>
                      <a:r>
                        <a:rPr lang="en" sz="1000">
                          <a:latin typeface="Century Gothic"/>
                          <a:ea typeface="Century Gothic"/>
                          <a:cs typeface="Century Gothic"/>
                          <a:sym typeface="Century Gothic"/>
                        </a:rPr>
                        <a:t> to data</a:t>
                      </a:r>
                      <a:endParaRPr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l">
                        <a:lnSpc>
                          <a:spcPct val="100000"/>
                        </a:lnSpc>
                        <a:spcBef>
                          <a:spcPts val="50"/>
                        </a:spcBef>
                        <a:spcAft>
                          <a:spcPts val="50"/>
                        </a:spcAft>
                        <a:buNone/>
                      </a:pPr>
                      <a:r>
                        <a:rPr lang="en" sz="1000">
                          <a:latin typeface="Century Gothic"/>
                          <a:ea typeface="Century Gothic"/>
                          <a:cs typeface="Century Gothic"/>
                          <a:sym typeface="Century Gothic"/>
                        </a:rPr>
                        <a:t>Uses an </a:t>
                      </a:r>
                      <a:r>
                        <a:rPr b="1" lang="en" sz="1000">
                          <a:latin typeface="Century Gothic"/>
                          <a:ea typeface="Century Gothic"/>
                          <a:cs typeface="Century Gothic"/>
                          <a:sym typeface="Century Gothic"/>
                        </a:rPr>
                        <a:t>S-shaped (sigmoid) curve</a:t>
                      </a:r>
                      <a:r>
                        <a:rPr lang="en" sz="1000">
                          <a:latin typeface="Century Gothic"/>
                          <a:ea typeface="Century Gothic"/>
                          <a:cs typeface="Century Gothic"/>
                          <a:sym typeface="Century Gothic"/>
                        </a:rPr>
                        <a:t> to map probability</a:t>
                      </a:r>
                      <a:endParaRPr sz="1000">
                        <a:latin typeface="Century Gothic"/>
                        <a:ea typeface="Century Gothic"/>
                        <a:cs typeface="Century Gothic"/>
                        <a:sym typeface="Century Gothic"/>
                      </a:endParaRPr>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7" name="Shape 237"/>
        <p:cNvGrpSpPr/>
        <p:nvPr/>
      </p:nvGrpSpPr>
      <p:grpSpPr>
        <a:xfrm>
          <a:off x="0" y="0"/>
          <a:ext cx="0" cy="0"/>
          <a:chOff x="0" y="0"/>
          <a:chExt cx="0" cy="0"/>
        </a:xfrm>
      </p:grpSpPr>
      <p:sp>
        <p:nvSpPr>
          <p:cNvPr id="238" name="Google Shape;238;p43"/>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How are we doing? Metrics...</a:t>
            </a:r>
            <a:endParaRPr sz="2000">
              <a:solidFill>
                <a:schemeClr val="dk1"/>
              </a:solidFill>
              <a:latin typeface="Century Gothic"/>
              <a:ea typeface="Century Gothic"/>
              <a:cs typeface="Century Gothic"/>
              <a:sym typeface="Century Gothic"/>
            </a:endParaRPr>
          </a:p>
        </p:txBody>
      </p:sp>
      <p:sp>
        <p:nvSpPr>
          <p:cNvPr id="239" name="Google Shape;239;p43"/>
          <p:cNvSpPr txBox="1"/>
          <p:nvPr/>
        </p:nvSpPr>
        <p:spPr>
          <a:xfrm>
            <a:off x="680100" y="968600"/>
            <a:ext cx="8058600" cy="14775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There are many ways to measure our model’s performance</a:t>
            </a:r>
            <a:endParaRPr sz="1200">
              <a:solidFill>
                <a:schemeClr val="dk1"/>
              </a:solidFill>
              <a:latin typeface="Century Gothic"/>
              <a:ea typeface="Century Gothic"/>
              <a:cs typeface="Century Gothic"/>
              <a:sym typeface="Century Gothic"/>
            </a:endParaRPr>
          </a:p>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Two common metrics are </a:t>
            </a:r>
            <a:r>
              <a:rPr i="1" lang="en" sz="1200">
                <a:solidFill>
                  <a:schemeClr val="dk1"/>
                </a:solidFill>
                <a:latin typeface="Century Gothic"/>
                <a:ea typeface="Century Gothic"/>
                <a:cs typeface="Century Gothic"/>
                <a:sym typeface="Century Gothic"/>
              </a:rPr>
              <a:t>precision</a:t>
            </a:r>
            <a:r>
              <a:rPr lang="en" sz="1200">
                <a:solidFill>
                  <a:schemeClr val="dk1"/>
                </a:solidFill>
                <a:latin typeface="Century Gothic"/>
                <a:ea typeface="Century Gothic"/>
                <a:cs typeface="Century Gothic"/>
                <a:sym typeface="Century Gothic"/>
              </a:rPr>
              <a:t> and </a:t>
            </a:r>
            <a:r>
              <a:rPr i="1" lang="en" sz="1200">
                <a:solidFill>
                  <a:schemeClr val="dk1"/>
                </a:solidFill>
                <a:latin typeface="Century Gothic"/>
                <a:ea typeface="Century Gothic"/>
                <a:cs typeface="Century Gothic"/>
                <a:sym typeface="Century Gothic"/>
              </a:rPr>
              <a:t>recall</a:t>
            </a:r>
            <a:endParaRPr sz="1200">
              <a:solidFill>
                <a:schemeClr val="dk1"/>
              </a:solidFill>
              <a:latin typeface="Century Gothic"/>
              <a:ea typeface="Century Gothic"/>
              <a:cs typeface="Century Gothic"/>
              <a:sym typeface="Century Gothic"/>
            </a:endParaRPr>
          </a:p>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Helpful to think in terms of items return via a search:</a:t>
            </a:r>
            <a:endParaRPr sz="1200">
              <a:solidFill>
                <a:schemeClr val="dk1"/>
              </a:solidFill>
              <a:latin typeface="Century Gothic"/>
              <a:ea typeface="Century Gothic"/>
              <a:cs typeface="Century Gothic"/>
              <a:sym typeface="Century Gothic"/>
            </a:endParaRPr>
          </a:p>
          <a:p>
            <a:pPr indent="-304800" lvl="1" marL="914400" rtl="0" algn="l">
              <a:lnSpc>
                <a:spcPct val="150000"/>
              </a:lnSpc>
              <a:spcBef>
                <a:spcPts val="0"/>
              </a:spcBef>
              <a:spcAft>
                <a:spcPts val="0"/>
              </a:spcAft>
              <a:buClr>
                <a:schemeClr val="dk1"/>
              </a:buClr>
              <a:buSzPts val="1200"/>
              <a:buChar char="○"/>
            </a:pPr>
            <a:r>
              <a:rPr b="1" lang="en" sz="1200">
                <a:solidFill>
                  <a:schemeClr val="dk1"/>
                </a:solidFill>
                <a:latin typeface="Century Gothic"/>
                <a:ea typeface="Century Gothic"/>
                <a:cs typeface="Century Gothic"/>
                <a:sym typeface="Century Gothic"/>
              </a:rPr>
              <a:t>Precision</a:t>
            </a:r>
            <a:r>
              <a:rPr lang="en" sz="1200">
                <a:solidFill>
                  <a:schemeClr val="dk1"/>
                </a:solidFill>
                <a:latin typeface="Century Gothic"/>
                <a:ea typeface="Century Gothic"/>
                <a:cs typeface="Century Gothic"/>
                <a:sym typeface="Century Gothic"/>
              </a:rPr>
              <a:t> = how many presented items are relevant?</a:t>
            </a:r>
            <a:endParaRPr sz="1200">
              <a:solidFill>
                <a:schemeClr val="dk1"/>
              </a:solidFill>
              <a:latin typeface="Century Gothic"/>
              <a:ea typeface="Century Gothic"/>
              <a:cs typeface="Century Gothic"/>
              <a:sym typeface="Century Gothic"/>
            </a:endParaRPr>
          </a:p>
          <a:p>
            <a:pPr indent="-304800" lvl="1" marL="914400" rtl="0" algn="l">
              <a:lnSpc>
                <a:spcPct val="150000"/>
              </a:lnSpc>
              <a:spcBef>
                <a:spcPts val="0"/>
              </a:spcBef>
              <a:spcAft>
                <a:spcPts val="0"/>
              </a:spcAft>
              <a:buClr>
                <a:schemeClr val="dk1"/>
              </a:buClr>
              <a:buSzPts val="1200"/>
              <a:buChar char="○"/>
            </a:pPr>
            <a:r>
              <a:rPr b="1" lang="en" sz="1200">
                <a:solidFill>
                  <a:schemeClr val="dk1"/>
                </a:solidFill>
                <a:latin typeface="Century Gothic"/>
                <a:ea typeface="Century Gothic"/>
                <a:cs typeface="Century Gothic"/>
                <a:sym typeface="Century Gothic"/>
              </a:rPr>
              <a:t>Recall </a:t>
            </a:r>
            <a:r>
              <a:rPr lang="en" sz="1200">
                <a:solidFill>
                  <a:schemeClr val="dk1"/>
                </a:solidFill>
                <a:latin typeface="Century Gothic"/>
                <a:ea typeface="Century Gothic"/>
                <a:cs typeface="Century Gothic"/>
                <a:sym typeface="Century Gothic"/>
              </a:rPr>
              <a:t>= how many relevant items were presented?</a:t>
            </a:r>
            <a:endParaRPr b="1" sz="1200">
              <a:solidFill>
                <a:schemeClr val="dk1"/>
              </a:solidFill>
              <a:latin typeface="Century Gothic"/>
              <a:ea typeface="Century Gothic"/>
              <a:cs typeface="Century Gothic"/>
              <a:sym typeface="Century Gothic"/>
            </a:endParaRPr>
          </a:p>
        </p:txBody>
      </p:sp>
      <p:sp>
        <p:nvSpPr>
          <p:cNvPr id="240" name="Google Shape;240;p43"/>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4" name="Shape 244"/>
        <p:cNvGrpSpPr/>
        <p:nvPr/>
      </p:nvGrpSpPr>
      <p:grpSpPr>
        <a:xfrm>
          <a:off x="0" y="0"/>
          <a:ext cx="0" cy="0"/>
          <a:chOff x="0" y="0"/>
          <a:chExt cx="0" cy="0"/>
        </a:xfrm>
      </p:grpSpPr>
      <p:sp>
        <p:nvSpPr>
          <p:cNvPr id="245" name="Google Shape;245;p44"/>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Precision vs. Recall</a:t>
            </a:r>
            <a:endParaRPr sz="2000">
              <a:solidFill>
                <a:schemeClr val="dk1"/>
              </a:solidFill>
              <a:latin typeface="Century Gothic"/>
              <a:ea typeface="Century Gothic"/>
              <a:cs typeface="Century Gothic"/>
              <a:sym typeface="Century Gothic"/>
            </a:endParaRPr>
          </a:p>
        </p:txBody>
      </p:sp>
      <p:sp>
        <p:nvSpPr>
          <p:cNvPr id="246" name="Google Shape;246;p44"/>
          <p:cNvSpPr txBox="1"/>
          <p:nvPr/>
        </p:nvSpPr>
        <p:spPr>
          <a:xfrm>
            <a:off x="588250" y="4283475"/>
            <a:ext cx="8058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Century Gothic"/>
                <a:ea typeface="Century Gothic"/>
                <a:cs typeface="Century Gothic"/>
                <a:sym typeface="Century Gothic"/>
              </a:rPr>
              <a:t>In what kind of real-world system would we prefer recall over precision?</a:t>
            </a:r>
            <a:endParaRPr sz="1500">
              <a:solidFill>
                <a:schemeClr val="dk1"/>
              </a:solidFill>
              <a:latin typeface="Century Gothic"/>
              <a:ea typeface="Century Gothic"/>
              <a:cs typeface="Century Gothic"/>
              <a:sym typeface="Century Gothic"/>
            </a:endParaRPr>
          </a:p>
        </p:txBody>
      </p:sp>
      <p:sp>
        <p:nvSpPr>
          <p:cNvPr id="247" name="Google Shape;247;p44"/>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fld id="{00000000-1234-1234-1234-123412341234}" type="slidenum">
              <a:rPr lang="en"/>
              <a:t>‹#›</a:t>
            </a:fld>
            <a:endParaRPr/>
          </a:p>
        </p:txBody>
      </p:sp>
      <p:pic>
        <p:nvPicPr>
          <p:cNvPr id="248" name="Google Shape;248;p44"/>
          <p:cNvPicPr preferRelativeResize="0"/>
          <p:nvPr/>
        </p:nvPicPr>
        <p:blipFill rotWithShape="1">
          <a:blip r:embed="rId3">
            <a:alphaModFix/>
          </a:blip>
          <a:srcRect b="0" l="0" r="0" t="0"/>
          <a:stretch/>
        </p:blipFill>
        <p:spPr>
          <a:xfrm>
            <a:off x="752475" y="1025375"/>
            <a:ext cx="2505075" cy="3028950"/>
          </a:xfrm>
          <a:prstGeom prst="rect">
            <a:avLst/>
          </a:prstGeom>
          <a:noFill/>
          <a:ln>
            <a:noFill/>
          </a:ln>
        </p:spPr>
      </p:pic>
      <p:pic>
        <p:nvPicPr>
          <p:cNvPr id="249" name="Google Shape;249;p44"/>
          <p:cNvPicPr preferRelativeResize="0"/>
          <p:nvPr/>
        </p:nvPicPr>
        <p:blipFill rotWithShape="1">
          <a:blip r:embed="rId4">
            <a:alphaModFix/>
          </a:blip>
          <a:srcRect b="0" l="0" r="0" t="0"/>
          <a:stretch/>
        </p:blipFill>
        <p:spPr>
          <a:xfrm>
            <a:off x="3554950" y="2463075"/>
            <a:ext cx="2750751" cy="1592242"/>
          </a:xfrm>
          <a:prstGeom prst="rect">
            <a:avLst/>
          </a:prstGeom>
          <a:noFill/>
          <a:ln>
            <a:noFill/>
          </a:ln>
        </p:spPr>
      </p:pic>
      <p:pic>
        <p:nvPicPr>
          <p:cNvPr id="250" name="Google Shape;250;p44"/>
          <p:cNvPicPr preferRelativeResize="0"/>
          <p:nvPr/>
        </p:nvPicPr>
        <p:blipFill rotWithShape="1">
          <a:blip r:embed="rId5">
            <a:alphaModFix/>
          </a:blip>
          <a:srcRect b="0" l="0" r="0" t="0"/>
          <a:stretch/>
        </p:blipFill>
        <p:spPr>
          <a:xfrm>
            <a:off x="3554950" y="1007025"/>
            <a:ext cx="2714975" cy="1367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4" name="Shape 254"/>
        <p:cNvGrpSpPr/>
        <p:nvPr/>
      </p:nvGrpSpPr>
      <p:grpSpPr>
        <a:xfrm>
          <a:off x="0" y="0"/>
          <a:ext cx="0" cy="0"/>
          <a:chOff x="0" y="0"/>
          <a:chExt cx="0" cy="0"/>
        </a:xfrm>
      </p:grpSpPr>
      <p:sp>
        <p:nvSpPr>
          <p:cNvPr id="255" name="Google Shape;255;p45"/>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Hypothetical COVID Identification System</a:t>
            </a:r>
            <a:endParaRPr sz="2000">
              <a:solidFill>
                <a:schemeClr val="dk1"/>
              </a:solidFill>
              <a:latin typeface="Century Gothic"/>
              <a:ea typeface="Century Gothic"/>
              <a:cs typeface="Century Gothic"/>
              <a:sym typeface="Century Gothic"/>
            </a:endParaRPr>
          </a:p>
        </p:txBody>
      </p:sp>
      <p:sp>
        <p:nvSpPr>
          <p:cNvPr id="256" name="Google Shape;256;p45"/>
          <p:cNvSpPr txBox="1"/>
          <p:nvPr/>
        </p:nvSpPr>
        <p:spPr>
          <a:xfrm>
            <a:off x="705150" y="976950"/>
            <a:ext cx="8106000" cy="33246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For airports and other locations where people gather</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Guaranteed not to miss a single person with COVID</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Here it is…</a:t>
            </a:r>
            <a:endParaRPr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Are you ready?</a:t>
            </a:r>
            <a:endParaRPr sz="1700">
              <a:solidFill>
                <a:schemeClr val="dk1"/>
              </a:solidFill>
              <a:latin typeface="Calibri"/>
              <a:ea typeface="Calibri"/>
              <a:cs typeface="Calibri"/>
              <a:sym typeface="Calibri"/>
            </a:endParaRPr>
          </a:p>
          <a:p>
            <a:pPr indent="-336550" lvl="2" marL="1371600" rtl="0" algn="l">
              <a:spcBef>
                <a:spcPts val="0"/>
              </a:spcBef>
              <a:spcAft>
                <a:spcPts val="0"/>
              </a:spcAft>
              <a:buClr>
                <a:schemeClr val="dk1"/>
              </a:buClr>
              <a:buSzPts val="1700"/>
              <a:buChar char="■"/>
            </a:pPr>
            <a:r>
              <a:rPr b="1" lang="en" sz="1700">
                <a:solidFill>
                  <a:schemeClr val="dk1"/>
                </a:solidFill>
                <a:latin typeface="Calibri"/>
                <a:ea typeface="Calibri"/>
                <a:cs typeface="Calibri"/>
                <a:sym typeface="Calibri"/>
              </a:rPr>
              <a:t>Everyone has COVID!</a:t>
            </a:r>
            <a:endParaRPr b="1"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ANALYSIS: We didn’t miss a single person with COVID</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PROBLEM: Too many false positives</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Let's say there are 5M people with COVID in the</a:t>
            </a:r>
            <a:br>
              <a:rPr lang="en" sz="1700">
                <a:solidFill>
                  <a:schemeClr val="dk1"/>
                </a:solidFill>
                <a:latin typeface="Calibri"/>
                <a:ea typeface="Calibri"/>
                <a:cs typeface="Calibri"/>
                <a:sym typeface="Calibri"/>
              </a:rPr>
            </a:br>
            <a:r>
              <a:rPr lang="en" sz="1700">
                <a:solidFill>
                  <a:schemeClr val="dk1"/>
                </a:solidFill>
                <a:latin typeface="Calibri"/>
                <a:ea typeface="Calibri"/>
                <a:cs typeface="Calibri"/>
                <a:sym typeface="Calibri"/>
              </a:rPr>
              <a:t>USA at any given time…</a:t>
            </a:r>
            <a:endParaRPr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Our system identified all, but not very precise!</a:t>
            </a:r>
            <a:endParaRPr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Recall is a function of how many we got right–</a:t>
            </a:r>
            <a:br>
              <a:rPr lang="en" sz="1700">
                <a:solidFill>
                  <a:schemeClr val="dk1"/>
                </a:solidFill>
                <a:latin typeface="Calibri"/>
                <a:ea typeface="Calibri"/>
                <a:cs typeface="Calibri"/>
                <a:sym typeface="Calibri"/>
              </a:rPr>
            </a:br>
            <a:r>
              <a:rPr lang="en" sz="1700">
                <a:solidFill>
                  <a:schemeClr val="dk1"/>
                </a:solidFill>
                <a:latin typeface="Calibri"/>
                <a:ea typeface="Calibri"/>
                <a:cs typeface="Calibri"/>
                <a:sym typeface="Calibri"/>
              </a:rPr>
              <a:t>we got all 5M who are sick so recall was great!</a:t>
            </a:r>
            <a:endParaRPr sz="1800">
              <a:solidFill>
                <a:schemeClr val="dk1"/>
              </a:solidFill>
              <a:latin typeface="Calibri"/>
              <a:ea typeface="Calibri"/>
              <a:cs typeface="Calibri"/>
              <a:sym typeface="Calibri"/>
            </a:endParaRPr>
          </a:p>
        </p:txBody>
      </p:sp>
      <p:sp>
        <p:nvSpPr>
          <p:cNvPr id="257" name="Google Shape;257;p45"/>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1" name="Shape 261"/>
        <p:cNvGrpSpPr/>
        <p:nvPr/>
      </p:nvGrpSpPr>
      <p:grpSpPr>
        <a:xfrm>
          <a:off x="0" y="0"/>
          <a:ext cx="0" cy="0"/>
          <a:chOff x="0" y="0"/>
          <a:chExt cx="0" cy="0"/>
        </a:xfrm>
      </p:grpSpPr>
      <p:sp>
        <p:nvSpPr>
          <p:cNvPr id="262" name="Google Shape;262;p46"/>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Other Metrics: MSE and MAE</a:t>
            </a:r>
            <a:endParaRPr sz="2000">
              <a:solidFill>
                <a:schemeClr val="dk1"/>
              </a:solidFill>
              <a:latin typeface="Century Gothic"/>
              <a:ea typeface="Century Gothic"/>
              <a:cs typeface="Century Gothic"/>
              <a:sym typeface="Century Gothic"/>
            </a:endParaRPr>
          </a:p>
        </p:txBody>
      </p:sp>
      <p:sp>
        <p:nvSpPr>
          <p:cNvPr id="263" name="Google Shape;263;p46"/>
          <p:cNvSpPr txBox="1"/>
          <p:nvPr/>
        </p:nvSpPr>
        <p:spPr>
          <a:xfrm>
            <a:off x="705150" y="976950"/>
            <a:ext cx="8106000" cy="24012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MAE = Mean Absolute Error</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MSE = Mean Squared Error</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What do they “mean”?</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When might we use them?</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There are others, but our goal is not to delve into the mathy details, but rather, have a high-level understand of some of these metrics </a:t>
            </a:r>
            <a:endParaRPr sz="1700">
              <a:solidFill>
                <a:schemeClr val="dk1"/>
              </a:solidFill>
              <a:latin typeface="Calibri"/>
              <a:ea typeface="Calibri"/>
              <a:cs typeface="Calibri"/>
              <a:sym typeface="Calibri"/>
            </a:endParaRPr>
          </a:p>
        </p:txBody>
      </p:sp>
      <p:sp>
        <p:nvSpPr>
          <p:cNvPr id="264" name="Google Shape;264;p46"/>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68" name="Shape 268"/>
        <p:cNvGrpSpPr/>
        <p:nvPr/>
      </p:nvGrpSpPr>
      <p:grpSpPr>
        <a:xfrm>
          <a:off x="0" y="0"/>
          <a:ext cx="0" cy="0"/>
          <a:chOff x="0" y="0"/>
          <a:chExt cx="0" cy="0"/>
        </a:xfrm>
      </p:grpSpPr>
      <p:sp>
        <p:nvSpPr>
          <p:cNvPr id="269" name="Google Shape;269;p47"/>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lnSpc>
                <a:spcPct val="90000"/>
              </a:lnSpc>
              <a:spcBef>
                <a:spcPts val="0"/>
              </a:spcBef>
              <a:spcAft>
                <a:spcPts val="0"/>
              </a:spcAft>
              <a:buSzPts val="2000"/>
              <a:buNone/>
            </a:pPr>
            <a:r>
              <a:rPr lang="en">
                <a:solidFill>
                  <a:schemeClr val="dk1"/>
                </a:solidFill>
              </a:rPr>
              <a:t>Evaluation Metrics: Is Accuracy Enough?</a:t>
            </a:r>
            <a:endParaRPr>
              <a:solidFill>
                <a:schemeClr val="dk1"/>
              </a:solidFill>
            </a:endParaRPr>
          </a:p>
        </p:txBody>
      </p:sp>
      <p:pic>
        <p:nvPicPr>
          <p:cNvPr id="270" name="Google Shape;270;p47"/>
          <p:cNvPicPr preferRelativeResize="0"/>
          <p:nvPr/>
        </p:nvPicPr>
        <p:blipFill>
          <a:blip r:embed="rId3">
            <a:alphaModFix/>
          </a:blip>
          <a:stretch>
            <a:fillRect/>
          </a:stretch>
        </p:blipFill>
        <p:spPr>
          <a:xfrm>
            <a:off x="912378" y="3392000"/>
            <a:ext cx="7218300" cy="1287725"/>
          </a:xfrm>
          <a:prstGeom prst="rect">
            <a:avLst/>
          </a:prstGeom>
          <a:noFill/>
          <a:ln>
            <a:noFill/>
          </a:ln>
        </p:spPr>
      </p:pic>
      <p:sp>
        <p:nvSpPr>
          <p:cNvPr id="271" name="Google Shape;271;p47"/>
          <p:cNvSpPr txBox="1"/>
          <p:nvPr/>
        </p:nvSpPr>
        <p:spPr>
          <a:xfrm>
            <a:off x="608900" y="1071988"/>
            <a:ext cx="8262900" cy="2124000"/>
          </a:xfrm>
          <a:prstGeom prst="rect">
            <a:avLst/>
          </a:prstGeom>
          <a:noFill/>
          <a:ln>
            <a:noFill/>
          </a:ln>
        </p:spPr>
        <p:txBody>
          <a:bodyPr anchorCtr="0" anchor="t" bIns="91425" lIns="91425" spcFirstLastPara="1" rIns="91425" wrap="square" tIns="91425">
            <a:spAutoFit/>
          </a:bodyPr>
          <a:lstStyle/>
          <a:p>
            <a:pPr indent="-317500" lvl="0" marL="457200" rtl="0" algn="l">
              <a:lnSpc>
                <a:spcPct val="200000"/>
              </a:lnSpc>
              <a:spcBef>
                <a:spcPts val="0"/>
              </a:spcBef>
              <a:spcAft>
                <a:spcPts val="0"/>
              </a:spcAft>
              <a:buClr>
                <a:srgbClr val="000000"/>
              </a:buClr>
              <a:buSzPts val="1400"/>
              <a:buChar char="●"/>
            </a:pPr>
            <a:r>
              <a:rPr lang="en"/>
              <a:t>A</a:t>
            </a:r>
            <a:r>
              <a:rPr lang="en">
                <a:solidFill>
                  <a:srgbClr val="000000"/>
                </a:solidFill>
              </a:rPr>
              <a:t> system has to specify we have </a:t>
            </a:r>
            <a:r>
              <a:rPr b="1" lang="en">
                <a:solidFill>
                  <a:srgbClr val="000000"/>
                </a:solidFill>
              </a:rPr>
              <a:t>Dog </a:t>
            </a:r>
            <a:r>
              <a:rPr lang="en">
                <a:solidFill>
                  <a:srgbClr val="000000"/>
                </a:solidFill>
              </a:rPr>
              <a:t>or </a:t>
            </a:r>
            <a:r>
              <a:rPr b="1" lang="en">
                <a:solidFill>
                  <a:srgbClr val="000000"/>
                </a:solidFill>
              </a:rPr>
              <a:t>Not Dog</a:t>
            </a:r>
            <a:r>
              <a:rPr lang="en">
                <a:solidFill>
                  <a:srgbClr val="000000"/>
                </a:solidFill>
              </a:rPr>
              <a:t> within a set of pictures</a:t>
            </a:r>
            <a:endParaRPr>
              <a:solidFill>
                <a:srgbClr val="000000"/>
              </a:solidFill>
            </a:endParaRPr>
          </a:p>
          <a:p>
            <a:pPr indent="-317500" lvl="0" marL="457200" rtl="0" algn="l">
              <a:lnSpc>
                <a:spcPct val="200000"/>
              </a:lnSpc>
              <a:spcBef>
                <a:spcPts val="0"/>
              </a:spcBef>
              <a:spcAft>
                <a:spcPts val="0"/>
              </a:spcAft>
              <a:buClr>
                <a:srgbClr val="000000"/>
              </a:buClr>
              <a:buSzPts val="1400"/>
              <a:buChar char="●"/>
            </a:pPr>
            <a:r>
              <a:rPr lang="en">
                <a:solidFill>
                  <a:srgbClr val="000000"/>
                </a:solidFill>
              </a:rPr>
              <a:t>One of the simple evaluation metrics is accuracy. Suppose you have 5 images and the model gets 4 of them right, then the score is 0.8</a:t>
            </a:r>
            <a:endParaRPr>
              <a:solidFill>
                <a:srgbClr val="000000"/>
              </a:solidFill>
            </a:endParaRPr>
          </a:p>
          <a:p>
            <a:pPr indent="-317500" lvl="0" marL="457200" rtl="0" algn="l">
              <a:lnSpc>
                <a:spcPct val="200000"/>
              </a:lnSpc>
              <a:spcBef>
                <a:spcPts val="0"/>
              </a:spcBef>
              <a:spcAft>
                <a:spcPts val="0"/>
              </a:spcAft>
              <a:buClr>
                <a:srgbClr val="000000"/>
              </a:buClr>
              <a:buSzPts val="1400"/>
              <a:buChar char="●"/>
            </a:pPr>
            <a:r>
              <a:rPr lang="en">
                <a:solidFill>
                  <a:srgbClr val="000000"/>
                </a:solidFill>
              </a:rPr>
              <a:t>Thus, we can say accuracy is the number of correctly classified images over total images. That is simple and intuitive, but this is not enough</a:t>
            </a:r>
            <a:endParaRPr>
              <a:solidFill>
                <a:srgbClr val="000000"/>
              </a:solidFill>
            </a:endParaRPr>
          </a:p>
        </p:txBody>
      </p:sp>
      <p:sp>
        <p:nvSpPr>
          <p:cNvPr id="272" name="Google Shape;272;p47"/>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76" name="Shape 276"/>
        <p:cNvGrpSpPr/>
        <p:nvPr/>
      </p:nvGrpSpPr>
      <p:grpSpPr>
        <a:xfrm>
          <a:off x="0" y="0"/>
          <a:ext cx="0" cy="0"/>
          <a:chOff x="0" y="0"/>
          <a:chExt cx="0" cy="0"/>
        </a:xfrm>
      </p:grpSpPr>
      <p:sp>
        <p:nvSpPr>
          <p:cNvPr id="277" name="Google Shape;277;p48"/>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lnSpc>
                <a:spcPct val="90000"/>
              </a:lnSpc>
              <a:spcBef>
                <a:spcPts val="0"/>
              </a:spcBef>
              <a:spcAft>
                <a:spcPts val="0"/>
              </a:spcAft>
              <a:buSzPts val="2000"/>
              <a:buNone/>
            </a:pPr>
            <a:r>
              <a:rPr lang="en">
                <a:solidFill>
                  <a:schemeClr val="dk1"/>
                </a:solidFill>
              </a:rPr>
              <a:t>Evaluation Metrics: Is Accuracy Enough?</a:t>
            </a:r>
            <a:endParaRPr>
              <a:solidFill>
                <a:schemeClr val="dk1"/>
              </a:solidFill>
            </a:endParaRPr>
          </a:p>
        </p:txBody>
      </p:sp>
      <p:sp>
        <p:nvSpPr>
          <p:cNvPr id="278" name="Google Shape;278;p48"/>
          <p:cNvSpPr txBox="1"/>
          <p:nvPr/>
        </p:nvSpPr>
        <p:spPr>
          <a:xfrm>
            <a:off x="608900" y="1071988"/>
            <a:ext cx="8262900" cy="23397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SzPts val="1400"/>
              <a:buChar char="●"/>
            </a:pPr>
            <a:r>
              <a:rPr lang="en"/>
              <a:t>Let’s create an algorithm</a:t>
            </a:r>
            <a:endParaRPr/>
          </a:p>
          <a:p>
            <a:pPr indent="-317500" lvl="1" marL="914400" rtl="0" algn="l">
              <a:lnSpc>
                <a:spcPct val="150000"/>
              </a:lnSpc>
              <a:spcBef>
                <a:spcPts val="0"/>
              </a:spcBef>
              <a:spcAft>
                <a:spcPts val="0"/>
              </a:spcAft>
              <a:buSzPts val="1400"/>
              <a:buChar char="○"/>
            </a:pPr>
            <a:r>
              <a:rPr lang="en"/>
              <a:t>def is_a_dog (x):</a:t>
            </a:r>
            <a:endParaRPr/>
          </a:p>
          <a:p>
            <a:pPr indent="-317500" lvl="3" marL="1828800" rtl="0" algn="l">
              <a:lnSpc>
                <a:spcPct val="150000"/>
              </a:lnSpc>
              <a:spcBef>
                <a:spcPts val="0"/>
              </a:spcBef>
              <a:spcAft>
                <a:spcPts val="0"/>
              </a:spcAft>
              <a:buSzPts val="1400"/>
              <a:buChar char="●"/>
            </a:pPr>
            <a:r>
              <a:rPr lang="en"/>
              <a:t>return False</a:t>
            </a:r>
            <a:endParaRPr/>
          </a:p>
          <a:p>
            <a:pPr indent="-317500" lvl="0" marL="457200" rtl="0" algn="l">
              <a:lnSpc>
                <a:spcPct val="150000"/>
              </a:lnSpc>
              <a:spcBef>
                <a:spcPts val="0"/>
              </a:spcBef>
              <a:spcAft>
                <a:spcPts val="0"/>
              </a:spcAft>
              <a:buSzPts val="1400"/>
              <a:buChar char="●"/>
            </a:pPr>
            <a:r>
              <a:rPr lang="en"/>
              <a:t>The naive algorithm above assumes everything is not a dog without doing any computation on the given data</a:t>
            </a:r>
            <a:endParaRPr/>
          </a:p>
          <a:p>
            <a:pPr indent="-317500" lvl="0" marL="457200" rtl="0" algn="l">
              <a:lnSpc>
                <a:spcPct val="150000"/>
              </a:lnSpc>
              <a:spcBef>
                <a:spcPts val="0"/>
              </a:spcBef>
              <a:spcAft>
                <a:spcPts val="0"/>
              </a:spcAft>
              <a:buSzPts val="1400"/>
              <a:buChar char="●"/>
            </a:pPr>
            <a:r>
              <a:rPr lang="en"/>
              <a:t>One thing to notice is that because coincidentally our dataset has 4 images that are not-dog, such naive algorithm gets the score of </a:t>
            </a:r>
            <a:r>
              <a:rPr b="1" lang="en"/>
              <a:t>0.8 (so called accuracy)</a:t>
            </a:r>
            <a:endParaRPr/>
          </a:p>
        </p:txBody>
      </p:sp>
      <p:pic>
        <p:nvPicPr>
          <p:cNvPr id="279" name="Google Shape;279;p48"/>
          <p:cNvPicPr preferRelativeResize="0"/>
          <p:nvPr/>
        </p:nvPicPr>
        <p:blipFill>
          <a:blip r:embed="rId3">
            <a:alphaModFix/>
          </a:blip>
          <a:stretch>
            <a:fillRect/>
          </a:stretch>
        </p:blipFill>
        <p:spPr>
          <a:xfrm>
            <a:off x="1765575" y="3316300"/>
            <a:ext cx="6084324" cy="1508275"/>
          </a:xfrm>
          <a:prstGeom prst="rect">
            <a:avLst/>
          </a:prstGeom>
          <a:noFill/>
          <a:ln>
            <a:noFill/>
          </a:ln>
        </p:spPr>
      </p:pic>
      <p:sp>
        <p:nvSpPr>
          <p:cNvPr id="280" name="Google Shape;280;p48"/>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84" name="Shape 284"/>
        <p:cNvGrpSpPr/>
        <p:nvPr/>
      </p:nvGrpSpPr>
      <p:grpSpPr>
        <a:xfrm>
          <a:off x="0" y="0"/>
          <a:ext cx="0" cy="0"/>
          <a:chOff x="0" y="0"/>
          <a:chExt cx="0" cy="0"/>
        </a:xfrm>
      </p:grpSpPr>
      <p:sp>
        <p:nvSpPr>
          <p:cNvPr id="285" name="Google Shape;285;p49"/>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lnSpc>
                <a:spcPct val="90000"/>
              </a:lnSpc>
              <a:spcBef>
                <a:spcPts val="0"/>
              </a:spcBef>
              <a:spcAft>
                <a:spcPts val="0"/>
              </a:spcAft>
              <a:buSzPts val="2000"/>
              <a:buNone/>
            </a:pPr>
            <a:r>
              <a:rPr lang="en">
                <a:solidFill>
                  <a:schemeClr val="dk1"/>
                </a:solidFill>
              </a:rPr>
              <a:t>Evaluation Metrics: Is Accuracy Enough?</a:t>
            </a:r>
            <a:endParaRPr>
              <a:solidFill>
                <a:schemeClr val="dk1"/>
              </a:solidFill>
            </a:endParaRPr>
          </a:p>
        </p:txBody>
      </p:sp>
      <p:sp>
        <p:nvSpPr>
          <p:cNvPr id="286" name="Google Shape;286;p49"/>
          <p:cNvSpPr txBox="1"/>
          <p:nvPr/>
        </p:nvSpPr>
        <p:spPr>
          <a:xfrm>
            <a:off x="608900" y="1071988"/>
            <a:ext cx="8262900" cy="831300"/>
          </a:xfrm>
          <a:prstGeom prst="rect">
            <a:avLst/>
          </a:prstGeom>
          <a:noFill/>
          <a:ln>
            <a:noFill/>
          </a:ln>
        </p:spPr>
        <p:txBody>
          <a:bodyPr anchorCtr="0" anchor="t" bIns="91425" lIns="91425" spcFirstLastPara="1" rIns="91425" wrap="square" tIns="91425">
            <a:spAutoFit/>
          </a:bodyPr>
          <a:lstStyle/>
          <a:p>
            <a:pPr indent="-317500" lvl="0" marL="457200" rtl="0" algn="l">
              <a:lnSpc>
                <a:spcPct val="200000"/>
              </a:lnSpc>
              <a:spcBef>
                <a:spcPts val="0"/>
              </a:spcBef>
              <a:spcAft>
                <a:spcPts val="0"/>
              </a:spcAft>
              <a:buSzPts val="1400"/>
              <a:buChar char="●"/>
            </a:pPr>
            <a:r>
              <a:rPr lang="en"/>
              <a:t>Here we are having the Class Imbalance Problem</a:t>
            </a:r>
            <a:endParaRPr/>
          </a:p>
          <a:p>
            <a:pPr indent="-317500" lvl="0" marL="457200" rtl="0" algn="l">
              <a:lnSpc>
                <a:spcPct val="200000"/>
              </a:lnSpc>
              <a:spcBef>
                <a:spcPts val="0"/>
              </a:spcBef>
              <a:spcAft>
                <a:spcPts val="0"/>
              </a:spcAft>
              <a:buSzPts val="1400"/>
              <a:buChar char="●"/>
            </a:pPr>
            <a:r>
              <a:rPr lang="en"/>
              <a:t>It will lead you to failure of Accuracy</a:t>
            </a:r>
            <a:endParaRPr/>
          </a:p>
        </p:txBody>
      </p:sp>
      <p:pic>
        <p:nvPicPr>
          <p:cNvPr id="287" name="Google Shape;287;p49"/>
          <p:cNvPicPr preferRelativeResize="0"/>
          <p:nvPr/>
        </p:nvPicPr>
        <p:blipFill>
          <a:blip r:embed="rId3">
            <a:alphaModFix/>
          </a:blip>
          <a:stretch>
            <a:fillRect/>
          </a:stretch>
        </p:blipFill>
        <p:spPr>
          <a:xfrm>
            <a:off x="912378" y="3392000"/>
            <a:ext cx="7218300" cy="1287725"/>
          </a:xfrm>
          <a:prstGeom prst="rect">
            <a:avLst/>
          </a:prstGeom>
          <a:noFill/>
          <a:ln>
            <a:noFill/>
          </a:ln>
        </p:spPr>
      </p:pic>
      <p:sp>
        <p:nvSpPr>
          <p:cNvPr id="288" name="Google Shape;288;p49"/>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92" name="Shape 292"/>
        <p:cNvGrpSpPr/>
        <p:nvPr/>
      </p:nvGrpSpPr>
      <p:grpSpPr>
        <a:xfrm>
          <a:off x="0" y="0"/>
          <a:ext cx="0" cy="0"/>
          <a:chOff x="0" y="0"/>
          <a:chExt cx="0" cy="0"/>
        </a:xfrm>
      </p:grpSpPr>
      <p:sp>
        <p:nvSpPr>
          <p:cNvPr id="293" name="Google Shape;293;p50"/>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lnSpc>
                <a:spcPct val="90000"/>
              </a:lnSpc>
              <a:spcBef>
                <a:spcPts val="0"/>
              </a:spcBef>
              <a:spcAft>
                <a:spcPts val="0"/>
              </a:spcAft>
              <a:buSzPts val="2000"/>
              <a:buNone/>
            </a:pPr>
            <a:r>
              <a:rPr lang="en">
                <a:solidFill>
                  <a:schemeClr val="dk1"/>
                </a:solidFill>
              </a:rPr>
              <a:t>Evaluation Metrics: Other metrics to look for</a:t>
            </a:r>
            <a:endParaRPr>
              <a:solidFill>
                <a:schemeClr val="dk1"/>
              </a:solidFill>
            </a:endParaRPr>
          </a:p>
        </p:txBody>
      </p:sp>
      <p:sp>
        <p:nvSpPr>
          <p:cNvPr id="294" name="Google Shape;294;p50"/>
          <p:cNvSpPr txBox="1"/>
          <p:nvPr/>
        </p:nvSpPr>
        <p:spPr>
          <a:xfrm>
            <a:off x="608900" y="1071988"/>
            <a:ext cx="8262900" cy="2986200"/>
          </a:xfrm>
          <a:prstGeom prst="rect">
            <a:avLst/>
          </a:prstGeom>
          <a:noFill/>
          <a:ln>
            <a:noFill/>
          </a:ln>
        </p:spPr>
        <p:txBody>
          <a:bodyPr anchorCtr="0" anchor="t" bIns="91425" lIns="91425" spcFirstLastPara="1" rIns="91425" wrap="square" tIns="91425">
            <a:spAutoFit/>
          </a:bodyPr>
          <a:lstStyle/>
          <a:p>
            <a:pPr indent="-317500" lvl="0" marL="457200" rtl="0" algn="l">
              <a:lnSpc>
                <a:spcPct val="200000"/>
              </a:lnSpc>
              <a:spcBef>
                <a:spcPts val="0"/>
              </a:spcBef>
              <a:spcAft>
                <a:spcPts val="0"/>
              </a:spcAft>
              <a:buSzPts val="1400"/>
              <a:buChar char="●"/>
            </a:pPr>
            <a:r>
              <a:rPr lang="en"/>
              <a:t>Ways to combat this situation:</a:t>
            </a:r>
            <a:endParaRPr/>
          </a:p>
          <a:p>
            <a:pPr indent="-317500" lvl="1" marL="914400" rtl="0" algn="l">
              <a:lnSpc>
                <a:spcPct val="200000"/>
              </a:lnSpc>
              <a:spcBef>
                <a:spcPts val="0"/>
              </a:spcBef>
              <a:spcAft>
                <a:spcPts val="0"/>
              </a:spcAft>
              <a:buSzPts val="1400"/>
              <a:buChar char="○"/>
            </a:pPr>
            <a:r>
              <a:rPr b="1" lang="en">
                <a:solidFill>
                  <a:srgbClr val="980000"/>
                </a:solidFill>
              </a:rPr>
              <a:t>Precision</a:t>
            </a:r>
            <a:r>
              <a:rPr lang="en"/>
              <a:t>: Among all of the predictions that are “dog”, how many of them are correctly classified?</a:t>
            </a:r>
            <a:endParaRPr/>
          </a:p>
          <a:p>
            <a:pPr indent="0" lvl="0" marL="0" rtl="0" algn="l">
              <a:lnSpc>
                <a:spcPct val="200000"/>
              </a:lnSpc>
              <a:spcBef>
                <a:spcPts val="0"/>
              </a:spcBef>
              <a:spcAft>
                <a:spcPts val="0"/>
              </a:spcAft>
              <a:buNone/>
            </a:pPr>
            <a:r>
              <a:t/>
            </a:r>
            <a:endParaRPr/>
          </a:p>
          <a:p>
            <a:pPr indent="0" lvl="0" marL="0" rtl="0" algn="l">
              <a:lnSpc>
                <a:spcPct val="200000"/>
              </a:lnSpc>
              <a:spcBef>
                <a:spcPts val="0"/>
              </a:spcBef>
              <a:spcAft>
                <a:spcPts val="0"/>
              </a:spcAft>
              <a:buNone/>
            </a:pPr>
            <a:r>
              <a:t/>
            </a:r>
            <a:endParaRPr/>
          </a:p>
          <a:p>
            <a:pPr indent="-317500" lvl="1" marL="914400" rtl="0" algn="l">
              <a:lnSpc>
                <a:spcPct val="200000"/>
              </a:lnSpc>
              <a:spcBef>
                <a:spcPts val="0"/>
              </a:spcBef>
              <a:spcAft>
                <a:spcPts val="0"/>
              </a:spcAft>
              <a:buSzPts val="1400"/>
              <a:buChar char="○"/>
            </a:pPr>
            <a:r>
              <a:rPr b="1" lang="en">
                <a:solidFill>
                  <a:srgbClr val="980000"/>
                </a:solidFill>
              </a:rPr>
              <a:t>Recall</a:t>
            </a:r>
            <a:r>
              <a:rPr lang="en"/>
              <a:t>: Among all of data that are labelled “dog”, how many of them are correctly classified?</a:t>
            </a:r>
            <a:endParaRPr/>
          </a:p>
        </p:txBody>
      </p:sp>
      <p:pic>
        <p:nvPicPr>
          <p:cNvPr id="295" name="Google Shape;295;p50"/>
          <p:cNvPicPr preferRelativeResize="0"/>
          <p:nvPr/>
        </p:nvPicPr>
        <p:blipFill>
          <a:blip r:embed="rId3">
            <a:alphaModFix/>
          </a:blip>
          <a:stretch>
            <a:fillRect/>
          </a:stretch>
        </p:blipFill>
        <p:spPr>
          <a:xfrm>
            <a:off x="1723936" y="2326550"/>
            <a:ext cx="5696126" cy="669173"/>
          </a:xfrm>
          <a:prstGeom prst="rect">
            <a:avLst/>
          </a:prstGeom>
          <a:noFill/>
          <a:ln>
            <a:noFill/>
          </a:ln>
        </p:spPr>
      </p:pic>
      <p:pic>
        <p:nvPicPr>
          <p:cNvPr id="296" name="Google Shape;296;p50"/>
          <p:cNvPicPr preferRelativeResize="0"/>
          <p:nvPr/>
        </p:nvPicPr>
        <p:blipFill>
          <a:blip r:embed="rId4">
            <a:alphaModFix/>
          </a:blip>
          <a:stretch>
            <a:fillRect/>
          </a:stretch>
        </p:blipFill>
        <p:spPr>
          <a:xfrm>
            <a:off x="2109836" y="3998741"/>
            <a:ext cx="4924324" cy="558660"/>
          </a:xfrm>
          <a:prstGeom prst="rect">
            <a:avLst/>
          </a:prstGeom>
          <a:noFill/>
          <a:ln>
            <a:noFill/>
          </a:ln>
        </p:spPr>
      </p:pic>
      <p:sp>
        <p:nvSpPr>
          <p:cNvPr id="297" name="Google Shape;297;p50"/>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01" name="Shape 301"/>
        <p:cNvGrpSpPr/>
        <p:nvPr/>
      </p:nvGrpSpPr>
      <p:grpSpPr>
        <a:xfrm>
          <a:off x="0" y="0"/>
          <a:ext cx="0" cy="0"/>
          <a:chOff x="0" y="0"/>
          <a:chExt cx="0" cy="0"/>
        </a:xfrm>
      </p:grpSpPr>
      <p:sp>
        <p:nvSpPr>
          <p:cNvPr id="302" name="Google Shape;302;p51"/>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SzPts val="2000"/>
              <a:buNone/>
            </a:pPr>
            <a:r>
              <a:rPr lang="en">
                <a:solidFill>
                  <a:schemeClr val="dk1"/>
                </a:solidFill>
              </a:rPr>
              <a:t>Evaluation Metrics: Other metrics to look for</a:t>
            </a:r>
            <a:endParaRPr>
              <a:solidFill>
                <a:schemeClr val="dk1"/>
              </a:solidFill>
            </a:endParaRPr>
          </a:p>
        </p:txBody>
      </p:sp>
      <p:pic>
        <p:nvPicPr>
          <p:cNvPr id="303" name="Google Shape;303;p51"/>
          <p:cNvPicPr preferRelativeResize="0"/>
          <p:nvPr/>
        </p:nvPicPr>
        <p:blipFill>
          <a:blip r:embed="rId3">
            <a:alphaModFix/>
          </a:blip>
          <a:stretch>
            <a:fillRect/>
          </a:stretch>
        </p:blipFill>
        <p:spPr>
          <a:xfrm>
            <a:off x="2043723" y="1284925"/>
            <a:ext cx="5056429" cy="2559746"/>
          </a:xfrm>
          <a:prstGeom prst="rect">
            <a:avLst/>
          </a:prstGeom>
          <a:noFill/>
          <a:ln>
            <a:noFill/>
          </a:ln>
        </p:spPr>
      </p:pic>
      <p:sp>
        <p:nvSpPr>
          <p:cNvPr id="304" name="Google Shape;304;p51"/>
          <p:cNvSpPr txBox="1"/>
          <p:nvPr/>
        </p:nvSpPr>
        <p:spPr>
          <a:xfrm>
            <a:off x="1896450" y="4126152"/>
            <a:ext cx="535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At Airport, What is required? Accuracy or Precision?</a:t>
            </a:r>
            <a:endParaRPr/>
          </a:p>
        </p:txBody>
      </p:sp>
      <p:sp>
        <p:nvSpPr>
          <p:cNvPr id="305" name="Google Shape;305;p51"/>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09" name="Shape 309"/>
        <p:cNvGrpSpPr/>
        <p:nvPr/>
      </p:nvGrpSpPr>
      <p:grpSpPr>
        <a:xfrm>
          <a:off x="0" y="0"/>
          <a:ext cx="0" cy="0"/>
          <a:chOff x="0" y="0"/>
          <a:chExt cx="0" cy="0"/>
        </a:xfrm>
      </p:grpSpPr>
      <p:sp>
        <p:nvSpPr>
          <p:cNvPr id="310" name="Google Shape;310;p52"/>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SzPts val="2000"/>
              <a:buNone/>
            </a:pPr>
            <a:r>
              <a:rPr lang="en">
                <a:solidFill>
                  <a:schemeClr val="dk1"/>
                </a:solidFill>
              </a:rPr>
              <a:t>Evaluation Metrics: Other metrics to look for</a:t>
            </a:r>
            <a:endParaRPr>
              <a:solidFill>
                <a:schemeClr val="dk1"/>
              </a:solidFill>
            </a:endParaRPr>
          </a:p>
        </p:txBody>
      </p:sp>
      <p:sp>
        <p:nvSpPr>
          <p:cNvPr id="311" name="Google Shape;311;p52"/>
          <p:cNvSpPr txBox="1"/>
          <p:nvPr/>
        </p:nvSpPr>
        <p:spPr>
          <a:xfrm>
            <a:off x="1742550" y="4165686"/>
            <a:ext cx="5658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In Courtroom, What is required? Accuracy or Precision?</a:t>
            </a:r>
            <a:endParaRPr/>
          </a:p>
        </p:txBody>
      </p:sp>
      <p:pic>
        <p:nvPicPr>
          <p:cNvPr id="312" name="Google Shape;312;p52"/>
          <p:cNvPicPr preferRelativeResize="0"/>
          <p:nvPr/>
        </p:nvPicPr>
        <p:blipFill>
          <a:blip r:embed="rId3">
            <a:alphaModFix/>
          </a:blip>
          <a:stretch>
            <a:fillRect/>
          </a:stretch>
        </p:blipFill>
        <p:spPr>
          <a:xfrm>
            <a:off x="2342220" y="1262100"/>
            <a:ext cx="4459559" cy="2632348"/>
          </a:xfrm>
          <a:prstGeom prst="rect">
            <a:avLst/>
          </a:prstGeom>
          <a:noFill/>
          <a:ln>
            <a:noFill/>
          </a:ln>
        </p:spPr>
      </p:pic>
      <p:sp>
        <p:nvSpPr>
          <p:cNvPr id="313" name="Google Shape;313;p52"/>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17" name="Shape 317"/>
        <p:cNvGrpSpPr/>
        <p:nvPr/>
      </p:nvGrpSpPr>
      <p:grpSpPr>
        <a:xfrm>
          <a:off x="0" y="0"/>
          <a:ext cx="0" cy="0"/>
          <a:chOff x="0" y="0"/>
          <a:chExt cx="0" cy="0"/>
        </a:xfrm>
      </p:grpSpPr>
      <p:sp>
        <p:nvSpPr>
          <p:cNvPr id="318" name="Google Shape;318;p53"/>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SzPts val="2000"/>
              <a:buNone/>
            </a:pPr>
            <a:r>
              <a:rPr lang="en">
                <a:solidFill>
                  <a:schemeClr val="dk1"/>
                </a:solidFill>
              </a:rPr>
              <a:t>Evaluation Metrics: Other metrics to look for</a:t>
            </a:r>
            <a:endParaRPr>
              <a:solidFill>
                <a:schemeClr val="dk1"/>
              </a:solidFill>
            </a:endParaRPr>
          </a:p>
        </p:txBody>
      </p:sp>
      <p:sp>
        <p:nvSpPr>
          <p:cNvPr id="319" name="Google Shape;319;p53"/>
          <p:cNvSpPr txBox="1"/>
          <p:nvPr/>
        </p:nvSpPr>
        <p:spPr>
          <a:xfrm>
            <a:off x="613700" y="1028375"/>
            <a:ext cx="7861500" cy="1262100"/>
          </a:xfrm>
          <a:prstGeom prst="rect">
            <a:avLst/>
          </a:prstGeom>
          <a:noFill/>
          <a:ln>
            <a:noFill/>
          </a:ln>
        </p:spPr>
        <p:txBody>
          <a:bodyPr anchorCtr="0" anchor="t" bIns="91425" lIns="91425" spcFirstLastPara="1" rIns="91425" wrap="square" tIns="91425">
            <a:spAutoFit/>
          </a:bodyPr>
          <a:lstStyle/>
          <a:p>
            <a:pPr indent="-317500" lvl="0" marL="457200" rtl="0" algn="l">
              <a:lnSpc>
                <a:spcPct val="200000"/>
              </a:lnSpc>
              <a:spcBef>
                <a:spcPts val="0"/>
              </a:spcBef>
              <a:spcAft>
                <a:spcPts val="0"/>
              </a:spcAft>
              <a:buClr>
                <a:srgbClr val="000000"/>
              </a:buClr>
              <a:buSzPts val="1400"/>
              <a:buChar char="●"/>
            </a:pPr>
            <a:r>
              <a:rPr lang="en">
                <a:solidFill>
                  <a:srgbClr val="000000"/>
                </a:solidFill>
              </a:rPr>
              <a:t>Let’s create a Confusion Matrix</a:t>
            </a:r>
            <a:endParaRPr>
              <a:solidFill>
                <a:srgbClr val="000000"/>
              </a:solidFill>
            </a:endParaRPr>
          </a:p>
          <a:p>
            <a:pPr indent="-317500" lvl="1" marL="914400" rtl="0" algn="l">
              <a:lnSpc>
                <a:spcPct val="200000"/>
              </a:lnSpc>
              <a:spcBef>
                <a:spcPts val="0"/>
              </a:spcBef>
              <a:spcAft>
                <a:spcPts val="0"/>
              </a:spcAft>
              <a:buClr>
                <a:srgbClr val="000000"/>
              </a:buClr>
              <a:buSzPts val="1400"/>
              <a:buChar char="○"/>
            </a:pPr>
            <a:r>
              <a:rPr lang="en"/>
              <a:t>A </a:t>
            </a:r>
            <a:r>
              <a:rPr lang="en">
                <a:solidFill>
                  <a:srgbClr val="000000"/>
                </a:solidFill>
              </a:rPr>
              <a:t>Confusion matrix splits the data into 4 categories: true positive, true negative, false positive and false negative</a:t>
            </a:r>
            <a:endParaRPr>
              <a:solidFill>
                <a:srgbClr val="000000"/>
              </a:solidFill>
            </a:endParaRPr>
          </a:p>
        </p:txBody>
      </p:sp>
      <p:pic>
        <p:nvPicPr>
          <p:cNvPr id="320" name="Google Shape;320;p53"/>
          <p:cNvPicPr preferRelativeResize="0"/>
          <p:nvPr/>
        </p:nvPicPr>
        <p:blipFill>
          <a:blip r:embed="rId3">
            <a:alphaModFix/>
          </a:blip>
          <a:stretch>
            <a:fillRect/>
          </a:stretch>
        </p:blipFill>
        <p:spPr>
          <a:xfrm>
            <a:off x="2292612" y="2823525"/>
            <a:ext cx="4558775" cy="1920800"/>
          </a:xfrm>
          <a:prstGeom prst="rect">
            <a:avLst/>
          </a:prstGeom>
          <a:noFill/>
          <a:ln>
            <a:noFill/>
          </a:ln>
        </p:spPr>
      </p:pic>
      <p:sp>
        <p:nvSpPr>
          <p:cNvPr id="321" name="Google Shape;321;p53"/>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25" name="Shape 325"/>
        <p:cNvGrpSpPr/>
        <p:nvPr/>
      </p:nvGrpSpPr>
      <p:grpSpPr>
        <a:xfrm>
          <a:off x="0" y="0"/>
          <a:ext cx="0" cy="0"/>
          <a:chOff x="0" y="0"/>
          <a:chExt cx="0" cy="0"/>
        </a:xfrm>
      </p:grpSpPr>
      <p:sp>
        <p:nvSpPr>
          <p:cNvPr id="326" name="Google Shape;326;p54"/>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SzPts val="2000"/>
              <a:buNone/>
            </a:pPr>
            <a:r>
              <a:rPr lang="en">
                <a:solidFill>
                  <a:schemeClr val="dk1"/>
                </a:solidFill>
              </a:rPr>
              <a:t>Evaluation Metrics: Other metrics to look for</a:t>
            </a:r>
            <a:endParaRPr>
              <a:solidFill>
                <a:schemeClr val="dk1"/>
              </a:solidFill>
            </a:endParaRPr>
          </a:p>
        </p:txBody>
      </p:sp>
      <p:sp>
        <p:nvSpPr>
          <p:cNvPr id="327" name="Google Shape;327;p54"/>
          <p:cNvSpPr txBox="1"/>
          <p:nvPr/>
        </p:nvSpPr>
        <p:spPr>
          <a:xfrm>
            <a:off x="613700" y="1028375"/>
            <a:ext cx="7861500" cy="400200"/>
          </a:xfrm>
          <a:prstGeom prst="rect">
            <a:avLst/>
          </a:prstGeom>
          <a:noFill/>
          <a:ln>
            <a:noFill/>
          </a:ln>
        </p:spPr>
        <p:txBody>
          <a:bodyPr anchorCtr="0" anchor="t" bIns="91425" lIns="91425" spcFirstLastPara="1" rIns="91425" wrap="square" tIns="91425">
            <a:spAutoFit/>
          </a:bodyPr>
          <a:lstStyle/>
          <a:p>
            <a:pPr indent="-317500" lvl="0" marL="457200" rtl="0" algn="l">
              <a:lnSpc>
                <a:spcPct val="200000"/>
              </a:lnSpc>
              <a:spcBef>
                <a:spcPts val="0"/>
              </a:spcBef>
              <a:spcAft>
                <a:spcPts val="0"/>
              </a:spcAft>
              <a:buSzPts val="1400"/>
              <a:buChar char="●"/>
            </a:pPr>
            <a:r>
              <a:rPr lang="en"/>
              <a:t>Let’s consider a batch of images labelled as </a:t>
            </a:r>
            <a:r>
              <a:rPr i="1" lang="en"/>
              <a:t>Dog</a:t>
            </a:r>
            <a:r>
              <a:rPr lang="en"/>
              <a:t> and </a:t>
            </a:r>
            <a:r>
              <a:rPr i="1" lang="en"/>
              <a:t>Not-Dog</a:t>
            </a:r>
            <a:r>
              <a:rPr lang="en"/>
              <a:t>:</a:t>
            </a:r>
            <a:endParaRPr/>
          </a:p>
        </p:txBody>
      </p:sp>
      <p:pic>
        <p:nvPicPr>
          <p:cNvPr id="328" name="Google Shape;328;p54"/>
          <p:cNvPicPr preferRelativeResize="0"/>
          <p:nvPr/>
        </p:nvPicPr>
        <p:blipFill>
          <a:blip r:embed="rId3">
            <a:alphaModFix/>
          </a:blip>
          <a:stretch>
            <a:fillRect/>
          </a:stretch>
        </p:blipFill>
        <p:spPr>
          <a:xfrm>
            <a:off x="1252463" y="1841725"/>
            <a:ext cx="6639076" cy="2835200"/>
          </a:xfrm>
          <a:prstGeom prst="rect">
            <a:avLst/>
          </a:prstGeom>
          <a:noFill/>
          <a:ln>
            <a:noFill/>
          </a:ln>
        </p:spPr>
      </p:pic>
      <p:sp>
        <p:nvSpPr>
          <p:cNvPr id="329" name="Google Shape;329;p54"/>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33" name="Shape 333"/>
        <p:cNvGrpSpPr/>
        <p:nvPr/>
      </p:nvGrpSpPr>
      <p:grpSpPr>
        <a:xfrm>
          <a:off x="0" y="0"/>
          <a:ext cx="0" cy="0"/>
          <a:chOff x="0" y="0"/>
          <a:chExt cx="0" cy="0"/>
        </a:xfrm>
      </p:grpSpPr>
      <p:sp>
        <p:nvSpPr>
          <p:cNvPr id="334" name="Google Shape;334;p55"/>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SzPts val="2000"/>
              <a:buNone/>
            </a:pPr>
            <a:r>
              <a:rPr lang="en">
                <a:solidFill>
                  <a:schemeClr val="dk1"/>
                </a:solidFill>
              </a:rPr>
              <a:t>Evaluation Metrics: Other metrics to look for</a:t>
            </a:r>
            <a:endParaRPr>
              <a:solidFill>
                <a:schemeClr val="dk1"/>
              </a:solidFill>
            </a:endParaRPr>
          </a:p>
        </p:txBody>
      </p:sp>
      <p:sp>
        <p:nvSpPr>
          <p:cNvPr id="335" name="Google Shape;335;p55"/>
          <p:cNvSpPr txBox="1"/>
          <p:nvPr/>
        </p:nvSpPr>
        <p:spPr>
          <a:xfrm>
            <a:off x="613700" y="1028375"/>
            <a:ext cx="7861500" cy="3848100"/>
          </a:xfrm>
          <a:prstGeom prst="rect">
            <a:avLst/>
          </a:prstGeom>
          <a:noFill/>
          <a:ln>
            <a:noFill/>
          </a:ln>
        </p:spPr>
        <p:txBody>
          <a:bodyPr anchorCtr="0" anchor="t" bIns="91425" lIns="91425" spcFirstLastPara="1" rIns="91425" wrap="square" tIns="91425">
            <a:spAutoFit/>
          </a:bodyPr>
          <a:lstStyle/>
          <a:p>
            <a:pPr indent="-317500" lvl="0" marL="457200" rtl="0" algn="l">
              <a:lnSpc>
                <a:spcPct val="200000"/>
              </a:lnSpc>
              <a:spcBef>
                <a:spcPts val="0"/>
              </a:spcBef>
              <a:spcAft>
                <a:spcPts val="0"/>
              </a:spcAft>
              <a:buSzPts val="1400"/>
              <a:buChar char="●"/>
            </a:pPr>
            <a:r>
              <a:rPr lang="en"/>
              <a:t>Now evaluate it using Confusion Matrix</a:t>
            </a:r>
            <a:endParaRPr/>
          </a:p>
          <a:p>
            <a:pPr indent="0" lvl="0" marL="0" rtl="0" algn="l">
              <a:lnSpc>
                <a:spcPct val="200000"/>
              </a:lnSpc>
              <a:spcBef>
                <a:spcPts val="0"/>
              </a:spcBef>
              <a:spcAft>
                <a:spcPts val="0"/>
              </a:spcAft>
              <a:buNone/>
            </a:pPr>
            <a:r>
              <a:t/>
            </a:r>
            <a:endParaRPr/>
          </a:p>
          <a:p>
            <a:pPr indent="0" lvl="0" marL="0" rtl="0" algn="l">
              <a:lnSpc>
                <a:spcPct val="200000"/>
              </a:lnSpc>
              <a:spcBef>
                <a:spcPts val="0"/>
              </a:spcBef>
              <a:spcAft>
                <a:spcPts val="0"/>
              </a:spcAft>
              <a:buNone/>
            </a:pPr>
            <a:r>
              <a:t/>
            </a:r>
            <a:endParaRPr/>
          </a:p>
          <a:p>
            <a:pPr indent="0" lvl="0" marL="0" rtl="0" algn="l">
              <a:lnSpc>
                <a:spcPct val="200000"/>
              </a:lnSpc>
              <a:spcBef>
                <a:spcPts val="0"/>
              </a:spcBef>
              <a:spcAft>
                <a:spcPts val="0"/>
              </a:spcAft>
              <a:buNone/>
            </a:pPr>
            <a:r>
              <a:t/>
            </a:r>
            <a:endParaRPr/>
          </a:p>
          <a:p>
            <a:pPr indent="0" lvl="0" marL="0" rtl="0" algn="l">
              <a:lnSpc>
                <a:spcPct val="200000"/>
              </a:lnSpc>
              <a:spcBef>
                <a:spcPts val="0"/>
              </a:spcBef>
              <a:spcAft>
                <a:spcPts val="0"/>
              </a:spcAft>
              <a:buNone/>
            </a:pPr>
            <a:r>
              <a:t/>
            </a:r>
            <a:endParaRPr/>
          </a:p>
          <a:p>
            <a:pPr indent="0" lvl="0" marL="0" rtl="0" algn="l">
              <a:lnSpc>
                <a:spcPct val="200000"/>
              </a:lnSpc>
              <a:spcBef>
                <a:spcPts val="0"/>
              </a:spcBef>
              <a:spcAft>
                <a:spcPts val="0"/>
              </a:spcAft>
              <a:buNone/>
            </a:pPr>
            <a:r>
              <a:t/>
            </a:r>
            <a:endParaRPr/>
          </a:p>
          <a:p>
            <a:pPr indent="0" lvl="0" marL="0" rtl="0" algn="l">
              <a:lnSpc>
                <a:spcPct val="200000"/>
              </a:lnSpc>
              <a:spcBef>
                <a:spcPts val="0"/>
              </a:spcBef>
              <a:spcAft>
                <a:spcPts val="0"/>
              </a:spcAft>
              <a:buNone/>
            </a:pPr>
            <a:r>
              <a:t/>
            </a:r>
            <a:endParaRPr/>
          </a:p>
          <a:p>
            <a:pPr indent="0" lvl="0" marL="0" rtl="0" algn="l">
              <a:lnSpc>
                <a:spcPct val="200000"/>
              </a:lnSpc>
              <a:spcBef>
                <a:spcPts val="0"/>
              </a:spcBef>
              <a:spcAft>
                <a:spcPts val="0"/>
              </a:spcAft>
              <a:buNone/>
            </a:pPr>
            <a:r>
              <a:t/>
            </a:r>
            <a:endParaRPr/>
          </a:p>
          <a:p>
            <a:pPr indent="0" lvl="0" marL="0" rtl="0" algn="l">
              <a:lnSpc>
                <a:spcPct val="200000"/>
              </a:lnSpc>
              <a:spcBef>
                <a:spcPts val="0"/>
              </a:spcBef>
              <a:spcAft>
                <a:spcPts val="0"/>
              </a:spcAft>
              <a:buNone/>
            </a:pPr>
            <a:r>
              <a:rPr lang="en"/>
              <a:t>In this case, the Precision is (4/(4+3))= 0.57 whereas recall is (4/(4+2))= 0.66</a:t>
            </a:r>
            <a:endParaRPr/>
          </a:p>
        </p:txBody>
      </p:sp>
      <p:pic>
        <p:nvPicPr>
          <p:cNvPr id="336" name="Google Shape;336;p55"/>
          <p:cNvPicPr preferRelativeResize="0"/>
          <p:nvPr/>
        </p:nvPicPr>
        <p:blipFill>
          <a:blip r:embed="rId3">
            <a:alphaModFix/>
          </a:blip>
          <a:stretch>
            <a:fillRect/>
          </a:stretch>
        </p:blipFill>
        <p:spPr>
          <a:xfrm>
            <a:off x="1454001" y="1482288"/>
            <a:ext cx="6180900" cy="2940275"/>
          </a:xfrm>
          <a:prstGeom prst="rect">
            <a:avLst/>
          </a:prstGeom>
          <a:noFill/>
          <a:ln>
            <a:noFill/>
          </a:ln>
        </p:spPr>
      </p:pic>
      <p:sp>
        <p:nvSpPr>
          <p:cNvPr id="337" name="Google Shape;337;p55"/>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41" name="Shape 341"/>
        <p:cNvGrpSpPr/>
        <p:nvPr/>
      </p:nvGrpSpPr>
      <p:grpSpPr>
        <a:xfrm>
          <a:off x="0" y="0"/>
          <a:ext cx="0" cy="0"/>
          <a:chOff x="0" y="0"/>
          <a:chExt cx="0" cy="0"/>
        </a:xfrm>
      </p:grpSpPr>
      <p:sp>
        <p:nvSpPr>
          <p:cNvPr id="342" name="Google Shape;342;p56"/>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SzPts val="2000"/>
              <a:buNone/>
            </a:pPr>
            <a:r>
              <a:rPr lang="en">
                <a:solidFill>
                  <a:schemeClr val="dk1"/>
                </a:solidFill>
              </a:rPr>
              <a:t>Evaluation Metrics: Other metrics to look for</a:t>
            </a:r>
            <a:endParaRPr>
              <a:solidFill>
                <a:schemeClr val="dk1"/>
              </a:solidFill>
            </a:endParaRPr>
          </a:p>
        </p:txBody>
      </p:sp>
      <p:sp>
        <p:nvSpPr>
          <p:cNvPr id="343" name="Google Shape;343;p56"/>
          <p:cNvSpPr txBox="1"/>
          <p:nvPr/>
        </p:nvSpPr>
        <p:spPr>
          <a:xfrm>
            <a:off x="613700" y="1028375"/>
            <a:ext cx="7861500" cy="400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
              <a:t>How to decide Precision or Recall?</a:t>
            </a:r>
            <a:endParaRPr/>
          </a:p>
        </p:txBody>
      </p:sp>
      <p:pic>
        <p:nvPicPr>
          <p:cNvPr id="344" name="Google Shape;344;p56"/>
          <p:cNvPicPr preferRelativeResize="0"/>
          <p:nvPr/>
        </p:nvPicPr>
        <p:blipFill>
          <a:blip r:embed="rId3">
            <a:alphaModFix/>
          </a:blip>
          <a:stretch>
            <a:fillRect/>
          </a:stretch>
        </p:blipFill>
        <p:spPr>
          <a:xfrm>
            <a:off x="1933450" y="1990475"/>
            <a:ext cx="5277101" cy="2379250"/>
          </a:xfrm>
          <a:prstGeom prst="rect">
            <a:avLst/>
          </a:prstGeom>
          <a:noFill/>
          <a:ln>
            <a:noFill/>
          </a:ln>
        </p:spPr>
      </p:pic>
      <p:sp>
        <p:nvSpPr>
          <p:cNvPr id="345" name="Google Shape;345;p56"/>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49" name="Shape 349"/>
        <p:cNvGrpSpPr/>
        <p:nvPr/>
      </p:nvGrpSpPr>
      <p:grpSpPr>
        <a:xfrm>
          <a:off x="0" y="0"/>
          <a:ext cx="0" cy="0"/>
          <a:chOff x="0" y="0"/>
          <a:chExt cx="0" cy="0"/>
        </a:xfrm>
      </p:grpSpPr>
      <p:sp>
        <p:nvSpPr>
          <p:cNvPr id="350" name="Google Shape;350;p57"/>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SzPts val="2000"/>
              <a:buNone/>
            </a:pPr>
            <a:r>
              <a:rPr lang="en">
                <a:solidFill>
                  <a:schemeClr val="dk1"/>
                </a:solidFill>
              </a:rPr>
              <a:t>Evaluation Metrics: Other metrics to look for</a:t>
            </a:r>
            <a:endParaRPr>
              <a:solidFill>
                <a:schemeClr val="dk1"/>
              </a:solidFill>
            </a:endParaRPr>
          </a:p>
        </p:txBody>
      </p:sp>
      <p:sp>
        <p:nvSpPr>
          <p:cNvPr id="351" name="Google Shape;351;p57"/>
          <p:cNvSpPr txBox="1"/>
          <p:nvPr/>
        </p:nvSpPr>
        <p:spPr>
          <a:xfrm>
            <a:off x="613700" y="1028375"/>
            <a:ext cx="8327700" cy="1693200"/>
          </a:xfrm>
          <a:prstGeom prst="rect">
            <a:avLst/>
          </a:prstGeom>
          <a:noFill/>
          <a:ln>
            <a:noFill/>
          </a:ln>
        </p:spPr>
        <p:txBody>
          <a:bodyPr anchorCtr="0" anchor="t" bIns="91425" lIns="91425" spcFirstLastPara="1" rIns="91425" wrap="square" tIns="91425">
            <a:spAutoFit/>
          </a:bodyPr>
          <a:lstStyle/>
          <a:p>
            <a:pPr indent="-317500" lvl="0" marL="457200" rtl="0" algn="l">
              <a:lnSpc>
                <a:spcPct val="200000"/>
              </a:lnSpc>
              <a:spcBef>
                <a:spcPts val="0"/>
              </a:spcBef>
              <a:spcAft>
                <a:spcPts val="0"/>
              </a:spcAft>
              <a:buSzPts val="1400"/>
              <a:buChar char="●"/>
            </a:pPr>
            <a:r>
              <a:rPr lang="en"/>
              <a:t>Suppose our model will surely have 5 incorrect labels, if all the incorrect classifications fall into false-positive, then we will have low precision and high recall</a:t>
            </a:r>
            <a:endParaRPr/>
          </a:p>
          <a:p>
            <a:pPr indent="-317500" lvl="0" marL="457200" rtl="0" algn="l">
              <a:lnSpc>
                <a:spcPct val="200000"/>
              </a:lnSpc>
              <a:spcBef>
                <a:spcPts val="0"/>
              </a:spcBef>
              <a:spcAft>
                <a:spcPts val="0"/>
              </a:spcAft>
              <a:buSzPts val="1400"/>
              <a:buChar char="●"/>
            </a:pPr>
            <a:r>
              <a:rPr lang="en"/>
              <a:t>However, if the incorrect labels fall into false-negative, we will instead have high precision and low recall</a:t>
            </a:r>
            <a:endParaRPr/>
          </a:p>
        </p:txBody>
      </p:sp>
      <p:pic>
        <p:nvPicPr>
          <p:cNvPr id="352" name="Google Shape;352;p57"/>
          <p:cNvPicPr preferRelativeResize="0"/>
          <p:nvPr/>
        </p:nvPicPr>
        <p:blipFill>
          <a:blip r:embed="rId3">
            <a:alphaModFix/>
          </a:blip>
          <a:stretch>
            <a:fillRect/>
          </a:stretch>
        </p:blipFill>
        <p:spPr>
          <a:xfrm>
            <a:off x="1223687" y="2721575"/>
            <a:ext cx="6696625" cy="2128975"/>
          </a:xfrm>
          <a:prstGeom prst="rect">
            <a:avLst/>
          </a:prstGeom>
          <a:noFill/>
          <a:ln>
            <a:noFill/>
          </a:ln>
        </p:spPr>
      </p:pic>
      <p:sp>
        <p:nvSpPr>
          <p:cNvPr id="353" name="Google Shape;353;p57"/>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57" name="Shape 357"/>
        <p:cNvGrpSpPr/>
        <p:nvPr/>
      </p:nvGrpSpPr>
      <p:grpSpPr>
        <a:xfrm>
          <a:off x="0" y="0"/>
          <a:ext cx="0" cy="0"/>
          <a:chOff x="0" y="0"/>
          <a:chExt cx="0" cy="0"/>
        </a:xfrm>
      </p:grpSpPr>
      <p:sp>
        <p:nvSpPr>
          <p:cNvPr id="358" name="Google Shape;358;p58"/>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SzPts val="2000"/>
              <a:buNone/>
            </a:pPr>
            <a:r>
              <a:rPr lang="en">
                <a:solidFill>
                  <a:schemeClr val="dk1"/>
                </a:solidFill>
              </a:rPr>
              <a:t>Evaluation Metrics: Other metrics to look for</a:t>
            </a:r>
            <a:endParaRPr>
              <a:solidFill>
                <a:schemeClr val="dk1"/>
              </a:solidFill>
            </a:endParaRPr>
          </a:p>
        </p:txBody>
      </p:sp>
      <p:sp>
        <p:nvSpPr>
          <p:cNvPr id="359" name="Google Shape;359;p58"/>
          <p:cNvSpPr txBox="1"/>
          <p:nvPr/>
        </p:nvSpPr>
        <p:spPr>
          <a:xfrm>
            <a:off x="613700" y="1028375"/>
            <a:ext cx="8327700" cy="3417000"/>
          </a:xfrm>
          <a:prstGeom prst="rect">
            <a:avLst/>
          </a:prstGeom>
          <a:noFill/>
          <a:ln>
            <a:noFill/>
          </a:ln>
        </p:spPr>
        <p:txBody>
          <a:bodyPr anchorCtr="0" anchor="t" bIns="91425" lIns="91425" spcFirstLastPara="1" rIns="91425" wrap="square" tIns="91425">
            <a:spAutoFit/>
          </a:bodyPr>
          <a:lstStyle/>
          <a:p>
            <a:pPr indent="-317500" lvl="0" marL="457200" rtl="0" algn="l">
              <a:lnSpc>
                <a:spcPct val="200000"/>
              </a:lnSpc>
              <a:spcBef>
                <a:spcPts val="1200"/>
              </a:spcBef>
              <a:spcAft>
                <a:spcPts val="0"/>
              </a:spcAft>
              <a:buSzPts val="1400"/>
              <a:buChar char="●"/>
            </a:pPr>
            <a:r>
              <a:rPr lang="en"/>
              <a:t>Therefore, when you train your machine learning model, you must decide which metrics is more important.</a:t>
            </a:r>
            <a:endParaRPr/>
          </a:p>
          <a:p>
            <a:pPr indent="-317500" lvl="0" marL="457200" rtl="0" algn="l">
              <a:lnSpc>
                <a:spcPct val="200000"/>
              </a:lnSpc>
              <a:spcBef>
                <a:spcPts val="0"/>
              </a:spcBef>
              <a:spcAft>
                <a:spcPts val="0"/>
              </a:spcAft>
              <a:buSzPts val="1400"/>
              <a:buChar char="●"/>
            </a:pPr>
            <a:r>
              <a:rPr lang="en"/>
              <a:t>If we were asked to build a model for financial institution where we want to classify whether the borrower is a good candidate or not, we may prefer our model not to give the loan recklessly</a:t>
            </a:r>
            <a:endParaRPr/>
          </a:p>
          <a:p>
            <a:pPr indent="-317500" lvl="0" marL="457200" rtl="0" algn="l">
              <a:lnSpc>
                <a:spcPct val="200000"/>
              </a:lnSpc>
              <a:spcBef>
                <a:spcPts val="0"/>
              </a:spcBef>
              <a:spcAft>
                <a:spcPts val="0"/>
              </a:spcAft>
              <a:buSzPts val="1400"/>
              <a:buChar char="●"/>
            </a:pPr>
            <a:r>
              <a:rPr lang="en"/>
              <a:t>Therefore, we rather classify the good people as bad people (false negative) rather than to classify the bad people as good one (false positive)</a:t>
            </a:r>
            <a:endParaRPr/>
          </a:p>
          <a:p>
            <a:pPr indent="-317500" lvl="0" marL="457200" rtl="0" algn="l">
              <a:lnSpc>
                <a:spcPct val="200000"/>
              </a:lnSpc>
              <a:spcBef>
                <a:spcPts val="0"/>
              </a:spcBef>
              <a:spcAft>
                <a:spcPts val="0"/>
              </a:spcAft>
              <a:buSzPts val="1400"/>
              <a:buChar char="●"/>
            </a:pPr>
            <a:r>
              <a:rPr lang="en"/>
              <a:t>In other word, false negatives (high recall) is more preferable than the false positives (high precision)</a:t>
            </a:r>
            <a:endParaRPr/>
          </a:p>
        </p:txBody>
      </p:sp>
      <p:sp>
        <p:nvSpPr>
          <p:cNvPr id="360" name="Google Shape;360;p58"/>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4" name="Shape 364"/>
        <p:cNvGrpSpPr/>
        <p:nvPr/>
      </p:nvGrpSpPr>
      <p:grpSpPr>
        <a:xfrm>
          <a:off x="0" y="0"/>
          <a:ext cx="0" cy="0"/>
          <a:chOff x="0" y="0"/>
          <a:chExt cx="0" cy="0"/>
        </a:xfrm>
      </p:grpSpPr>
      <p:cxnSp>
        <p:nvCxnSpPr>
          <p:cNvPr id="365" name="Google Shape;365;p59"/>
          <p:cNvCxnSpPr/>
          <p:nvPr/>
        </p:nvCxnSpPr>
        <p:spPr>
          <a:xfrm>
            <a:off x="2358131" y="683550"/>
            <a:ext cx="0" cy="3776400"/>
          </a:xfrm>
          <a:prstGeom prst="straightConnector1">
            <a:avLst/>
          </a:prstGeom>
          <a:noFill/>
          <a:ln cap="flat" cmpd="sng" w="9525">
            <a:solidFill>
              <a:srgbClr val="000000"/>
            </a:solidFill>
            <a:prstDash val="solid"/>
            <a:miter lim="800000"/>
            <a:headEnd len="sm" w="sm" type="none"/>
            <a:tailEnd len="sm" w="sm" type="none"/>
          </a:ln>
        </p:spPr>
      </p:cxnSp>
      <p:sp>
        <p:nvSpPr>
          <p:cNvPr id="366" name="Google Shape;366;p59"/>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fld id="{00000000-1234-1234-1234-123412341234}" type="slidenum">
              <a:rPr lang="en"/>
              <a:t>‹#›</a:t>
            </a:fld>
            <a:endParaRPr/>
          </a:p>
        </p:txBody>
      </p:sp>
      <p:sp>
        <p:nvSpPr>
          <p:cNvPr id="367" name="Google Shape;367;p59"/>
          <p:cNvSpPr/>
          <p:nvPr/>
        </p:nvSpPr>
        <p:spPr>
          <a:xfrm rot="-5400000">
            <a:off x="716856" y="2364036"/>
            <a:ext cx="2622300" cy="41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2700">
                <a:latin typeface="Trebuchet MS"/>
                <a:ea typeface="Trebuchet MS"/>
                <a:cs typeface="Trebuchet MS"/>
                <a:sym typeface="Trebuchet MS"/>
              </a:rPr>
              <a:t>AGENDA</a:t>
            </a:r>
            <a:r>
              <a:rPr lang="en" sz="2700">
                <a:latin typeface="Trebuchet MS"/>
                <a:ea typeface="Trebuchet MS"/>
                <a:cs typeface="Trebuchet MS"/>
                <a:sym typeface="Trebuchet MS"/>
              </a:rPr>
              <a:t> </a:t>
            </a:r>
            <a:endParaRPr sz="1100">
              <a:latin typeface="Trebuchet MS"/>
              <a:ea typeface="Trebuchet MS"/>
              <a:cs typeface="Trebuchet MS"/>
              <a:sym typeface="Trebuchet MS"/>
            </a:endParaRPr>
          </a:p>
        </p:txBody>
      </p:sp>
      <p:pic>
        <p:nvPicPr>
          <p:cNvPr id="368" name="Google Shape;368;p59"/>
          <p:cNvPicPr preferRelativeResize="0"/>
          <p:nvPr/>
        </p:nvPicPr>
        <p:blipFill rotWithShape="1">
          <a:blip r:embed="rId3">
            <a:alphaModFix/>
          </a:blip>
          <a:srcRect b="0" l="34609" r="33565" t="5330"/>
          <a:stretch/>
        </p:blipFill>
        <p:spPr>
          <a:xfrm>
            <a:off x="549281" y="604350"/>
            <a:ext cx="1198838" cy="3946389"/>
          </a:xfrm>
          <a:prstGeom prst="rect">
            <a:avLst/>
          </a:prstGeom>
          <a:noFill/>
          <a:ln>
            <a:noFill/>
          </a:ln>
        </p:spPr>
      </p:pic>
      <p:sp>
        <p:nvSpPr>
          <p:cNvPr id="369" name="Google Shape;369;p59"/>
          <p:cNvSpPr/>
          <p:nvPr/>
        </p:nvSpPr>
        <p:spPr>
          <a:xfrm>
            <a:off x="2737850" y="822800"/>
            <a:ext cx="5551800" cy="3727800"/>
          </a:xfrm>
          <a:prstGeom prst="rect">
            <a:avLst/>
          </a:prstGeom>
          <a:noFill/>
          <a:ln>
            <a:noFill/>
          </a:ln>
        </p:spPr>
        <p:txBody>
          <a:bodyPr anchorCtr="0" anchor="ctr" bIns="0" lIns="0" spcFirstLastPara="1" rIns="0" wrap="square" tIns="0">
            <a:noAutofit/>
          </a:bodyPr>
          <a:lstStyle/>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Classification – Logistic Regression &amp; Metrics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chemeClr val="dk1"/>
              </a:buClr>
              <a:buSzPts val="1200"/>
              <a:buFont typeface="Trebuchet MS"/>
              <a:buChar char="●"/>
            </a:pPr>
            <a:r>
              <a:rPr lang="en" sz="1200">
                <a:solidFill>
                  <a:schemeClr val="dk1"/>
                </a:solidFill>
                <a:latin typeface="Trebuchet MS"/>
                <a:ea typeface="Trebuchet MS"/>
                <a:cs typeface="Trebuchet MS"/>
                <a:sym typeface="Trebuchet MS"/>
              </a:rPr>
              <a:t>Tree-based Learning – Decision Trees</a:t>
            </a:r>
            <a:endParaRPr sz="1200">
              <a:solidFill>
                <a:schemeClr val="dk1"/>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 Nearest Neighbors – KNN</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Unsupervised Learning – Clustering with K-Means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Intro to Neural Networks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Case Study</a:t>
            </a:r>
            <a:endParaRPr sz="1200">
              <a:solidFill>
                <a:srgbClr val="888888"/>
              </a:solidFill>
              <a:latin typeface="Trebuchet MS"/>
              <a:ea typeface="Trebuchet MS"/>
              <a:cs typeface="Trebuchet MS"/>
              <a:sym typeface="Trebuchet MS"/>
            </a:endParaRPr>
          </a:p>
          <a:p>
            <a:pPr indent="0" lvl="0" marL="342900" rtl="0" algn="l">
              <a:lnSpc>
                <a:spcPct val="200000"/>
              </a:lnSpc>
              <a:spcBef>
                <a:spcPts val="800"/>
              </a:spcBef>
              <a:spcAft>
                <a:spcPts val="800"/>
              </a:spcAft>
              <a:buNone/>
            </a:pPr>
            <a:r>
              <a:t/>
            </a:r>
            <a:endParaRPr sz="1200">
              <a:solidFill>
                <a:srgbClr val="888888"/>
              </a:solidFill>
              <a:latin typeface="Trebuchet MS"/>
              <a:ea typeface="Trebuchet MS"/>
              <a:cs typeface="Trebuchet MS"/>
              <a:sym typeface="Trebuchet MS"/>
            </a:endParaRPr>
          </a:p>
        </p:txBody>
      </p:sp>
      <p:pic>
        <p:nvPicPr>
          <p:cNvPr id="370" name="Google Shape;370;p59"/>
          <p:cNvPicPr preferRelativeResize="0"/>
          <p:nvPr/>
        </p:nvPicPr>
        <p:blipFill>
          <a:blip r:embed="rId4">
            <a:alphaModFix/>
          </a:blip>
          <a:stretch>
            <a:fillRect/>
          </a:stretch>
        </p:blipFill>
        <p:spPr>
          <a:xfrm>
            <a:off x="2565731" y="1577931"/>
            <a:ext cx="172125" cy="172125"/>
          </a:xfrm>
          <a:prstGeom prst="rect">
            <a:avLst/>
          </a:prstGeom>
          <a:noFill/>
          <a:ln>
            <a:noFill/>
          </a:ln>
        </p:spPr>
      </p:pic>
      <p:pic>
        <p:nvPicPr>
          <p:cNvPr id="371" name="Google Shape;371;p59"/>
          <p:cNvPicPr preferRelativeResize="0"/>
          <p:nvPr/>
        </p:nvPicPr>
        <p:blipFill rotWithShape="1">
          <a:blip r:embed="rId5">
            <a:alphaModFix amt="10000"/>
          </a:blip>
          <a:srcRect b="0" l="0" r="48909" t="0"/>
          <a:stretch/>
        </p:blipFill>
        <p:spPr>
          <a:xfrm>
            <a:off x="7159192" y="771525"/>
            <a:ext cx="1795377" cy="351410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75" name="Shape 375"/>
        <p:cNvGrpSpPr/>
        <p:nvPr/>
      </p:nvGrpSpPr>
      <p:grpSpPr>
        <a:xfrm>
          <a:off x="0" y="0"/>
          <a:ext cx="0" cy="0"/>
          <a:chOff x="0" y="0"/>
          <a:chExt cx="0" cy="0"/>
        </a:xfrm>
      </p:grpSpPr>
      <p:sp>
        <p:nvSpPr>
          <p:cNvPr id="376" name="Google Shape;376;p60"/>
          <p:cNvSpPr txBox="1"/>
          <p:nvPr/>
        </p:nvSpPr>
        <p:spPr>
          <a:xfrm>
            <a:off x="613700" y="1078650"/>
            <a:ext cx="8350500" cy="2986200"/>
          </a:xfrm>
          <a:prstGeom prst="rect">
            <a:avLst/>
          </a:prstGeom>
          <a:noFill/>
          <a:ln>
            <a:noFill/>
          </a:ln>
        </p:spPr>
        <p:txBody>
          <a:bodyPr anchorCtr="0" anchor="t" bIns="91425" lIns="91425" spcFirstLastPara="1" rIns="91425" wrap="square" tIns="91425">
            <a:spAutoFit/>
          </a:bodyPr>
          <a:lstStyle/>
          <a:p>
            <a:pPr indent="-317500" lvl="0" marL="457200" rtl="0" algn="l">
              <a:lnSpc>
                <a:spcPct val="200000"/>
              </a:lnSpc>
              <a:spcBef>
                <a:spcPts val="0"/>
              </a:spcBef>
              <a:spcAft>
                <a:spcPts val="0"/>
              </a:spcAft>
              <a:buSzPts val="1400"/>
              <a:buChar char="●"/>
            </a:pPr>
            <a:r>
              <a:rPr lang="en"/>
              <a:t>One of the greatest and most popular supervised learning techniques is based on tree-based algorithms</a:t>
            </a:r>
            <a:endParaRPr/>
          </a:p>
          <a:p>
            <a:pPr indent="-317500" lvl="0" marL="457200" rtl="0" algn="l">
              <a:lnSpc>
                <a:spcPct val="200000"/>
              </a:lnSpc>
              <a:spcBef>
                <a:spcPts val="0"/>
              </a:spcBef>
              <a:spcAft>
                <a:spcPts val="0"/>
              </a:spcAft>
              <a:buSzPts val="1400"/>
              <a:buChar char="●"/>
            </a:pPr>
            <a:r>
              <a:rPr lang="en"/>
              <a:t>Predictive models are strengthened by tree-based algorithms because of their excellent accuracy, stability, and simplicity</a:t>
            </a:r>
            <a:endParaRPr/>
          </a:p>
          <a:p>
            <a:pPr indent="-317500" lvl="0" marL="457200" rtl="0" algn="l">
              <a:lnSpc>
                <a:spcPct val="200000"/>
              </a:lnSpc>
              <a:spcBef>
                <a:spcPts val="0"/>
              </a:spcBef>
              <a:spcAft>
                <a:spcPts val="0"/>
              </a:spcAft>
              <a:buSzPts val="1400"/>
              <a:buChar char="●"/>
            </a:pPr>
            <a:r>
              <a:rPr lang="en"/>
              <a:t>They can adjust to any situation and find a solution to any issue (classification or regression)</a:t>
            </a:r>
            <a:endParaRPr/>
          </a:p>
          <a:p>
            <a:pPr indent="-317500" lvl="0" marL="457200" rtl="0" algn="l">
              <a:lnSpc>
                <a:spcPct val="200000"/>
              </a:lnSpc>
              <a:spcBef>
                <a:spcPts val="0"/>
              </a:spcBef>
              <a:spcAft>
                <a:spcPts val="0"/>
              </a:spcAft>
              <a:buSzPts val="1400"/>
              <a:buChar char="●"/>
            </a:pPr>
            <a:r>
              <a:rPr lang="en"/>
              <a:t>In many types of data science challenges, tree-based techniques including gradient boosting, random forest, and decision trees are frequently used</a:t>
            </a:r>
            <a:endParaRPr/>
          </a:p>
        </p:txBody>
      </p:sp>
      <p:sp>
        <p:nvSpPr>
          <p:cNvPr id="377" name="Google Shape;377;p60"/>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lnSpc>
                <a:spcPct val="90000"/>
              </a:lnSpc>
              <a:spcBef>
                <a:spcPts val="0"/>
              </a:spcBef>
              <a:spcAft>
                <a:spcPts val="0"/>
              </a:spcAft>
              <a:buSzPts val="2000"/>
              <a:buNone/>
            </a:pPr>
            <a:r>
              <a:rPr lang="en">
                <a:solidFill>
                  <a:schemeClr val="dk1"/>
                </a:solidFill>
              </a:rPr>
              <a:t>Tree-based Algorithms</a:t>
            </a:r>
            <a:endParaRPr>
              <a:solidFill>
                <a:schemeClr val="dk1"/>
              </a:solidFill>
            </a:endParaRPr>
          </a:p>
        </p:txBody>
      </p:sp>
      <p:sp>
        <p:nvSpPr>
          <p:cNvPr id="378" name="Google Shape;378;p60"/>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82" name="Shape 382"/>
        <p:cNvGrpSpPr/>
        <p:nvPr/>
      </p:nvGrpSpPr>
      <p:grpSpPr>
        <a:xfrm>
          <a:off x="0" y="0"/>
          <a:ext cx="0" cy="0"/>
          <a:chOff x="0" y="0"/>
          <a:chExt cx="0" cy="0"/>
        </a:xfrm>
      </p:grpSpPr>
      <p:sp>
        <p:nvSpPr>
          <p:cNvPr id="383" name="Google Shape;383;p61"/>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lnSpc>
                <a:spcPct val="90000"/>
              </a:lnSpc>
              <a:spcBef>
                <a:spcPts val="0"/>
              </a:spcBef>
              <a:spcAft>
                <a:spcPts val="0"/>
              </a:spcAft>
              <a:buSzPts val="2000"/>
              <a:buNone/>
            </a:pPr>
            <a:r>
              <a:rPr lang="en">
                <a:solidFill>
                  <a:schemeClr val="dk1"/>
                </a:solidFill>
              </a:rPr>
              <a:t>Tree based Algorithm - Types</a:t>
            </a:r>
            <a:endParaRPr>
              <a:solidFill>
                <a:schemeClr val="dk1"/>
              </a:solidFill>
            </a:endParaRPr>
          </a:p>
        </p:txBody>
      </p:sp>
      <p:sp>
        <p:nvSpPr>
          <p:cNvPr id="384" name="Google Shape;384;p61"/>
          <p:cNvSpPr/>
          <p:nvPr/>
        </p:nvSpPr>
        <p:spPr>
          <a:xfrm>
            <a:off x="0" y="1635525"/>
            <a:ext cx="1494000" cy="433500"/>
          </a:xfrm>
          <a:prstGeom prst="rect">
            <a:avLst/>
          </a:prstGeom>
          <a:solidFill>
            <a:srgbClr val="EE77BB"/>
          </a:solidFill>
          <a:ln cap="flat" cmpd="sng" w="9525">
            <a:solidFill>
              <a:srgbClr val="EE77BB"/>
            </a:solidFill>
            <a:prstDash val="solid"/>
            <a:round/>
            <a:headEnd len="sm" w="sm" type="none"/>
            <a:tailEnd len="sm" w="sm" type="none"/>
          </a:ln>
          <a:effectLst>
            <a:outerShdw blurRad="71438" rotWithShape="0" algn="bl" dir="8400000" dist="47625">
              <a:srgbClr val="000000">
                <a:alpha val="39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Decision Tree</a:t>
            </a:r>
            <a:endParaRPr b="1">
              <a:solidFill>
                <a:srgbClr val="FFFFFF"/>
              </a:solidFill>
            </a:endParaRPr>
          </a:p>
        </p:txBody>
      </p:sp>
      <p:sp>
        <p:nvSpPr>
          <p:cNvPr id="385" name="Google Shape;385;p61"/>
          <p:cNvSpPr/>
          <p:nvPr/>
        </p:nvSpPr>
        <p:spPr>
          <a:xfrm>
            <a:off x="0" y="2145225"/>
            <a:ext cx="1699200" cy="433500"/>
          </a:xfrm>
          <a:prstGeom prst="rect">
            <a:avLst/>
          </a:prstGeom>
          <a:solidFill>
            <a:srgbClr val="EE42A4"/>
          </a:solidFill>
          <a:ln cap="flat" cmpd="sng" w="9525">
            <a:solidFill>
              <a:srgbClr val="EE42A4"/>
            </a:solidFill>
            <a:prstDash val="solid"/>
            <a:round/>
            <a:headEnd len="sm" w="sm" type="none"/>
            <a:tailEnd len="sm" w="sm" type="none"/>
          </a:ln>
          <a:effectLst>
            <a:outerShdw blurRad="71438" rotWithShape="0" algn="bl" dir="8400000" dist="47625">
              <a:srgbClr val="000000">
                <a:alpha val="39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Bagging</a:t>
            </a:r>
            <a:endParaRPr b="1">
              <a:solidFill>
                <a:srgbClr val="FFFFFF"/>
              </a:solidFill>
            </a:endParaRPr>
          </a:p>
        </p:txBody>
      </p:sp>
      <p:sp>
        <p:nvSpPr>
          <p:cNvPr id="386" name="Google Shape;386;p61"/>
          <p:cNvSpPr/>
          <p:nvPr/>
        </p:nvSpPr>
        <p:spPr>
          <a:xfrm>
            <a:off x="0" y="3164625"/>
            <a:ext cx="2144100" cy="433500"/>
          </a:xfrm>
          <a:prstGeom prst="rect">
            <a:avLst/>
          </a:prstGeom>
          <a:solidFill>
            <a:srgbClr val="E80A89"/>
          </a:solidFill>
          <a:ln cap="flat" cmpd="sng" w="9525">
            <a:solidFill>
              <a:srgbClr val="EA008A"/>
            </a:solidFill>
            <a:prstDash val="solid"/>
            <a:round/>
            <a:headEnd len="sm" w="sm" type="none"/>
            <a:tailEnd len="sm" w="sm" type="none"/>
          </a:ln>
          <a:effectLst>
            <a:outerShdw blurRad="71438" rotWithShape="0" algn="bl" dir="8400000" dist="47625">
              <a:srgbClr val="000000">
                <a:alpha val="39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Boosting</a:t>
            </a:r>
            <a:endParaRPr b="1">
              <a:solidFill>
                <a:srgbClr val="FFFFFF"/>
              </a:solidFill>
            </a:endParaRPr>
          </a:p>
        </p:txBody>
      </p:sp>
      <p:sp>
        <p:nvSpPr>
          <p:cNvPr id="387" name="Google Shape;387;p61"/>
          <p:cNvSpPr/>
          <p:nvPr/>
        </p:nvSpPr>
        <p:spPr>
          <a:xfrm>
            <a:off x="0" y="2654925"/>
            <a:ext cx="1893300" cy="433500"/>
          </a:xfrm>
          <a:prstGeom prst="rect">
            <a:avLst/>
          </a:prstGeom>
          <a:solidFill>
            <a:srgbClr val="F51F99"/>
          </a:solidFill>
          <a:ln cap="flat" cmpd="sng" w="9525">
            <a:solidFill>
              <a:srgbClr val="EE42A4"/>
            </a:solidFill>
            <a:prstDash val="solid"/>
            <a:round/>
            <a:headEnd len="sm" w="sm" type="none"/>
            <a:tailEnd len="sm" w="sm" type="none"/>
          </a:ln>
          <a:effectLst>
            <a:outerShdw blurRad="71438" rotWithShape="0" algn="bl" dir="8400000" dist="47625">
              <a:srgbClr val="000000">
                <a:alpha val="39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Random Forest</a:t>
            </a:r>
            <a:endParaRPr b="1">
              <a:solidFill>
                <a:srgbClr val="FFFFFF"/>
              </a:solidFill>
            </a:endParaRPr>
          </a:p>
        </p:txBody>
      </p:sp>
      <p:sp>
        <p:nvSpPr>
          <p:cNvPr id="388" name="Google Shape;388;p61"/>
          <p:cNvSpPr/>
          <p:nvPr/>
        </p:nvSpPr>
        <p:spPr>
          <a:xfrm>
            <a:off x="0" y="3674325"/>
            <a:ext cx="2360700" cy="433500"/>
          </a:xfrm>
          <a:prstGeom prst="rect">
            <a:avLst/>
          </a:prstGeom>
          <a:solidFill>
            <a:srgbClr val="DF0385"/>
          </a:solidFill>
          <a:ln cap="flat" cmpd="sng" w="9525">
            <a:solidFill>
              <a:srgbClr val="DF0385"/>
            </a:solidFill>
            <a:prstDash val="solid"/>
            <a:round/>
            <a:headEnd len="sm" w="sm" type="none"/>
            <a:tailEnd len="sm" w="sm" type="none"/>
          </a:ln>
          <a:effectLst>
            <a:outerShdw blurRad="71438" rotWithShape="0" algn="bl" dir="8400000" dist="47625">
              <a:srgbClr val="000000">
                <a:alpha val="39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Gradient Boosting</a:t>
            </a:r>
            <a:endParaRPr b="1">
              <a:solidFill>
                <a:srgbClr val="FFFFFF"/>
              </a:solidFill>
            </a:endParaRPr>
          </a:p>
        </p:txBody>
      </p:sp>
      <p:sp>
        <p:nvSpPr>
          <p:cNvPr id="389" name="Google Shape;389;p61"/>
          <p:cNvSpPr/>
          <p:nvPr/>
        </p:nvSpPr>
        <p:spPr>
          <a:xfrm>
            <a:off x="0" y="4184025"/>
            <a:ext cx="2588700" cy="433500"/>
          </a:xfrm>
          <a:prstGeom prst="rect">
            <a:avLst/>
          </a:prstGeom>
          <a:solidFill>
            <a:srgbClr val="B60269"/>
          </a:solidFill>
          <a:ln cap="flat" cmpd="sng" w="9525">
            <a:solidFill>
              <a:srgbClr val="B60269"/>
            </a:solidFill>
            <a:prstDash val="solid"/>
            <a:round/>
            <a:headEnd len="sm" w="sm" type="none"/>
            <a:tailEnd len="sm" w="sm" type="none"/>
          </a:ln>
          <a:effectLst>
            <a:outerShdw blurRad="71438" rotWithShape="0" algn="bl" dir="8400000" dist="47625">
              <a:srgbClr val="000000">
                <a:alpha val="39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XGBoost</a:t>
            </a:r>
            <a:endParaRPr b="1">
              <a:solidFill>
                <a:srgbClr val="FFFFFF"/>
              </a:solidFill>
            </a:endParaRPr>
          </a:p>
        </p:txBody>
      </p:sp>
      <p:sp>
        <p:nvSpPr>
          <p:cNvPr id="390" name="Google Shape;390;p61"/>
          <p:cNvSpPr txBox="1"/>
          <p:nvPr/>
        </p:nvSpPr>
        <p:spPr>
          <a:xfrm>
            <a:off x="1573325" y="1667625"/>
            <a:ext cx="6341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666666"/>
                </a:solidFill>
              </a:rPr>
              <a:t>A graphical representation of possible solutions to decision based on certain conditions</a:t>
            </a:r>
            <a:endParaRPr i="1" sz="1200">
              <a:solidFill>
                <a:srgbClr val="666666"/>
              </a:solidFill>
            </a:endParaRPr>
          </a:p>
        </p:txBody>
      </p:sp>
      <p:sp>
        <p:nvSpPr>
          <p:cNvPr id="391" name="Google Shape;391;p61"/>
          <p:cNvSpPr txBox="1"/>
          <p:nvPr/>
        </p:nvSpPr>
        <p:spPr>
          <a:xfrm>
            <a:off x="1748700" y="2084925"/>
            <a:ext cx="7118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666666"/>
                </a:solidFill>
              </a:rPr>
              <a:t>Ensemble meta-algorithm combining predictions from multiple decision trees through a majority voting mechanism</a:t>
            </a:r>
            <a:endParaRPr i="1" sz="1200">
              <a:solidFill>
                <a:srgbClr val="666666"/>
              </a:solidFill>
            </a:endParaRPr>
          </a:p>
        </p:txBody>
      </p:sp>
      <p:sp>
        <p:nvSpPr>
          <p:cNvPr id="392" name="Google Shape;392;p61"/>
          <p:cNvSpPr txBox="1"/>
          <p:nvPr/>
        </p:nvSpPr>
        <p:spPr>
          <a:xfrm>
            <a:off x="1958125" y="2594625"/>
            <a:ext cx="6909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666666"/>
                </a:solidFill>
              </a:rPr>
              <a:t>Bagging based algorithm where only a subset of features are selected at random to build a forest or collection of decision trees</a:t>
            </a:r>
            <a:endParaRPr i="1" sz="1200">
              <a:solidFill>
                <a:srgbClr val="666666"/>
              </a:solidFill>
            </a:endParaRPr>
          </a:p>
        </p:txBody>
      </p:sp>
      <p:sp>
        <p:nvSpPr>
          <p:cNvPr id="393" name="Google Shape;393;p61"/>
          <p:cNvSpPr txBox="1"/>
          <p:nvPr/>
        </p:nvSpPr>
        <p:spPr>
          <a:xfrm>
            <a:off x="2232025" y="3134475"/>
            <a:ext cx="6711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666666"/>
                </a:solidFill>
              </a:rPr>
              <a:t>Models are build sequentially by minimizing the errors from previous models while increasing influence of high performing models</a:t>
            </a:r>
            <a:endParaRPr i="1" sz="1200">
              <a:solidFill>
                <a:srgbClr val="666666"/>
              </a:solidFill>
            </a:endParaRPr>
          </a:p>
        </p:txBody>
      </p:sp>
      <p:sp>
        <p:nvSpPr>
          <p:cNvPr id="394" name="Google Shape;394;p61"/>
          <p:cNvSpPr txBox="1"/>
          <p:nvPr/>
        </p:nvSpPr>
        <p:spPr>
          <a:xfrm>
            <a:off x="2410850" y="3706425"/>
            <a:ext cx="6478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666666"/>
                </a:solidFill>
              </a:rPr>
              <a:t>Employs gradient descent algorithms to minimize errors in sequential models</a:t>
            </a:r>
            <a:endParaRPr i="1" sz="1200">
              <a:solidFill>
                <a:srgbClr val="666666"/>
              </a:solidFill>
            </a:endParaRPr>
          </a:p>
        </p:txBody>
      </p:sp>
      <p:sp>
        <p:nvSpPr>
          <p:cNvPr id="395" name="Google Shape;395;p61"/>
          <p:cNvSpPr txBox="1"/>
          <p:nvPr/>
        </p:nvSpPr>
        <p:spPr>
          <a:xfrm>
            <a:off x="2618825" y="4169775"/>
            <a:ext cx="6248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666666"/>
                </a:solidFill>
              </a:rPr>
              <a:t>Optimized gradient boosting algorithm through parallel processing, tree pruning, handling missing values &amp; regularization to avoid overfitting/bias</a:t>
            </a:r>
            <a:endParaRPr i="1" sz="1200">
              <a:solidFill>
                <a:srgbClr val="666666"/>
              </a:solidFill>
            </a:endParaRPr>
          </a:p>
        </p:txBody>
      </p:sp>
      <p:sp>
        <p:nvSpPr>
          <p:cNvPr id="396" name="Google Shape;396;p61"/>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0" name="Shape 400"/>
        <p:cNvGrpSpPr/>
        <p:nvPr/>
      </p:nvGrpSpPr>
      <p:grpSpPr>
        <a:xfrm>
          <a:off x="0" y="0"/>
          <a:ext cx="0" cy="0"/>
          <a:chOff x="0" y="0"/>
          <a:chExt cx="0" cy="0"/>
        </a:xfrm>
      </p:grpSpPr>
      <p:sp>
        <p:nvSpPr>
          <p:cNvPr id="401" name="Google Shape;401;p62"/>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Decision Trees</a:t>
            </a:r>
            <a:endParaRPr sz="2000">
              <a:solidFill>
                <a:schemeClr val="dk1"/>
              </a:solidFill>
              <a:latin typeface="Century Gothic"/>
              <a:ea typeface="Century Gothic"/>
              <a:cs typeface="Century Gothic"/>
              <a:sym typeface="Century Gothic"/>
            </a:endParaRPr>
          </a:p>
        </p:txBody>
      </p:sp>
      <p:sp>
        <p:nvSpPr>
          <p:cNvPr id="402" name="Google Shape;402;p62"/>
          <p:cNvSpPr txBox="1"/>
          <p:nvPr/>
        </p:nvSpPr>
        <p:spPr>
          <a:xfrm>
            <a:off x="705150" y="976950"/>
            <a:ext cx="8106000" cy="10005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Tree-based classifier (like a bunch of if-then statements)</a:t>
            </a:r>
            <a:endParaRPr sz="17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Models relationships between features and targets</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62"/>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404" name="Google Shape;404;p62"/>
          <p:cNvPicPr preferRelativeResize="0"/>
          <p:nvPr/>
        </p:nvPicPr>
        <p:blipFill rotWithShape="1">
          <a:blip r:embed="rId3">
            <a:alphaModFix/>
          </a:blip>
          <a:srcRect b="0" l="0" r="0" t="0"/>
          <a:stretch/>
        </p:blipFill>
        <p:spPr>
          <a:xfrm>
            <a:off x="2176846" y="1716850"/>
            <a:ext cx="4684205" cy="306211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8" name="Shape 408"/>
        <p:cNvGrpSpPr/>
        <p:nvPr/>
      </p:nvGrpSpPr>
      <p:grpSpPr>
        <a:xfrm>
          <a:off x="0" y="0"/>
          <a:ext cx="0" cy="0"/>
          <a:chOff x="0" y="0"/>
          <a:chExt cx="0" cy="0"/>
        </a:xfrm>
      </p:grpSpPr>
      <p:sp>
        <p:nvSpPr>
          <p:cNvPr id="409" name="Google Shape;409;p63"/>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Decision Trees (continued)</a:t>
            </a:r>
            <a:endParaRPr sz="2000">
              <a:solidFill>
                <a:schemeClr val="dk1"/>
              </a:solidFill>
              <a:latin typeface="Century Gothic"/>
              <a:ea typeface="Century Gothic"/>
              <a:cs typeface="Century Gothic"/>
              <a:sym typeface="Century Gothic"/>
            </a:endParaRPr>
          </a:p>
        </p:txBody>
      </p:sp>
      <p:sp>
        <p:nvSpPr>
          <p:cNvPr id="410" name="Google Shape;410;p63"/>
          <p:cNvSpPr txBox="1"/>
          <p:nvPr/>
        </p:nvSpPr>
        <p:spPr>
          <a:xfrm>
            <a:off x="705150" y="976950"/>
            <a:ext cx="7431300" cy="12006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Easy to explain to users</a:t>
            </a:r>
            <a:endParaRPr sz="1200">
              <a:solidFill>
                <a:schemeClr val="dk1"/>
              </a:solidFill>
              <a:latin typeface="Century Gothic"/>
              <a:ea typeface="Century Gothic"/>
              <a:cs typeface="Century Gothic"/>
              <a:sym typeface="Century Gothic"/>
            </a:endParaRPr>
          </a:p>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Can be turned into external representation (i.e., a picture)</a:t>
            </a:r>
            <a:endParaRPr sz="1200">
              <a:solidFill>
                <a:schemeClr val="dk1"/>
              </a:solidFill>
              <a:latin typeface="Century Gothic"/>
              <a:ea typeface="Century Gothic"/>
              <a:cs typeface="Century Gothic"/>
              <a:sym typeface="Century Gothic"/>
            </a:endParaRPr>
          </a:p>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Builds tree where each node divides the set of items based on the value of a feature</a:t>
            </a:r>
            <a:endParaRPr sz="1200">
              <a:solidFill>
                <a:schemeClr val="dk1"/>
              </a:solidFill>
              <a:latin typeface="Century Gothic"/>
              <a:ea typeface="Century Gothic"/>
              <a:cs typeface="Century Gothic"/>
              <a:sym typeface="Century Gothic"/>
            </a:endParaRPr>
          </a:p>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The feature and feature value are chosen based by which one "best" splits the set of items</a:t>
            </a:r>
            <a:endParaRPr sz="1100">
              <a:solidFill>
                <a:schemeClr val="dk1"/>
              </a:solidFill>
              <a:latin typeface="Century Gothic"/>
              <a:ea typeface="Century Gothic"/>
              <a:cs typeface="Century Gothic"/>
              <a:sym typeface="Century Gothic"/>
            </a:endParaRPr>
          </a:p>
        </p:txBody>
      </p:sp>
      <p:sp>
        <p:nvSpPr>
          <p:cNvPr id="411" name="Google Shape;411;p63"/>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412" name="Google Shape;412;p63"/>
          <p:cNvPicPr preferRelativeResize="0"/>
          <p:nvPr/>
        </p:nvPicPr>
        <p:blipFill>
          <a:blip r:embed="rId3">
            <a:alphaModFix/>
          </a:blip>
          <a:stretch>
            <a:fillRect/>
          </a:stretch>
        </p:blipFill>
        <p:spPr>
          <a:xfrm>
            <a:off x="2355963" y="2177550"/>
            <a:ext cx="4432075" cy="2436125"/>
          </a:xfrm>
          <a:prstGeom prst="rect">
            <a:avLst/>
          </a:prstGeom>
          <a:noFill/>
          <a:ln>
            <a:noFill/>
          </a:ln>
        </p:spPr>
      </p:pic>
      <p:sp>
        <p:nvSpPr>
          <p:cNvPr id="413" name="Google Shape;413;p63"/>
          <p:cNvSpPr txBox="1"/>
          <p:nvPr/>
        </p:nvSpPr>
        <p:spPr>
          <a:xfrm>
            <a:off x="452275" y="4581825"/>
            <a:ext cx="55794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 sz="900">
                <a:solidFill>
                  <a:srgbClr val="7F7F7F"/>
                </a:solidFill>
              </a:rPr>
              <a:t>Source: </a:t>
            </a:r>
            <a:r>
              <a:rPr lang="en" sz="900" u="sng">
                <a:solidFill>
                  <a:schemeClr val="hlink"/>
                </a:solidFill>
                <a:hlinkClick r:id="rId4"/>
              </a:rPr>
              <a:t>https://www.geeksforgeeks.org/machine-learning/decision-tree-introduction-example/</a:t>
            </a:r>
            <a:r>
              <a:rPr lang="en" sz="900">
                <a:solidFill>
                  <a:srgbClr val="7F7F7F"/>
                </a:solidFill>
              </a:rPr>
              <a:t> </a:t>
            </a:r>
            <a:endParaRPr sz="900">
              <a:solidFill>
                <a:srgbClr val="7F7F7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7" name="Shape 417"/>
        <p:cNvGrpSpPr/>
        <p:nvPr/>
      </p:nvGrpSpPr>
      <p:grpSpPr>
        <a:xfrm>
          <a:off x="0" y="0"/>
          <a:ext cx="0" cy="0"/>
          <a:chOff x="0" y="0"/>
          <a:chExt cx="0" cy="0"/>
        </a:xfrm>
      </p:grpSpPr>
      <p:sp>
        <p:nvSpPr>
          <p:cNvPr id="418" name="Google Shape;418;p64"/>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Working of </a:t>
            </a:r>
            <a:r>
              <a:rPr lang="en" sz="2000">
                <a:solidFill>
                  <a:schemeClr val="dk1"/>
                </a:solidFill>
                <a:latin typeface="Century Gothic"/>
                <a:ea typeface="Century Gothic"/>
                <a:cs typeface="Century Gothic"/>
                <a:sym typeface="Century Gothic"/>
              </a:rPr>
              <a:t>Decision Trees </a:t>
            </a:r>
            <a:endParaRPr sz="2000">
              <a:solidFill>
                <a:schemeClr val="dk1"/>
              </a:solidFill>
              <a:latin typeface="Century Gothic"/>
              <a:ea typeface="Century Gothic"/>
              <a:cs typeface="Century Gothic"/>
              <a:sym typeface="Century Gothic"/>
            </a:endParaRPr>
          </a:p>
        </p:txBody>
      </p:sp>
      <p:sp>
        <p:nvSpPr>
          <p:cNvPr id="419" name="Google Shape;419;p64"/>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420" name="Google Shape;420;p64"/>
          <p:cNvPicPr preferRelativeResize="0"/>
          <p:nvPr/>
        </p:nvPicPr>
        <p:blipFill rotWithShape="1">
          <a:blip r:embed="rId3">
            <a:alphaModFix/>
          </a:blip>
          <a:srcRect b="0" l="1672" r="0" t="12457"/>
          <a:stretch/>
        </p:blipFill>
        <p:spPr>
          <a:xfrm>
            <a:off x="1250025" y="1626500"/>
            <a:ext cx="6643950" cy="2578350"/>
          </a:xfrm>
          <a:prstGeom prst="rect">
            <a:avLst/>
          </a:prstGeom>
          <a:noFill/>
          <a:ln>
            <a:noFill/>
          </a:ln>
        </p:spPr>
      </p:pic>
      <p:sp>
        <p:nvSpPr>
          <p:cNvPr id="421" name="Google Shape;421;p64"/>
          <p:cNvSpPr txBox="1"/>
          <p:nvPr/>
        </p:nvSpPr>
        <p:spPr>
          <a:xfrm>
            <a:off x="363800" y="4601500"/>
            <a:ext cx="5421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7F7F7F"/>
                </a:solidFill>
              </a:rPr>
              <a:t>Source</a:t>
            </a:r>
            <a:r>
              <a:rPr lang="en" sz="900">
                <a:solidFill>
                  <a:srgbClr val="7F7F7F"/>
                </a:solidFill>
              </a:rPr>
              <a:t>: </a:t>
            </a:r>
            <a:r>
              <a:rPr lang="en" sz="900" u="sng">
                <a:solidFill>
                  <a:schemeClr val="hlink"/>
                </a:solidFill>
                <a:hlinkClick r:id="rId4"/>
              </a:rPr>
              <a:t>https://www.geeksforgeeks.org/machine-learning/decision-tree-introduction-example/</a:t>
            </a:r>
            <a:r>
              <a:rPr lang="en" sz="900">
                <a:solidFill>
                  <a:srgbClr val="7F7F7F"/>
                </a:solidFill>
              </a:rPr>
              <a:t> </a:t>
            </a:r>
            <a:endParaRPr sz="900">
              <a:solidFill>
                <a:srgbClr val="7F7F7F"/>
              </a:solidFill>
            </a:endParaRPr>
          </a:p>
        </p:txBody>
      </p:sp>
      <p:sp>
        <p:nvSpPr>
          <p:cNvPr id="422" name="Google Shape;422;p64"/>
          <p:cNvSpPr txBox="1"/>
          <p:nvPr/>
        </p:nvSpPr>
        <p:spPr>
          <a:xfrm>
            <a:off x="803775" y="906750"/>
            <a:ext cx="72516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Century Gothic"/>
                <a:ea typeface="Century Gothic"/>
                <a:cs typeface="Century Gothic"/>
                <a:sym typeface="Century Gothic"/>
              </a:rPr>
              <a:t>The model checks conditions like age and gender to split users into groups. Each group (leaf node) gets a prediction score based on user preferences for computer games</a:t>
            </a:r>
            <a:endParaRPr sz="1200">
              <a:solidFill>
                <a:schemeClr val="dk1"/>
              </a:solidFill>
              <a:latin typeface="Century Gothic"/>
              <a:ea typeface="Century Gothic"/>
              <a:cs typeface="Century Gothic"/>
              <a:sym typeface="Century Gothic"/>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6" name="Shape 426"/>
        <p:cNvGrpSpPr/>
        <p:nvPr/>
      </p:nvGrpSpPr>
      <p:grpSpPr>
        <a:xfrm>
          <a:off x="0" y="0"/>
          <a:ext cx="0" cy="0"/>
          <a:chOff x="0" y="0"/>
          <a:chExt cx="0" cy="0"/>
        </a:xfrm>
      </p:grpSpPr>
      <p:sp>
        <p:nvSpPr>
          <p:cNvPr id="427" name="Google Shape;427;p65"/>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Splitting Criteria In Decision Trees (continued)</a:t>
            </a:r>
            <a:endParaRPr sz="2000">
              <a:solidFill>
                <a:schemeClr val="dk1"/>
              </a:solidFill>
              <a:latin typeface="Century Gothic"/>
              <a:ea typeface="Century Gothic"/>
              <a:cs typeface="Century Gothic"/>
              <a:sym typeface="Century Gothic"/>
            </a:endParaRPr>
          </a:p>
        </p:txBody>
      </p:sp>
      <p:sp>
        <p:nvSpPr>
          <p:cNvPr id="428" name="Google Shape;428;p65"/>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429" name="Google Shape;429;p65"/>
          <p:cNvPicPr preferRelativeResize="0"/>
          <p:nvPr/>
        </p:nvPicPr>
        <p:blipFill>
          <a:blip r:embed="rId3">
            <a:alphaModFix/>
          </a:blip>
          <a:stretch>
            <a:fillRect/>
          </a:stretch>
        </p:blipFill>
        <p:spPr>
          <a:xfrm>
            <a:off x="1302274" y="1258625"/>
            <a:ext cx="6396376" cy="2315925"/>
          </a:xfrm>
          <a:prstGeom prst="rect">
            <a:avLst/>
          </a:prstGeom>
          <a:noFill/>
          <a:ln>
            <a:noFill/>
          </a:ln>
        </p:spPr>
      </p:pic>
      <p:sp>
        <p:nvSpPr>
          <p:cNvPr id="430" name="Google Shape;430;p65"/>
          <p:cNvSpPr txBox="1"/>
          <p:nvPr/>
        </p:nvSpPr>
        <p:spPr>
          <a:xfrm>
            <a:off x="452275" y="4581825"/>
            <a:ext cx="55794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 sz="900">
                <a:solidFill>
                  <a:srgbClr val="7F7F7F"/>
                </a:solidFill>
              </a:rPr>
              <a:t>Source: </a:t>
            </a:r>
            <a:r>
              <a:rPr lang="en" sz="900" u="sng">
                <a:solidFill>
                  <a:schemeClr val="hlink"/>
                </a:solidFill>
                <a:hlinkClick r:id="rId4"/>
              </a:rPr>
              <a:t>https://www.geeksforgeeks.org/machine-learning/decision-tree-introduction-example/</a:t>
            </a:r>
            <a:r>
              <a:rPr lang="en" sz="900">
                <a:solidFill>
                  <a:srgbClr val="7F7F7F"/>
                </a:solidFill>
              </a:rPr>
              <a:t> </a:t>
            </a:r>
            <a:endParaRPr sz="900">
              <a:solidFill>
                <a:srgbClr val="7F7F7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4" name="Shape 434"/>
        <p:cNvGrpSpPr/>
        <p:nvPr/>
      </p:nvGrpSpPr>
      <p:grpSpPr>
        <a:xfrm>
          <a:off x="0" y="0"/>
          <a:ext cx="0" cy="0"/>
          <a:chOff x="0" y="0"/>
          <a:chExt cx="0" cy="0"/>
        </a:xfrm>
      </p:grpSpPr>
      <p:sp>
        <p:nvSpPr>
          <p:cNvPr id="435" name="Google Shape;435;p66"/>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Information Gain in Decision Tree</a:t>
            </a:r>
            <a:endParaRPr sz="2000">
              <a:solidFill>
                <a:schemeClr val="dk1"/>
              </a:solidFill>
              <a:latin typeface="Century Gothic"/>
              <a:ea typeface="Century Gothic"/>
              <a:cs typeface="Century Gothic"/>
              <a:sym typeface="Century Gothic"/>
            </a:endParaRPr>
          </a:p>
        </p:txBody>
      </p:sp>
      <p:sp>
        <p:nvSpPr>
          <p:cNvPr id="436" name="Google Shape;436;p66"/>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437" name="Google Shape;437;p66"/>
          <p:cNvSpPr txBox="1"/>
          <p:nvPr/>
        </p:nvSpPr>
        <p:spPr>
          <a:xfrm>
            <a:off x="752475" y="973400"/>
            <a:ext cx="7894500" cy="3195300"/>
          </a:xfrm>
          <a:prstGeom prst="rect">
            <a:avLst/>
          </a:prstGeom>
          <a:noFill/>
          <a:ln>
            <a:noFill/>
          </a:ln>
        </p:spPr>
        <p:txBody>
          <a:bodyPr anchorCtr="0" anchor="t" bIns="91425" lIns="91425" spcFirstLastPara="1" rIns="91425" wrap="square" tIns="91425">
            <a:spAutoFit/>
          </a:bodyPr>
          <a:lstStyle/>
          <a:p>
            <a:pPr indent="0" lvl="0" marL="0" rtl="0" algn="l">
              <a:lnSpc>
                <a:spcPct val="116666"/>
              </a:lnSpc>
              <a:spcBef>
                <a:spcPts val="0"/>
              </a:spcBef>
              <a:spcAft>
                <a:spcPts val="0"/>
              </a:spcAft>
              <a:buNone/>
            </a:pPr>
            <a:r>
              <a:rPr b="1" lang="en" sz="1200">
                <a:solidFill>
                  <a:schemeClr val="dk1"/>
                </a:solidFill>
                <a:latin typeface="Nunito"/>
                <a:ea typeface="Nunito"/>
                <a:cs typeface="Nunito"/>
                <a:sym typeface="Nunito"/>
              </a:rPr>
              <a:t>1. Information Gain</a:t>
            </a:r>
            <a:endParaRPr b="1" sz="1200">
              <a:solidFill>
                <a:schemeClr val="dk1"/>
              </a:solidFill>
              <a:latin typeface="Nunito"/>
              <a:ea typeface="Nunito"/>
              <a:cs typeface="Nunito"/>
              <a:sym typeface="Nunito"/>
            </a:endParaRPr>
          </a:p>
          <a:p>
            <a:pPr indent="0" lvl="0" marL="0" rtl="0" algn="l">
              <a:lnSpc>
                <a:spcPct val="120000"/>
              </a:lnSpc>
              <a:spcBef>
                <a:spcPts val="0"/>
              </a:spcBef>
              <a:spcAft>
                <a:spcPts val="0"/>
              </a:spcAft>
              <a:buNone/>
            </a:pPr>
            <a:r>
              <a:rPr lang="en" sz="1200">
                <a:solidFill>
                  <a:schemeClr val="dk1"/>
                </a:solidFill>
                <a:latin typeface="Nunito"/>
                <a:ea typeface="Nunito"/>
                <a:cs typeface="Nunito"/>
                <a:sym typeface="Nunito"/>
              </a:rPr>
              <a:t>Information Gain tells us how useful a question (or feature) is for splitting data into groups. It measures how much the uncertainty decreases after the split.</a:t>
            </a:r>
            <a:endParaRPr sz="1200">
              <a:solidFill>
                <a:schemeClr val="dk1"/>
              </a:solidFill>
              <a:latin typeface="Nunito"/>
              <a:ea typeface="Nunito"/>
              <a:cs typeface="Nunito"/>
              <a:sym typeface="Nunito"/>
            </a:endParaRPr>
          </a:p>
          <a:p>
            <a:pPr indent="0" lvl="0" marL="0" rtl="0" algn="l">
              <a:lnSpc>
                <a:spcPct val="120000"/>
              </a:lnSpc>
              <a:spcBef>
                <a:spcPts val="800"/>
              </a:spcBef>
              <a:spcAft>
                <a:spcPts val="0"/>
              </a:spcAft>
              <a:buNone/>
            </a:pPr>
            <a:r>
              <a:rPr lang="en" sz="1200">
                <a:solidFill>
                  <a:schemeClr val="dk1"/>
                </a:solidFill>
                <a:latin typeface="Nunito"/>
                <a:ea typeface="Nunito"/>
                <a:cs typeface="Nunito"/>
                <a:sym typeface="Nunito"/>
              </a:rPr>
              <a:t>Suppose S is a set of instances A is an attribute,  Sv is the subset of S,  v represents an individual value that the attribute  A can take and Values (A) is the set of all possible values of A then</a:t>
            </a:r>
            <a:endParaRPr sz="1200">
              <a:solidFill>
                <a:schemeClr val="dk1"/>
              </a:solidFill>
              <a:latin typeface="Nunito"/>
              <a:ea typeface="Nunito"/>
              <a:cs typeface="Nunito"/>
              <a:sym typeface="Nunito"/>
            </a:endParaRPr>
          </a:p>
          <a:p>
            <a:pPr indent="0" lvl="0" marL="0" rtl="0" algn="l">
              <a:lnSpc>
                <a:spcPct val="120000"/>
              </a:lnSpc>
              <a:spcBef>
                <a:spcPts val="800"/>
              </a:spcBef>
              <a:spcAft>
                <a:spcPts val="0"/>
              </a:spcAft>
              <a:buNone/>
            </a:pPr>
            <a:r>
              <a:t/>
            </a:r>
            <a:endParaRPr sz="1200">
              <a:solidFill>
                <a:schemeClr val="dk1"/>
              </a:solidFill>
              <a:latin typeface="Nunito"/>
              <a:ea typeface="Nunito"/>
              <a:cs typeface="Nunito"/>
              <a:sym typeface="Nunito"/>
            </a:endParaRPr>
          </a:p>
          <a:p>
            <a:pPr indent="0" lvl="0" marL="0" rtl="0" algn="l">
              <a:lnSpc>
                <a:spcPct val="120000"/>
              </a:lnSpc>
              <a:spcBef>
                <a:spcPts val="800"/>
              </a:spcBef>
              <a:spcAft>
                <a:spcPts val="0"/>
              </a:spcAft>
              <a:buNone/>
            </a:pPr>
            <a:r>
              <a:t/>
            </a:r>
            <a:endParaRPr b="1" sz="1200">
              <a:solidFill>
                <a:schemeClr val="dk1"/>
              </a:solidFill>
              <a:latin typeface="Nunito"/>
              <a:ea typeface="Nunito"/>
              <a:cs typeface="Nunito"/>
              <a:sym typeface="Nunito"/>
            </a:endParaRPr>
          </a:p>
          <a:p>
            <a:pPr indent="0" lvl="0" marL="0" rtl="0" algn="l">
              <a:lnSpc>
                <a:spcPct val="120000"/>
              </a:lnSpc>
              <a:spcBef>
                <a:spcPts val="800"/>
              </a:spcBef>
              <a:spcAft>
                <a:spcPts val="0"/>
              </a:spcAft>
              <a:buNone/>
            </a:pPr>
            <a:r>
              <a:rPr b="1" lang="en" sz="1200">
                <a:solidFill>
                  <a:schemeClr val="dk1"/>
                </a:solidFill>
                <a:latin typeface="Nunito"/>
                <a:ea typeface="Nunito"/>
                <a:cs typeface="Nunito"/>
                <a:sym typeface="Nunito"/>
              </a:rPr>
              <a:t>Entropy</a:t>
            </a:r>
            <a:r>
              <a:rPr lang="en" sz="1200">
                <a:solidFill>
                  <a:schemeClr val="dk1"/>
                </a:solidFill>
                <a:latin typeface="Nunito"/>
                <a:ea typeface="Nunito"/>
                <a:cs typeface="Nunito"/>
                <a:sym typeface="Nunito"/>
              </a:rPr>
              <a:t>: It is the measure of uncertainty of a random variable, it characterizes the impurity of an arbitrary collection of examples. The higher the entropy more the information content.</a:t>
            </a:r>
            <a:endParaRPr sz="1200">
              <a:solidFill>
                <a:schemeClr val="dk1"/>
              </a:solidFill>
              <a:latin typeface="Nunito"/>
              <a:ea typeface="Nunito"/>
              <a:cs typeface="Nunito"/>
              <a:sym typeface="Nunito"/>
            </a:endParaRPr>
          </a:p>
          <a:p>
            <a:pPr indent="0" lvl="0" marL="0" rtl="0" algn="l">
              <a:lnSpc>
                <a:spcPct val="120000"/>
              </a:lnSpc>
              <a:spcBef>
                <a:spcPts val="800"/>
              </a:spcBef>
              <a:spcAft>
                <a:spcPts val="0"/>
              </a:spcAft>
              <a:buNone/>
            </a:pPr>
            <a:r>
              <a:rPr lang="en" sz="1200">
                <a:solidFill>
                  <a:srgbClr val="FFFFFF"/>
                </a:solidFill>
                <a:latin typeface="Nunito"/>
                <a:ea typeface="Nunito"/>
                <a:cs typeface="Nunito"/>
                <a:sym typeface="Nunito"/>
              </a:rPr>
              <a:t>p</a:t>
            </a:r>
            <a:endParaRPr sz="1200">
              <a:solidFill>
                <a:srgbClr val="FFFFFF"/>
              </a:solidFill>
              <a:highlight>
                <a:srgbClr val="2A2A2C"/>
              </a:highlight>
              <a:latin typeface="Times New Roman"/>
              <a:ea typeface="Times New Roman"/>
              <a:cs typeface="Times New Roman"/>
              <a:sym typeface="Times New Roman"/>
            </a:endParaRPr>
          </a:p>
          <a:p>
            <a:pPr indent="0" lvl="0" marL="254000" marR="254000" rtl="0" algn="l">
              <a:lnSpc>
                <a:spcPct val="120000"/>
              </a:lnSpc>
              <a:spcBef>
                <a:spcPts val="800"/>
              </a:spcBef>
              <a:spcAft>
                <a:spcPts val="2600"/>
              </a:spcAft>
              <a:buNone/>
            </a:pPr>
            <a:r>
              <a:t/>
            </a:r>
            <a:endParaRPr sz="1200">
              <a:solidFill>
                <a:srgbClr val="FFFFFF"/>
              </a:solidFill>
              <a:highlight>
                <a:srgbClr val="2A2A2C"/>
              </a:highlight>
              <a:latin typeface="Times New Roman"/>
              <a:ea typeface="Times New Roman"/>
              <a:cs typeface="Times New Roman"/>
              <a:sym typeface="Times New Roman"/>
            </a:endParaRPr>
          </a:p>
        </p:txBody>
      </p:sp>
      <p:pic>
        <p:nvPicPr>
          <p:cNvPr id="438" name="Google Shape;438;p66"/>
          <p:cNvPicPr preferRelativeResize="0"/>
          <p:nvPr/>
        </p:nvPicPr>
        <p:blipFill>
          <a:blip r:embed="rId3">
            <a:alphaModFix/>
          </a:blip>
          <a:stretch>
            <a:fillRect/>
          </a:stretch>
        </p:blipFill>
        <p:spPr>
          <a:xfrm>
            <a:off x="862575" y="2386325"/>
            <a:ext cx="3808925" cy="3708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2" name="Shape 442"/>
        <p:cNvGrpSpPr/>
        <p:nvPr/>
      </p:nvGrpSpPr>
      <p:grpSpPr>
        <a:xfrm>
          <a:off x="0" y="0"/>
          <a:ext cx="0" cy="0"/>
          <a:chOff x="0" y="0"/>
          <a:chExt cx="0" cy="0"/>
        </a:xfrm>
      </p:grpSpPr>
      <p:sp>
        <p:nvSpPr>
          <p:cNvPr id="443" name="Google Shape;443;p67"/>
          <p:cNvSpPr/>
          <p:nvPr/>
        </p:nvSpPr>
        <p:spPr>
          <a:xfrm>
            <a:off x="752475" y="502200"/>
            <a:ext cx="76344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Information Gain in Decision Tree (continued)</a:t>
            </a:r>
            <a:endParaRPr sz="2000">
              <a:solidFill>
                <a:schemeClr val="dk1"/>
              </a:solidFill>
              <a:latin typeface="Century Gothic"/>
              <a:ea typeface="Century Gothic"/>
              <a:cs typeface="Century Gothic"/>
              <a:sym typeface="Century Gothic"/>
            </a:endParaRPr>
          </a:p>
        </p:txBody>
      </p:sp>
      <p:sp>
        <p:nvSpPr>
          <p:cNvPr id="444" name="Google Shape;444;p67"/>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445" name="Google Shape;445;p67"/>
          <p:cNvSpPr txBox="1"/>
          <p:nvPr/>
        </p:nvSpPr>
        <p:spPr>
          <a:xfrm>
            <a:off x="752475" y="973400"/>
            <a:ext cx="7894500" cy="1367700"/>
          </a:xfrm>
          <a:prstGeom prst="rect">
            <a:avLst/>
          </a:prstGeom>
          <a:noFill/>
          <a:ln>
            <a:noFill/>
          </a:ln>
        </p:spPr>
        <p:txBody>
          <a:bodyPr anchorCtr="0" anchor="t" bIns="91425" lIns="91425" spcFirstLastPara="1" rIns="91425" wrap="square" tIns="91425">
            <a:spAutoFit/>
          </a:bodyPr>
          <a:lstStyle/>
          <a:p>
            <a:pPr indent="0" lvl="0" marL="0" marR="254000" rtl="0" algn="l">
              <a:lnSpc>
                <a:spcPct val="120000"/>
              </a:lnSpc>
              <a:spcBef>
                <a:spcPts val="800"/>
              </a:spcBef>
              <a:spcAft>
                <a:spcPts val="0"/>
              </a:spcAft>
              <a:buNone/>
            </a:pPr>
            <a:r>
              <a:rPr lang="en" sz="1200">
                <a:solidFill>
                  <a:schemeClr val="dk1"/>
                </a:solidFill>
                <a:highlight>
                  <a:schemeClr val="lt1"/>
                </a:highlight>
                <a:latin typeface="Century Gothic"/>
                <a:ea typeface="Century Gothic"/>
                <a:cs typeface="Century Gothic"/>
                <a:sym typeface="Century Gothic"/>
              </a:rPr>
              <a:t>Suppose S is a set of instances, A is an attribute,  Sv is the subset of  S with A= v and Values (A) is the set of all possible values of A, then </a:t>
            </a:r>
            <a:endParaRPr sz="1200">
              <a:solidFill>
                <a:schemeClr val="dk1"/>
              </a:solidFill>
              <a:highlight>
                <a:schemeClr val="lt1"/>
              </a:highlight>
              <a:latin typeface="Century Gothic"/>
              <a:ea typeface="Century Gothic"/>
              <a:cs typeface="Century Gothic"/>
              <a:sym typeface="Century Gothic"/>
            </a:endParaRPr>
          </a:p>
          <a:p>
            <a:pPr indent="0" lvl="0" marL="0" marR="254000" rtl="0" algn="l">
              <a:lnSpc>
                <a:spcPct val="120000"/>
              </a:lnSpc>
              <a:spcBef>
                <a:spcPts val="2600"/>
              </a:spcBef>
              <a:spcAft>
                <a:spcPts val="2600"/>
              </a:spcAft>
              <a:buNone/>
            </a:pPr>
            <a:br>
              <a:rPr lang="en" sz="1200">
                <a:solidFill>
                  <a:schemeClr val="dk1"/>
                </a:solidFill>
                <a:highlight>
                  <a:schemeClr val="lt1"/>
                </a:highlight>
                <a:latin typeface="Century Gothic"/>
                <a:ea typeface="Century Gothic"/>
                <a:cs typeface="Century Gothic"/>
                <a:sym typeface="Century Gothic"/>
              </a:rPr>
            </a:br>
            <a:r>
              <a:rPr b="1" lang="en" sz="1200">
                <a:solidFill>
                  <a:schemeClr val="dk1"/>
                </a:solidFill>
                <a:highlight>
                  <a:schemeClr val="lt1"/>
                </a:highlight>
                <a:latin typeface="Century Gothic"/>
                <a:ea typeface="Century Gothic"/>
                <a:cs typeface="Century Gothic"/>
                <a:sym typeface="Century Gothic"/>
              </a:rPr>
              <a:t>Example</a:t>
            </a:r>
            <a:r>
              <a:rPr lang="en" sz="1200">
                <a:solidFill>
                  <a:schemeClr val="dk1"/>
                </a:solidFill>
                <a:highlight>
                  <a:schemeClr val="lt1"/>
                </a:highlight>
                <a:latin typeface="Century Gothic"/>
                <a:ea typeface="Century Gothic"/>
                <a:cs typeface="Century Gothic"/>
                <a:sym typeface="Century Gothic"/>
              </a:rPr>
              <a:t>:</a:t>
            </a:r>
            <a:endParaRPr sz="1200">
              <a:solidFill>
                <a:schemeClr val="dk1"/>
              </a:solidFill>
              <a:highlight>
                <a:schemeClr val="lt1"/>
              </a:highlight>
              <a:latin typeface="Century Gothic"/>
              <a:ea typeface="Century Gothic"/>
              <a:cs typeface="Century Gothic"/>
              <a:sym typeface="Century Gothic"/>
            </a:endParaRPr>
          </a:p>
        </p:txBody>
      </p:sp>
      <p:pic>
        <p:nvPicPr>
          <p:cNvPr id="446" name="Google Shape;446;p67"/>
          <p:cNvPicPr preferRelativeResize="0"/>
          <p:nvPr/>
        </p:nvPicPr>
        <p:blipFill>
          <a:blip r:embed="rId3">
            <a:alphaModFix/>
          </a:blip>
          <a:stretch>
            <a:fillRect/>
          </a:stretch>
        </p:blipFill>
        <p:spPr>
          <a:xfrm>
            <a:off x="824351" y="1564399"/>
            <a:ext cx="4392586" cy="323100"/>
          </a:xfrm>
          <a:prstGeom prst="rect">
            <a:avLst/>
          </a:prstGeom>
          <a:noFill/>
          <a:ln>
            <a:noFill/>
          </a:ln>
        </p:spPr>
      </p:pic>
      <p:pic>
        <p:nvPicPr>
          <p:cNvPr id="447" name="Google Shape;447;p67"/>
          <p:cNvPicPr preferRelativeResize="0"/>
          <p:nvPr/>
        </p:nvPicPr>
        <p:blipFill>
          <a:blip r:embed="rId4">
            <a:alphaModFix/>
          </a:blip>
          <a:stretch>
            <a:fillRect/>
          </a:stretch>
        </p:blipFill>
        <p:spPr>
          <a:xfrm>
            <a:off x="869125" y="2304800"/>
            <a:ext cx="5681601" cy="22599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1" name="Shape 451"/>
        <p:cNvGrpSpPr/>
        <p:nvPr/>
      </p:nvGrpSpPr>
      <p:grpSpPr>
        <a:xfrm>
          <a:off x="0" y="0"/>
          <a:ext cx="0" cy="0"/>
          <a:chOff x="0" y="0"/>
          <a:chExt cx="0" cy="0"/>
        </a:xfrm>
      </p:grpSpPr>
      <p:sp>
        <p:nvSpPr>
          <p:cNvPr id="452" name="Google Shape;452;p68"/>
          <p:cNvSpPr/>
          <p:nvPr/>
        </p:nvSpPr>
        <p:spPr>
          <a:xfrm>
            <a:off x="752475" y="502200"/>
            <a:ext cx="76344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Gini Index in Decision Tree</a:t>
            </a:r>
            <a:endParaRPr sz="2000">
              <a:solidFill>
                <a:schemeClr val="dk1"/>
              </a:solidFill>
              <a:latin typeface="Century Gothic"/>
              <a:ea typeface="Century Gothic"/>
              <a:cs typeface="Century Gothic"/>
              <a:sym typeface="Century Gothic"/>
            </a:endParaRPr>
          </a:p>
        </p:txBody>
      </p:sp>
      <p:sp>
        <p:nvSpPr>
          <p:cNvPr id="453" name="Google Shape;453;p68"/>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454" name="Google Shape;454;p68"/>
          <p:cNvSpPr txBox="1"/>
          <p:nvPr/>
        </p:nvSpPr>
        <p:spPr>
          <a:xfrm>
            <a:off x="752475" y="973400"/>
            <a:ext cx="7894500" cy="1811100"/>
          </a:xfrm>
          <a:prstGeom prst="rect">
            <a:avLst/>
          </a:prstGeom>
          <a:noFill/>
          <a:ln>
            <a:noFill/>
          </a:ln>
        </p:spPr>
        <p:txBody>
          <a:bodyPr anchorCtr="0" anchor="t" bIns="91425" lIns="91425" spcFirstLastPara="1" rIns="91425" wrap="square" tIns="91425">
            <a:spAutoFit/>
          </a:bodyPr>
          <a:lstStyle/>
          <a:p>
            <a:pPr indent="0" lvl="0" marL="0" marR="254000" rtl="0" algn="l">
              <a:lnSpc>
                <a:spcPct val="120000"/>
              </a:lnSpc>
              <a:spcBef>
                <a:spcPts val="800"/>
              </a:spcBef>
              <a:spcAft>
                <a:spcPts val="0"/>
              </a:spcAft>
              <a:buNone/>
            </a:pPr>
            <a:r>
              <a:rPr lang="en" sz="1200">
                <a:solidFill>
                  <a:schemeClr val="dk1"/>
                </a:solidFill>
                <a:highlight>
                  <a:schemeClr val="lt1"/>
                </a:highlight>
                <a:latin typeface="Century Gothic"/>
                <a:ea typeface="Century Gothic"/>
                <a:cs typeface="Century Gothic"/>
                <a:sym typeface="Century Gothic"/>
              </a:rPr>
              <a:t>Gini Index is a metric to measure how often a randomly chosen element would be incorrectly identified. It means an attribute with a lower Gini index should be preferred. Sklearn supports “Gini” criteria for Gini Index and by default it takes “gini” value.</a:t>
            </a:r>
            <a:endParaRPr sz="1200">
              <a:solidFill>
                <a:schemeClr val="dk1"/>
              </a:solidFill>
              <a:highlight>
                <a:schemeClr val="lt1"/>
              </a:highlight>
              <a:latin typeface="Century Gothic"/>
              <a:ea typeface="Century Gothic"/>
              <a:cs typeface="Century Gothic"/>
              <a:sym typeface="Century Gothic"/>
            </a:endParaRPr>
          </a:p>
          <a:p>
            <a:pPr indent="0" lvl="0" marL="0" marR="254000" rtl="0" algn="l">
              <a:lnSpc>
                <a:spcPct val="120000"/>
              </a:lnSpc>
              <a:spcBef>
                <a:spcPts val="2600"/>
              </a:spcBef>
              <a:spcAft>
                <a:spcPts val="2600"/>
              </a:spcAft>
              <a:buNone/>
            </a:pPr>
            <a:r>
              <a:rPr b="1" lang="en" sz="1200">
                <a:solidFill>
                  <a:schemeClr val="dk1"/>
                </a:solidFill>
                <a:highlight>
                  <a:schemeClr val="lt1"/>
                </a:highlight>
                <a:latin typeface="Century Gothic"/>
                <a:ea typeface="Century Gothic"/>
                <a:cs typeface="Century Gothic"/>
                <a:sym typeface="Century Gothic"/>
              </a:rPr>
              <a:t>For example </a:t>
            </a:r>
            <a:r>
              <a:rPr lang="en" sz="1200">
                <a:solidFill>
                  <a:schemeClr val="dk1"/>
                </a:solidFill>
                <a:highlight>
                  <a:schemeClr val="lt1"/>
                </a:highlight>
                <a:latin typeface="Century Gothic"/>
                <a:ea typeface="Century Gothic"/>
                <a:cs typeface="Century Gothic"/>
                <a:sym typeface="Century Gothic"/>
              </a:rPr>
              <a:t>if we have a group of people where all bought the product (100% "Yes") the Gini Index is 0 indicate perfect purity. But if the group has an equal mix of "Yes" and "No" the Gini Index would be 0.5 show high impurity or uncertainty. Formula for Gini Index is given by :</a:t>
            </a:r>
            <a:endParaRPr sz="1200">
              <a:solidFill>
                <a:schemeClr val="dk1"/>
              </a:solidFill>
              <a:highlight>
                <a:schemeClr val="lt1"/>
              </a:highlight>
              <a:latin typeface="Century Gothic"/>
              <a:ea typeface="Century Gothic"/>
              <a:cs typeface="Century Gothic"/>
              <a:sym typeface="Century Gothic"/>
            </a:endParaRPr>
          </a:p>
        </p:txBody>
      </p:sp>
      <p:pic>
        <p:nvPicPr>
          <p:cNvPr id="455" name="Google Shape;455;p68"/>
          <p:cNvPicPr preferRelativeResize="0"/>
          <p:nvPr/>
        </p:nvPicPr>
        <p:blipFill>
          <a:blip r:embed="rId3">
            <a:alphaModFix/>
          </a:blip>
          <a:stretch>
            <a:fillRect/>
          </a:stretch>
        </p:blipFill>
        <p:spPr>
          <a:xfrm>
            <a:off x="1548038" y="2840200"/>
            <a:ext cx="6047926" cy="375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59" name="Shape 459"/>
        <p:cNvGrpSpPr/>
        <p:nvPr/>
      </p:nvGrpSpPr>
      <p:grpSpPr>
        <a:xfrm>
          <a:off x="0" y="0"/>
          <a:ext cx="0" cy="0"/>
          <a:chOff x="0" y="0"/>
          <a:chExt cx="0" cy="0"/>
        </a:xfrm>
      </p:grpSpPr>
      <p:sp>
        <p:nvSpPr>
          <p:cNvPr id="460" name="Google Shape;460;p69"/>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lnSpc>
                <a:spcPct val="90000"/>
              </a:lnSpc>
              <a:spcBef>
                <a:spcPts val="0"/>
              </a:spcBef>
              <a:spcAft>
                <a:spcPts val="0"/>
              </a:spcAft>
              <a:buSzPts val="2000"/>
              <a:buNone/>
            </a:pPr>
            <a:r>
              <a:rPr lang="en">
                <a:solidFill>
                  <a:schemeClr val="dk1"/>
                </a:solidFill>
              </a:rPr>
              <a:t>Bias vs Variance</a:t>
            </a:r>
            <a:endParaRPr>
              <a:solidFill>
                <a:schemeClr val="dk1"/>
              </a:solidFill>
            </a:endParaRPr>
          </a:p>
        </p:txBody>
      </p:sp>
      <p:pic>
        <p:nvPicPr>
          <p:cNvPr id="461" name="Google Shape;461;p69"/>
          <p:cNvPicPr preferRelativeResize="0"/>
          <p:nvPr/>
        </p:nvPicPr>
        <p:blipFill>
          <a:blip r:embed="rId3">
            <a:alphaModFix/>
          </a:blip>
          <a:stretch>
            <a:fillRect/>
          </a:stretch>
        </p:blipFill>
        <p:spPr>
          <a:xfrm>
            <a:off x="1662538" y="1767725"/>
            <a:ext cx="5818925" cy="3010825"/>
          </a:xfrm>
          <a:prstGeom prst="rect">
            <a:avLst/>
          </a:prstGeom>
          <a:noFill/>
          <a:ln>
            <a:noFill/>
          </a:ln>
        </p:spPr>
      </p:pic>
      <p:sp>
        <p:nvSpPr>
          <p:cNvPr id="462" name="Google Shape;462;p69"/>
          <p:cNvSpPr txBox="1"/>
          <p:nvPr/>
        </p:nvSpPr>
        <p:spPr>
          <a:xfrm>
            <a:off x="602750" y="1028363"/>
            <a:ext cx="82752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100"/>
              </a:spcAft>
              <a:buNone/>
            </a:pPr>
            <a:r>
              <a:rPr b="1" lang="en" sz="1300">
                <a:highlight>
                  <a:srgbClr val="FFFFFF"/>
                </a:highlight>
              </a:rPr>
              <a:t>Let’s say we’re trying to build a Machine Learning model for the following data set</a:t>
            </a:r>
            <a:endParaRPr b="1" sz="1300"/>
          </a:p>
        </p:txBody>
      </p:sp>
      <p:sp>
        <p:nvSpPr>
          <p:cNvPr id="463" name="Google Shape;463;p69"/>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67" name="Shape 467"/>
        <p:cNvGrpSpPr/>
        <p:nvPr/>
      </p:nvGrpSpPr>
      <p:grpSpPr>
        <a:xfrm>
          <a:off x="0" y="0"/>
          <a:ext cx="0" cy="0"/>
          <a:chOff x="0" y="0"/>
          <a:chExt cx="0" cy="0"/>
        </a:xfrm>
      </p:grpSpPr>
      <p:sp>
        <p:nvSpPr>
          <p:cNvPr id="468" name="Google Shape;468;p70"/>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lnSpc>
                <a:spcPct val="90000"/>
              </a:lnSpc>
              <a:spcBef>
                <a:spcPts val="0"/>
              </a:spcBef>
              <a:spcAft>
                <a:spcPts val="0"/>
              </a:spcAft>
              <a:buSzPts val="2000"/>
              <a:buNone/>
            </a:pPr>
            <a:r>
              <a:rPr lang="en">
                <a:solidFill>
                  <a:schemeClr val="dk1"/>
                </a:solidFill>
              </a:rPr>
              <a:t>Bias vs Variance</a:t>
            </a:r>
            <a:endParaRPr>
              <a:solidFill>
                <a:schemeClr val="dk1"/>
              </a:solidFill>
            </a:endParaRPr>
          </a:p>
        </p:txBody>
      </p:sp>
      <p:pic>
        <p:nvPicPr>
          <p:cNvPr id="469" name="Google Shape;469;p70"/>
          <p:cNvPicPr preferRelativeResize="0"/>
          <p:nvPr/>
        </p:nvPicPr>
        <p:blipFill>
          <a:blip r:embed="rId3">
            <a:alphaModFix/>
          </a:blip>
          <a:stretch>
            <a:fillRect/>
          </a:stretch>
        </p:blipFill>
        <p:spPr>
          <a:xfrm>
            <a:off x="416450" y="1397337"/>
            <a:ext cx="2704168" cy="1609452"/>
          </a:xfrm>
          <a:prstGeom prst="rect">
            <a:avLst/>
          </a:prstGeom>
          <a:noFill/>
          <a:ln>
            <a:noFill/>
          </a:ln>
        </p:spPr>
      </p:pic>
      <p:pic>
        <p:nvPicPr>
          <p:cNvPr id="470" name="Google Shape;470;p70"/>
          <p:cNvPicPr preferRelativeResize="0"/>
          <p:nvPr/>
        </p:nvPicPr>
        <p:blipFill>
          <a:blip r:embed="rId4">
            <a:alphaModFix/>
          </a:blip>
          <a:stretch>
            <a:fillRect/>
          </a:stretch>
        </p:blipFill>
        <p:spPr>
          <a:xfrm>
            <a:off x="3219906" y="1389800"/>
            <a:ext cx="2704169" cy="1624526"/>
          </a:xfrm>
          <a:prstGeom prst="rect">
            <a:avLst/>
          </a:prstGeom>
          <a:noFill/>
          <a:ln>
            <a:noFill/>
          </a:ln>
        </p:spPr>
      </p:pic>
      <p:pic>
        <p:nvPicPr>
          <p:cNvPr id="471" name="Google Shape;471;p70"/>
          <p:cNvPicPr preferRelativeResize="0"/>
          <p:nvPr/>
        </p:nvPicPr>
        <p:blipFill rotWithShape="1">
          <a:blip r:embed="rId5">
            <a:alphaModFix/>
          </a:blip>
          <a:srcRect b="0" l="0" r="0" t="4617"/>
          <a:stretch/>
        </p:blipFill>
        <p:spPr>
          <a:xfrm>
            <a:off x="6023362" y="1397337"/>
            <a:ext cx="2704189" cy="1609452"/>
          </a:xfrm>
          <a:prstGeom prst="rect">
            <a:avLst/>
          </a:prstGeom>
          <a:noFill/>
          <a:ln>
            <a:noFill/>
          </a:ln>
        </p:spPr>
      </p:pic>
      <p:sp>
        <p:nvSpPr>
          <p:cNvPr id="472" name="Google Shape;472;p70"/>
          <p:cNvSpPr txBox="1"/>
          <p:nvPr/>
        </p:nvSpPr>
        <p:spPr>
          <a:xfrm>
            <a:off x="825185" y="1028376"/>
            <a:ext cx="18867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100"/>
              </a:spcAft>
              <a:buNone/>
            </a:pPr>
            <a:r>
              <a:rPr b="1" lang="en" sz="1200">
                <a:highlight>
                  <a:srgbClr val="FFFFFF"/>
                </a:highlight>
              </a:rPr>
              <a:t>A Good-Fit Model</a:t>
            </a:r>
            <a:endParaRPr b="1" sz="1200"/>
          </a:p>
        </p:txBody>
      </p:sp>
      <p:sp>
        <p:nvSpPr>
          <p:cNvPr id="473" name="Google Shape;473;p70"/>
          <p:cNvSpPr txBox="1"/>
          <p:nvPr/>
        </p:nvSpPr>
        <p:spPr>
          <a:xfrm>
            <a:off x="3554700" y="1028379"/>
            <a:ext cx="20346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100"/>
              </a:spcAft>
              <a:buNone/>
            </a:pPr>
            <a:r>
              <a:rPr b="1" lang="en" sz="1200">
                <a:highlight>
                  <a:srgbClr val="FFFFFF"/>
                </a:highlight>
              </a:rPr>
              <a:t>Overfitting Model</a:t>
            </a:r>
            <a:endParaRPr b="1" sz="1200"/>
          </a:p>
        </p:txBody>
      </p:sp>
      <p:sp>
        <p:nvSpPr>
          <p:cNvPr id="474" name="Google Shape;474;p70"/>
          <p:cNvSpPr txBox="1"/>
          <p:nvPr/>
        </p:nvSpPr>
        <p:spPr>
          <a:xfrm>
            <a:off x="6432127" y="1028384"/>
            <a:ext cx="20346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100"/>
              </a:spcAft>
              <a:buNone/>
            </a:pPr>
            <a:r>
              <a:rPr b="1" lang="en" sz="1200">
                <a:highlight>
                  <a:srgbClr val="FFFFFF"/>
                </a:highlight>
              </a:rPr>
              <a:t>Underfitting Model</a:t>
            </a:r>
            <a:endParaRPr b="1" sz="1200"/>
          </a:p>
        </p:txBody>
      </p:sp>
      <p:sp>
        <p:nvSpPr>
          <p:cNvPr id="475" name="Google Shape;475;p70"/>
          <p:cNvSpPr txBox="1"/>
          <p:nvPr/>
        </p:nvSpPr>
        <p:spPr>
          <a:xfrm>
            <a:off x="6086248" y="3144925"/>
            <a:ext cx="2704200" cy="1708500"/>
          </a:xfrm>
          <a:prstGeom prst="rect">
            <a:avLst/>
          </a:prstGeom>
          <a:noFill/>
          <a:ln cap="flat" cmpd="sng" w="19050">
            <a:solidFill>
              <a:srgbClr val="000000"/>
            </a:solidFill>
            <a:prstDash val="dot"/>
            <a:round/>
            <a:headEnd len="sm" w="sm" type="none"/>
            <a:tailEnd len="sm" w="sm" type="none"/>
          </a:ln>
        </p:spPr>
        <p:txBody>
          <a:bodyPr anchorCtr="0" anchor="t" bIns="91425" lIns="91425" spcFirstLastPara="1" rIns="91425" wrap="square" tIns="91425">
            <a:spAutoFit/>
          </a:bodyPr>
          <a:lstStyle/>
          <a:p>
            <a:pPr indent="0" lvl="0" marL="0" rtl="0" algn="ctr">
              <a:lnSpc>
                <a:spcPct val="200000"/>
              </a:lnSpc>
              <a:spcBef>
                <a:spcPts val="0"/>
              </a:spcBef>
              <a:spcAft>
                <a:spcPts val="0"/>
              </a:spcAft>
              <a:buNone/>
            </a:pPr>
            <a:r>
              <a:rPr lang="en" sz="1100">
                <a:highlight>
                  <a:srgbClr val="FFFFFF"/>
                </a:highlight>
              </a:rPr>
              <a:t>Underfitting is the case where the model has “</a:t>
            </a:r>
            <a:r>
              <a:rPr i="1" lang="en" sz="1100">
                <a:highlight>
                  <a:srgbClr val="FFFFFF"/>
                </a:highlight>
              </a:rPr>
              <a:t>not learned enough</a:t>
            </a:r>
            <a:r>
              <a:rPr lang="en" sz="1100">
                <a:highlight>
                  <a:srgbClr val="FFFFFF"/>
                </a:highlight>
              </a:rPr>
              <a:t>” from the training data, resulting in low-levels of generalization and unreliable predictions</a:t>
            </a:r>
            <a:endParaRPr sz="1100">
              <a:highlight>
                <a:srgbClr val="FFFFFF"/>
              </a:highlight>
            </a:endParaRPr>
          </a:p>
          <a:p>
            <a:pPr indent="0" lvl="0" marL="0" rtl="0" algn="ctr">
              <a:lnSpc>
                <a:spcPct val="200000"/>
              </a:lnSpc>
              <a:spcBef>
                <a:spcPts val="0"/>
              </a:spcBef>
              <a:spcAft>
                <a:spcPts val="0"/>
              </a:spcAft>
              <a:buNone/>
            </a:pPr>
            <a:r>
              <a:t/>
            </a:r>
            <a:endParaRPr sz="1100">
              <a:highlight>
                <a:srgbClr val="FFFFFF"/>
              </a:highlight>
            </a:endParaRPr>
          </a:p>
        </p:txBody>
      </p:sp>
      <p:sp>
        <p:nvSpPr>
          <p:cNvPr id="476" name="Google Shape;476;p70"/>
          <p:cNvSpPr txBox="1"/>
          <p:nvPr/>
        </p:nvSpPr>
        <p:spPr>
          <a:xfrm>
            <a:off x="3219901" y="3144925"/>
            <a:ext cx="2767200" cy="1708500"/>
          </a:xfrm>
          <a:prstGeom prst="rect">
            <a:avLst/>
          </a:prstGeom>
          <a:noFill/>
          <a:ln cap="flat" cmpd="sng" w="19050">
            <a:solidFill>
              <a:srgbClr val="000000"/>
            </a:solidFill>
            <a:prstDash val="dot"/>
            <a:round/>
            <a:headEnd len="sm" w="sm" type="none"/>
            <a:tailEnd len="sm" w="sm" type="none"/>
          </a:ln>
        </p:spPr>
        <p:txBody>
          <a:bodyPr anchorCtr="0" anchor="t" bIns="91425" lIns="91425" spcFirstLastPara="1" rIns="91425" wrap="square" tIns="91425">
            <a:spAutoFit/>
          </a:bodyPr>
          <a:lstStyle/>
          <a:p>
            <a:pPr indent="0" lvl="0" marL="0" rtl="0" algn="ctr">
              <a:lnSpc>
                <a:spcPct val="200000"/>
              </a:lnSpc>
              <a:spcBef>
                <a:spcPts val="0"/>
              </a:spcBef>
              <a:spcAft>
                <a:spcPts val="0"/>
              </a:spcAft>
              <a:buNone/>
            </a:pPr>
            <a:r>
              <a:rPr lang="en" sz="1100">
                <a:highlight>
                  <a:srgbClr val="FFFFFF"/>
                </a:highlight>
              </a:rPr>
              <a:t>Overfitting is the case where the overall cost is really small, but the generalization of the model is unreliable. This is due to the model having “</a:t>
            </a:r>
            <a:r>
              <a:rPr i="1" lang="en" sz="1100">
                <a:highlight>
                  <a:srgbClr val="FFFFFF"/>
                </a:highlight>
              </a:rPr>
              <a:t>learned too much</a:t>
            </a:r>
            <a:r>
              <a:rPr lang="en" sz="1100">
                <a:highlight>
                  <a:srgbClr val="FFFFFF"/>
                </a:highlight>
              </a:rPr>
              <a:t>” from the training data set</a:t>
            </a:r>
            <a:endParaRPr sz="1100"/>
          </a:p>
        </p:txBody>
      </p:sp>
      <p:sp>
        <p:nvSpPr>
          <p:cNvPr id="477" name="Google Shape;477;p70"/>
          <p:cNvSpPr txBox="1"/>
          <p:nvPr/>
        </p:nvSpPr>
        <p:spPr>
          <a:xfrm>
            <a:off x="353550" y="3144925"/>
            <a:ext cx="2767200" cy="1708500"/>
          </a:xfrm>
          <a:prstGeom prst="rect">
            <a:avLst/>
          </a:prstGeom>
          <a:noFill/>
          <a:ln cap="flat" cmpd="sng" w="19050">
            <a:solidFill>
              <a:srgbClr val="000000"/>
            </a:solidFill>
            <a:prstDash val="dot"/>
            <a:round/>
            <a:headEnd len="sm" w="sm" type="none"/>
            <a:tailEnd len="sm" w="sm" type="none"/>
          </a:ln>
        </p:spPr>
        <p:txBody>
          <a:bodyPr anchorCtr="0" anchor="t" bIns="91425" lIns="91425" spcFirstLastPara="1" rIns="91425" wrap="square" tIns="91425">
            <a:spAutoFit/>
          </a:bodyPr>
          <a:lstStyle/>
          <a:p>
            <a:pPr indent="0" lvl="0" marL="0" rtl="0" algn="ctr">
              <a:lnSpc>
                <a:spcPct val="200000"/>
              </a:lnSpc>
              <a:spcBef>
                <a:spcPts val="0"/>
              </a:spcBef>
              <a:spcAft>
                <a:spcPts val="0"/>
              </a:spcAft>
              <a:buNone/>
            </a:pPr>
            <a:r>
              <a:rPr lang="en" sz="1100">
                <a:highlight>
                  <a:srgbClr val="FFFFFF"/>
                </a:highlight>
              </a:rPr>
              <a:t>In terms of Machine Learning, the line above could give a very likely prediction for any new input, The outputs are expected to follow the trend seen in the training set</a:t>
            </a:r>
            <a:endParaRPr sz="1100"/>
          </a:p>
        </p:txBody>
      </p:sp>
      <p:sp>
        <p:nvSpPr>
          <p:cNvPr id="478" name="Google Shape;478;p70"/>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82" name="Shape 482"/>
        <p:cNvGrpSpPr/>
        <p:nvPr/>
      </p:nvGrpSpPr>
      <p:grpSpPr>
        <a:xfrm>
          <a:off x="0" y="0"/>
          <a:ext cx="0" cy="0"/>
          <a:chOff x="0" y="0"/>
          <a:chExt cx="0" cy="0"/>
        </a:xfrm>
      </p:grpSpPr>
      <p:sp>
        <p:nvSpPr>
          <p:cNvPr id="483" name="Google Shape;483;p71"/>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lnSpc>
                <a:spcPct val="90000"/>
              </a:lnSpc>
              <a:spcBef>
                <a:spcPts val="0"/>
              </a:spcBef>
              <a:spcAft>
                <a:spcPts val="0"/>
              </a:spcAft>
              <a:buSzPts val="2000"/>
              <a:buNone/>
            </a:pPr>
            <a:r>
              <a:rPr lang="en">
                <a:solidFill>
                  <a:schemeClr val="dk1"/>
                </a:solidFill>
              </a:rPr>
              <a:t>Bias vs Variance</a:t>
            </a:r>
            <a:endParaRPr>
              <a:solidFill>
                <a:schemeClr val="dk1"/>
              </a:solidFill>
            </a:endParaRPr>
          </a:p>
        </p:txBody>
      </p:sp>
      <p:pic>
        <p:nvPicPr>
          <p:cNvPr id="484" name="Google Shape;484;p71"/>
          <p:cNvPicPr preferRelativeResize="0"/>
          <p:nvPr/>
        </p:nvPicPr>
        <p:blipFill>
          <a:blip r:embed="rId3">
            <a:alphaModFix/>
          </a:blip>
          <a:stretch>
            <a:fillRect/>
          </a:stretch>
        </p:blipFill>
        <p:spPr>
          <a:xfrm>
            <a:off x="613700" y="1180775"/>
            <a:ext cx="4629410" cy="3579099"/>
          </a:xfrm>
          <a:prstGeom prst="rect">
            <a:avLst/>
          </a:prstGeom>
          <a:noFill/>
          <a:ln>
            <a:noFill/>
          </a:ln>
        </p:spPr>
      </p:pic>
      <p:pic>
        <p:nvPicPr>
          <p:cNvPr id="485" name="Google Shape;485;p71"/>
          <p:cNvPicPr preferRelativeResize="0"/>
          <p:nvPr/>
        </p:nvPicPr>
        <p:blipFill>
          <a:blip r:embed="rId4">
            <a:alphaModFix/>
          </a:blip>
          <a:stretch>
            <a:fillRect/>
          </a:stretch>
        </p:blipFill>
        <p:spPr>
          <a:xfrm>
            <a:off x="5383301" y="1180783"/>
            <a:ext cx="3614962" cy="3466599"/>
          </a:xfrm>
          <a:prstGeom prst="rect">
            <a:avLst/>
          </a:prstGeom>
          <a:noFill/>
          <a:ln>
            <a:noFill/>
          </a:ln>
        </p:spPr>
      </p:pic>
      <p:sp>
        <p:nvSpPr>
          <p:cNvPr id="486" name="Google Shape;486;p71"/>
          <p:cNvSpPr txBox="1"/>
          <p:nvPr/>
        </p:nvSpPr>
        <p:spPr>
          <a:xfrm>
            <a:off x="5503212" y="2826327"/>
            <a:ext cx="894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000">
                <a:solidFill>
                  <a:srgbClr val="666666"/>
                </a:solidFill>
                <a:latin typeface="Quattrocento Sans"/>
                <a:ea typeface="Quattrocento Sans"/>
                <a:cs typeface="Quattrocento Sans"/>
                <a:sym typeface="Quattrocento Sans"/>
              </a:rPr>
              <a:t>Underfitting</a:t>
            </a:r>
            <a:endParaRPr b="1" i="1" sz="1000">
              <a:solidFill>
                <a:srgbClr val="666666"/>
              </a:solidFill>
              <a:latin typeface="Quattrocento Sans"/>
              <a:ea typeface="Quattrocento Sans"/>
              <a:cs typeface="Quattrocento Sans"/>
              <a:sym typeface="Quattrocento Sans"/>
            </a:endParaRPr>
          </a:p>
        </p:txBody>
      </p:sp>
      <p:sp>
        <p:nvSpPr>
          <p:cNvPr id="487" name="Google Shape;487;p71"/>
          <p:cNvSpPr txBox="1"/>
          <p:nvPr/>
        </p:nvSpPr>
        <p:spPr>
          <a:xfrm>
            <a:off x="8103988" y="2726537"/>
            <a:ext cx="894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000">
                <a:solidFill>
                  <a:srgbClr val="666666"/>
                </a:solidFill>
                <a:latin typeface="Quattrocento Sans"/>
                <a:ea typeface="Quattrocento Sans"/>
                <a:cs typeface="Quattrocento Sans"/>
                <a:sym typeface="Quattrocento Sans"/>
              </a:rPr>
              <a:t>Overfitting</a:t>
            </a:r>
            <a:endParaRPr b="1" i="1" sz="1000">
              <a:solidFill>
                <a:srgbClr val="666666"/>
              </a:solidFill>
              <a:latin typeface="Quattrocento Sans"/>
              <a:ea typeface="Quattrocento Sans"/>
              <a:cs typeface="Quattrocento Sans"/>
              <a:sym typeface="Quattrocento Sans"/>
            </a:endParaRPr>
          </a:p>
        </p:txBody>
      </p:sp>
      <p:cxnSp>
        <p:nvCxnSpPr>
          <p:cNvPr id="488" name="Google Shape;488;p71"/>
          <p:cNvCxnSpPr>
            <a:stCxn id="486" idx="2"/>
          </p:cNvCxnSpPr>
          <p:nvPr/>
        </p:nvCxnSpPr>
        <p:spPr>
          <a:xfrm>
            <a:off x="5950362" y="3165027"/>
            <a:ext cx="343200" cy="251400"/>
          </a:xfrm>
          <a:prstGeom prst="straightConnector1">
            <a:avLst/>
          </a:prstGeom>
          <a:noFill/>
          <a:ln cap="flat" cmpd="sng" w="9525">
            <a:solidFill>
              <a:srgbClr val="353535"/>
            </a:solidFill>
            <a:prstDash val="solid"/>
            <a:round/>
            <a:headEnd len="med" w="med" type="none"/>
            <a:tailEnd len="med" w="med" type="triangle"/>
          </a:ln>
        </p:spPr>
      </p:cxnSp>
      <p:cxnSp>
        <p:nvCxnSpPr>
          <p:cNvPr id="489" name="Google Shape;489;p71"/>
          <p:cNvCxnSpPr>
            <a:stCxn id="487" idx="0"/>
          </p:cNvCxnSpPr>
          <p:nvPr/>
        </p:nvCxnSpPr>
        <p:spPr>
          <a:xfrm rot="10800000">
            <a:off x="8477338" y="2402537"/>
            <a:ext cx="73800" cy="324000"/>
          </a:xfrm>
          <a:prstGeom prst="straightConnector1">
            <a:avLst/>
          </a:prstGeom>
          <a:noFill/>
          <a:ln cap="flat" cmpd="sng" w="9525">
            <a:solidFill>
              <a:srgbClr val="353535"/>
            </a:solidFill>
            <a:prstDash val="solid"/>
            <a:round/>
            <a:headEnd len="med" w="med" type="none"/>
            <a:tailEnd len="med" w="med" type="triangle"/>
          </a:ln>
        </p:spPr>
      </p:cxnSp>
      <p:sp>
        <p:nvSpPr>
          <p:cNvPr id="490" name="Google Shape;490;p71"/>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4" name="Shape 494"/>
        <p:cNvGrpSpPr/>
        <p:nvPr/>
      </p:nvGrpSpPr>
      <p:grpSpPr>
        <a:xfrm>
          <a:off x="0" y="0"/>
          <a:ext cx="0" cy="0"/>
          <a:chOff x="0" y="0"/>
          <a:chExt cx="0" cy="0"/>
        </a:xfrm>
      </p:grpSpPr>
      <p:cxnSp>
        <p:nvCxnSpPr>
          <p:cNvPr id="495" name="Google Shape;495;p72"/>
          <p:cNvCxnSpPr/>
          <p:nvPr/>
        </p:nvCxnSpPr>
        <p:spPr>
          <a:xfrm>
            <a:off x="2358131" y="683550"/>
            <a:ext cx="0" cy="3776400"/>
          </a:xfrm>
          <a:prstGeom prst="straightConnector1">
            <a:avLst/>
          </a:prstGeom>
          <a:noFill/>
          <a:ln cap="flat" cmpd="sng" w="9525">
            <a:solidFill>
              <a:srgbClr val="000000"/>
            </a:solidFill>
            <a:prstDash val="solid"/>
            <a:miter lim="800000"/>
            <a:headEnd len="sm" w="sm" type="none"/>
            <a:tailEnd len="sm" w="sm" type="none"/>
          </a:ln>
        </p:spPr>
      </p:cxnSp>
      <p:sp>
        <p:nvSpPr>
          <p:cNvPr id="496" name="Google Shape;496;p72"/>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fld id="{00000000-1234-1234-1234-123412341234}" type="slidenum">
              <a:rPr lang="en"/>
              <a:t>‹#›</a:t>
            </a:fld>
            <a:endParaRPr/>
          </a:p>
        </p:txBody>
      </p:sp>
      <p:sp>
        <p:nvSpPr>
          <p:cNvPr id="497" name="Google Shape;497;p72"/>
          <p:cNvSpPr/>
          <p:nvPr/>
        </p:nvSpPr>
        <p:spPr>
          <a:xfrm rot="-5400000">
            <a:off x="716856" y="2364036"/>
            <a:ext cx="2622300" cy="41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2700">
                <a:latin typeface="Trebuchet MS"/>
                <a:ea typeface="Trebuchet MS"/>
                <a:cs typeface="Trebuchet MS"/>
                <a:sym typeface="Trebuchet MS"/>
              </a:rPr>
              <a:t>AGENDA</a:t>
            </a:r>
            <a:r>
              <a:rPr lang="en" sz="2700">
                <a:latin typeface="Trebuchet MS"/>
                <a:ea typeface="Trebuchet MS"/>
                <a:cs typeface="Trebuchet MS"/>
                <a:sym typeface="Trebuchet MS"/>
              </a:rPr>
              <a:t> </a:t>
            </a:r>
            <a:endParaRPr sz="1100">
              <a:latin typeface="Trebuchet MS"/>
              <a:ea typeface="Trebuchet MS"/>
              <a:cs typeface="Trebuchet MS"/>
              <a:sym typeface="Trebuchet MS"/>
            </a:endParaRPr>
          </a:p>
        </p:txBody>
      </p:sp>
      <p:pic>
        <p:nvPicPr>
          <p:cNvPr id="498" name="Google Shape;498;p72"/>
          <p:cNvPicPr preferRelativeResize="0"/>
          <p:nvPr/>
        </p:nvPicPr>
        <p:blipFill rotWithShape="1">
          <a:blip r:embed="rId3">
            <a:alphaModFix/>
          </a:blip>
          <a:srcRect b="0" l="34609" r="33565" t="5330"/>
          <a:stretch/>
        </p:blipFill>
        <p:spPr>
          <a:xfrm>
            <a:off x="549281" y="604350"/>
            <a:ext cx="1198838" cy="3946389"/>
          </a:xfrm>
          <a:prstGeom prst="rect">
            <a:avLst/>
          </a:prstGeom>
          <a:noFill/>
          <a:ln>
            <a:noFill/>
          </a:ln>
        </p:spPr>
      </p:pic>
      <p:sp>
        <p:nvSpPr>
          <p:cNvPr id="499" name="Google Shape;499;p72"/>
          <p:cNvSpPr/>
          <p:nvPr/>
        </p:nvSpPr>
        <p:spPr>
          <a:xfrm>
            <a:off x="2737850" y="822800"/>
            <a:ext cx="5551800" cy="3727800"/>
          </a:xfrm>
          <a:prstGeom prst="rect">
            <a:avLst/>
          </a:prstGeom>
          <a:noFill/>
          <a:ln>
            <a:noFill/>
          </a:ln>
        </p:spPr>
        <p:txBody>
          <a:bodyPr anchorCtr="0" anchor="ctr" bIns="0" lIns="0" spcFirstLastPara="1" rIns="0" wrap="square" tIns="0">
            <a:noAutofit/>
          </a:bodyPr>
          <a:lstStyle/>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Classification – Logistic Regression &amp; Metrics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Tree-based Learning – Decision Trees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chemeClr val="dk1"/>
              </a:buClr>
              <a:buSzPts val="1200"/>
              <a:buFont typeface="Trebuchet MS"/>
              <a:buChar char="●"/>
            </a:pPr>
            <a:r>
              <a:rPr lang="en" sz="1200">
                <a:solidFill>
                  <a:schemeClr val="dk1"/>
                </a:solidFill>
                <a:latin typeface="Trebuchet MS"/>
                <a:ea typeface="Trebuchet MS"/>
                <a:cs typeface="Trebuchet MS"/>
                <a:sym typeface="Trebuchet MS"/>
              </a:rPr>
              <a:t> Nearest Neighbors – KNN</a:t>
            </a:r>
            <a:endParaRPr sz="1200">
              <a:solidFill>
                <a:schemeClr val="dk1"/>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Unsupervised Learning – Clustering with K-Means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Intro to Neural Networks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Case Study </a:t>
            </a:r>
            <a:endParaRPr sz="1200">
              <a:solidFill>
                <a:srgbClr val="888888"/>
              </a:solidFill>
              <a:latin typeface="Trebuchet MS"/>
              <a:ea typeface="Trebuchet MS"/>
              <a:cs typeface="Trebuchet MS"/>
              <a:sym typeface="Trebuchet MS"/>
            </a:endParaRPr>
          </a:p>
          <a:p>
            <a:pPr indent="0" lvl="0" marL="342900" rtl="0" algn="l">
              <a:lnSpc>
                <a:spcPct val="200000"/>
              </a:lnSpc>
              <a:spcBef>
                <a:spcPts val="800"/>
              </a:spcBef>
              <a:spcAft>
                <a:spcPts val="800"/>
              </a:spcAft>
              <a:buNone/>
            </a:pPr>
            <a:r>
              <a:t/>
            </a:r>
            <a:endParaRPr sz="1200">
              <a:solidFill>
                <a:srgbClr val="888888"/>
              </a:solidFill>
              <a:latin typeface="Trebuchet MS"/>
              <a:ea typeface="Trebuchet MS"/>
              <a:cs typeface="Trebuchet MS"/>
              <a:sym typeface="Trebuchet MS"/>
            </a:endParaRPr>
          </a:p>
        </p:txBody>
      </p:sp>
      <p:pic>
        <p:nvPicPr>
          <p:cNvPr id="500" name="Google Shape;500;p72"/>
          <p:cNvPicPr preferRelativeResize="0"/>
          <p:nvPr/>
        </p:nvPicPr>
        <p:blipFill>
          <a:blip r:embed="rId4">
            <a:alphaModFix/>
          </a:blip>
          <a:stretch>
            <a:fillRect/>
          </a:stretch>
        </p:blipFill>
        <p:spPr>
          <a:xfrm>
            <a:off x="2565731" y="2037181"/>
            <a:ext cx="172125" cy="172125"/>
          </a:xfrm>
          <a:prstGeom prst="rect">
            <a:avLst/>
          </a:prstGeom>
          <a:noFill/>
          <a:ln>
            <a:noFill/>
          </a:ln>
        </p:spPr>
      </p:pic>
      <p:pic>
        <p:nvPicPr>
          <p:cNvPr id="501" name="Google Shape;501;p72"/>
          <p:cNvPicPr preferRelativeResize="0"/>
          <p:nvPr/>
        </p:nvPicPr>
        <p:blipFill rotWithShape="1">
          <a:blip r:embed="rId5">
            <a:alphaModFix amt="10000"/>
          </a:blip>
          <a:srcRect b="0" l="0" r="48909" t="0"/>
          <a:stretch/>
        </p:blipFill>
        <p:spPr>
          <a:xfrm>
            <a:off x="7159192" y="771525"/>
            <a:ext cx="1795377" cy="351410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505" name="Shape 505"/>
        <p:cNvGrpSpPr/>
        <p:nvPr/>
      </p:nvGrpSpPr>
      <p:grpSpPr>
        <a:xfrm>
          <a:off x="0" y="0"/>
          <a:ext cx="0" cy="0"/>
          <a:chOff x="0" y="0"/>
          <a:chExt cx="0" cy="0"/>
        </a:xfrm>
      </p:grpSpPr>
      <p:sp>
        <p:nvSpPr>
          <p:cNvPr id="506" name="Google Shape;506;p73"/>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lnSpc>
                <a:spcPct val="90000"/>
              </a:lnSpc>
              <a:spcBef>
                <a:spcPts val="0"/>
              </a:spcBef>
              <a:spcAft>
                <a:spcPts val="0"/>
              </a:spcAft>
              <a:buSzPts val="2000"/>
              <a:buNone/>
            </a:pPr>
            <a:r>
              <a:rPr lang="en">
                <a:solidFill>
                  <a:schemeClr val="dk1"/>
                </a:solidFill>
              </a:rPr>
              <a:t>Instance-based Algorithms</a:t>
            </a:r>
            <a:endParaRPr>
              <a:solidFill>
                <a:schemeClr val="dk1"/>
              </a:solidFill>
            </a:endParaRPr>
          </a:p>
        </p:txBody>
      </p:sp>
      <p:sp>
        <p:nvSpPr>
          <p:cNvPr id="507" name="Google Shape;507;p73"/>
          <p:cNvSpPr txBox="1"/>
          <p:nvPr/>
        </p:nvSpPr>
        <p:spPr>
          <a:xfrm>
            <a:off x="613700" y="1140450"/>
            <a:ext cx="8327700" cy="3324600"/>
          </a:xfrm>
          <a:prstGeom prst="rect">
            <a:avLst/>
          </a:prstGeom>
          <a:noFill/>
          <a:ln>
            <a:noFill/>
          </a:ln>
        </p:spPr>
        <p:txBody>
          <a:bodyPr anchorCtr="0" anchor="t" bIns="91425" lIns="91425" spcFirstLastPara="1" rIns="91425" wrap="square" tIns="91425">
            <a:spAutoFit/>
          </a:bodyPr>
          <a:lstStyle/>
          <a:p>
            <a:pPr indent="-304800" lvl="0" marL="457200" rtl="0" algn="l">
              <a:lnSpc>
                <a:spcPct val="200000"/>
              </a:lnSpc>
              <a:spcBef>
                <a:spcPts val="0"/>
              </a:spcBef>
              <a:spcAft>
                <a:spcPts val="0"/>
              </a:spcAft>
              <a:buSzPts val="1200"/>
              <a:buFont typeface="Century Gothic"/>
              <a:buChar char="●"/>
            </a:pPr>
            <a:r>
              <a:rPr lang="en" sz="1200">
                <a:latin typeface="Century Gothic"/>
                <a:ea typeface="Century Gothic"/>
                <a:cs typeface="Century Gothic"/>
                <a:sym typeface="Century Gothic"/>
              </a:rPr>
              <a:t>Instance-based learning is a family of learning algorithms that compares new issue instances with cases seen during training that have been retained in memory, as opposed to conducting explicit generalization</a:t>
            </a:r>
            <a:endParaRPr sz="1200">
              <a:latin typeface="Century Gothic"/>
              <a:ea typeface="Century Gothic"/>
              <a:cs typeface="Century Gothic"/>
              <a:sym typeface="Century Gothic"/>
            </a:endParaRPr>
          </a:p>
          <a:p>
            <a:pPr indent="-304800" lvl="0" marL="457200" rtl="0" algn="l">
              <a:lnSpc>
                <a:spcPct val="200000"/>
              </a:lnSpc>
              <a:spcBef>
                <a:spcPts val="0"/>
              </a:spcBef>
              <a:spcAft>
                <a:spcPts val="0"/>
              </a:spcAft>
              <a:buSzPts val="1200"/>
              <a:buFont typeface="Century Gothic"/>
              <a:buChar char="●"/>
            </a:pPr>
            <a:r>
              <a:rPr lang="en" sz="1200">
                <a:latin typeface="Century Gothic"/>
                <a:ea typeface="Century Gothic"/>
                <a:cs typeface="Century Gothic"/>
                <a:sym typeface="Century Gothic"/>
              </a:rPr>
              <a:t>These algorithms are commonly referred to as "lazy" since computation is delayed until a new instance is observed</a:t>
            </a:r>
            <a:endParaRPr sz="1200">
              <a:latin typeface="Century Gothic"/>
              <a:ea typeface="Century Gothic"/>
              <a:cs typeface="Century Gothic"/>
              <a:sym typeface="Century Gothic"/>
            </a:endParaRPr>
          </a:p>
          <a:p>
            <a:pPr indent="-304800" lvl="0" marL="457200" rtl="0" algn="l">
              <a:lnSpc>
                <a:spcPct val="200000"/>
              </a:lnSpc>
              <a:spcBef>
                <a:spcPts val="0"/>
              </a:spcBef>
              <a:spcAft>
                <a:spcPts val="0"/>
              </a:spcAft>
              <a:buSzPts val="1200"/>
              <a:buFont typeface="Century Gothic"/>
              <a:buChar char="●"/>
            </a:pPr>
            <a:r>
              <a:rPr lang="en" sz="1200">
                <a:latin typeface="Century Gothic"/>
                <a:ea typeface="Century Gothic"/>
                <a:cs typeface="Century Gothic"/>
                <a:sym typeface="Century Gothic"/>
              </a:rPr>
              <a:t>It is called instance-based because it constructs hypotheses directly from the training instances themselve</a:t>
            </a:r>
            <a:endParaRPr sz="1200">
              <a:latin typeface="Century Gothic"/>
              <a:ea typeface="Century Gothic"/>
              <a:cs typeface="Century Gothic"/>
              <a:sym typeface="Century Gothic"/>
            </a:endParaRPr>
          </a:p>
          <a:p>
            <a:pPr indent="-304800" lvl="0" marL="457200" rtl="0" algn="l">
              <a:lnSpc>
                <a:spcPct val="200000"/>
              </a:lnSpc>
              <a:spcBef>
                <a:spcPts val="0"/>
              </a:spcBef>
              <a:spcAft>
                <a:spcPts val="0"/>
              </a:spcAft>
              <a:buClr>
                <a:srgbClr val="202122"/>
              </a:buClr>
              <a:buSzPts val="1200"/>
              <a:buFont typeface="Century Gothic"/>
              <a:buChar char="●"/>
            </a:pPr>
            <a:r>
              <a:rPr lang="en" sz="1200">
                <a:latin typeface="Century Gothic"/>
                <a:ea typeface="Century Gothic"/>
                <a:cs typeface="Century Gothic"/>
                <a:sym typeface="Century Gothic"/>
              </a:rPr>
              <a:t>Examples of instance-based learning algorithms are the K-nearest neighbors (KNN) algorithm, Kernel Machines and RBF networks</a:t>
            </a:r>
            <a:endParaRPr sz="1200">
              <a:latin typeface="Century Gothic"/>
              <a:ea typeface="Century Gothic"/>
              <a:cs typeface="Century Gothic"/>
              <a:sym typeface="Century Gothic"/>
            </a:endParaRPr>
          </a:p>
        </p:txBody>
      </p:sp>
      <p:sp>
        <p:nvSpPr>
          <p:cNvPr id="508" name="Google Shape;508;p73"/>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512" name="Shape 512"/>
        <p:cNvGrpSpPr/>
        <p:nvPr/>
      </p:nvGrpSpPr>
      <p:grpSpPr>
        <a:xfrm>
          <a:off x="0" y="0"/>
          <a:ext cx="0" cy="0"/>
          <a:chOff x="0" y="0"/>
          <a:chExt cx="0" cy="0"/>
        </a:xfrm>
      </p:grpSpPr>
      <p:sp>
        <p:nvSpPr>
          <p:cNvPr id="513" name="Google Shape;513;p74"/>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lnSpc>
                <a:spcPct val="90000"/>
              </a:lnSpc>
              <a:spcBef>
                <a:spcPts val="0"/>
              </a:spcBef>
              <a:spcAft>
                <a:spcPts val="0"/>
              </a:spcAft>
              <a:buSzPts val="2000"/>
              <a:buNone/>
            </a:pPr>
            <a:r>
              <a:rPr lang="en">
                <a:solidFill>
                  <a:schemeClr val="dk1"/>
                </a:solidFill>
              </a:rPr>
              <a:t>Instance based Algorithm - Types</a:t>
            </a:r>
            <a:endParaRPr>
              <a:solidFill>
                <a:schemeClr val="dk1"/>
              </a:solidFill>
            </a:endParaRPr>
          </a:p>
        </p:txBody>
      </p:sp>
      <p:sp>
        <p:nvSpPr>
          <p:cNvPr id="514" name="Google Shape;514;p74"/>
          <p:cNvSpPr/>
          <p:nvPr/>
        </p:nvSpPr>
        <p:spPr>
          <a:xfrm>
            <a:off x="3045912" y="1294975"/>
            <a:ext cx="2811300" cy="614700"/>
          </a:xfrm>
          <a:prstGeom prst="rect">
            <a:avLst/>
          </a:prstGeom>
          <a:solidFill>
            <a:srgbClr val="980000"/>
          </a:solidFill>
          <a:ln cap="flat" cmpd="sng" w="9775">
            <a:solidFill>
              <a:schemeClr val="dk1"/>
            </a:solidFill>
            <a:prstDash val="solid"/>
            <a:round/>
            <a:headEnd len="sm" w="sm" type="none"/>
            <a:tailEnd len="sm" w="sm" type="none"/>
          </a:ln>
        </p:spPr>
        <p:txBody>
          <a:bodyPr anchorCtr="0" anchor="ctr" bIns="93875" lIns="93875" spcFirstLastPara="1" rIns="93875" wrap="square" tIns="93875">
            <a:noAutofit/>
          </a:bodyPr>
          <a:lstStyle/>
          <a:p>
            <a:pPr indent="0" lvl="0" marL="0" rtl="0" algn="ctr">
              <a:spcBef>
                <a:spcPts val="0"/>
              </a:spcBef>
              <a:spcAft>
                <a:spcPts val="0"/>
              </a:spcAft>
              <a:buNone/>
            </a:pPr>
            <a:r>
              <a:rPr b="1" lang="en" sz="1437">
                <a:solidFill>
                  <a:srgbClr val="FFFFFF"/>
                </a:solidFill>
              </a:rPr>
              <a:t>Types of Instance based Algorithms</a:t>
            </a:r>
            <a:endParaRPr b="1" sz="1437">
              <a:solidFill>
                <a:srgbClr val="FFFFFF"/>
              </a:solidFill>
            </a:endParaRPr>
          </a:p>
        </p:txBody>
      </p:sp>
      <p:sp>
        <p:nvSpPr>
          <p:cNvPr id="515" name="Google Shape;515;p74"/>
          <p:cNvSpPr/>
          <p:nvPr/>
        </p:nvSpPr>
        <p:spPr>
          <a:xfrm>
            <a:off x="647175" y="2524238"/>
            <a:ext cx="1920000" cy="614700"/>
          </a:xfrm>
          <a:prstGeom prst="rect">
            <a:avLst/>
          </a:prstGeom>
          <a:solidFill>
            <a:srgbClr val="666666"/>
          </a:solidFill>
          <a:ln cap="flat" cmpd="sng" w="9775">
            <a:solidFill>
              <a:srgbClr val="666666"/>
            </a:solidFill>
            <a:prstDash val="solid"/>
            <a:round/>
            <a:headEnd len="sm" w="sm" type="none"/>
            <a:tailEnd len="sm" w="sm" type="none"/>
          </a:ln>
        </p:spPr>
        <p:txBody>
          <a:bodyPr anchorCtr="0" anchor="ctr" bIns="93875" lIns="93875" spcFirstLastPara="1" rIns="93875" wrap="square" tIns="93875">
            <a:noAutofit/>
          </a:bodyPr>
          <a:lstStyle/>
          <a:p>
            <a:pPr indent="0" lvl="0" marL="0" rtl="0" algn="ctr">
              <a:lnSpc>
                <a:spcPct val="100000"/>
              </a:lnSpc>
              <a:spcBef>
                <a:spcPts val="0"/>
              </a:spcBef>
              <a:spcAft>
                <a:spcPts val="0"/>
              </a:spcAft>
              <a:buNone/>
            </a:pPr>
            <a:r>
              <a:rPr b="1" lang="en" sz="1232">
                <a:solidFill>
                  <a:srgbClr val="FFFFFF"/>
                </a:solidFill>
              </a:rPr>
              <a:t>K Nearest Neighbour</a:t>
            </a:r>
            <a:endParaRPr b="1" sz="1232">
              <a:solidFill>
                <a:srgbClr val="FFFFFF"/>
              </a:solidFill>
            </a:endParaRPr>
          </a:p>
        </p:txBody>
      </p:sp>
      <p:sp>
        <p:nvSpPr>
          <p:cNvPr id="516" name="Google Shape;516;p74"/>
          <p:cNvSpPr/>
          <p:nvPr/>
        </p:nvSpPr>
        <p:spPr>
          <a:xfrm>
            <a:off x="2708473" y="2524238"/>
            <a:ext cx="1920000" cy="614700"/>
          </a:xfrm>
          <a:prstGeom prst="rect">
            <a:avLst/>
          </a:prstGeom>
          <a:solidFill>
            <a:srgbClr val="666666"/>
          </a:solidFill>
          <a:ln cap="flat" cmpd="sng" w="9775">
            <a:solidFill>
              <a:srgbClr val="666666"/>
            </a:solidFill>
            <a:prstDash val="solid"/>
            <a:round/>
            <a:headEnd len="sm" w="sm" type="none"/>
            <a:tailEnd len="sm" w="sm" type="none"/>
          </a:ln>
        </p:spPr>
        <p:txBody>
          <a:bodyPr anchorCtr="0" anchor="ctr" bIns="93875" lIns="93875" spcFirstLastPara="1" rIns="93875" wrap="square" tIns="93875">
            <a:noAutofit/>
          </a:bodyPr>
          <a:lstStyle/>
          <a:p>
            <a:pPr indent="0" lvl="0" marL="0" rtl="0" algn="ctr">
              <a:lnSpc>
                <a:spcPct val="100000"/>
              </a:lnSpc>
              <a:spcBef>
                <a:spcPts val="0"/>
              </a:spcBef>
              <a:spcAft>
                <a:spcPts val="0"/>
              </a:spcAft>
              <a:buNone/>
            </a:pPr>
            <a:r>
              <a:rPr b="1" lang="en" sz="1232">
                <a:solidFill>
                  <a:srgbClr val="FFFFFF"/>
                </a:solidFill>
              </a:rPr>
              <a:t>Self Organizing Map</a:t>
            </a:r>
            <a:endParaRPr b="1" sz="1232">
              <a:solidFill>
                <a:srgbClr val="FFFFFF"/>
              </a:solidFill>
            </a:endParaRPr>
          </a:p>
        </p:txBody>
      </p:sp>
      <p:sp>
        <p:nvSpPr>
          <p:cNvPr id="517" name="Google Shape;517;p74"/>
          <p:cNvSpPr/>
          <p:nvPr/>
        </p:nvSpPr>
        <p:spPr>
          <a:xfrm>
            <a:off x="4760527" y="2524238"/>
            <a:ext cx="1920000" cy="614700"/>
          </a:xfrm>
          <a:prstGeom prst="rect">
            <a:avLst/>
          </a:prstGeom>
          <a:solidFill>
            <a:srgbClr val="666666"/>
          </a:solidFill>
          <a:ln cap="flat" cmpd="sng" w="9775">
            <a:solidFill>
              <a:srgbClr val="666666"/>
            </a:solidFill>
            <a:prstDash val="solid"/>
            <a:round/>
            <a:headEnd len="sm" w="sm" type="none"/>
            <a:tailEnd len="sm" w="sm" type="none"/>
          </a:ln>
        </p:spPr>
        <p:txBody>
          <a:bodyPr anchorCtr="0" anchor="ctr" bIns="93875" lIns="93875" spcFirstLastPara="1" rIns="93875" wrap="square" tIns="93875">
            <a:noAutofit/>
          </a:bodyPr>
          <a:lstStyle/>
          <a:p>
            <a:pPr indent="0" lvl="0" marL="0" rtl="0" algn="ctr">
              <a:lnSpc>
                <a:spcPct val="100000"/>
              </a:lnSpc>
              <a:spcBef>
                <a:spcPts val="0"/>
              </a:spcBef>
              <a:spcAft>
                <a:spcPts val="0"/>
              </a:spcAft>
              <a:buNone/>
            </a:pPr>
            <a:r>
              <a:rPr b="1" lang="en" sz="1232">
                <a:solidFill>
                  <a:srgbClr val="FFFFFF"/>
                </a:solidFill>
              </a:rPr>
              <a:t>Learning Vector Quantization</a:t>
            </a:r>
            <a:endParaRPr b="1" sz="1232">
              <a:solidFill>
                <a:srgbClr val="FFFFFF"/>
              </a:solidFill>
            </a:endParaRPr>
          </a:p>
        </p:txBody>
      </p:sp>
      <p:sp>
        <p:nvSpPr>
          <p:cNvPr id="518" name="Google Shape;518;p74"/>
          <p:cNvSpPr/>
          <p:nvPr/>
        </p:nvSpPr>
        <p:spPr>
          <a:xfrm>
            <a:off x="6788551" y="2524238"/>
            <a:ext cx="1920000" cy="614700"/>
          </a:xfrm>
          <a:prstGeom prst="rect">
            <a:avLst/>
          </a:prstGeom>
          <a:solidFill>
            <a:srgbClr val="666666"/>
          </a:solidFill>
          <a:ln cap="flat" cmpd="sng" w="9775">
            <a:solidFill>
              <a:srgbClr val="666666"/>
            </a:solidFill>
            <a:prstDash val="solid"/>
            <a:round/>
            <a:headEnd len="sm" w="sm" type="none"/>
            <a:tailEnd len="sm" w="sm" type="none"/>
          </a:ln>
        </p:spPr>
        <p:txBody>
          <a:bodyPr anchorCtr="0" anchor="ctr" bIns="93875" lIns="93875" spcFirstLastPara="1" rIns="93875" wrap="square" tIns="93875">
            <a:noAutofit/>
          </a:bodyPr>
          <a:lstStyle/>
          <a:p>
            <a:pPr indent="0" lvl="0" marL="0" rtl="0" algn="ctr">
              <a:lnSpc>
                <a:spcPct val="100000"/>
              </a:lnSpc>
              <a:spcBef>
                <a:spcPts val="0"/>
              </a:spcBef>
              <a:spcAft>
                <a:spcPts val="0"/>
              </a:spcAft>
              <a:buNone/>
            </a:pPr>
            <a:r>
              <a:rPr b="1" lang="en" sz="1232">
                <a:solidFill>
                  <a:srgbClr val="FFFFFF"/>
                </a:solidFill>
              </a:rPr>
              <a:t>Locally Weighted Learning</a:t>
            </a:r>
            <a:endParaRPr b="1" sz="1232">
              <a:solidFill>
                <a:srgbClr val="FFFFFF"/>
              </a:solidFill>
            </a:endParaRPr>
          </a:p>
        </p:txBody>
      </p:sp>
      <p:cxnSp>
        <p:nvCxnSpPr>
          <p:cNvPr id="519" name="Google Shape;519;p74"/>
          <p:cNvCxnSpPr>
            <a:stCxn id="514" idx="2"/>
            <a:endCxn id="515" idx="0"/>
          </p:cNvCxnSpPr>
          <p:nvPr/>
        </p:nvCxnSpPr>
        <p:spPr>
          <a:xfrm rot="5400000">
            <a:off x="2722062" y="794875"/>
            <a:ext cx="614700" cy="2844300"/>
          </a:xfrm>
          <a:prstGeom prst="bentConnector3">
            <a:avLst>
              <a:gd fmla="val 49998" name="adj1"/>
            </a:avLst>
          </a:prstGeom>
          <a:noFill/>
          <a:ln cap="flat" cmpd="sng" w="19575">
            <a:solidFill>
              <a:srgbClr val="434343"/>
            </a:solidFill>
            <a:prstDash val="solid"/>
            <a:round/>
            <a:headEnd len="med" w="med" type="none"/>
            <a:tailEnd len="med" w="med" type="triangle"/>
          </a:ln>
        </p:spPr>
      </p:cxnSp>
      <p:cxnSp>
        <p:nvCxnSpPr>
          <p:cNvPr id="520" name="Google Shape;520;p74"/>
          <p:cNvCxnSpPr>
            <a:stCxn id="514" idx="2"/>
            <a:endCxn id="518" idx="0"/>
          </p:cNvCxnSpPr>
          <p:nvPr/>
        </p:nvCxnSpPr>
        <p:spPr>
          <a:xfrm flipH="1" rot="-5400000">
            <a:off x="5792712" y="568525"/>
            <a:ext cx="614700" cy="3297000"/>
          </a:xfrm>
          <a:prstGeom prst="bentConnector3">
            <a:avLst>
              <a:gd fmla="val 49998" name="adj1"/>
            </a:avLst>
          </a:prstGeom>
          <a:noFill/>
          <a:ln cap="flat" cmpd="sng" w="19575">
            <a:solidFill>
              <a:srgbClr val="434343"/>
            </a:solidFill>
            <a:prstDash val="solid"/>
            <a:round/>
            <a:headEnd len="med" w="med" type="none"/>
            <a:tailEnd len="med" w="med" type="triangle"/>
          </a:ln>
        </p:spPr>
      </p:cxnSp>
      <p:cxnSp>
        <p:nvCxnSpPr>
          <p:cNvPr id="521" name="Google Shape;521;p74"/>
          <p:cNvCxnSpPr>
            <a:stCxn id="514" idx="2"/>
            <a:endCxn id="516" idx="0"/>
          </p:cNvCxnSpPr>
          <p:nvPr/>
        </p:nvCxnSpPr>
        <p:spPr>
          <a:xfrm rot="5400000">
            <a:off x="3752712" y="1825525"/>
            <a:ext cx="614700" cy="783000"/>
          </a:xfrm>
          <a:prstGeom prst="bentConnector3">
            <a:avLst>
              <a:gd fmla="val 49998" name="adj1"/>
            </a:avLst>
          </a:prstGeom>
          <a:noFill/>
          <a:ln cap="flat" cmpd="sng" w="19575">
            <a:solidFill>
              <a:srgbClr val="434343"/>
            </a:solidFill>
            <a:prstDash val="solid"/>
            <a:round/>
            <a:headEnd len="med" w="med" type="none"/>
            <a:tailEnd len="med" w="med" type="triangle"/>
          </a:ln>
        </p:spPr>
      </p:cxnSp>
      <p:cxnSp>
        <p:nvCxnSpPr>
          <p:cNvPr id="522" name="Google Shape;522;p74"/>
          <p:cNvCxnSpPr>
            <a:stCxn id="514" idx="2"/>
            <a:endCxn id="517" idx="0"/>
          </p:cNvCxnSpPr>
          <p:nvPr/>
        </p:nvCxnSpPr>
        <p:spPr>
          <a:xfrm flipH="1" rot="-5400000">
            <a:off x="4778712" y="1582525"/>
            <a:ext cx="614700" cy="1269000"/>
          </a:xfrm>
          <a:prstGeom prst="bentConnector3">
            <a:avLst>
              <a:gd fmla="val 49998" name="adj1"/>
            </a:avLst>
          </a:prstGeom>
          <a:noFill/>
          <a:ln cap="flat" cmpd="sng" w="19575">
            <a:solidFill>
              <a:srgbClr val="434343"/>
            </a:solidFill>
            <a:prstDash val="solid"/>
            <a:round/>
            <a:headEnd len="med" w="med" type="none"/>
            <a:tailEnd len="med" w="med" type="triangle"/>
          </a:ln>
        </p:spPr>
      </p:cxnSp>
      <p:sp>
        <p:nvSpPr>
          <p:cNvPr id="523" name="Google Shape;523;p74"/>
          <p:cNvSpPr txBox="1"/>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sz="900">
                <a:solidFill>
                  <a:srgbClr val="FFFFFF"/>
                </a:solidFill>
                <a:latin typeface="Calibri"/>
                <a:ea typeface="Calibri"/>
                <a:cs typeface="Calibri"/>
                <a:sym typeface="Calibri"/>
              </a:rPr>
              <a:t>‹#›</a:t>
            </a:fld>
            <a:endParaRPr sz="900">
              <a:solidFill>
                <a:srgbClr val="FFFFFF"/>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7" name="Shape 527"/>
        <p:cNvGrpSpPr/>
        <p:nvPr/>
      </p:nvGrpSpPr>
      <p:grpSpPr>
        <a:xfrm>
          <a:off x="0" y="0"/>
          <a:ext cx="0" cy="0"/>
          <a:chOff x="0" y="0"/>
          <a:chExt cx="0" cy="0"/>
        </a:xfrm>
      </p:grpSpPr>
      <p:sp>
        <p:nvSpPr>
          <p:cNvPr id="528" name="Google Shape;528;p75"/>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Next algorithm: k-Nearest Neighbors (kNN)</a:t>
            </a:r>
            <a:endParaRPr sz="2000">
              <a:solidFill>
                <a:schemeClr val="dk1"/>
              </a:solidFill>
              <a:latin typeface="Century Gothic"/>
              <a:ea typeface="Century Gothic"/>
              <a:cs typeface="Century Gothic"/>
              <a:sym typeface="Century Gothic"/>
            </a:endParaRPr>
          </a:p>
        </p:txBody>
      </p:sp>
      <p:sp>
        <p:nvSpPr>
          <p:cNvPr id="529" name="Google Shape;529;p75"/>
          <p:cNvSpPr txBox="1"/>
          <p:nvPr/>
        </p:nvSpPr>
        <p:spPr>
          <a:xfrm>
            <a:off x="705150" y="976950"/>
            <a:ext cx="8106000" cy="28629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Century Gothic"/>
              <a:buChar char="●"/>
            </a:pPr>
            <a:r>
              <a:rPr b="1" lang="en" sz="1200">
                <a:solidFill>
                  <a:schemeClr val="dk1"/>
                </a:solidFill>
                <a:latin typeface="Century Gothic"/>
                <a:ea typeface="Century Gothic"/>
                <a:cs typeface="Century Gothic"/>
                <a:sym typeface="Century Gothic"/>
              </a:rPr>
              <a:t>k-NN </a:t>
            </a:r>
            <a:r>
              <a:rPr b="1" i="1" lang="en" sz="1200">
                <a:solidFill>
                  <a:schemeClr val="dk1"/>
                </a:solidFill>
                <a:latin typeface="Century Gothic"/>
                <a:ea typeface="Century Gothic"/>
                <a:cs typeface="Century Gothic"/>
                <a:sym typeface="Century Gothic"/>
              </a:rPr>
              <a:t>Classification</a:t>
            </a:r>
            <a:endParaRPr b="1" i="1" sz="1200">
              <a:solidFill>
                <a:schemeClr val="dk1"/>
              </a:solidFill>
              <a:latin typeface="Century Gothic"/>
              <a:ea typeface="Century Gothic"/>
              <a:cs typeface="Century Gothic"/>
              <a:sym typeface="Century Gothic"/>
            </a:endParaRPr>
          </a:p>
          <a:p>
            <a:pPr indent="-304800" lvl="1" marL="9144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output is class membership</a:t>
            </a:r>
            <a:endParaRPr sz="1200">
              <a:solidFill>
                <a:schemeClr val="dk1"/>
              </a:solidFill>
              <a:latin typeface="Century Gothic"/>
              <a:ea typeface="Century Gothic"/>
              <a:cs typeface="Century Gothic"/>
              <a:sym typeface="Century Gothic"/>
            </a:endParaRPr>
          </a:p>
          <a:p>
            <a:pPr indent="-304800" lvl="1" marL="9144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object is classified by a majority vote of its neighbors</a:t>
            </a:r>
            <a:endParaRPr sz="1200">
              <a:solidFill>
                <a:schemeClr val="dk1"/>
              </a:solidFill>
              <a:latin typeface="Century Gothic"/>
              <a:ea typeface="Century Gothic"/>
              <a:cs typeface="Century Gothic"/>
              <a:sym typeface="Century Gothic"/>
            </a:endParaRPr>
          </a:p>
          <a:p>
            <a:pPr indent="-304800" lvl="1" marL="9144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for k = 1, then the object is simply assigned to the</a:t>
            </a:r>
            <a:br>
              <a:rPr lang="en" sz="1200">
                <a:solidFill>
                  <a:schemeClr val="dk1"/>
                </a:solidFill>
                <a:latin typeface="Century Gothic"/>
                <a:ea typeface="Century Gothic"/>
                <a:cs typeface="Century Gothic"/>
                <a:sym typeface="Century Gothic"/>
              </a:rPr>
            </a:br>
            <a:r>
              <a:rPr lang="en" sz="1200">
                <a:solidFill>
                  <a:schemeClr val="dk1"/>
                </a:solidFill>
                <a:latin typeface="Century Gothic"/>
                <a:ea typeface="Century Gothic"/>
                <a:cs typeface="Century Gothic"/>
                <a:sym typeface="Century Gothic"/>
              </a:rPr>
              <a:t>class of that single nearest neighbor</a:t>
            </a:r>
            <a:endParaRPr sz="1200">
              <a:solidFill>
                <a:schemeClr val="dk1"/>
              </a:solidFill>
              <a:latin typeface="Century Gothic"/>
              <a:ea typeface="Century Gothic"/>
              <a:cs typeface="Century Gothic"/>
              <a:sym typeface="Century Gothic"/>
            </a:endParaRPr>
          </a:p>
          <a:p>
            <a:pPr indent="-304800" lvl="0" marL="457200" rtl="0" algn="l">
              <a:lnSpc>
                <a:spcPct val="150000"/>
              </a:lnSpc>
              <a:spcBef>
                <a:spcPts val="0"/>
              </a:spcBef>
              <a:spcAft>
                <a:spcPts val="0"/>
              </a:spcAft>
              <a:buClr>
                <a:schemeClr val="dk1"/>
              </a:buClr>
              <a:buSzPts val="1200"/>
              <a:buFont typeface="Century Gothic"/>
              <a:buChar char="●"/>
            </a:pPr>
            <a:r>
              <a:rPr b="1" lang="en" sz="1200">
                <a:solidFill>
                  <a:schemeClr val="dk1"/>
                </a:solidFill>
                <a:latin typeface="Century Gothic"/>
                <a:ea typeface="Century Gothic"/>
                <a:cs typeface="Century Gothic"/>
                <a:sym typeface="Century Gothic"/>
              </a:rPr>
              <a:t>k-NN </a:t>
            </a:r>
            <a:r>
              <a:rPr b="1" i="1" lang="en" sz="1200">
                <a:solidFill>
                  <a:schemeClr val="dk1"/>
                </a:solidFill>
                <a:latin typeface="Century Gothic"/>
                <a:ea typeface="Century Gothic"/>
                <a:cs typeface="Century Gothic"/>
                <a:sym typeface="Century Gothic"/>
              </a:rPr>
              <a:t>Regression</a:t>
            </a:r>
            <a:endParaRPr b="1" i="1" sz="1200">
              <a:solidFill>
                <a:schemeClr val="dk1"/>
              </a:solidFill>
              <a:latin typeface="Century Gothic"/>
              <a:ea typeface="Century Gothic"/>
              <a:cs typeface="Century Gothic"/>
              <a:sym typeface="Century Gothic"/>
            </a:endParaRPr>
          </a:p>
          <a:p>
            <a:pPr indent="-304800" lvl="1" marL="9144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output is the property value for the object</a:t>
            </a:r>
            <a:endParaRPr sz="1200">
              <a:solidFill>
                <a:schemeClr val="dk1"/>
              </a:solidFill>
              <a:latin typeface="Century Gothic"/>
              <a:ea typeface="Century Gothic"/>
              <a:cs typeface="Century Gothic"/>
              <a:sym typeface="Century Gothic"/>
            </a:endParaRPr>
          </a:p>
          <a:p>
            <a:pPr indent="-304800" lvl="1" marL="9144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this value is the average of the values of its k</a:t>
            </a:r>
            <a:br>
              <a:rPr lang="en" sz="1200">
                <a:solidFill>
                  <a:schemeClr val="dk1"/>
                </a:solidFill>
                <a:latin typeface="Century Gothic"/>
                <a:ea typeface="Century Gothic"/>
                <a:cs typeface="Century Gothic"/>
                <a:sym typeface="Century Gothic"/>
              </a:rPr>
            </a:br>
            <a:r>
              <a:rPr lang="en" sz="1200">
                <a:solidFill>
                  <a:schemeClr val="dk1"/>
                </a:solidFill>
                <a:latin typeface="Century Gothic"/>
                <a:ea typeface="Century Gothic"/>
                <a:cs typeface="Century Gothic"/>
                <a:sym typeface="Century Gothic"/>
              </a:rPr>
              <a:t>nearest neighbors</a:t>
            </a:r>
            <a:endParaRPr sz="1200">
              <a:solidFill>
                <a:schemeClr val="dk1"/>
              </a:solidFill>
              <a:latin typeface="Century Gothic"/>
              <a:ea typeface="Century Gothic"/>
              <a:cs typeface="Century Gothic"/>
              <a:sym typeface="Century Gothic"/>
            </a:endParaRPr>
          </a:p>
          <a:p>
            <a:pPr indent="0" lvl="0" marL="0" rtl="0" algn="l">
              <a:lnSpc>
                <a:spcPct val="150000"/>
              </a:lnSpc>
              <a:spcBef>
                <a:spcPts val="0"/>
              </a:spcBef>
              <a:spcAft>
                <a:spcPts val="0"/>
              </a:spcAft>
              <a:buNone/>
            </a:pPr>
            <a:r>
              <a:t/>
            </a:r>
            <a:endParaRPr sz="1200">
              <a:solidFill>
                <a:schemeClr val="dk1"/>
              </a:solidFill>
              <a:latin typeface="Century Gothic"/>
              <a:ea typeface="Century Gothic"/>
              <a:cs typeface="Century Gothic"/>
              <a:sym typeface="Century Gothic"/>
            </a:endParaRPr>
          </a:p>
        </p:txBody>
      </p:sp>
      <p:sp>
        <p:nvSpPr>
          <p:cNvPr id="530" name="Google Shape;530;p75"/>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4" name="Shape 534"/>
        <p:cNvGrpSpPr/>
        <p:nvPr/>
      </p:nvGrpSpPr>
      <p:grpSpPr>
        <a:xfrm>
          <a:off x="0" y="0"/>
          <a:ext cx="0" cy="0"/>
          <a:chOff x="0" y="0"/>
          <a:chExt cx="0" cy="0"/>
        </a:xfrm>
      </p:grpSpPr>
      <p:sp>
        <p:nvSpPr>
          <p:cNvPr id="535" name="Google Shape;535;p76"/>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k-Nearest Neighbors (kNN)</a:t>
            </a:r>
            <a:endParaRPr sz="2000">
              <a:solidFill>
                <a:schemeClr val="dk1"/>
              </a:solidFill>
              <a:latin typeface="Century Gothic"/>
              <a:ea typeface="Century Gothic"/>
              <a:cs typeface="Century Gothic"/>
              <a:sym typeface="Century Gothic"/>
            </a:endParaRPr>
          </a:p>
        </p:txBody>
      </p:sp>
      <p:sp>
        <p:nvSpPr>
          <p:cNvPr id="536" name="Google Shape;536;p76"/>
          <p:cNvSpPr txBox="1"/>
          <p:nvPr/>
        </p:nvSpPr>
        <p:spPr>
          <a:xfrm>
            <a:off x="5172575" y="976950"/>
            <a:ext cx="3638700" cy="2124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Green dot is unknown, i.e., is it a red triangle or a blue square?</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Pick a k, and look at that many nearest neighbors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What if k = 3?</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What if k = 5?</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76"/>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538" name="Google Shape;538;p76"/>
          <p:cNvPicPr preferRelativeResize="0"/>
          <p:nvPr/>
        </p:nvPicPr>
        <p:blipFill rotWithShape="1">
          <a:blip r:embed="rId3">
            <a:alphaModFix/>
          </a:blip>
          <a:srcRect b="0" l="0" r="0" t="0"/>
          <a:stretch/>
        </p:blipFill>
        <p:spPr>
          <a:xfrm>
            <a:off x="647102" y="976950"/>
            <a:ext cx="4525475" cy="365974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2" name="Shape 542"/>
        <p:cNvGrpSpPr/>
        <p:nvPr/>
      </p:nvGrpSpPr>
      <p:grpSpPr>
        <a:xfrm>
          <a:off x="0" y="0"/>
          <a:ext cx="0" cy="0"/>
          <a:chOff x="0" y="0"/>
          <a:chExt cx="0" cy="0"/>
        </a:xfrm>
      </p:grpSpPr>
      <p:sp>
        <p:nvSpPr>
          <p:cNvPr id="543" name="Google Shape;543;p77"/>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k-Nearest Neighbors (cont’d)</a:t>
            </a:r>
            <a:endParaRPr sz="2000">
              <a:solidFill>
                <a:schemeClr val="dk1"/>
              </a:solidFill>
              <a:latin typeface="Century Gothic"/>
              <a:ea typeface="Century Gothic"/>
              <a:cs typeface="Century Gothic"/>
              <a:sym typeface="Century Gothic"/>
            </a:endParaRPr>
          </a:p>
        </p:txBody>
      </p:sp>
      <p:sp>
        <p:nvSpPr>
          <p:cNvPr id="544" name="Google Shape;544;p77"/>
          <p:cNvSpPr txBox="1"/>
          <p:nvPr/>
        </p:nvSpPr>
        <p:spPr>
          <a:xfrm>
            <a:off x="5172575" y="976950"/>
            <a:ext cx="3638700" cy="1569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Suppose we have 3 classes of input data</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How would we classify an unknown point using kNN?</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77"/>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546" name="Google Shape;546;p77"/>
          <p:cNvPicPr preferRelativeResize="0"/>
          <p:nvPr/>
        </p:nvPicPr>
        <p:blipFill rotWithShape="1">
          <a:blip r:embed="rId3">
            <a:alphaModFix/>
          </a:blip>
          <a:srcRect b="0" l="0" r="0" t="0"/>
          <a:stretch/>
        </p:blipFill>
        <p:spPr>
          <a:xfrm>
            <a:off x="686200" y="1088284"/>
            <a:ext cx="4528125" cy="308859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0" name="Shape 550"/>
        <p:cNvGrpSpPr/>
        <p:nvPr/>
      </p:nvGrpSpPr>
      <p:grpSpPr>
        <a:xfrm>
          <a:off x="0" y="0"/>
          <a:ext cx="0" cy="0"/>
          <a:chOff x="0" y="0"/>
          <a:chExt cx="0" cy="0"/>
        </a:xfrm>
      </p:grpSpPr>
      <p:sp>
        <p:nvSpPr>
          <p:cNvPr id="551" name="Google Shape;551;p78"/>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k-Nearest Neighbors (cont’d)</a:t>
            </a:r>
            <a:endParaRPr sz="2000">
              <a:solidFill>
                <a:schemeClr val="dk1"/>
              </a:solidFill>
              <a:latin typeface="Century Gothic"/>
              <a:ea typeface="Century Gothic"/>
              <a:cs typeface="Century Gothic"/>
              <a:sym typeface="Century Gothic"/>
            </a:endParaRPr>
          </a:p>
        </p:txBody>
      </p:sp>
      <p:sp>
        <p:nvSpPr>
          <p:cNvPr id="552" name="Google Shape;552;p78"/>
          <p:cNvSpPr txBox="1"/>
          <p:nvPr/>
        </p:nvSpPr>
        <p:spPr>
          <a:xfrm>
            <a:off x="5147525" y="976950"/>
            <a:ext cx="3638700" cy="14931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k = 1</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Each unknown point is “pulled” towards its nearest neighbor</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If nearest neighbor is “weird”, points may be misclassified</a:t>
            </a:r>
            <a:endParaRPr sz="1800">
              <a:solidFill>
                <a:schemeClr val="dk1"/>
              </a:solidFill>
              <a:latin typeface="Calibri"/>
              <a:ea typeface="Calibri"/>
              <a:cs typeface="Calibri"/>
              <a:sym typeface="Calibri"/>
            </a:endParaRPr>
          </a:p>
        </p:txBody>
      </p:sp>
      <p:sp>
        <p:nvSpPr>
          <p:cNvPr id="553" name="Google Shape;553;p78"/>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554" name="Google Shape;554;p78"/>
          <p:cNvPicPr preferRelativeResize="0"/>
          <p:nvPr/>
        </p:nvPicPr>
        <p:blipFill rotWithShape="1">
          <a:blip r:embed="rId3">
            <a:alphaModFix/>
          </a:blip>
          <a:srcRect b="5368" l="3077" r="4808" t="3657"/>
          <a:stretch/>
        </p:blipFill>
        <p:spPr>
          <a:xfrm>
            <a:off x="752475" y="976950"/>
            <a:ext cx="4358624" cy="29057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8" name="Shape 558"/>
        <p:cNvGrpSpPr/>
        <p:nvPr/>
      </p:nvGrpSpPr>
      <p:grpSpPr>
        <a:xfrm>
          <a:off x="0" y="0"/>
          <a:ext cx="0" cy="0"/>
          <a:chOff x="0" y="0"/>
          <a:chExt cx="0" cy="0"/>
        </a:xfrm>
      </p:grpSpPr>
      <p:sp>
        <p:nvSpPr>
          <p:cNvPr id="559" name="Google Shape;559;p79"/>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k-Nearest Neighbors (cont’d)</a:t>
            </a:r>
            <a:endParaRPr sz="2000">
              <a:solidFill>
                <a:schemeClr val="dk1"/>
              </a:solidFill>
              <a:latin typeface="Century Gothic"/>
              <a:ea typeface="Century Gothic"/>
              <a:cs typeface="Century Gothic"/>
              <a:sym typeface="Century Gothic"/>
            </a:endParaRPr>
          </a:p>
        </p:txBody>
      </p:sp>
      <p:sp>
        <p:nvSpPr>
          <p:cNvPr id="560" name="Google Shape;560;p79"/>
          <p:cNvSpPr txBox="1"/>
          <p:nvPr/>
        </p:nvSpPr>
        <p:spPr>
          <a:xfrm>
            <a:off x="5364375" y="976950"/>
            <a:ext cx="34218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k = 5</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What happens as k increases?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What are the white areas?</a:t>
            </a:r>
            <a:endParaRPr sz="1700">
              <a:solidFill>
                <a:schemeClr val="dk1"/>
              </a:solidFill>
              <a:latin typeface="Calibri"/>
              <a:ea typeface="Calibri"/>
              <a:cs typeface="Calibri"/>
              <a:sym typeface="Calibri"/>
            </a:endParaRPr>
          </a:p>
        </p:txBody>
      </p:sp>
      <p:sp>
        <p:nvSpPr>
          <p:cNvPr id="561" name="Google Shape;561;p79"/>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562" name="Google Shape;562;p79"/>
          <p:cNvPicPr preferRelativeResize="0"/>
          <p:nvPr/>
        </p:nvPicPr>
        <p:blipFill rotWithShape="1">
          <a:blip r:embed="rId3">
            <a:alphaModFix/>
          </a:blip>
          <a:srcRect b="0" l="0" r="0" t="0"/>
          <a:stretch/>
        </p:blipFill>
        <p:spPr>
          <a:xfrm>
            <a:off x="677325" y="952625"/>
            <a:ext cx="4724450" cy="31464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6" name="Shape 566"/>
        <p:cNvGrpSpPr/>
        <p:nvPr/>
      </p:nvGrpSpPr>
      <p:grpSpPr>
        <a:xfrm>
          <a:off x="0" y="0"/>
          <a:ext cx="0" cy="0"/>
          <a:chOff x="0" y="0"/>
          <a:chExt cx="0" cy="0"/>
        </a:xfrm>
      </p:grpSpPr>
      <p:cxnSp>
        <p:nvCxnSpPr>
          <p:cNvPr id="567" name="Google Shape;567;p80"/>
          <p:cNvCxnSpPr/>
          <p:nvPr/>
        </p:nvCxnSpPr>
        <p:spPr>
          <a:xfrm>
            <a:off x="2358131" y="683550"/>
            <a:ext cx="0" cy="3776400"/>
          </a:xfrm>
          <a:prstGeom prst="straightConnector1">
            <a:avLst/>
          </a:prstGeom>
          <a:noFill/>
          <a:ln cap="flat" cmpd="sng" w="9525">
            <a:solidFill>
              <a:srgbClr val="000000"/>
            </a:solidFill>
            <a:prstDash val="solid"/>
            <a:miter lim="800000"/>
            <a:headEnd len="sm" w="sm" type="none"/>
            <a:tailEnd len="sm" w="sm" type="none"/>
          </a:ln>
        </p:spPr>
      </p:cxnSp>
      <p:sp>
        <p:nvSpPr>
          <p:cNvPr id="568" name="Google Shape;568;p80"/>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fld id="{00000000-1234-1234-1234-123412341234}" type="slidenum">
              <a:rPr lang="en"/>
              <a:t>‹#›</a:t>
            </a:fld>
            <a:endParaRPr/>
          </a:p>
        </p:txBody>
      </p:sp>
      <p:sp>
        <p:nvSpPr>
          <p:cNvPr id="569" name="Google Shape;569;p80"/>
          <p:cNvSpPr/>
          <p:nvPr/>
        </p:nvSpPr>
        <p:spPr>
          <a:xfrm rot="-5400000">
            <a:off x="716856" y="2364036"/>
            <a:ext cx="2622300" cy="41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2700">
                <a:latin typeface="Trebuchet MS"/>
                <a:ea typeface="Trebuchet MS"/>
                <a:cs typeface="Trebuchet MS"/>
                <a:sym typeface="Trebuchet MS"/>
              </a:rPr>
              <a:t>AGENDA</a:t>
            </a:r>
            <a:r>
              <a:rPr lang="en" sz="2700">
                <a:latin typeface="Trebuchet MS"/>
                <a:ea typeface="Trebuchet MS"/>
                <a:cs typeface="Trebuchet MS"/>
                <a:sym typeface="Trebuchet MS"/>
              </a:rPr>
              <a:t> </a:t>
            </a:r>
            <a:endParaRPr sz="1100">
              <a:latin typeface="Trebuchet MS"/>
              <a:ea typeface="Trebuchet MS"/>
              <a:cs typeface="Trebuchet MS"/>
              <a:sym typeface="Trebuchet MS"/>
            </a:endParaRPr>
          </a:p>
        </p:txBody>
      </p:sp>
      <p:pic>
        <p:nvPicPr>
          <p:cNvPr id="570" name="Google Shape;570;p80"/>
          <p:cNvPicPr preferRelativeResize="0"/>
          <p:nvPr/>
        </p:nvPicPr>
        <p:blipFill rotWithShape="1">
          <a:blip r:embed="rId3">
            <a:alphaModFix/>
          </a:blip>
          <a:srcRect b="0" l="34609" r="33565" t="5330"/>
          <a:stretch/>
        </p:blipFill>
        <p:spPr>
          <a:xfrm>
            <a:off x="549281" y="604350"/>
            <a:ext cx="1198838" cy="3946389"/>
          </a:xfrm>
          <a:prstGeom prst="rect">
            <a:avLst/>
          </a:prstGeom>
          <a:noFill/>
          <a:ln>
            <a:noFill/>
          </a:ln>
        </p:spPr>
      </p:pic>
      <p:sp>
        <p:nvSpPr>
          <p:cNvPr id="571" name="Google Shape;571;p80"/>
          <p:cNvSpPr/>
          <p:nvPr/>
        </p:nvSpPr>
        <p:spPr>
          <a:xfrm>
            <a:off x="2737850" y="822800"/>
            <a:ext cx="5551800" cy="3727800"/>
          </a:xfrm>
          <a:prstGeom prst="rect">
            <a:avLst/>
          </a:prstGeom>
          <a:noFill/>
          <a:ln>
            <a:noFill/>
          </a:ln>
        </p:spPr>
        <p:txBody>
          <a:bodyPr anchorCtr="0" anchor="ctr" bIns="0" lIns="0" spcFirstLastPara="1" rIns="0" wrap="square" tIns="0">
            <a:noAutofit/>
          </a:bodyPr>
          <a:lstStyle/>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Classification – Logistic Regression &amp; Metrics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Tree-based Learning – Decision Trees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 Nearest Neighbors – KNN</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chemeClr val="dk1"/>
              </a:buClr>
              <a:buSzPts val="1200"/>
              <a:buFont typeface="Trebuchet MS"/>
              <a:buChar char="●"/>
            </a:pPr>
            <a:r>
              <a:rPr lang="en" sz="1200">
                <a:solidFill>
                  <a:schemeClr val="dk1"/>
                </a:solidFill>
                <a:latin typeface="Trebuchet MS"/>
                <a:ea typeface="Trebuchet MS"/>
                <a:cs typeface="Trebuchet MS"/>
                <a:sym typeface="Trebuchet MS"/>
              </a:rPr>
              <a:t>Unsupervised Learning – Clustering with K-Means</a:t>
            </a:r>
            <a:endParaRPr sz="1200">
              <a:solidFill>
                <a:schemeClr val="dk1"/>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Intro to Neural Networks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Case Study </a:t>
            </a:r>
            <a:endParaRPr sz="1200">
              <a:solidFill>
                <a:srgbClr val="888888"/>
              </a:solidFill>
              <a:latin typeface="Trebuchet MS"/>
              <a:ea typeface="Trebuchet MS"/>
              <a:cs typeface="Trebuchet MS"/>
              <a:sym typeface="Trebuchet MS"/>
            </a:endParaRPr>
          </a:p>
          <a:p>
            <a:pPr indent="0" lvl="0" marL="342900" rtl="0" algn="l">
              <a:lnSpc>
                <a:spcPct val="200000"/>
              </a:lnSpc>
              <a:spcBef>
                <a:spcPts val="800"/>
              </a:spcBef>
              <a:spcAft>
                <a:spcPts val="800"/>
              </a:spcAft>
              <a:buNone/>
            </a:pPr>
            <a:r>
              <a:t/>
            </a:r>
            <a:endParaRPr sz="1200">
              <a:solidFill>
                <a:srgbClr val="888888"/>
              </a:solidFill>
              <a:latin typeface="Trebuchet MS"/>
              <a:ea typeface="Trebuchet MS"/>
              <a:cs typeface="Trebuchet MS"/>
              <a:sym typeface="Trebuchet MS"/>
            </a:endParaRPr>
          </a:p>
        </p:txBody>
      </p:sp>
      <p:pic>
        <p:nvPicPr>
          <p:cNvPr id="572" name="Google Shape;572;p80"/>
          <p:cNvPicPr preferRelativeResize="0"/>
          <p:nvPr/>
        </p:nvPicPr>
        <p:blipFill>
          <a:blip r:embed="rId4">
            <a:alphaModFix/>
          </a:blip>
          <a:stretch>
            <a:fillRect/>
          </a:stretch>
        </p:blipFill>
        <p:spPr>
          <a:xfrm>
            <a:off x="2565731" y="2524893"/>
            <a:ext cx="172125" cy="172125"/>
          </a:xfrm>
          <a:prstGeom prst="rect">
            <a:avLst/>
          </a:prstGeom>
          <a:noFill/>
          <a:ln>
            <a:noFill/>
          </a:ln>
        </p:spPr>
      </p:pic>
      <p:pic>
        <p:nvPicPr>
          <p:cNvPr id="573" name="Google Shape;573;p80"/>
          <p:cNvPicPr preferRelativeResize="0"/>
          <p:nvPr/>
        </p:nvPicPr>
        <p:blipFill rotWithShape="1">
          <a:blip r:embed="rId5">
            <a:alphaModFix amt="10000"/>
          </a:blip>
          <a:srcRect b="0" l="0" r="48909" t="0"/>
          <a:stretch/>
        </p:blipFill>
        <p:spPr>
          <a:xfrm>
            <a:off x="7159192" y="771525"/>
            <a:ext cx="1795377" cy="351410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7" name="Shape 577"/>
        <p:cNvGrpSpPr/>
        <p:nvPr/>
      </p:nvGrpSpPr>
      <p:grpSpPr>
        <a:xfrm>
          <a:off x="0" y="0"/>
          <a:ext cx="0" cy="0"/>
          <a:chOff x="0" y="0"/>
          <a:chExt cx="0" cy="0"/>
        </a:xfrm>
      </p:grpSpPr>
      <p:sp>
        <p:nvSpPr>
          <p:cNvPr id="578" name="Google Shape;578;p81"/>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What is clustering?</a:t>
            </a:r>
            <a:endParaRPr sz="2000">
              <a:solidFill>
                <a:schemeClr val="dk1"/>
              </a:solidFill>
              <a:latin typeface="Century Gothic"/>
              <a:ea typeface="Century Gothic"/>
              <a:cs typeface="Century Gothic"/>
              <a:sym typeface="Century Gothic"/>
            </a:endParaRPr>
          </a:p>
        </p:txBody>
      </p:sp>
      <p:sp>
        <p:nvSpPr>
          <p:cNvPr id="579" name="Google Shape;579;p81"/>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580" name="Google Shape;580;p81"/>
          <p:cNvSpPr txBox="1"/>
          <p:nvPr/>
        </p:nvSpPr>
        <p:spPr>
          <a:xfrm>
            <a:off x="752475" y="868400"/>
            <a:ext cx="7510200" cy="1046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The organization of unlabeled data into similarity groups called clusters.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A cluster is a collection of data items which are “similar” between them, and “dissimilar” to data items in other clusters.</a:t>
            </a:r>
            <a:endParaRPr/>
          </a:p>
        </p:txBody>
      </p:sp>
      <p:pic>
        <p:nvPicPr>
          <p:cNvPr id="581" name="Google Shape;581;p81"/>
          <p:cNvPicPr preferRelativeResize="0"/>
          <p:nvPr/>
        </p:nvPicPr>
        <p:blipFill>
          <a:blip r:embed="rId3">
            <a:alphaModFix/>
          </a:blip>
          <a:stretch>
            <a:fillRect/>
          </a:stretch>
        </p:blipFill>
        <p:spPr>
          <a:xfrm>
            <a:off x="1504512" y="1995052"/>
            <a:ext cx="6134974" cy="226957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5" name="Shape 585"/>
        <p:cNvGrpSpPr/>
        <p:nvPr/>
      </p:nvGrpSpPr>
      <p:grpSpPr>
        <a:xfrm>
          <a:off x="0" y="0"/>
          <a:ext cx="0" cy="0"/>
          <a:chOff x="0" y="0"/>
          <a:chExt cx="0" cy="0"/>
        </a:xfrm>
      </p:grpSpPr>
      <p:sp>
        <p:nvSpPr>
          <p:cNvPr id="586" name="Google Shape;586;p82"/>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What do we need for clustering?</a:t>
            </a:r>
            <a:endParaRPr sz="2000">
              <a:solidFill>
                <a:schemeClr val="dk1"/>
              </a:solidFill>
              <a:latin typeface="Century Gothic"/>
              <a:ea typeface="Century Gothic"/>
              <a:cs typeface="Century Gothic"/>
              <a:sym typeface="Century Gothic"/>
            </a:endParaRPr>
          </a:p>
        </p:txBody>
      </p:sp>
      <p:sp>
        <p:nvSpPr>
          <p:cNvPr id="587" name="Google Shape;587;p82"/>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588" name="Google Shape;588;p82"/>
          <p:cNvPicPr preferRelativeResize="0"/>
          <p:nvPr/>
        </p:nvPicPr>
        <p:blipFill>
          <a:blip r:embed="rId3">
            <a:alphaModFix/>
          </a:blip>
          <a:stretch>
            <a:fillRect/>
          </a:stretch>
        </p:blipFill>
        <p:spPr>
          <a:xfrm>
            <a:off x="752475" y="917700"/>
            <a:ext cx="5431258" cy="392099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2" name="Shape 592"/>
        <p:cNvGrpSpPr/>
        <p:nvPr/>
      </p:nvGrpSpPr>
      <p:grpSpPr>
        <a:xfrm>
          <a:off x="0" y="0"/>
          <a:ext cx="0" cy="0"/>
          <a:chOff x="0" y="0"/>
          <a:chExt cx="0" cy="0"/>
        </a:xfrm>
      </p:grpSpPr>
      <p:sp>
        <p:nvSpPr>
          <p:cNvPr id="593" name="Google Shape;593;p83"/>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Cluster evaluation (a hard problem)</a:t>
            </a:r>
            <a:endParaRPr sz="2000">
              <a:solidFill>
                <a:schemeClr val="dk1"/>
              </a:solidFill>
              <a:latin typeface="Century Gothic"/>
              <a:ea typeface="Century Gothic"/>
              <a:cs typeface="Century Gothic"/>
              <a:sym typeface="Century Gothic"/>
            </a:endParaRPr>
          </a:p>
        </p:txBody>
      </p:sp>
      <p:sp>
        <p:nvSpPr>
          <p:cNvPr id="594" name="Google Shape;594;p83"/>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595" name="Google Shape;595;p83"/>
          <p:cNvSpPr txBox="1"/>
          <p:nvPr/>
        </p:nvSpPr>
        <p:spPr>
          <a:xfrm>
            <a:off x="596600" y="917700"/>
            <a:ext cx="7840500" cy="23397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SzPts val="1400"/>
              <a:buChar char="●"/>
            </a:pPr>
            <a:r>
              <a:rPr lang="en"/>
              <a:t>Intra-cluster cohesion (compactness): </a:t>
            </a:r>
            <a:endParaRPr/>
          </a:p>
          <a:p>
            <a:pPr indent="-317500" lvl="1" marL="914400" rtl="0" algn="l">
              <a:lnSpc>
                <a:spcPct val="150000"/>
              </a:lnSpc>
              <a:spcBef>
                <a:spcPts val="0"/>
              </a:spcBef>
              <a:spcAft>
                <a:spcPts val="0"/>
              </a:spcAft>
              <a:buSzPts val="1400"/>
              <a:buChar char="○"/>
            </a:pPr>
            <a:r>
              <a:rPr lang="en"/>
              <a:t>Cohesion measures how near the data points in a cluster are to the cluster centroid. </a:t>
            </a:r>
            <a:endParaRPr/>
          </a:p>
          <a:p>
            <a:pPr indent="-317500" lvl="1" marL="914400" rtl="0" algn="l">
              <a:lnSpc>
                <a:spcPct val="150000"/>
              </a:lnSpc>
              <a:spcBef>
                <a:spcPts val="0"/>
              </a:spcBef>
              <a:spcAft>
                <a:spcPts val="0"/>
              </a:spcAft>
              <a:buSzPts val="1400"/>
              <a:buChar char="○"/>
            </a:pPr>
            <a:r>
              <a:rPr lang="en"/>
              <a:t>Sum of squared error (SSE) is a commonly used measure. </a:t>
            </a:r>
            <a:endParaRPr/>
          </a:p>
          <a:p>
            <a:pPr indent="-317500" lvl="0" marL="457200" rtl="0" algn="l">
              <a:lnSpc>
                <a:spcPct val="150000"/>
              </a:lnSpc>
              <a:spcBef>
                <a:spcPts val="0"/>
              </a:spcBef>
              <a:spcAft>
                <a:spcPts val="0"/>
              </a:spcAft>
              <a:buSzPts val="1400"/>
              <a:buChar char="●"/>
            </a:pPr>
            <a:r>
              <a:rPr lang="en"/>
              <a:t>Inter-cluster separation (isolation): </a:t>
            </a:r>
            <a:endParaRPr/>
          </a:p>
          <a:p>
            <a:pPr indent="-317500" lvl="1" marL="914400" rtl="0" algn="l">
              <a:lnSpc>
                <a:spcPct val="150000"/>
              </a:lnSpc>
              <a:spcBef>
                <a:spcPts val="0"/>
              </a:spcBef>
              <a:spcAft>
                <a:spcPts val="0"/>
              </a:spcAft>
              <a:buSzPts val="1400"/>
              <a:buChar char="○"/>
            </a:pPr>
            <a:r>
              <a:rPr lang="en"/>
              <a:t>Separation means that different cluster centroids should be far away from one another. </a:t>
            </a:r>
            <a:endParaRPr/>
          </a:p>
          <a:p>
            <a:pPr indent="-317500" lvl="0" marL="457200" rtl="0" algn="l">
              <a:lnSpc>
                <a:spcPct val="150000"/>
              </a:lnSpc>
              <a:spcBef>
                <a:spcPts val="0"/>
              </a:spcBef>
              <a:spcAft>
                <a:spcPts val="0"/>
              </a:spcAft>
              <a:buSzPts val="1400"/>
              <a:buChar char="●"/>
            </a:pPr>
            <a:r>
              <a:rPr lang="en"/>
              <a:t>In most applications, expert judgments are still the key</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9" name="Shape 599"/>
        <p:cNvGrpSpPr/>
        <p:nvPr/>
      </p:nvGrpSpPr>
      <p:grpSpPr>
        <a:xfrm>
          <a:off x="0" y="0"/>
          <a:ext cx="0" cy="0"/>
          <a:chOff x="0" y="0"/>
          <a:chExt cx="0" cy="0"/>
        </a:xfrm>
      </p:grpSpPr>
      <p:sp>
        <p:nvSpPr>
          <p:cNvPr id="600" name="Google Shape;600;p84"/>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Clustering techniques</a:t>
            </a:r>
            <a:endParaRPr sz="2000">
              <a:solidFill>
                <a:schemeClr val="dk1"/>
              </a:solidFill>
              <a:latin typeface="Century Gothic"/>
              <a:ea typeface="Century Gothic"/>
              <a:cs typeface="Century Gothic"/>
              <a:sym typeface="Century Gothic"/>
            </a:endParaRPr>
          </a:p>
        </p:txBody>
      </p:sp>
      <p:sp>
        <p:nvSpPr>
          <p:cNvPr id="601" name="Google Shape;601;p84"/>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602" name="Google Shape;602;p84"/>
          <p:cNvPicPr preferRelativeResize="0"/>
          <p:nvPr/>
        </p:nvPicPr>
        <p:blipFill>
          <a:blip r:embed="rId3">
            <a:alphaModFix/>
          </a:blip>
          <a:stretch>
            <a:fillRect/>
          </a:stretch>
        </p:blipFill>
        <p:spPr>
          <a:xfrm>
            <a:off x="1381000" y="984550"/>
            <a:ext cx="5967775" cy="37372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6" name="Shape 606"/>
        <p:cNvGrpSpPr/>
        <p:nvPr/>
      </p:nvGrpSpPr>
      <p:grpSpPr>
        <a:xfrm>
          <a:off x="0" y="0"/>
          <a:ext cx="0" cy="0"/>
          <a:chOff x="0" y="0"/>
          <a:chExt cx="0" cy="0"/>
        </a:xfrm>
      </p:grpSpPr>
      <p:sp>
        <p:nvSpPr>
          <p:cNvPr id="607" name="Google Shape;607;p85"/>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608" name="Google Shape;608;p85"/>
          <p:cNvPicPr preferRelativeResize="0"/>
          <p:nvPr/>
        </p:nvPicPr>
        <p:blipFill>
          <a:blip r:embed="rId3">
            <a:alphaModFix/>
          </a:blip>
          <a:stretch>
            <a:fillRect/>
          </a:stretch>
        </p:blipFill>
        <p:spPr>
          <a:xfrm>
            <a:off x="752475" y="834200"/>
            <a:ext cx="6966551" cy="3184275"/>
          </a:xfrm>
          <a:prstGeom prst="rect">
            <a:avLst/>
          </a:prstGeom>
          <a:noFill/>
          <a:ln>
            <a:noFill/>
          </a:ln>
        </p:spPr>
      </p:pic>
      <p:sp>
        <p:nvSpPr>
          <p:cNvPr id="609" name="Google Shape;609;p85"/>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Clustering techniques</a:t>
            </a:r>
            <a:endParaRPr sz="2000">
              <a:solidFill>
                <a:schemeClr val="dk1"/>
              </a:solidFill>
              <a:latin typeface="Century Gothic"/>
              <a:ea typeface="Century Gothic"/>
              <a:cs typeface="Century Gothic"/>
              <a:sym typeface="Century Gothic"/>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3" name="Shape 613"/>
        <p:cNvGrpSpPr/>
        <p:nvPr/>
      </p:nvGrpSpPr>
      <p:grpSpPr>
        <a:xfrm>
          <a:off x="0" y="0"/>
          <a:ext cx="0" cy="0"/>
          <a:chOff x="0" y="0"/>
          <a:chExt cx="0" cy="0"/>
        </a:xfrm>
      </p:grpSpPr>
      <p:sp>
        <p:nvSpPr>
          <p:cNvPr id="614" name="Google Shape;614;p86"/>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Clustering techniques</a:t>
            </a:r>
            <a:endParaRPr sz="2000">
              <a:solidFill>
                <a:schemeClr val="dk1"/>
              </a:solidFill>
              <a:latin typeface="Century Gothic"/>
              <a:ea typeface="Century Gothic"/>
              <a:cs typeface="Century Gothic"/>
              <a:sym typeface="Century Gothic"/>
            </a:endParaRPr>
          </a:p>
        </p:txBody>
      </p:sp>
      <p:sp>
        <p:nvSpPr>
          <p:cNvPr id="615" name="Google Shape;615;p86"/>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616" name="Google Shape;616;p86"/>
          <p:cNvPicPr preferRelativeResize="0"/>
          <p:nvPr/>
        </p:nvPicPr>
        <p:blipFill>
          <a:blip r:embed="rId3">
            <a:alphaModFix/>
          </a:blip>
          <a:stretch>
            <a:fillRect/>
          </a:stretch>
        </p:blipFill>
        <p:spPr>
          <a:xfrm>
            <a:off x="1665399" y="961550"/>
            <a:ext cx="5215348" cy="340242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0" name="Shape 620"/>
        <p:cNvGrpSpPr/>
        <p:nvPr/>
      </p:nvGrpSpPr>
      <p:grpSpPr>
        <a:xfrm>
          <a:off x="0" y="0"/>
          <a:ext cx="0" cy="0"/>
          <a:chOff x="0" y="0"/>
          <a:chExt cx="0" cy="0"/>
        </a:xfrm>
      </p:grpSpPr>
      <p:sp>
        <p:nvSpPr>
          <p:cNvPr id="621" name="Google Shape;621;p87"/>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K-means clustering</a:t>
            </a:r>
            <a:endParaRPr sz="2000">
              <a:solidFill>
                <a:schemeClr val="dk1"/>
              </a:solidFill>
              <a:latin typeface="Century Gothic"/>
              <a:ea typeface="Century Gothic"/>
              <a:cs typeface="Century Gothic"/>
              <a:sym typeface="Century Gothic"/>
            </a:endParaRPr>
          </a:p>
        </p:txBody>
      </p:sp>
      <p:sp>
        <p:nvSpPr>
          <p:cNvPr id="622" name="Google Shape;622;p87"/>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623" name="Google Shape;623;p87"/>
          <p:cNvPicPr preferRelativeResize="0"/>
          <p:nvPr/>
        </p:nvPicPr>
        <p:blipFill>
          <a:blip r:embed="rId3">
            <a:alphaModFix/>
          </a:blip>
          <a:stretch>
            <a:fillRect/>
          </a:stretch>
        </p:blipFill>
        <p:spPr>
          <a:xfrm>
            <a:off x="668975" y="917700"/>
            <a:ext cx="4892898" cy="24048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7" name="Shape 627"/>
        <p:cNvGrpSpPr/>
        <p:nvPr/>
      </p:nvGrpSpPr>
      <p:grpSpPr>
        <a:xfrm>
          <a:off x="0" y="0"/>
          <a:ext cx="0" cy="0"/>
          <a:chOff x="0" y="0"/>
          <a:chExt cx="0" cy="0"/>
        </a:xfrm>
      </p:grpSpPr>
      <p:sp>
        <p:nvSpPr>
          <p:cNvPr id="628" name="Google Shape;628;p88"/>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K-means clustering</a:t>
            </a:r>
            <a:endParaRPr sz="2000">
              <a:solidFill>
                <a:schemeClr val="dk1"/>
              </a:solidFill>
              <a:latin typeface="Century Gothic"/>
              <a:ea typeface="Century Gothic"/>
              <a:cs typeface="Century Gothic"/>
              <a:sym typeface="Century Gothic"/>
            </a:endParaRPr>
          </a:p>
        </p:txBody>
      </p:sp>
      <p:sp>
        <p:nvSpPr>
          <p:cNvPr id="629" name="Google Shape;629;p88"/>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630" name="Google Shape;630;p88"/>
          <p:cNvSpPr txBox="1"/>
          <p:nvPr/>
        </p:nvSpPr>
        <p:spPr>
          <a:xfrm>
            <a:off x="752475" y="917700"/>
            <a:ext cx="7041600" cy="1693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t>Given k, the k-means algorithm works as follows: </a:t>
            </a:r>
            <a:endParaRPr/>
          </a:p>
          <a:p>
            <a:pPr indent="0" lvl="0" marL="0" rtl="0" algn="l">
              <a:lnSpc>
                <a:spcPct val="150000"/>
              </a:lnSpc>
              <a:spcBef>
                <a:spcPts val="0"/>
              </a:spcBef>
              <a:spcAft>
                <a:spcPts val="0"/>
              </a:spcAft>
              <a:buNone/>
            </a:pPr>
            <a:r>
              <a:rPr lang="en"/>
              <a:t>1. Choose </a:t>
            </a:r>
            <a:r>
              <a:rPr b="1" lang="en"/>
              <a:t>k (random)</a:t>
            </a:r>
            <a:r>
              <a:rPr lang="en"/>
              <a:t> data points (</a:t>
            </a:r>
            <a:r>
              <a:rPr b="1" lang="en"/>
              <a:t>seeds</a:t>
            </a:r>
            <a:r>
              <a:rPr lang="en"/>
              <a:t>) to be the initial centroids, cluster centers </a:t>
            </a:r>
            <a:endParaRPr/>
          </a:p>
          <a:p>
            <a:pPr indent="0" lvl="0" marL="0" rtl="0" algn="l">
              <a:lnSpc>
                <a:spcPct val="150000"/>
              </a:lnSpc>
              <a:spcBef>
                <a:spcPts val="0"/>
              </a:spcBef>
              <a:spcAft>
                <a:spcPts val="0"/>
              </a:spcAft>
              <a:buNone/>
            </a:pPr>
            <a:r>
              <a:rPr lang="en"/>
              <a:t>2. Assign each data point to the closest centroid </a:t>
            </a:r>
            <a:endParaRPr/>
          </a:p>
          <a:p>
            <a:pPr indent="0" lvl="0" marL="0" rtl="0" algn="l">
              <a:lnSpc>
                <a:spcPct val="150000"/>
              </a:lnSpc>
              <a:spcBef>
                <a:spcPts val="0"/>
              </a:spcBef>
              <a:spcAft>
                <a:spcPts val="0"/>
              </a:spcAft>
              <a:buNone/>
            </a:pPr>
            <a:r>
              <a:rPr lang="en"/>
              <a:t>3. Re-compute the centroids using the current cluster memberships </a:t>
            </a:r>
            <a:endParaRPr/>
          </a:p>
          <a:p>
            <a:pPr indent="0" lvl="0" marL="0" rtl="0" algn="l">
              <a:lnSpc>
                <a:spcPct val="150000"/>
              </a:lnSpc>
              <a:spcBef>
                <a:spcPts val="0"/>
              </a:spcBef>
              <a:spcAft>
                <a:spcPts val="0"/>
              </a:spcAft>
              <a:buNone/>
            </a:pPr>
            <a:r>
              <a:rPr lang="en"/>
              <a:t>4. If a convergence criterion is not met, repeat steps 2 and 3</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4" name="Shape 634"/>
        <p:cNvGrpSpPr/>
        <p:nvPr/>
      </p:nvGrpSpPr>
      <p:grpSpPr>
        <a:xfrm>
          <a:off x="0" y="0"/>
          <a:ext cx="0" cy="0"/>
          <a:chOff x="0" y="0"/>
          <a:chExt cx="0" cy="0"/>
        </a:xfrm>
      </p:grpSpPr>
      <p:sp>
        <p:nvSpPr>
          <p:cNvPr id="635" name="Google Shape;635;p89"/>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K-means clustering example </a:t>
            </a:r>
            <a:endParaRPr sz="2000">
              <a:solidFill>
                <a:schemeClr val="dk1"/>
              </a:solidFill>
              <a:latin typeface="Century Gothic"/>
              <a:ea typeface="Century Gothic"/>
              <a:cs typeface="Century Gothic"/>
              <a:sym typeface="Century Gothic"/>
            </a:endParaRPr>
          </a:p>
        </p:txBody>
      </p:sp>
      <p:sp>
        <p:nvSpPr>
          <p:cNvPr id="636" name="Google Shape;636;p89"/>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637" name="Google Shape;637;p89"/>
          <p:cNvPicPr preferRelativeResize="0"/>
          <p:nvPr/>
        </p:nvPicPr>
        <p:blipFill>
          <a:blip r:embed="rId3">
            <a:alphaModFix/>
          </a:blip>
          <a:stretch>
            <a:fillRect/>
          </a:stretch>
        </p:blipFill>
        <p:spPr>
          <a:xfrm>
            <a:off x="3614375" y="1294512"/>
            <a:ext cx="2151101" cy="1841875"/>
          </a:xfrm>
          <a:prstGeom prst="rect">
            <a:avLst/>
          </a:prstGeom>
          <a:noFill/>
          <a:ln>
            <a:noFill/>
          </a:ln>
        </p:spPr>
      </p:pic>
      <p:pic>
        <p:nvPicPr>
          <p:cNvPr id="638" name="Google Shape;638;p89"/>
          <p:cNvPicPr preferRelativeResize="0"/>
          <p:nvPr/>
        </p:nvPicPr>
        <p:blipFill>
          <a:blip r:embed="rId4">
            <a:alphaModFix/>
          </a:blip>
          <a:stretch>
            <a:fillRect/>
          </a:stretch>
        </p:blipFill>
        <p:spPr>
          <a:xfrm>
            <a:off x="560425" y="1311188"/>
            <a:ext cx="2559423" cy="1808475"/>
          </a:xfrm>
          <a:prstGeom prst="rect">
            <a:avLst/>
          </a:prstGeom>
          <a:noFill/>
          <a:ln>
            <a:noFill/>
          </a:ln>
        </p:spPr>
      </p:pic>
      <p:pic>
        <p:nvPicPr>
          <p:cNvPr id="639" name="Google Shape;639;p89"/>
          <p:cNvPicPr preferRelativeResize="0"/>
          <p:nvPr/>
        </p:nvPicPr>
        <p:blipFill>
          <a:blip r:embed="rId5">
            <a:alphaModFix/>
          </a:blip>
          <a:stretch>
            <a:fillRect/>
          </a:stretch>
        </p:blipFill>
        <p:spPr>
          <a:xfrm>
            <a:off x="6260000" y="1294500"/>
            <a:ext cx="2397224" cy="1927799"/>
          </a:xfrm>
          <a:prstGeom prst="rect">
            <a:avLst/>
          </a:prstGeom>
          <a:noFill/>
          <a:ln>
            <a:noFill/>
          </a:ln>
        </p:spPr>
      </p:pic>
      <p:sp>
        <p:nvSpPr>
          <p:cNvPr id="640" name="Google Shape;640;p89"/>
          <p:cNvSpPr txBox="1"/>
          <p:nvPr/>
        </p:nvSpPr>
        <p:spPr>
          <a:xfrm>
            <a:off x="234675" y="1159900"/>
            <a:ext cx="5178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980000"/>
                </a:solidFill>
                <a:latin typeface="Calibri"/>
                <a:ea typeface="Calibri"/>
                <a:cs typeface="Calibri"/>
                <a:sym typeface="Calibri"/>
              </a:rPr>
              <a:t>1)</a:t>
            </a:r>
            <a:endParaRPr b="1" sz="1700">
              <a:solidFill>
                <a:srgbClr val="980000"/>
              </a:solidFill>
              <a:latin typeface="Calibri"/>
              <a:ea typeface="Calibri"/>
              <a:cs typeface="Calibri"/>
              <a:sym typeface="Calibri"/>
            </a:endParaRPr>
          </a:p>
        </p:txBody>
      </p:sp>
      <p:sp>
        <p:nvSpPr>
          <p:cNvPr id="641" name="Google Shape;641;p89"/>
          <p:cNvSpPr txBox="1"/>
          <p:nvPr/>
        </p:nvSpPr>
        <p:spPr>
          <a:xfrm>
            <a:off x="3404275" y="1159900"/>
            <a:ext cx="4236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980000"/>
                </a:solidFill>
                <a:latin typeface="Calibri"/>
                <a:ea typeface="Calibri"/>
                <a:cs typeface="Calibri"/>
                <a:sym typeface="Calibri"/>
              </a:rPr>
              <a:t>2)</a:t>
            </a:r>
            <a:endParaRPr b="1" sz="1700">
              <a:solidFill>
                <a:srgbClr val="980000"/>
              </a:solidFill>
              <a:latin typeface="Calibri"/>
              <a:ea typeface="Calibri"/>
              <a:cs typeface="Calibri"/>
              <a:sym typeface="Calibri"/>
            </a:endParaRPr>
          </a:p>
        </p:txBody>
      </p:sp>
      <p:sp>
        <p:nvSpPr>
          <p:cNvPr id="642" name="Google Shape;642;p89"/>
          <p:cNvSpPr txBox="1"/>
          <p:nvPr/>
        </p:nvSpPr>
        <p:spPr>
          <a:xfrm>
            <a:off x="5994825" y="1159900"/>
            <a:ext cx="4236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980000"/>
                </a:solidFill>
                <a:latin typeface="Calibri"/>
                <a:ea typeface="Calibri"/>
                <a:cs typeface="Calibri"/>
                <a:sym typeface="Calibri"/>
              </a:rPr>
              <a:t>3)</a:t>
            </a:r>
            <a:endParaRPr b="1" sz="1700">
              <a:solidFill>
                <a:srgbClr val="980000"/>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6" name="Shape 646"/>
        <p:cNvGrpSpPr/>
        <p:nvPr/>
      </p:nvGrpSpPr>
      <p:grpSpPr>
        <a:xfrm>
          <a:off x="0" y="0"/>
          <a:ext cx="0" cy="0"/>
          <a:chOff x="0" y="0"/>
          <a:chExt cx="0" cy="0"/>
        </a:xfrm>
      </p:grpSpPr>
      <p:sp>
        <p:nvSpPr>
          <p:cNvPr id="647" name="Google Shape;647;p90"/>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K-means clustering example </a:t>
            </a:r>
            <a:endParaRPr sz="2000">
              <a:solidFill>
                <a:schemeClr val="dk1"/>
              </a:solidFill>
              <a:latin typeface="Century Gothic"/>
              <a:ea typeface="Century Gothic"/>
              <a:cs typeface="Century Gothic"/>
              <a:sym typeface="Century Gothic"/>
            </a:endParaRPr>
          </a:p>
        </p:txBody>
      </p:sp>
      <p:sp>
        <p:nvSpPr>
          <p:cNvPr id="648" name="Google Shape;648;p90"/>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649" name="Google Shape;649;p90"/>
          <p:cNvPicPr preferRelativeResize="0"/>
          <p:nvPr/>
        </p:nvPicPr>
        <p:blipFill>
          <a:blip r:embed="rId3">
            <a:alphaModFix/>
          </a:blip>
          <a:stretch>
            <a:fillRect/>
          </a:stretch>
        </p:blipFill>
        <p:spPr>
          <a:xfrm>
            <a:off x="635575" y="1044337"/>
            <a:ext cx="2497050" cy="2027651"/>
          </a:xfrm>
          <a:prstGeom prst="rect">
            <a:avLst/>
          </a:prstGeom>
          <a:noFill/>
          <a:ln>
            <a:noFill/>
          </a:ln>
        </p:spPr>
      </p:pic>
      <p:pic>
        <p:nvPicPr>
          <p:cNvPr id="650" name="Google Shape;650;p90"/>
          <p:cNvPicPr preferRelativeResize="0"/>
          <p:nvPr/>
        </p:nvPicPr>
        <p:blipFill>
          <a:blip r:embed="rId4">
            <a:alphaModFix/>
          </a:blip>
          <a:stretch>
            <a:fillRect/>
          </a:stretch>
        </p:blipFill>
        <p:spPr>
          <a:xfrm>
            <a:off x="3555213" y="1072875"/>
            <a:ext cx="2454776" cy="1970574"/>
          </a:xfrm>
          <a:prstGeom prst="rect">
            <a:avLst/>
          </a:prstGeom>
          <a:noFill/>
          <a:ln>
            <a:noFill/>
          </a:ln>
        </p:spPr>
      </p:pic>
      <p:pic>
        <p:nvPicPr>
          <p:cNvPr id="651" name="Google Shape;651;p90"/>
          <p:cNvPicPr preferRelativeResize="0"/>
          <p:nvPr/>
        </p:nvPicPr>
        <p:blipFill>
          <a:blip r:embed="rId5">
            <a:alphaModFix/>
          </a:blip>
          <a:stretch>
            <a:fillRect/>
          </a:stretch>
        </p:blipFill>
        <p:spPr>
          <a:xfrm>
            <a:off x="6432600" y="1085512"/>
            <a:ext cx="2454774" cy="1986489"/>
          </a:xfrm>
          <a:prstGeom prst="rect">
            <a:avLst/>
          </a:prstGeom>
          <a:noFill/>
          <a:ln>
            <a:noFill/>
          </a:ln>
        </p:spPr>
      </p:pic>
      <p:sp>
        <p:nvSpPr>
          <p:cNvPr id="652" name="Google Shape;652;p90"/>
          <p:cNvSpPr txBox="1"/>
          <p:nvPr/>
        </p:nvSpPr>
        <p:spPr>
          <a:xfrm>
            <a:off x="951525" y="884300"/>
            <a:ext cx="3882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980000"/>
                </a:solidFill>
                <a:latin typeface="Calibri"/>
                <a:ea typeface="Calibri"/>
                <a:cs typeface="Calibri"/>
                <a:sym typeface="Calibri"/>
              </a:rPr>
              <a:t>4)</a:t>
            </a:r>
            <a:endParaRPr b="1" sz="1700">
              <a:solidFill>
                <a:srgbClr val="980000"/>
              </a:solidFill>
              <a:latin typeface="Calibri"/>
              <a:ea typeface="Calibri"/>
              <a:cs typeface="Calibri"/>
              <a:sym typeface="Calibri"/>
            </a:endParaRPr>
          </a:p>
        </p:txBody>
      </p:sp>
      <p:sp>
        <p:nvSpPr>
          <p:cNvPr id="653" name="Google Shape;653;p90"/>
          <p:cNvSpPr txBox="1"/>
          <p:nvPr/>
        </p:nvSpPr>
        <p:spPr>
          <a:xfrm>
            <a:off x="4022775" y="884300"/>
            <a:ext cx="4566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980000"/>
                </a:solidFill>
                <a:latin typeface="Calibri"/>
                <a:ea typeface="Calibri"/>
                <a:cs typeface="Calibri"/>
                <a:sym typeface="Calibri"/>
              </a:rPr>
              <a:t>5)</a:t>
            </a:r>
            <a:endParaRPr b="1" sz="1700">
              <a:solidFill>
                <a:srgbClr val="980000"/>
              </a:solidFill>
              <a:latin typeface="Calibri"/>
              <a:ea typeface="Calibri"/>
              <a:cs typeface="Calibri"/>
              <a:sym typeface="Calibri"/>
            </a:endParaRPr>
          </a:p>
        </p:txBody>
      </p:sp>
      <p:sp>
        <p:nvSpPr>
          <p:cNvPr id="654" name="Google Shape;654;p90"/>
          <p:cNvSpPr txBox="1"/>
          <p:nvPr/>
        </p:nvSpPr>
        <p:spPr>
          <a:xfrm>
            <a:off x="6730225" y="917700"/>
            <a:ext cx="4566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980000"/>
                </a:solidFill>
                <a:latin typeface="Calibri"/>
                <a:ea typeface="Calibri"/>
                <a:cs typeface="Calibri"/>
                <a:sym typeface="Calibri"/>
              </a:rPr>
              <a:t>6)</a:t>
            </a:r>
            <a:endParaRPr b="1" sz="1700">
              <a:solidFill>
                <a:srgbClr val="980000"/>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8" name="Shape 658"/>
        <p:cNvGrpSpPr/>
        <p:nvPr/>
      </p:nvGrpSpPr>
      <p:grpSpPr>
        <a:xfrm>
          <a:off x="0" y="0"/>
          <a:ext cx="0" cy="0"/>
          <a:chOff x="0" y="0"/>
          <a:chExt cx="0" cy="0"/>
        </a:xfrm>
      </p:grpSpPr>
      <p:sp>
        <p:nvSpPr>
          <p:cNvPr id="659" name="Google Shape;659;p91"/>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Why use K-means?</a:t>
            </a:r>
            <a:endParaRPr sz="2000">
              <a:solidFill>
                <a:schemeClr val="dk1"/>
              </a:solidFill>
              <a:latin typeface="Century Gothic"/>
              <a:ea typeface="Century Gothic"/>
              <a:cs typeface="Century Gothic"/>
              <a:sym typeface="Century Gothic"/>
            </a:endParaRPr>
          </a:p>
        </p:txBody>
      </p:sp>
      <p:sp>
        <p:nvSpPr>
          <p:cNvPr id="660" name="Google Shape;660;p91"/>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661" name="Google Shape;661;p91"/>
          <p:cNvSpPr txBox="1"/>
          <p:nvPr/>
        </p:nvSpPr>
        <p:spPr>
          <a:xfrm>
            <a:off x="752475" y="917700"/>
            <a:ext cx="7041600" cy="2339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t>Strengths: </a:t>
            </a:r>
            <a:endParaRPr/>
          </a:p>
          <a:p>
            <a:pPr indent="-317500" lvl="0" marL="457200" rtl="0" algn="l">
              <a:lnSpc>
                <a:spcPct val="150000"/>
              </a:lnSpc>
              <a:spcBef>
                <a:spcPts val="0"/>
              </a:spcBef>
              <a:spcAft>
                <a:spcPts val="0"/>
              </a:spcAft>
              <a:buSzPts val="1400"/>
              <a:buChar char="●"/>
            </a:pPr>
            <a:r>
              <a:rPr b="1" lang="en"/>
              <a:t>Simple</a:t>
            </a:r>
            <a:r>
              <a:rPr lang="en"/>
              <a:t>: easy to understand and to implement </a:t>
            </a:r>
            <a:endParaRPr/>
          </a:p>
          <a:p>
            <a:pPr indent="-317500" lvl="0" marL="457200" rtl="0" algn="l">
              <a:lnSpc>
                <a:spcPct val="150000"/>
              </a:lnSpc>
              <a:spcBef>
                <a:spcPts val="0"/>
              </a:spcBef>
              <a:spcAft>
                <a:spcPts val="0"/>
              </a:spcAft>
              <a:buSzPts val="1400"/>
              <a:buChar char="●"/>
            </a:pPr>
            <a:r>
              <a:rPr b="1" lang="en"/>
              <a:t>Efficient</a:t>
            </a:r>
            <a:r>
              <a:rPr lang="en"/>
              <a:t>: Time complexity: O(tkn), </a:t>
            </a:r>
            <a:endParaRPr/>
          </a:p>
          <a:p>
            <a:pPr indent="-317500" lvl="1" marL="914400" rtl="0" algn="l">
              <a:lnSpc>
                <a:spcPct val="150000"/>
              </a:lnSpc>
              <a:spcBef>
                <a:spcPts val="0"/>
              </a:spcBef>
              <a:spcAft>
                <a:spcPts val="0"/>
              </a:spcAft>
              <a:buSzPts val="1400"/>
              <a:buChar char="○"/>
            </a:pPr>
            <a:r>
              <a:rPr lang="en"/>
              <a:t>where </a:t>
            </a:r>
            <a:r>
              <a:rPr b="1" lang="en"/>
              <a:t>n</a:t>
            </a:r>
            <a:r>
              <a:rPr lang="en"/>
              <a:t> is the number of data points, </a:t>
            </a:r>
            <a:endParaRPr/>
          </a:p>
          <a:p>
            <a:pPr indent="-317500" lvl="1" marL="914400" rtl="0" algn="l">
              <a:lnSpc>
                <a:spcPct val="150000"/>
              </a:lnSpc>
              <a:spcBef>
                <a:spcPts val="0"/>
              </a:spcBef>
              <a:spcAft>
                <a:spcPts val="0"/>
              </a:spcAft>
              <a:buSzPts val="1400"/>
              <a:buChar char="○"/>
            </a:pPr>
            <a:r>
              <a:rPr b="1" lang="en"/>
              <a:t>k</a:t>
            </a:r>
            <a:r>
              <a:rPr lang="en"/>
              <a:t> is the number of clusters, and </a:t>
            </a:r>
            <a:endParaRPr/>
          </a:p>
          <a:p>
            <a:pPr indent="-317500" lvl="1" marL="914400" rtl="0" algn="l">
              <a:lnSpc>
                <a:spcPct val="150000"/>
              </a:lnSpc>
              <a:spcBef>
                <a:spcPts val="0"/>
              </a:spcBef>
              <a:spcAft>
                <a:spcPts val="0"/>
              </a:spcAft>
              <a:buSzPts val="1400"/>
              <a:buChar char="○"/>
            </a:pPr>
            <a:r>
              <a:rPr b="1" lang="en"/>
              <a:t>t</a:t>
            </a:r>
            <a:r>
              <a:rPr lang="en"/>
              <a:t> is the number of iterations. </a:t>
            </a:r>
            <a:endParaRPr/>
          </a:p>
          <a:p>
            <a:pPr indent="-317500" lvl="0" marL="457200" rtl="0" algn="l">
              <a:lnSpc>
                <a:spcPct val="150000"/>
              </a:lnSpc>
              <a:spcBef>
                <a:spcPts val="0"/>
              </a:spcBef>
              <a:spcAft>
                <a:spcPts val="0"/>
              </a:spcAft>
              <a:buSzPts val="1400"/>
              <a:buChar char="●"/>
            </a:pPr>
            <a:r>
              <a:rPr lang="en"/>
              <a:t>Since both k and t are small. k-means is considered a linear algorithm.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5" name="Shape 665"/>
        <p:cNvGrpSpPr/>
        <p:nvPr/>
      </p:nvGrpSpPr>
      <p:grpSpPr>
        <a:xfrm>
          <a:off x="0" y="0"/>
          <a:ext cx="0" cy="0"/>
          <a:chOff x="0" y="0"/>
          <a:chExt cx="0" cy="0"/>
        </a:xfrm>
      </p:grpSpPr>
      <p:sp>
        <p:nvSpPr>
          <p:cNvPr id="666" name="Google Shape;666;p92"/>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Weaknesses of K-means</a:t>
            </a:r>
            <a:endParaRPr sz="2000">
              <a:solidFill>
                <a:schemeClr val="dk1"/>
              </a:solidFill>
              <a:latin typeface="Century Gothic"/>
              <a:ea typeface="Century Gothic"/>
              <a:cs typeface="Century Gothic"/>
              <a:sym typeface="Century Gothic"/>
            </a:endParaRPr>
          </a:p>
        </p:txBody>
      </p:sp>
      <p:sp>
        <p:nvSpPr>
          <p:cNvPr id="667" name="Google Shape;667;p92"/>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668" name="Google Shape;668;p92"/>
          <p:cNvSpPr txBox="1"/>
          <p:nvPr/>
        </p:nvSpPr>
        <p:spPr>
          <a:xfrm>
            <a:off x="621650" y="917700"/>
            <a:ext cx="7172700" cy="26628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SzPts val="1400"/>
              <a:buChar char="●"/>
            </a:pPr>
            <a:r>
              <a:rPr lang="en"/>
              <a:t>The algorithm is only applicable if the </a:t>
            </a:r>
            <a:r>
              <a:rPr b="1" lang="en"/>
              <a:t>mean</a:t>
            </a:r>
            <a:r>
              <a:rPr lang="en"/>
              <a:t> is defined. </a:t>
            </a:r>
            <a:endParaRPr/>
          </a:p>
          <a:p>
            <a:pPr indent="-317500" lvl="1" marL="914400" rtl="0" algn="l">
              <a:lnSpc>
                <a:spcPct val="150000"/>
              </a:lnSpc>
              <a:spcBef>
                <a:spcPts val="0"/>
              </a:spcBef>
              <a:spcAft>
                <a:spcPts val="0"/>
              </a:spcAft>
              <a:buSzPts val="1400"/>
              <a:buChar char="○"/>
            </a:pPr>
            <a:r>
              <a:rPr lang="en"/>
              <a:t>For categorical data, k-mode - the centroid is represented by most frequent values. </a:t>
            </a:r>
            <a:endParaRPr/>
          </a:p>
          <a:p>
            <a:pPr indent="-317500" lvl="0" marL="457200" rtl="0" algn="l">
              <a:lnSpc>
                <a:spcPct val="150000"/>
              </a:lnSpc>
              <a:spcBef>
                <a:spcPts val="0"/>
              </a:spcBef>
              <a:spcAft>
                <a:spcPts val="0"/>
              </a:spcAft>
              <a:buSzPts val="1400"/>
              <a:buChar char="●"/>
            </a:pPr>
            <a:r>
              <a:rPr lang="en"/>
              <a:t>The user needs to specify </a:t>
            </a:r>
            <a:r>
              <a:rPr b="1" lang="en"/>
              <a:t>k</a:t>
            </a:r>
            <a:r>
              <a:rPr lang="en"/>
              <a:t>. </a:t>
            </a:r>
            <a:endParaRPr/>
          </a:p>
          <a:p>
            <a:pPr indent="-317500" lvl="0" marL="457200" rtl="0" algn="l">
              <a:lnSpc>
                <a:spcPct val="150000"/>
              </a:lnSpc>
              <a:spcBef>
                <a:spcPts val="0"/>
              </a:spcBef>
              <a:spcAft>
                <a:spcPts val="0"/>
              </a:spcAft>
              <a:buSzPts val="1400"/>
              <a:buChar char="●"/>
            </a:pPr>
            <a:r>
              <a:rPr lang="en"/>
              <a:t>The algorithm is sensitive to </a:t>
            </a:r>
            <a:r>
              <a:rPr b="1" lang="en"/>
              <a:t>outliers</a:t>
            </a:r>
            <a:r>
              <a:rPr lang="en"/>
              <a:t> </a:t>
            </a:r>
            <a:endParaRPr/>
          </a:p>
          <a:p>
            <a:pPr indent="-317500" lvl="1" marL="914400" rtl="0" algn="l">
              <a:lnSpc>
                <a:spcPct val="150000"/>
              </a:lnSpc>
              <a:spcBef>
                <a:spcPts val="0"/>
              </a:spcBef>
              <a:spcAft>
                <a:spcPts val="0"/>
              </a:spcAft>
              <a:buSzPts val="1400"/>
              <a:buChar char="○"/>
            </a:pPr>
            <a:r>
              <a:rPr lang="en"/>
              <a:t>Outliers are data points that are very far away from other data points. </a:t>
            </a:r>
            <a:endParaRPr/>
          </a:p>
          <a:p>
            <a:pPr indent="-317500" lvl="1" marL="914400" rtl="0" algn="l">
              <a:lnSpc>
                <a:spcPct val="150000"/>
              </a:lnSpc>
              <a:spcBef>
                <a:spcPts val="0"/>
              </a:spcBef>
              <a:spcAft>
                <a:spcPts val="0"/>
              </a:spcAft>
              <a:buSzPts val="1400"/>
              <a:buChar char="○"/>
            </a:pPr>
            <a:r>
              <a:rPr lang="en"/>
              <a:t>Outliers could be errors in the data recording or some special data points with very different values.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2" name="Shape 672"/>
        <p:cNvGrpSpPr/>
        <p:nvPr/>
      </p:nvGrpSpPr>
      <p:grpSpPr>
        <a:xfrm>
          <a:off x="0" y="0"/>
          <a:ext cx="0" cy="0"/>
          <a:chOff x="0" y="0"/>
          <a:chExt cx="0" cy="0"/>
        </a:xfrm>
      </p:grpSpPr>
      <p:sp>
        <p:nvSpPr>
          <p:cNvPr id="673" name="Google Shape;673;p93"/>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Outliers</a:t>
            </a:r>
            <a:endParaRPr sz="2000">
              <a:solidFill>
                <a:schemeClr val="dk1"/>
              </a:solidFill>
              <a:latin typeface="Century Gothic"/>
              <a:ea typeface="Century Gothic"/>
              <a:cs typeface="Century Gothic"/>
              <a:sym typeface="Century Gothic"/>
            </a:endParaRPr>
          </a:p>
        </p:txBody>
      </p:sp>
      <p:sp>
        <p:nvSpPr>
          <p:cNvPr id="674" name="Google Shape;674;p93"/>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675" name="Google Shape;675;p93"/>
          <p:cNvPicPr preferRelativeResize="0"/>
          <p:nvPr/>
        </p:nvPicPr>
        <p:blipFill>
          <a:blip r:embed="rId3">
            <a:alphaModFix/>
          </a:blip>
          <a:stretch>
            <a:fillRect/>
          </a:stretch>
        </p:blipFill>
        <p:spPr>
          <a:xfrm>
            <a:off x="1924662" y="1460500"/>
            <a:ext cx="5164925" cy="2969825"/>
          </a:xfrm>
          <a:prstGeom prst="rect">
            <a:avLst/>
          </a:prstGeom>
          <a:noFill/>
          <a:ln>
            <a:noFill/>
          </a:ln>
        </p:spPr>
      </p:pic>
      <p:sp>
        <p:nvSpPr>
          <p:cNvPr id="676" name="Google Shape;676;p93"/>
          <p:cNvSpPr txBox="1"/>
          <p:nvPr/>
        </p:nvSpPr>
        <p:spPr>
          <a:xfrm>
            <a:off x="752475" y="867650"/>
            <a:ext cx="7509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273239"/>
                </a:solidFill>
                <a:highlight>
                  <a:srgbClr val="FFFFFF"/>
                </a:highlight>
                <a:latin typeface="Century Gothic"/>
                <a:ea typeface="Century Gothic"/>
                <a:cs typeface="Century Gothic"/>
                <a:sym typeface="Century Gothic"/>
              </a:rPr>
              <a:t>In machine learning, outliers are data points that deviate significantly from the general distribution of the dataset. They may occur due to errors in data collection, natural variation or rare events. </a:t>
            </a:r>
            <a:endParaRPr sz="1200">
              <a:latin typeface="Century Gothic"/>
              <a:ea typeface="Century Gothic"/>
              <a:cs typeface="Century Gothic"/>
              <a:sym typeface="Century Gothic"/>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0" name="Shape 680"/>
        <p:cNvGrpSpPr/>
        <p:nvPr/>
      </p:nvGrpSpPr>
      <p:grpSpPr>
        <a:xfrm>
          <a:off x="0" y="0"/>
          <a:ext cx="0" cy="0"/>
          <a:chOff x="0" y="0"/>
          <a:chExt cx="0" cy="0"/>
        </a:xfrm>
      </p:grpSpPr>
      <p:sp>
        <p:nvSpPr>
          <p:cNvPr id="681" name="Google Shape;681;p94"/>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Types of Outliers</a:t>
            </a:r>
            <a:endParaRPr sz="2000">
              <a:solidFill>
                <a:schemeClr val="dk1"/>
              </a:solidFill>
              <a:latin typeface="Century Gothic"/>
              <a:ea typeface="Century Gothic"/>
              <a:cs typeface="Century Gothic"/>
              <a:sym typeface="Century Gothic"/>
            </a:endParaRPr>
          </a:p>
        </p:txBody>
      </p:sp>
      <p:sp>
        <p:nvSpPr>
          <p:cNvPr id="682" name="Google Shape;682;p94"/>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683" name="Google Shape;683;p94"/>
          <p:cNvSpPr txBox="1"/>
          <p:nvPr/>
        </p:nvSpPr>
        <p:spPr>
          <a:xfrm>
            <a:off x="713500" y="867650"/>
            <a:ext cx="7548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273239"/>
                </a:solidFill>
                <a:highlight>
                  <a:srgbClr val="FFFFFF"/>
                </a:highlight>
                <a:latin typeface="Century Gothic"/>
                <a:ea typeface="Century Gothic"/>
                <a:cs typeface="Century Gothic"/>
                <a:sym typeface="Century Gothic"/>
              </a:rPr>
              <a:t>Outliers can be categorized as:</a:t>
            </a:r>
            <a:endParaRPr sz="1200">
              <a:latin typeface="Century Gothic"/>
              <a:ea typeface="Century Gothic"/>
              <a:cs typeface="Century Gothic"/>
              <a:sym typeface="Century Gothic"/>
            </a:endParaRPr>
          </a:p>
        </p:txBody>
      </p:sp>
      <p:sp>
        <p:nvSpPr>
          <p:cNvPr id="684" name="Google Shape;684;p94"/>
          <p:cNvSpPr txBox="1"/>
          <p:nvPr/>
        </p:nvSpPr>
        <p:spPr>
          <a:xfrm>
            <a:off x="713500" y="1194025"/>
            <a:ext cx="8022000" cy="30015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800"/>
              </a:spcBef>
              <a:spcAft>
                <a:spcPts val="0"/>
              </a:spcAft>
              <a:buNone/>
            </a:pPr>
            <a:r>
              <a:rPr b="1" lang="en" sz="1200">
                <a:solidFill>
                  <a:srgbClr val="273239"/>
                </a:solidFill>
                <a:highlight>
                  <a:srgbClr val="FFFFFF"/>
                </a:highlight>
                <a:latin typeface="Century Gothic"/>
                <a:ea typeface="Century Gothic"/>
                <a:cs typeface="Century Gothic"/>
                <a:sym typeface="Century Gothic"/>
              </a:rPr>
              <a:t>1. Global Outliers (Point Anomalies):</a:t>
            </a:r>
            <a:endParaRPr b="1" sz="1200">
              <a:solidFill>
                <a:srgbClr val="273239"/>
              </a:solidFill>
              <a:highlight>
                <a:srgbClr val="FFFFFF"/>
              </a:highlight>
              <a:latin typeface="Century Gothic"/>
              <a:ea typeface="Century Gothic"/>
              <a:cs typeface="Century Gothic"/>
              <a:sym typeface="Century Gothic"/>
            </a:endParaRPr>
          </a:p>
          <a:p>
            <a:pPr indent="-304800" lvl="0" marL="685800" rtl="0" algn="l">
              <a:lnSpc>
                <a:spcPct val="100000"/>
              </a:lnSpc>
              <a:spcBef>
                <a:spcPts val="1800"/>
              </a:spcBef>
              <a:spcAft>
                <a:spcPts val="0"/>
              </a:spcAft>
              <a:buClr>
                <a:srgbClr val="273239"/>
              </a:buClr>
              <a:buSzPts val="1200"/>
              <a:buFont typeface="Century Gothic"/>
              <a:buChar char="●"/>
            </a:pPr>
            <a:r>
              <a:rPr lang="en" sz="1200">
                <a:solidFill>
                  <a:srgbClr val="273239"/>
                </a:solidFill>
                <a:highlight>
                  <a:srgbClr val="FFFFFF"/>
                </a:highlight>
                <a:latin typeface="Century Gothic"/>
                <a:ea typeface="Century Gothic"/>
                <a:cs typeface="Century Gothic"/>
                <a:sym typeface="Century Gothic"/>
              </a:rPr>
              <a:t>Individual data points that lie far from the rest.</a:t>
            </a:r>
            <a:endParaRPr sz="1200">
              <a:solidFill>
                <a:srgbClr val="273239"/>
              </a:solidFill>
              <a:highlight>
                <a:srgbClr val="FFFFFF"/>
              </a:highlight>
              <a:latin typeface="Century Gothic"/>
              <a:ea typeface="Century Gothic"/>
              <a:cs typeface="Century Gothic"/>
              <a:sym typeface="Century Gothic"/>
            </a:endParaRPr>
          </a:p>
          <a:p>
            <a:pPr indent="-304800" lvl="0" marL="685800" rtl="0" algn="l">
              <a:lnSpc>
                <a:spcPct val="100000"/>
              </a:lnSpc>
              <a:spcBef>
                <a:spcPts val="0"/>
              </a:spcBef>
              <a:spcAft>
                <a:spcPts val="0"/>
              </a:spcAft>
              <a:buClr>
                <a:srgbClr val="273239"/>
              </a:buClr>
              <a:buSzPts val="1200"/>
              <a:buFont typeface="Nunito"/>
              <a:buChar char="●"/>
            </a:pPr>
            <a:r>
              <a:rPr b="1" lang="en" sz="1200">
                <a:solidFill>
                  <a:srgbClr val="273239"/>
                </a:solidFill>
                <a:highlight>
                  <a:srgbClr val="FFFFFF"/>
                </a:highlight>
                <a:latin typeface="Century Gothic"/>
                <a:ea typeface="Century Gothic"/>
                <a:cs typeface="Century Gothic"/>
                <a:sym typeface="Century Gothic"/>
              </a:rPr>
              <a:t>Example</a:t>
            </a:r>
            <a:r>
              <a:rPr lang="en" sz="1200">
                <a:solidFill>
                  <a:srgbClr val="273239"/>
                </a:solidFill>
                <a:highlight>
                  <a:srgbClr val="FFFFFF"/>
                </a:highlight>
                <a:latin typeface="Century Gothic"/>
                <a:ea typeface="Century Gothic"/>
                <a:cs typeface="Century Gothic"/>
                <a:sym typeface="Century Gothic"/>
              </a:rPr>
              <a:t>: A wine record with alcohol level 20% when most are &lt;15%.</a:t>
            </a:r>
            <a:endParaRPr sz="1200">
              <a:solidFill>
                <a:srgbClr val="273239"/>
              </a:solidFill>
              <a:highlight>
                <a:srgbClr val="FFFFFF"/>
              </a:highlight>
              <a:latin typeface="Century Gothic"/>
              <a:ea typeface="Century Gothic"/>
              <a:cs typeface="Century Gothic"/>
              <a:sym typeface="Century Gothic"/>
            </a:endParaRPr>
          </a:p>
          <a:p>
            <a:pPr indent="0" lvl="0" marL="0" rtl="0" algn="l">
              <a:lnSpc>
                <a:spcPct val="100000"/>
              </a:lnSpc>
              <a:spcBef>
                <a:spcPts val="1800"/>
              </a:spcBef>
              <a:spcAft>
                <a:spcPts val="0"/>
              </a:spcAft>
              <a:buNone/>
            </a:pPr>
            <a:r>
              <a:rPr b="1" lang="en" sz="1200">
                <a:solidFill>
                  <a:srgbClr val="273239"/>
                </a:solidFill>
                <a:highlight>
                  <a:srgbClr val="FFFFFF"/>
                </a:highlight>
                <a:latin typeface="Century Gothic"/>
                <a:ea typeface="Century Gothic"/>
                <a:cs typeface="Century Gothic"/>
                <a:sym typeface="Century Gothic"/>
              </a:rPr>
              <a:t>2. Contextual Outliers:</a:t>
            </a:r>
            <a:endParaRPr b="1" sz="1200">
              <a:solidFill>
                <a:srgbClr val="273239"/>
              </a:solidFill>
              <a:highlight>
                <a:srgbClr val="FFFFFF"/>
              </a:highlight>
              <a:latin typeface="Century Gothic"/>
              <a:ea typeface="Century Gothic"/>
              <a:cs typeface="Century Gothic"/>
              <a:sym typeface="Century Gothic"/>
            </a:endParaRPr>
          </a:p>
          <a:p>
            <a:pPr indent="-304800" lvl="0" marL="685800" rtl="0" algn="l">
              <a:lnSpc>
                <a:spcPct val="100000"/>
              </a:lnSpc>
              <a:spcBef>
                <a:spcPts val="1800"/>
              </a:spcBef>
              <a:spcAft>
                <a:spcPts val="0"/>
              </a:spcAft>
              <a:buClr>
                <a:srgbClr val="273239"/>
              </a:buClr>
              <a:buSzPts val="1200"/>
              <a:buFont typeface="Century Gothic"/>
              <a:buChar char="●"/>
            </a:pPr>
            <a:r>
              <a:rPr lang="en" sz="1200">
                <a:solidFill>
                  <a:srgbClr val="273239"/>
                </a:solidFill>
                <a:highlight>
                  <a:srgbClr val="FFFFFF"/>
                </a:highlight>
                <a:latin typeface="Century Gothic"/>
                <a:ea typeface="Century Gothic"/>
                <a:cs typeface="Century Gothic"/>
                <a:sym typeface="Century Gothic"/>
              </a:rPr>
              <a:t>Outliers relative to a specific context or condition.</a:t>
            </a:r>
            <a:endParaRPr sz="1200">
              <a:solidFill>
                <a:srgbClr val="273239"/>
              </a:solidFill>
              <a:highlight>
                <a:srgbClr val="FFFFFF"/>
              </a:highlight>
              <a:latin typeface="Century Gothic"/>
              <a:ea typeface="Century Gothic"/>
              <a:cs typeface="Century Gothic"/>
              <a:sym typeface="Century Gothic"/>
            </a:endParaRPr>
          </a:p>
          <a:p>
            <a:pPr indent="-304800" lvl="0" marL="685800" rtl="0" algn="l">
              <a:lnSpc>
                <a:spcPct val="100000"/>
              </a:lnSpc>
              <a:spcBef>
                <a:spcPts val="0"/>
              </a:spcBef>
              <a:spcAft>
                <a:spcPts val="0"/>
              </a:spcAft>
              <a:buClr>
                <a:srgbClr val="273239"/>
              </a:buClr>
              <a:buSzPts val="1200"/>
              <a:buFont typeface="Nunito"/>
              <a:buChar char="●"/>
            </a:pPr>
            <a:r>
              <a:rPr b="1" lang="en" sz="1200">
                <a:solidFill>
                  <a:srgbClr val="273239"/>
                </a:solidFill>
                <a:highlight>
                  <a:srgbClr val="FFFFFF"/>
                </a:highlight>
                <a:latin typeface="Century Gothic"/>
                <a:ea typeface="Century Gothic"/>
                <a:cs typeface="Century Gothic"/>
                <a:sym typeface="Century Gothic"/>
              </a:rPr>
              <a:t>Example</a:t>
            </a:r>
            <a:r>
              <a:rPr lang="en" sz="1200">
                <a:solidFill>
                  <a:srgbClr val="273239"/>
                </a:solidFill>
                <a:highlight>
                  <a:srgbClr val="FFFFFF"/>
                </a:highlight>
                <a:latin typeface="Century Gothic"/>
                <a:ea typeface="Century Gothic"/>
                <a:cs typeface="Century Gothic"/>
                <a:sym typeface="Century Gothic"/>
              </a:rPr>
              <a:t>: 30°C might be normal in summer but an outlier in winter.</a:t>
            </a:r>
            <a:endParaRPr sz="1200">
              <a:solidFill>
                <a:srgbClr val="273239"/>
              </a:solidFill>
              <a:highlight>
                <a:srgbClr val="FFFFFF"/>
              </a:highlight>
              <a:latin typeface="Century Gothic"/>
              <a:ea typeface="Century Gothic"/>
              <a:cs typeface="Century Gothic"/>
              <a:sym typeface="Century Gothic"/>
            </a:endParaRPr>
          </a:p>
          <a:p>
            <a:pPr indent="0" lvl="0" marL="0" rtl="0" algn="l">
              <a:lnSpc>
                <a:spcPct val="100000"/>
              </a:lnSpc>
              <a:spcBef>
                <a:spcPts val="1800"/>
              </a:spcBef>
              <a:spcAft>
                <a:spcPts val="0"/>
              </a:spcAft>
              <a:buNone/>
            </a:pPr>
            <a:r>
              <a:rPr b="1" lang="en" sz="1200">
                <a:solidFill>
                  <a:srgbClr val="273239"/>
                </a:solidFill>
                <a:highlight>
                  <a:srgbClr val="FFFFFF"/>
                </a:highlight>
                <a:latin typeface="Century Gothic"/>
                <a:ea typeface="Century Gothic"/>
                <a:cs typeface="Century Gothic"/>
                <a:sym typeface="Century Gothic"/>
              </a:rPr>
              <a:t>3.Collective Outliers:</a:t>
            </a:r>
            <a:endParaRPr b="1" sz="1200">
              <a:solidFill>
                <a:srgbClr val="273239"/>
              </a:solidFill>
              <a:highlight>
                <a:srgbClr val="FFFFFF"/>
              </a:highlight>
              <a:latin typeface="Century Gothic"/>
              <a:ea typeface="Century Gothic"/>
              <a:cs typeface="Century Gothic"/>
              <a:sym typeface="Century Gothic"/>
            </a:endParaRPr>
          </a:p>
          <a:p>
            <a:pPr indent="-304800" lvl="0" marL="685800" rtl="0" algn="l">
              <a:lnSpc>
                <a:spcPct val="100000"/>
              </a:lnSpc>
              <a:spcBef>
                <a:spcPts val="1800"/>
              </a:spcBef>
              <a:spcAft>
                <a:spcPts val="0"/>
              </a:spcAft>
              <a:buClr>
                <a:srgbClr val="273239"/>
              </a:buClr>
              <a:buSzPts val="1200"/>
              <a:buFont typeface="Century Gothic"/>
              <a:buChar char="●"/>
            </a:pPr>
            <a:r>
              <a:rPr lang="en" sz="1200">
                <a:solidFill>
                  <a:srgbClr val="273239"/>
                </a:solidFill>
                <a:highlight>
                  <a:srgbClr val="FFFFFF"/>
                </a:highlight>
                <a:latin typeface="Century Gothic"/>
                <a:ea typeface="Century Gothic"/>
                <a:cs typeface="Century Gothic"/>
                <a:sym typeface="Century Gothic"/>
              </a:rPr>
              <a:t>A group of related data points behaving anomalously together.</a:t>
            </a:r>
            <a:endParaRPr sz="1200">
              <a:solidFill>
                <a:srgbClr val="273239"/>
              </a:solidFill>
              <a:highlight>
                <a:srgbClr val="FFFFFF"/>
              </a:highlight>
              <a:latin typeface="Century Gothic"/>
              <a:ea typeface="Century Gothic"/>
              <a:cs typeface="Century Gothic"/>
              <a:sym typeface="Century Gothic"/>
            </a:endParaRPr>
          </a:p>
          <a:p>
            <a:pPr indent="-304800" lvl="0" marL="685800" rtl="0" algn="l">
              <a:lnSpc>
                <a:spcPct val="100000"/>
              </a:lnSpc>
              <a:spcBef>
                <a:spcPts val="0"/>
              </a:spcBef>
              <a:spcAft>
                <a:spcPts val="0"/>
              </a:spcAft>
              <a:buClr>
                <a:srgbClr val="273239"/>
              </a:buClr>
              <a:buSzPts val="1200"/>
              <a:buFont typeface="Nunito"/>
              <a:buChar char="●"/>
            </a:pPr>
            <a:r>
              <a:rPr b="1" lang="en" sz="1200">
                <a:solidFill>
                  <a:srgbClr val="273239"/>
                </a:solidFill>
                <a:highlight>
                  <a:srgbClr val="FFFFFF"/>
                </a:highlight>
                <a:latin typeface="Century Gothic"/>
                <a:ea typeface="Century Gothic"/>
                <a:cs typeface="Century Gothic"/>
                <a:sym typeface="Century Gothic"/>
              </a:rPr>
              <a:t>Example</a:t>
            </a:r>
            <a:r>
              <a:rPr lang="en" sz="1200">
                <a:solidFill>
                  <a:srgbClr val="273239"/>
                </a:solidFill>
                <a:highlight>
                  <a:srgbClr val="FFFFFF"/>
                </a:highlight>
                <a:latin typeface="Century Gothic"/>
                <a:ea typeface="Century Gothic"/>
                <a:cs typeface="Century Gothic"/>
                <a:sym typeface="Century Gothic"/>
              </a:rPr>
              <a:t>: A sudden spike in residual sugar and acidity in wine samples together.</a:t>
            </a:r>
            <a:endParaRPr sz="1200">
              <a:solidFill>
                <a:srgbClr val="273239"/>
              </a:solidFill>
              <a:highlight>
                <a:srgbClr val="FFFFFF"/>
              </a:highlight>
              <a:latin typeface="Century Gothic"/>
              <a:ea typeface="Century Gothic"/>
              <a:cs typeface="Century Gothic"/>
              <a:sym typeface="Century Gothic"/>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8" name="Shape 688"/>
        <p:cNvGrpSpPr/>
        <p:nvPr/>
      </p:nvGrpSpPr>
      <p:grpSpPr>
        <a:xfrm>
          <a:off x="0" y="0"/>
          <a:ext cx="0" cy="0"/>
          <a:chOff x="0" y="0"/>
          <a:chExt cx="0" cy="0"/>
        </a:xfrm>
      </p:grpSpPr>
      <p:cxnSp>
        <p:nvCxnSpPr>
          <p:cNvPr id="689" name="Google Shape;689;p95"/>
          <p:cNvCxnSpPr/>
          <p:nvPr/>
        </p:nvCxnSpPr>
        <p:spPr>
          <a:xfrm>
            <a:off x="2358131" y="683550"/>
            <a:ext cx="0" cy="3776400"/>
          </a:xfrm>
          <a:prstGeom prst="straightConnector1">
            <a:avLst/>
          </a:prstGeom>
          <a:noFill/>
          <a:ln cap="flat" cmpd="sng" w="9525">
            <a:solidFill>
              <a:srgbClr val="000000"/>
            </a:solidFill>
            <a:prstDash val="solid"/>
            <a:miter lim="800000"/>
            <a:headEnd len="sm" w="sm" type="none"/>
            <a:tailEnd len="sm" w="sm" type="none"/>
          </a:ln>
        </p:spPr>
      </p:cxnSp>
      <p:sp>
        <p:nvSpPr>
          <p:cNvPr id="690" name="Google Shape;690;p95"/>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fld id="{00000000-1234-1234-1234-123412341234}" type="slidenum">
              <a:rPr lang="en"/>
              <a:t>‹#›</a:t>
            </a:fld>
            <a:endParaRPr/>
          </a:p>
        </p:txBody>
      </p:sp>
      <p:sp>
        <p:nvSpPr>
          <p:cNvPr id="691" name="Google Shape;691;p95"/>
          <p:cNvSpPr/>
          <p:nvPr/>
        </p:nvSpPr>
        <p:spPr>
          <a:xfrm rot="-5400000">
            <a:off x="716856" y="2364036"/>
            <a:ext cx="2622300" cy="41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2700">
                <a:latin typeface="Trebuchet MS"/>
                <a:ea typeface="Trebuchet MS"/>
                <a:cs typeface="Trebuchet MS"/>
                <a:sym typeface="Trebuchet MS"/>
              </a:rPr>
              <a:t>AGENDA</a:t>
            </a:r>
            <a:r>
              <a:rPr lang="en" sz="2700">
                <a:latin typeface="Trebuchet MS"/>
                <a:ea typeface="Trebuchet MS"/>
                <a:cs typeface="Trebuchet MS"/>
                <a:sym typeface="Trebuchet MS"/>
              </a:rPr>
              <a:t> </a:t>
            </a:r>
            <a:endParaRPr sz="1100">
              <a:latin typeface="Trebuchet MS"/>
              <a:ea typeface="Trebuchet MS"/>
              <a:cs typeface="Trebuchet MS"/>
              <a:sym typeface="Trebuchet MS"/>
            </a:endParaRPr>
          </a:p>
        </p:txBody>
      </p:sp>
      <p:pic>
        <p:nvPicPr>
          <p:cNvPr id="692" name="Google Shape;692;p95"/>
          <p:cNvPicPr preferRelativeResize="0"/>
          <p:nvPr/>
        </p:nvPicPr>
        <p:blipFill rotWithShape="1">
          <a:blip r:embed="rId3">
            <a:alphaModFix/>
          </a:blip>
          <a:srcRect b="0" l="34609" r="33565" t="5330"/>
          <a:stretch/>
        </p:blipFill>
        <p:spPr>
          <a:xfrm>
            <a:off x="549281" y="604350"/>
            <a:ext cx="1198838" cy="3946389"/>
          </a:xfrm>
          <a:prstGeom prst="rect">
            <a:avLst/>
          </a:prstGeom>
          <a:noFill/>
          <a:ln>
            <a:noFill/>
          </a:ln>
        </p:spPr>
      </p:pic>
      <p:sp>
        <p:nvSpPr>
          <p:cNvPr id="693" name="Google Shape;693;p95"/>
          <p:cNvSpPr/>
          <p:nvPr/>
        </p:nvSpPr>
        <p:spPr>
          <a:xfrm>
            <a:off x="2737850" y="822800"/>
            <a:ext cx="5551800" cy="3727800"/>
          </a:xfrm>
          <a:prstGeom prst="rect">
            <a:avLst/>
          </a:prstGeom>
          <a:noFill/>
          <a:ln>
            <a:noFill/>
          </a:ln>
        </p:spPr>
        <p:txBody>
          <a:bodyPr anchorCtr="0" anchor="ctr" bIns="0" lIns="0" spcFirstLastPara="1" rIns="0" wrap="square" tIns="0">
            <a:noAutofit/>
          </a:bodyPr>
          <a:lstStyle/>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Classification – Logistic Regression &amp; Metrics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Tree-based Learning – Decision Trees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 Nearest Neighbors – KNN</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Unsupervised Learning – Clustering with K-Means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chemeClr val="dk1"/>
              </a:buClr>
              <a:buSzPts val="1200"/>
              <a:buFont typeface="Trebuchet MS"/>
              <a:buChar char="●"/>
            </a:pPr>
            <a:r>
              <a:rPr lang="en" sz="1200">
                <a:solidFill>
                  <a:schemeClr val="dk1"/>
                </a:solidFill>
                <a:latin typeface="Trebuchet MS"/>
                <a:ea typeface="Trebuchet MS"/>
                <a:cs typeface="Trebuchet MS"/>
                <a:sym typeface="Trebuchet MS"/>
              </a:rPr>
              <a:t>Intro to Neural Networks</a:t>
            </a:r>
            <a:endParaRPr sz="1200">
              <a:solidFill>
                <a:schemeClr val="dk1"/>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Case Study </a:t>
            </a:r>
            <a:endParaRPr sz="1200">
              <a:solidFill>
                <a:srgbClr val="888888"/>
              </a:solidFill>
              <a:latin typeface="Trebuchet MS"/>
              <a:ea typeface="Trebuchet MS"/>
              <a:cs typeface="Trebuchet MS"/>
              <a:sym typeface="Trebuchet MS"/>
            </a:endParaRPr>
          </a:p>
          <a:p>
            <a:pPr indent="0" lvl="0" marL="342900" rtl="0" algn="l">
              <a:lnSpc>
                <a:spcPct val="200000"/>
              </a:lnSpc>
              <a:spcBef>
                <a:spcPts val="800"/>
              </a:spcBef>
              <a:spcAft>
                <a:spcPts val="800"/>
              </a:spcAft>
              <a:buNone/>
            </a:pPr>
            <a:r>
              <a:t/>
            </a:r>
            <a:endParaRPr sz="1200">
              <a:solidFill>
                <a:srgbClr val="888888"/>
              </a:solidFill>
              <a:latin typeface="Trebuchet MS"/>
              <a:ea typeface="Trebuchet MS"/>
              <a:cs typeface="Trebuchet MS"/>
              <a:sym typeface="Trebuchet MS"/>
            </a:endParaRPr>
          </a:p>
        </p:txBody>
      </p:sp>
      <p:pic>
        <p:nvPicPr>
          <p:cNvPr id="694" name="Google Shape;694;p95"/>
          <p:cNvPicPr preferRelativeResize="0"/>
          <p:nvPr/>
        </p:nvPicPr>
        <p:blipFill>
          <a:blip r:embed="rId4">
            <a:alphaModFix/>
          </a:blip>
          <a:stretch>
            <a:fillRect/>
          </a:stretch>
        </p:blipFill>
        <p:spPr>
          <a:xfrm>
            <a:off x="2565731" y="2984143"/>
            <a:ext cx="172125" cy="172125"/>
          </a:xfrm>
          <a:prstGeom prst="rect">
            <a:avLst/>
          </a:prstGeom>
          <a:noFill/>
          <a:ln>
            <a:noFill/>
          </a:ln>
        </p:spPr>
      </p:pic>
      <p:pic>
        <p:nvPicPr>
          <p:cNvPr id="695" name="Google Shape;695;p95"/>
          <p:cNvPicPr preferRelativeResize="0"/>
          <p:nvPr/>
        </p:nvPicPr>
        <p:blipFill rotWithShape="1">
          <a:blip r:embed="rId5">
            <a:alphaModFix amt="10000"/>
          </a:blip>
          <a:srcRect b="0" l="0" r="48909" t="0"/>
          <a:stretch/>
        </p:blipFill>
        <p:spPr>
          <a:xfrm>
            <a:off x="7159192" y="771525"/>
            <a:ext cx="1795377" cy="3514106"/>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99" name="Shape 699"/>
        <p:cNvGrpSpPr/>
        <p:nvPr/>
      </p:nvGrpSpPr>
      <p:grpSpPr>
        <a:xfrm>
          <a:off x="0" y="0"/>
          <a:ext cx="0" cy="0"/>
          <a:chOff x="0" y="0"/>
          <a:chExt cx="0" cy="0"/>
        </a:xfrm>
      </p:grpSpPr>
      <p:sp>
        <p:nvSpPr>
          <p:cNvPr id="700" name="Google Shape;700;p96"/>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Key Components</a:t>
            </a:r>
            <a:endParaRPr sz="2000">
              <a:solidFill>
                <a:schemeClr val="dk1"/>
              </a:solidFill>
              <a:latin typeface="Century Gothic"/>
              <a:ea typeface="Century Gothic"/>
              <a:cs typeface="Century Gothic"/>
              <a:sym typeface="Century Gothic"/>
            </a:endParaRPr>
          </a:p>
        </p:txBody>
      </p:sp>
      <p:sp>
        <p:nvSpPr>
          <p:cNvPr id="701" name="Google Shape;701;p96"/>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702" name="Google Shape;702;p96"/>
          <p:cNvSpPr txBox="1"/>
          <p:nvPr/>
        </p:nvSpPr>
        <p:spPr>
          <a:xfrm>
            <a:off x="713500" y="867650"/>
            <a:ext cx="7714500" cy="3699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Clr>
                <a:schemeClr val="dk1"/>
              </a:buClr>
              <a:buSzPts val="1100"/>
              <a:buFont typeface="Arial"/>
              <a:buNone/>
            </a:pPr>
            <a:r>
              <a:rPr lang="en" sz="1350">
                <a:solidFill>
                  <a:srgbClr val="273239"/>
                </a:solidFill>
                <a:highlight>
                  <a:srgbClr val="FFFFFF"/>
                </a:highlight>
                <a:latin typeface="Nunito"/>
                <a:ea typeface="Nunito"/>
                <a:cs typeface="Nunito"/>
                <a:sym typeface="Nunito"/>
              </a:rPr>
              <a:t>The networks are built from several key components: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80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Neurons</a:t>
            </a:r>
            <a:r>
              <a:rPr lang="en" sz="1350">
                <a:solidFill>
                  <a:srgbClr val="273239"/>
                </a:solidFill>
                <a:highlight>
                  <a:srgbClr val="FFFFFF"/>
                </a:highlight>
                <a:latin typeface="Nunito"/>
                <a:ea typeface="Nunito"/>
                <a:cs typeface="Nunito"/>
                <a:sym typeface="Nunito"/>
              </a:rPr>
              <a:t>: The basic units that receive inputs, each neuron is governed by a threshold and an activation function.</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Connections</a:t>
            </a:r>
            <a:r>
              <a:rPr lang="en" sz="1350">
                <a:solidFill>
                  <a:srgbClr val="273239"/>
                </a:solidFill>
                <a:highlight>
                  <a:srgbClr val="FFFFFF"/>
                </a:highlight>
                <a:latin typeface="Nunito"/>
                <a:ea typeface="Nunito"/>
                <a:cs typeface="Nunito"/>
                <a:sym typeface="Nunito"/>
              </a:rPr>
              <a:t>: Links between neurons that carry information, regulated by weights and biases.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Weights and Biases</a:t>
            </a:r>
            <a:r>
              <a:rPr lang="en" sz="1350">
                <a:solidFill>
                  <a:srgbClr val="273239"/>
                </a:solidFill>
                <a:highlight>
                  <a:srgbClr val="FFFFFF"/>
                </a:highlight>
                <a:latin typeface="Nunito"/>
                <a:ea typeface="Nunito"/>
                <a:cs typeface="Nunito"/>
                <a:sym typeface="Nunito"/>
              </a:rPr>
              <a:t>: These parameters determine the strength and influence of connections.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Propagation Functions</a:t>
            </a:r>
            <a:r>
              <a:rPr lang="en" sz="1350">
                <a:solidFill>
                  <a:srgbClr val="273239"/>
                </a:solidFill>
                <a:highlight>
                  <a:srgbClr val="FFFFFF"/>
                </a:highlight>
                <a:latin typeface="Nunito"/>
                <a:ea typeface="Nunito"/>
                <a:cs typeface="Nunito"/>
                <a:sym typeface="Nunito"/>
              </a:rPr>
              <a:t>: Mechanisms that help process and transfer data across layers of neurons.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Learning Rule</a:t>
            </a:r>
            <a:r>
              <a:rPr lang="en" sz="1350">
                <a:solidFill>
                  <a:srgbClr val="273239"/>
                </a:solidFill>
                <a:highlight>
                  <a:srgbClr val="FFFFFF"/>
                </a:highlight>
                <a:latin typeface="Nunito"/>
                <a:ea typeface="Nunito"/>
                <a:cs typeface="Nunito"/>
                <a:sym typeface="Nunito"/>
              </a:rPr>
              <a:t>: The method that adjusts weights and biases over time to improve accuracy.</a:t>
            </a:r>
            <a:endParaRPr sz="1200">
              <a:solidFill>
                <a:srgbClr val="273239"/>
              </a:solidFill>
              <a:highlight>
                <a:srgbClr val="FFFFFF"/>
              </a:highlight>
              <a:latin typeface="Century Gothic"/>
              <a:ea typeface="Century Gothic"/>
              <a:cs typeface="Century Gothic"/>
              <a:sym typeface="Century Gothic"/>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6" name="Shape 706"/>
        <p:cNvGrpSpPr/>
        <p:nvPr/>
      </p:nvGrpSpPr>
      <p:grpSpPr>
        <a:xfrm>
          <a:off x="0" y="0"/>
          <a:ext cx="0" cy="0"/>
          <a:chOff x="0" y="0"/>
          <a:chExt cx="0" cy="0"/>
        </a:xfrm>
      </p:grpSpPr>
      <p:sp>
        <p:nvSpPr>
          <p:cNvPr id="707" name="Google Shape;707;p97"/>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 Building Blocks: Neurons</a:t>
            </a:r>
            <a:endParaRPr sz="2000">
              <a:solidFill>
                <a:schemeClr val="dk1"/>
              </a:solidFill>
              <a:latin typeface="Century Gothic"/>
              <a:ea typeface="Century Gothic"/>
              <a:cs typeface="Century Gothic"/>
              <a:sym typeface="Century Gothic"/>
            </a:endParaRPr>
          </a:p>
        </p:txBody>
      </p:sp>
      <p:sp>
        <p:nvSpPr>
          <p:cNvPr id="708" name="Google Shape;708;p97"/>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709" name="Google Shape;709;p97"/>
          <p:cNvSpPr txBox="1"/>
          <p:nvPr/>
        </p:nvSpPr>
        <p:spPr>
          <a:xfrm>
            <a:off x="713500" y="867650"/>
            <a:ext cx="7548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273239"/>
                </a:solidFill>
                <a:highlight>
                  <a:srgbClr val="FFFFFF"/>
                </a:highlight>
                <a:latin typeface="Century Gothic"/>
                <a:ea typeface="Century Gothic"/>
                <a:cs typeface="Century Gothic"/>
                <a:sym typeface="Century Gothic"/>
              </a:rPr>
              <a:t>First, we have to talk about neurons, the basic unit of a neural network. A neuron takes inputs, does some math with them, and produces one output. Here’s what a 2-input neuron looks like:</a:t>
            </a:r>
            <a:endParaRPr sz="1200">
              <a:latin typeface="Century Gothic"/>
              <a:ea typeface="Century Gothic"/>
              <a:cs typeface="Century Gothic"/>
              <a:sym typeface="Century Gothic"/>
            </a:endParaRPr>
          </a:p>
        </p:txBody>
      </p:sp>
      <p:pic>
        <p:nvPicPr>
          <p:cNvPr id="710" name="Google Shape;710;p97"/>
          <p:cNvPicPr preferRelativeResize="0"/>
          <p:nvPr/>
        </p:nvPicPr>
        <p:blipFill rotWithShape="1">
          <a:blip r:embed="rId3">
            <a:alphaModFix/>
          </a:blip>
          <a:srcRect b="0" l="0" r="4916" t="0"/>
          <a:stretch/>
        </p:blipFill>
        <p:spPr>
          <a:xfrm>
            <a:off x="801225" y="1601000"/>
            <a:ext cx="3574175" cy="2192750"/>
          </a:xfrm>
          <a:prstGeom prst="rect">
            <a:avLst/>
          </a:prstGeom>
          <a:noFill/>
          <a:ln>
            <a:noFill/>
          </a:ln>
        </p:spPr>
      </p:pic>
      <p:pic>
        <p:nvPicPr>
          <p:cNvPr id="711" name="Google Shape;711;p97"/>
          <p:cNvPicPr preferRelativeResize="0"/>
          <p:nvPr/>
        </p:nvPicPr>
        <p:blipFill>
          <a:blip r:embed="rId4">
            <a:alphaModFix/>
          </a:blip>
          <a:stretch>
            <a:fillRect/>
          </a:stretch>
        </p:blipFill>
        <p:spPr>
          <a:xfrm>
            <a:off x="4452050" y="1522650"/>
            <a:ext cx="4356575" cy="23494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5" name="Shape 715"/>
        <p:cNvGrpSpPr/>
        <p:nvPr/>
      </p:nvGrpSpPr>
      <p:grpSpPr>
        <a:xfrm>
          <a:off x="0" y="0"/>
          <a:ext cx="0" cy="0"/>
          <a:chOff x="0" y="0"/>
          <a:chExt cx="0" cy="0"/>
        </a:xfrm>
      </p:grpSpPr>
      <p:sp>
        <p:nvSpPr>
          <p:cNvPr id="716" name="Google Shape;716;p98"/>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Learning in neural networks </a:t>
            </a:r>
            <a:endParaRPr sz="2000">
              <a:solidFill>
                <a:schemeClr val="dk1"/>
              </a:solidFill>
              <a:latin typeface="Century Gothic"/>
              <a:ea typeface="Century Gothic"/>
              <a:cs typeface="Century Gothic"/>
              <a:sym typeface="Century Gothic"/>
            </a:endParaRPr>
          </a:p>
        </p:txBody>
      </p:sp>
      <p:sp>
        <p:nvSpPr>
          <p:cNvPr id="717" name="Google Shape;717;p98"/>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718" name="Google Shape;718;p98"/>
          <p:cNvSpPr txBox="1"/>
          <p:nvPr/>
        </p:nvSpPr>
        <p:spPr>
          <a:xfrm>
            <a:off x="713500" y="867650"/>
            <a:ext cx="7548300" cy="1754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sz="1200">
                <a:solidFill>
                  <a:srgbClr val="273239"/>
                </a:solidFill>
                <a:highlight>
                  <a:srgbClr val="FFFFFF"/>
                </a:highlight>
                <a:latin typeface="Century Gothic"/>
                <a:ea typeface="Century Gothic"/>
                <a:cs typeface="Century Gothic"/>
                <a:sym typeface="Century Gothic"/>
              </a:rPr>
              <a:t>Learning in neural networks follows a structured, three-stage process:</a:t>
            </a:r>
            <a:endParaRPr sz="1200">
              <a:solidFill>
                <a:srgbClr val="273239"/>
              </a:solidFill>
              <a:highlight>
                <a:srgbClr val="FFFFFF"/>
              </a:highlight>
              <a:latin typeface="Century Gothic"/>
              <a:ea typeface="Century Gothic"/>
              <a:cs typeface="Century Gothic"/>
              <a:sym typeface="Century Gothic"/>
            </a:endParaRPr>
          </a:p>
          <a:p>
            <a:pPr indent="-304800" lvl="0" marL="457200" rtl="0" algn="l">
              <a:lnSpc>
                <a:spcPct val="150000"/>
              </a:lnSpc>
              <a:spcBef>
                <a:spcPts val="0"/>
              </a:spcBef>
              <a:spcAft>
                <a:spcPts val="0"/>
              </a:spcAft>
              <a:buClr>
                <a:srgbClr val="273239"/>
              </a:buClr>
              <a:buSzPts val="1200"/>
              <a:buFont typeface="Century Gothic"/>
              <a:buChar char="●"/>
            </a:pPr>
            <a:r>
              <a:rPr b="1" lang="en" sz="1200">
                <a:solidFill>
                  <a:srgbClr val="273239"/>
                </a:solidFill>
                <a:highlight>
                  <a:srgbClr val="FFFFFF"/>
                </a:highlight>
                <a:latin typeface="Century Gothic"/>
                <a:ea typeface="Century Gothic"/>
                <a:cs typeface="Century Gothic"/>
                <a:sym typeface="Century Gothic"/>
              </a:rPr>
              <a:t>Input Computation</a:t>
            </a:r>
            <a:r>
              <a:rPr lang="en" sz="1200">
                <a:solidFill>
                  <a:srgbClr val="273239"/>
                </a:solidFill>
                <a:highlight>
                  <a:srgbClr val="FFFFFF"/>
                </a:highlight>
                <a:latin typeface="Century Gothic"/>
                <a:ea typeface="Century Gothic"/>
                <a:cs typeface="Century Gothic"/>
                <a:sym typeface="Century Gothic"/>
              </a:rPr>
              <a:t>: Data is fed into the network.</a:t>
            </a:r>
            <a:endParaRPr sz="1200">
              <a:solidFill>
                <a:srgbClr val="273239"/>
              </a:solidFill>
              <a:highlight>
                <a:srgbClr val="FFFFFF"/>
              </a:highlight>
              <a:latin typeface="Century Gothic"/>
              <a:ea typeface="Century Gothic"/>
              <a:cs typeface="Century Gothic"/>
              <a:sym typeface="Century Gothic"/>
            </a:endParaRPr>
          </a:p>
          <a:p>
            <a:pPr indent="-304800" lvl="0" marL="457200" rtl="0" algn="l">
              <a:lnSpc>
                <a:spcPct val="150000"/>
              </a:lnSpc>
              <a:spcBef>
                <a:spcPts val="0"/>
              </a:spcBef>
              <a:spcAft>
                <a:spcPts val="0"/>
              </a:spcAft>
              <a:buClr>
                <a:srgbClr val="273239"/>
              </a:buClr>
              <a:buSzPts val="1200"/>
              <a:buFont typeface="Century Gothic"/>
              <a:buChar char="●"/>
            </a:pPr>
            <a:r>
              <a:rPr b="1" lang="en" sz="1200">
                <a:solidFill>
                  <a:srgbClr val="273239"/>
                </a:solidFill>
                <a:highlight>
                  <a:srgbClr val="FFFFFF"/>
                </a:highlight>
                <a:latin typeface="Century Gothic"/>
                <a:ea typeface="Century Gothic"/>
                <a:cs typeface="Century Gothic"/>
                <a:sym typeface="Century Gothic"/>
              </a:rPr>
              <a:t>Output Generation</a:t>
            </a:r>
            <a:r>
              <a:rPr lang="en" sz="1200">
                <a:solidFill>
                  <a:srgbClr val="273239"/>
                </a:solidFill>
                <a:highlight>
                  <a:srgbClr val="FFFFFF"/>
                </a:highlight>
                <a:latin typeface="Century Gothic"/>
                <a:ea typeface="Century Gothic"/>
                <a:cs typeface="Century Gothic"/>
                <a:sym typeface="Century Gothic"/>
              </a:rPr>
              <a:t>: Based on the current parameters, the network generates an output.</a:t>
            </a:r>
            <a:endParaRPr sz="1200">
              <a:solidFill>
                <a:srgbClr val="273239"/>
              </a:solidFill>
              <a:highlight>
                <a:srgbClr val="FFFFFF"/>
              </a:highlight>
              <a:latin typeface="Century Gothic"/>
              <a:ea typeface="Century Gothic"/>
              <a:cs typeface="Century Gothic"/>
              <a:sym typeface="Century Gothic"/>
            </a:endParaRPr>
          </a:p>
          <a:p>
            <a:pPr indent="-304800" lvl="0" marL="457200" rtl="0" algn="l">
              <a:lnSpc>
                <a:spcPct val="150000"/>
              </a:lnSpc>
              <a:spcBef>
                <a:spcPts val="0"/>
              </a:spcBef>
              <a:spcAft>
                <a:spcPts val="0"/>
              </a:spcAft>
              <a:buClr>
                <a:srgbClr val="273239"/>
              </a:buClr>
              <a:buSzPts val="1200"/>
              <a:buFont typeface="Century Gothic"/>
              <a:buChar char="●"/>
            </a:pPr>
            <a:r>
              <a:rPr b="1" lang="en" sz="1200">
                <a:solidFill>
                  <a:srgbClr val="273239"/>
                </a:solidFill>
                <a:highlight>
                  <a:srgbClr val="FFFFFF"/>
                </a:highlight>
                <a:latin typeface="Century Gothic"/>
                <a:ea typeface="Century Gothic"/>
                <a:cs typeface="Century Gothic"/>
                <a:sym typeface="Century Gothic"/>
              </a:rPr>
              <a:t>Iterative Refinement</a:t>
            </a:r>
            <a:r>
              <a:rPr lang="en" sz="1200">
                <a:solidFill>
                  <a:srgbClr val="273239"/>
                </a:solidFill>
                <a:highlight>
                  <a:srgbClr val="FFFFFF"/>
                </a:highlight>
                <a:latin typeface="Century Gothic"/>
                <a:ea typeface="Century Gothic"/>
                <a:cs typeface="Century Gothic"/>
                <a:sym typeface="Century Gothic"/>
              </a:rPr>
              <a:t>: The network refines its output by adjusting weights and biases, gradually improving its performance on diverse tasks.</a:t>
            </a:r>
            <a:endParaRPr sz="1200">
              <a:solidFill>
                <a:srgbClr val="273239"/>
              </a:solidFill>
              <a:highlight>
                <a:srgbClr val="FFFFFF"/>
              </a:highlight>
              <a:latin typeface="Century Gothic"/>
              <a:ea typeface="Century Gothic"/>
              <a:cs typeface="Century Gothic"/>
              <a:sym typeface="Century Gothic"/>
            </a:endParaRPr>
          </a:p>
          <a:p>
            <a:pPr indent="0" lvl="0" marL="0" rtl="0" algn="l">
              <a:lnSpc>
                <a:spcPct val="150000"/>
              </a:lnSpc>
              <a:spcBef>
                <a:spcPts val="0"/>
              </a:spcBef>
              <a:spcAft>
                <a:spcPts val="0"/>
              </a:spcAft>
              <a:buNone/>
            </a:pPr>
            <a:r>
              <a:t/>
            </a:r>
            <a:endParaRPr sz="1200">
              <a:solidFill>
                <a:srgbClr val="273239"/>
              </a:solidFill>
              <a:highlight>
                <a:srgbClr val="FFFFFF"/>
              </a:highlight>
              <a:latin typeface="Century Gothic"/>
              <a:ea typeface="Century Gothic"/>
              <a:cs typeface="Century Gothic"/>
              <a:sym typeface="Century Gothic"/>
            </a:endParaRPr>
          </a:p>
        </p:txBody>
      </p:sp>
      <p:pic>
        <p:nvPicPr>
          <p:cNvPr id="719" name="Google Shape;719;p98"/>
          <p:cNvPicPr preferRelativeResize="0"/>
          <p:nvPr/>
        </p:nvPicPr>
        <p:blipFill>
          <a:blip r:embed="rId3">
            <a:alphaModFix/>
          </a:blip>
          <a:stretch>
            <a:fillRect/>
          </a:stretch>
        </p:blipFill>
        <p:spPr>
          <a:xfrm>
            <a:off x="1820175" y="2350525"/>
            <a:ext cx="5583474" cy="2233400"/>
          </a:xfrm>
          <a:prstGeom prst="rect">
            <a:avLst/>
          </a:prstGeom>
          <a:noFill/>
          <a:ln>
            <a:noFill/>
          </a:ln>
        </p:spPr>
      </p:pic>
      <p:sp>
        <p:nvSpPr>
          <p:cNvPr id="720" name="Google Shape;720;p98"/>
          <p:cNvSpPr txBox="1"/>
          <p:nvPr/>
        </p:nvSpPr>
        <p:spPr>
          <a:xfrm>
            <a:off x="377050" y="4583922"/>
            <a:ext cx="5689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accent3"/>
                </a:solidFill>
              </a:rPr>
              <a:t>Source</a:t>
            </a:r>
            <a:r>
              <a:rPr lang="en" sz="1000">
                <a:solidFill>
                  <a:schemeClr val="accent3"/>
                </a:solidFill>
              </a:rPr>
              <a:t>: </a:t>
            </a:r>
            <a:r>
              <a:rPr lang="en" sz="1000" u="sng">
                <a:solidFill>
                  <a:schemeClr val="hlink"/>
                </a:solidFill>
                <a:hlinkClick r:id="rId4"/>
              </a:rPr>
              <a:t>https://www.geeksforgeeks.org/deep-learning/neural-networks-a-beginners-guide/</a:t>
            </a:r>
            <a:r>
              <a:rPr lang="en" sz="1000">
                <a:solidFill>
                  <a:schemeClr val="accent3"/>
                </a:solidFill>
              </a:rPr>
              <a:t> </a:t>
            </a:r>
            <a:endParaRPr sz="1000">
              <a:solidFill>
                <a:schemeClr val="accent3"/>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4" name="Shape 724"/>
        <p:cNvGrpSpPr/>
        <p:nvPr/>
      </p:nvGrpSpPr>
      <p:grpSpPr>
        <a:xfrm>
          <a:off x="0" y="0"/>
          <a:ext cx="0" cy="0"/>
          <a:chOff x="0" y="0"/>
          <a:chExt cx="0" cy="0"/>
        </a:xfrm>
      </p:grpSpPr>
      <p:sp>
        <p:nvSpPr>
          <p:cNvPr id="725" name="Google Shape;725;p99"/>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Importance of Neural Networks</a:t>
            </a:r>
            <a:endParaRPr sz="2000">
              <a:solidFill>
                <a:schemeClr val="dk1"/>
              </a:solidFill>
              <a:latin typeface="Century Gothic"/>
              <a:ea typeface="Century Gothic"/>
              <a:cs typeface="Century Gothic"/>
              <a:sym typeface="Century Gothic"/>
            </a:endParaRPr>
          </a:p>
        </p:txBody>
      </p:sp>
      <p:sp>
        <p:nvSpPr>
          <p:cNvPr id="726" name="Google Shape;726;p99"/>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727" name="Google Shape;727;p99"/>
          <p:cNvSpPr txBox="1"/>
          <p:nvPr/>
        </p:nvSpPr>
        <p:spPr>
          <a:xfrm>
            <a:off x="589850" y="867650"/>
            <a:ext cx="7600200" cy="3086100"/>
          </a:xfrm>
          <a:prstGeom prst="rect">
            <a:avLst/>
          </a:prstGeom>
          <a:noFill/>
          <a:ln>
            <a:noFill/>
          </a:ln>
        </p:spPr>
        <p:txBody>
          <a:bodyPr anchorCtr="0" anchor="t" bIns="91425" lIns="91425" spcFirstLastPara="1" rIns="91425" wrap="square" tIns="91425">
            <a:spAutoFit/>
          </a:bodyPr>
          <a:lstStyle/>
          <a:p>
            <a:pPr indent="-311150" lvl="0" marL="457200" rtl="0" algn="l">
              <a:lnSpc>
                <a:spcPct val="150000"/>
              </a:lnSpc>
              <a:spcBef>
                <a:spcPts val="0"/>
              </a:spcBef>
              <a:spcAft>
                <a:spcPts val="0"/>
              </a:spcAft>
              <a:buClr>
                <a:srgbClr val="273239"/>
              </a:buClr>
              <a:buSzPts val="1300"/>
              <a:buFont typeface="Century Gothic"/>
              <a:buChar char="●"/>
            </a:pPr>
            <a:r>
              <a:rPr b="1" lang="en" sz="1300">
                <a:solidFill>
                  <a:srgbClr val="273239"/>
                </a:solidFill>
                <a:highlight>
                  <a:srgbClr val="FFFFFF"/>
                </a:highlight>
                <a:latin typeface="Century Gothic"/>
                <a:ea typeface="Century Gothic"/>
                <a:cs typeface="Century Gothic"/>
                <a:sym typeface="Century Gothic"/>
              </a:rPr>
              <a:t>Identify Complex Patterns:</a:t>
            </a:r>
            <a:r>
              <a:rPr lang="en" sz="1300">
                <a:solidFill>
                  <a:srgbClr val="273239"/>
                </a:solidFill>
                <a:highlight>
                  <a:srgbClr val="FFFFFF"/>
                </a:highlight>
                <a:latin typeface="Century Gothic"/>
                <a:ea typeface="Century Gothic"/>
                <a:cs typeface="Century Gothic"/>
                <a:sym typeface="Century Gothic"/>
              </a:rPr>
              <a:t> Recognize intricate structures and relationships in data; adapt to dynamic and changing environments.</a:t>
            </a:r>
            <a:endParaRPr sz="1300">
              <a:solidFill>
                <a:srgbClr val="273239"/>
              </a:solidFill>
              <a:highlight>
                <a:srgbClr val="FFFFFF"/>
              </a:highlight>
              <a:latin typeface="Century Gothic"/>
              <a:ea typeface="Century Gothic"/>
              <a:cs typeface="Century Gothic"/>
              <a:sym typeface="Century Gothic"/>
            </a:endParaRPr>
          </a:p>
          <a:p>
            <a:pPr indent="-311150" lvl="0" marL="457200" rtl="0" algn="l">
              <a:lnSpc>
                <a:spcPct val="150000"/>
              </a:lnSpc>
              <a:spcBef>
                <a:spcPts val="0"/>
              </a:spcBef>
              <a:spcAft>
                <a:spcPts val="0"/>
              </a:spcAft>
              <a:buClr>
                <a:srgbClr val="273239"/>
              </a:buClr>
              <a:buSzPts val="1300"/>
              <a:buFont typeface="Century Gothic"/>
              <a:buChar char="●"/>
            </a:pPr>
            <a:r>
              <a:rPr b="1" lang="en" sz="1300">
                <a:solidFill>
                  <a:srgbClr val="273239"/>
                </a:solidFill>
                <a:highlight>
                  <a:srgbClr val="FFFFFF"/>
                </a:highlight>
                <a:latin typeface="Century Gothic"/>
                <a:ea typeface="Century Gothic"/>
                <a:cs typeface="Century Gothic"/>
                <a:sym typeface="Century Gothic"/>
              </a:rPr>
              <a:t>Learn from Data</a:t>
            </a:r>
            <a:r>
              <a:rPr lang="en" sz="1300">
                <a:solidFill>
                  <a:srgbClr val="273239"/>
                </a:solidFill>
                <a:highlight>
                  <a:srgbClr val="FFFFFF"/>
                </a:highlight>
                <a:latin typeface="Century Gothic"/>
                <a:ea typeface="Century Gothic"/>
                <a:cs typeface="Century Gothic"/>
                <a:sym typeface="Century Gothic"/>
              </a:rPr>
              <a:t>: Handle vast datasets efficiently; improve performance with experience and retraining.</a:t>
            </a:r>
            <a:endParaRPr sz="1300">
              <a:solidFill>
                <a:srgbClr val="273239"/>
              </a:solidFill>
              <a:highlight>
                <a:srgbClr val="FFFFFF"/>
              </a:highlight>
              <a:latin typeface="Century Gothic"/>
              <a:ea typeface="Century Gothic"/>
              <a:cs typeface="Century Gothic"/>
              <a:sym typeface="Century Gothic"/>
            </a:endParaRPr>
          </a:p>
          <a:p>
            <a:pPr indent="-311150" lvl="0" marL="457200" rtl="0" algn="l">
              <a:lnSpc>
                <a:spcPct val="150000"/>
              </a:lnSpc>
              <a:spcBef>
                <a:spcPts val="0"/>
              </a:spcBef>
              <a:spcAft>
                <a:spcPts val="0"/>
              </a:spcAft>
              <a:buClr>
                <a:srgbClr val="273239"/>
              </a:buClr>
              <a:buSzPts val="1300"/>
              <a:buFont typeface="Century Gothic"/>
              <a:buChar char="●"/>
            </a:pPr>
            <a:r>
              <a:rPr b="1" lang="en" sz="1300">
                <a:solidFill>
                  <a:srgbClr val="273239"/>
                </a:solidFill>
                <a:highlight>
                  <a:srgbClr val="FFFFFF"/>
                </a:highlight>
                <a:latin typeface="Century Gothic"/>
                <a:ea typeface="Century Gothic"/>
                <a:cs typeface="Century Gothic"/>
                <a:sym typeface="Century Gothic"/>
              </a:rPr>
              <a:t>Drive Key Technologies</a:t>
            </a:r>
            <a:r>
              <a:rPr lang="en" sz="1300">
                <a:solidFill>
                  <a:srgbClr val="273239"/>
                </a:solidFill>
                <a:highlight>
                  <a:srgbClr val="FFFFFF"/>
                </a:highlight>
                <a:latin typeface="Century Gothic"/>
                <a:ea typeface="Century Gothic"/>
                <a:cs typeface="Century Gothic"/>
                <a:sym typeface="Century Gothic"/>
              </a:rPr>
              <a:t>: Power natural language processing (NLP); enable self-driving vehicles; support automated decision-making systems.</a:t>
            </a:r>
            <a:endParaRPr sz="1300">
              <a:solidFill>
                <a:srgbClr val="273239"/>
              </a:solidFill>
              <a:highlight>
                <a:srgbClr val="FFFFFF"/>
              </a:highlight>
              <a:latin typeface="Century Gothic"/>
              <a:ea typeface="Century Gothic"/>
              <a:cs typeface="Century Gothic"/>
              <a:sym typeface="Century Gothic"/>
            </a:endParaRPr>
          </a:p>
          <a:p>
            <a:pPr indent="-311150" lvl="0" marL="457200" rtl="0" algn="l">
              <a:lnSpc>
                <a:spcPct val="150000"/>
              </a:lnSpc>
              <a:spcBef>
                <a:spcPts val="0"/>
              </a:spcBef>
              <a:spcAft>
                <a:spcPts val="0"/>
              </a:spcAft>
              <a:buClr>
                <a:srgbClr val="273239"/>
              </a:buClr>
              <a:buSzPts val="1300"/>
              <a:buFont typeface="Century Gothic"/>
              <a:buChar char="●"/>
            </a:pPr>
            <a:r>
              <a:rPr b="1" lang="en" sz="1300">
                <a:solidFill>
                  <a:srgbClr val="273239"/>
                </a:solidFill>
                <a:highlight>
                  <a:srgbClr val="FFFFFF"/>
                </a:highlight>
                <a:latin typeface="Century Gothic"/>
                <a:ea typeface="Century Gothic"/>
                <a:cs typeface="Century Gothic"/>
                <a:sym typeface="Century Gothic"/>
              </a:rPr>
              <a:t>Boost Efficiency</a:t>
            </a:r>
            <a:r>
              <a:rPr lang="en" sz="1300">
                <a:solidFill>
                  <a:srgbClr val="273239"/>
                </a:solidFill>
                <a:highlight>
                  <a:srgbClr val="FFFFFF"/>
                </a:highlight>
                <a:latin typeface="Century Gothic"/>
                <a:ea typeface="Century Gothic"/>
                <a:cs typeface="Century Gothic"/>
                <a:sym typeface="Century Gothic"/>
              </a:rPr>
              <a:t>: Streamline workflows and processes; enhance productivity across industries.</a:t>
            </a:r>
            <a:endParaRPr sz="1300">
              <a:solidFill>
                <a:srgbClr val="273239"/>
              </a:solidFill>
              <a:highlight>
                <a:srgbClr val="FFFFFF"/>
              </a:highlight>
              <a:latin typeface="Century Gothic"/>
              <a:ea typeface="Century Gothic"/>
              <a:cs typeface="Century Gothic"/>
              <a:sym typeface="Century Gothic"/>
            </a:endParaRPr>
          </a:p>
          <a:p>
            <a:pPr indent="-311150" lvl="0" marL="457200" rtl="0" algn="l">
              <a:lnSpc>
                <a:spcPct val="150000"/>
              </a:lnSpc>
              <a:spcBef>
                <a:spcPts val="0"/>
              </a:spcBef>
              <a:spcAft>
                <a:spcPts val="0"/>
              </a:spcAft>
              <a:buClr>
                <a:srgbClr val="273239"/>
              </a:buClr>
              <a:buSzPts val="1300"/>
              <a:buFont typeface="Century Gothic"/>
              <a:buChar char="●"/>
            </a:pPr>
            <a:r>
              <a:rPr b="1" lang="en" sz="1300">
                <a:solidFill>
                  <a:srgbClr val="273239"/>
                </a:solidFill>
                <a:highlight>
                  <a:srgbClr val="FFFFFF"/>
                </a:highlight>
                <a:latin typeface="Century Gothic"/>
                <a:ea typeface="Century Gothic"/>
                <a:cs typeface="Century Gothic"/>
                <a:sym typeface="Century Gothic"/>
              </a:rPr>
              <a:t>Backbone of AI</a:t>
            </a:r>
            <a:r>
              <a:rPr lang="en" sz="1300">
                <a:solidFill>
                  <a:srgbClr val="273239"/>
                </a:solidFill>
                <a:highlight>
                  <a:srgbClr val="FFFFFF"/>
                </a:highlight>
                <a:latin typeface="Century Gothic"/>
                <a:ea typeface="Century Gothic"/>
                <a:cs typeface="Century Gothic"/>
                <a:sym typeface="Century Gothic"/>
              </a:rPr>
              <a:t>: Serve as the core driver of artificial intelligence progress; continue shaping the future of technology and innovation.</a:t>
            </a:r>
            <a:endParaRPr sz="1300">
              <a:solidFill>
                <a:srgbClr val="273239"/>
              </a:solidFill>
              <a:highlight>
                <a:srgbClr val="FFFFFF"/>
              </a:highlight>
              <a:latin typeface="Century Gothic"/>
              <a:ea typeface="Century Gothic"/>
              <a:cs typeface="Century Gothic"/>
              <a:sym typeface="Century Gothic"/>
            </a:endParaRPr>
          </a:p>
        </p:txBody>
      </p:sp>
      <p:sp>
        <p:nvSpPr>
          <p:cNvPr id="728" name="Google Shape;728;p99"/>
          <p:cNvSpPr txBox="1"/>
          <p:nvPr/>
        </p:nvSpPr>
        <p:spPr>
          <a:xfrm>
            <a:off x="377050" y="4583922"/>
            <a:ext cx="5689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accent3"/>
                </a:solidFill>
              </a:rPr>
              <a:t>Source</a:t>
            </a:r>
            <a:r>
              <a:rPr lang="en" sz="1000">
                <a:solidFill>
                  <a:schemeClr val="accent3"/>
                </a:solidFill>
              </a:rPr>
              <a:t>: </a:t>
            </a:r>
            <a:r>
              <a:rPr lang="en" sz="1000" u="sng">
                <a:solidFill>
                  <a:schemeClr val="hlink"/>
                </a:solidFill>
                <a:hlinkClick r:id="rId3"/>
              </a:rPr>
              <a:t>https://www.geeksforgeeks.org/deep-learning/neural-networks-a-beginners-guide/</a:t>
            </a:r>
            <a:r>
              <a:rPr lang="en" sz="1000">
                <a:solidFill>
                  <a:schemeClr val="accent3"/>
                </a:solidFill>
              </a:rPr>
              <a:t> </a:t>
            </a:r>
            <a:endParaRPr sz="1000">
              <a:solidFill>
                <a:schemeClr val="accent3"/>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2" name="Shape 732"/>
        <p:cNvGrpSpPr/>
        <p:nvPr/>
      </p:nvGrpSpPr>
      <p:grpSpPr>
        <a:xfrm>
          <a:off x="0" y="0"/>
          <a:ext cx="0" cy="0"/>
          <a:chOff x="0" y="0"/>
          <a:chExt cx="0" cy="0"/>
        </a:xfrm>
      </p:grpSpPr>
      <p:sp>
        <p:nvSpPr>
          <p:cNvPr id="733" name="Google Shape;733;p100"/>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Combining Neurons into a Neural Network</a:t>
            </a:r>
            <a:endParaRPr sz="2000">
              <a:solidFill>
                <a:schemeClr val="dk1"/>
              </a:solidFill>
              <a:latin typeface="Century Gothic"/>
              <a:ea typeface="Century Gothic"/>
              <a:cs typeface="Century Gothic"/>
              <a:sym typeface="Century Gothic"/>
            </a:endParaRPr>
          </a:p>
        </p:txBody>
      </p:sp>
      <p:sp>
        <p:nvSpPr>
          <p:cNvPr id="734" name="Google Shape;734;p100"/>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735" name="Google Shape;735;p100"/>
          <p:cNvSpPr txBox="1"/>
          <p:nvPr/>
        </p:nvSpPr>
        <p:spPr>
          <a:xfrm>
            <a:off x="713500" y="867650"/>
            <a:ext cx="68496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273239"/>
                </a:solidFill>
                <a:highlight>
                  <a:srgbClr val="FFFFFF"/>
                </a:highlight>
                <a:latin typeface="Century Gothic"/>
                <a:ea typeface="Century Gothic"/>
                <a:cs typeface="Century Gothic"/>
                <a:sym typeface="Century Gothic"/>
              </a:rPr>
              <a:t>A neural network is nothing more than a bunch of neurons connected together. Here’s what a simple neural network might look like:</a:t>
            </a:r>
            <a:endParaRPr sz="1200">
              <a:solidFill>
                <a:srgbClr val="273239"/>
              </a:solidFill>
              <a:highlight>
                <a:srgbClr val="FFFFFF"/>
              </a:highlight>
              <a:latin typeface="Century Gothic"/>
              <a:ea typeface="Century Gothic"/>
              <a:cs typeface="Century Gothic"/>
              <a:sym typeface="Century Gothic"/>
            </a:endParaRPr>
          </a:p>
          <a:p>
            <a:pPr indent="0" lvl="0" marL="0" rtl="0" algn="l">
              <a:spcBef>
                <a:spcPts val="0"/>
              </a:spcBef>
              <a:spcAft>
                <a:spcPts val="0"/>
              </a:spcAft>
              <a:buNone/>
            </a:pPr>
            <a:r>
              <a:t/>
            </a:r>
            <a:endParaRPr sz="1200">
              <a:solidFill>
                <a:srgbClr val="273239"/>
              </a:solidFill>
              <a:highlight>
                <a:srgbClr val="FFFFFF"/>
              </a:highlight>
              <a:latin typeface="Century Gothic"/>
              <a:ea typeface="Century Gothic"/>
              <a:cs typeface="Century Gothic"/>
              <a:sym typeface="Century Gothic"/>
            </a:endParaRPr>
          </a:p>
          <a:p>
            <a:pPr indent="0" lvl="0" marL="0" rtl="0" algn="l">
              <a:spcBef>
                <a:spcPts val="0"/>
              </a:spcBef>
              <a:spcAft>
                <a:spcPts val="0"/>
              </a:spcAft>
              <a:buNone/>
            </a:pPr>
            <a:r>
              <a:t/>
            </a:r>
            <a:endParaRPr sz="1200">
              <a:solidFill>
                <a:srgbClr val="273239"/>
              </a:solidFill>
              <a:highlight>
                <a:srgbClr val="FFFFFF"/>
              </a:highlight>
              <a:latin typeface="Century Gothic"/>
              <a:ea typeface="Century Gothic"/>
              <a:cs typeface="Century Gothic"/>
              <a:sym typeface="Century Gothic"/>
            </a:endParaRPr>
          </a:p>
          <a:p>
            <a:pPr indent="0" lvl="0" marL="0" rtl="0" algn="l">
              <a:spcBef>
                <a:spcPts val="0"/>
              </a:spcBef>
              <a:spcAft>
                <a:spcPts val="0"/>
              </a:spcAft>
              <a:buNone/>
            </a:pPr>
            <a:r>
              <a:t/>
            </a:r>
            <a:endParaRPr sz="1200">
              <a:solidFill>
                <a:srgbClr val="273239"/>
              </a:solidFill>
              <a:highlight>
                <a:srgbClr val="FFFFFF"/>
              </a:highlight>
              <a:latin typeface="Century Gothic"/>
              <a:ea typeface="Century Gothic"/>
              <a:cs typeface="Century Gothic"/>
              <a:sym typeface="Century Gothic"/>
            </a:endParaRPr>
          </a:p>
          <a:p>
            <a:pPr indent="0" lvl="0" marL="0" rtl="0" algn="l">
              <a:spcBef>
                <a:spcPts val="0"/>
              </a:spcBef>
              <a:spcAft>
                <a:spcPts val="0"/>
              </a:spcAft>
              <a:buNone/>
            </a:pPr>
            <a:r>
              <a:t/>
            </a:r>
            <a:endParaRPr sz="1200">
              <a:solidFill>
                <a:srgbClr val="273239"/>
              </a:solidFill>
              <a:highlight>
                <a:srgbClr val="FFFFFF"/>
              </a:highlight>
              <a:latin typeface="Century Gothic"/>
              <a:ea typeface="Century Gothic"/>
              <a:cs typeface="Century Gothic"/>
              <a:sym typeface="Century Gothic"/>
            </a:endParaRPr>
          </a:p>
          <a:p>
            <a:pPr indent="0" lvl="0" marL="0" rtl="0" algn="l">
              <a:spcBef>
                <a:spcPts val="0"/>
              </a:spcBef>
              <a:spcAft>
                <a:spcPts val="0"/>
              </a:spcAft>
              <a:buNone/>
            </a:pPr>
            <a:r>
              <a:t/>
            </a:r>
            <a:endParaRPr sz="1200">
              <a:solidFill>
                <a:srgbClr val="273239"/>
              </a:solidFill>
              <a:highlight>
                <a:srgbClr val="FFFFFF"/>
              </a:highlight>
              <a:latin typeface="Century Gothic"/>
              <a:ea typeface="Century Gothic"/>
              <a:cs typeface="Century Gothic"/>
              <a:sym typeface="Century Gothic"/>
            </a:endParaRPr>
          </a:p>
          <a:p>
            <a:pPr indent="0" lvl="0" marL="0" rtl="0" algn="l">
              <a:spcBef>
                <a:spcPts val="0"/>
              </a:spcBef>
              <a:spcAft>
                <a:spcPts val="0"/>
              </a:spcAft>
              <a:buNone/>
            </a:pPr>
            <a:r>
              <a:t/>
            </a:r>
            <a:endParaRPr sz="1200">
              <a:solidFill>
                <a:srgbClr val="273239"/>
              </a:solidFill>
              <a:highlight>
                <a:srgbClr val="FFFFFF"/>
              </a:highlight>
              <a:latin typeface="Century Gothic"/>
              <a:ea typeface="Century Gothic"/>
              <a:cs typeface="Century Gothic"/>
              <a:sym typeface="Century Gothic"/>
            </a:endParaRPr>
          </a:p>
          <a:p>
            <a:pPr indent="0" lvl="0" marL="0" rtl="0" algn="l">
              <a:spcBef>
                <a:spcPts val="0"/>
              </a:spcBef>
              <a:spcAft>
                <a:spcPts val="0"/>
              </a:spcAft>
              <a:buNone/>
            </a:pPr>
            <a:r>
              <a:t/>
            </a:r>
            <a:endParaRPr sz="1200">
              <a:solidFill>
                <a:srgbClr val="273239"/>
              </a:solidFill>
              <a:highlight>
                <a:srgbClr val="FFFFFF"/>
              </a:highlight>
              <a:latin typeface="Century Gothic"/>
              <a:ea typeface="Century Gothic"/>
              <a:cs typeface="Century Gothic"/>
              <a:sym typeface="Century Gothic"/>
            </a:endParaRPr>
          </a:p>
          <a:p>
            <a:pPr indent="0" lvl="0" marL="0" rtl="0" algn="l">
              <a:spcBef>
                <a:spcPts val="0"/>
              </a:spcBef>
              <a:spcAft>
                <a:spcPts val="0"/>
              </a:spcAft>
              <a:buNone/>
            </a:pPr>
            <a:r>
              <a:t/>
            </a:r>
            <a:endParaRPr sz="1200">
              <a:solidFill>
                <a:srgbClr val="273239"/>
              </a:solidFill>
              <a:highlight>
                <a:srgbClr val="FFFFFF"/>
              </a:highlight>
              <a:latin typeface="Century Gothic"/>
              <a:ea typeface="Century Gothic"/>
              <a:cs typeface="Century Gothic"/>
              <a:sym typeface="Century Gothic"/>
            </a:endParaRPr>
          </a:p>
          <a:p>
            <a:pPr indent="0" lvl="0" marL="0" rtl="0" algn="l">
              <a:spcBef>
                <a:spcPts val="0"/>
              </a:spcBef>
              <a:spcAft>
                <a:spcPts val="0"/>
              </a:spcAft>
              <a:buNone/>
            </a:pPr>
            <a:r>
              <a:t/>
            </a:r>
            <a:endParaRPr sz="1200">
              <a:solidFill>
                <a:srgbClr val="273239"/>
              </a:solidFill>
              <a:highlight>
                <a:srgbClr val="FFFFFF"/>
              </a:highlight>
              <a:latin typeface="Century Gothic"/>
              <a:ea typeface="Century Gothic"/>
              <a:cs typeface="Century Gothic"/>
              <a:sym typeface="Century Gothic"/>
            </a:endParaRPr>
          </a:p>
          <a:p>
            <a:pPr indent="0" lvl="0" marL="0" rtl="0" algn="l">
              <a:spcBef>
                <a:spcPts val="0"/>
              </a:spcBef>
              <a:spcAft>
                <a:spcPts val="0"/>
              </a:spcAft>
              <a:buNone/>
            </a:pPr>
            <a:r>
              <a:t/>
            </a:r>
            <a:endParaRPr sz="1200">
              <a:solidFill>
                <a:srgbClr val="273239"/>
              </a:solidFill>
              <a:highlight>
                <a:srgbClr val="FFFFFF"/>
              </a:highlight>
              <a:latin typeface="Century Gothic"/>
              <a:ea typeface="Century Gothic"/>
              <a:cs typeface="Century Gothic"/>
              <a:sym typeface="Century Gothic"/>
            </a:endParaRPr>
          </a:p>
          <a:p>
            <a:pPr indent="0" lvl="0" marL="0" rtl="0" algn="l">
              <a:spcBef>
                <a:spcPts val="0"/>
              </a:spcBef>
              <a:spcAft>
                <a:spcPts val="0"/>
              </a:spcAft>
              <a:buNone/>
            </a:pPr>
            <a:r>
              <a:t/>
            </a:r>
            <a:endParaRPr sz="1200">
              <a:solidFill>
                <a:srgbClr val="273239"/>
              </a:solidFill>
              <a:highlight>
                <a:srgbClr val="FFFFFF"/>
              </a:highlight>
              <a:latin typeface="Century Gothic"/>
              <a:ea typeface="Century Gothic"/>
              <a:cs typeface="Century Gothic"/>
              <a:sym typeface="Century Gothic"/>
            </a:endParaRPr>
          </a:p>
        </p:txBody>
      </p:sp>
      <p:pic>
        <p:nvPicPr>
          <p:cNvPr id="736" name="Google Shape;736;p100"/>
          <p:cNvPicPr preferRelativeResize="0"/>
          <p:nvPr/>
        </p:nvPicPr>
        <p:blipFill>
          <a:blip r:embed="rId3">
            <a:alphaModFix/>
          </a:blip>
          <a:stretch>
            <a:fillRect/>
          </a:stretch>
        </p:blipFill>
        <p:spPr>
          <a:xfrm>
            <a:off x="1924925" y="1516450"/>
            <a:ext cx="4662714" cy="201657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0" name="Shape 740"/>
        <p:cNvGrpSpPr/>
        <p:nvPr/>
      </p:nvGrpSpPr>
      <p:grpSpPr>
        <a:xfrm>
          <a:off x="0" y="0"/>
          <a:ext cx="0" cy="0"/>
          <a:chOff x="0" y="0"/>
          <a:chExt cx="0" cy="0"/>
        </a:xfrm>
      </p:grpSpPr>
      <p:sp>
        <p:nvSpPr>
          <p:cNvPr id="741" name="Google Shape;741;p101"/>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Layers in Neural Network Architecture</a:t>
            </a:r>
            <a:endParaRPr sz="2000">
              <a:solidFill>
                <a:schemeClr val="dk1"/>
              </a:solidFill>
              <a:latin typeface="Century Gothic"/>
              <a:ea typeface="Century Gothic"/>
              <a:cs typeface="Century Gothic"/>
              <a:sym typeface="Century Gothic"/>
            </a:endParaRPr>
          </a:p>
        </p:txBody>
      </p:sp>
      <p:sp>
        <p:nvSpPr>
          <p:cNvPr id="742" name="Google Shape;742;p101"/>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743" name="Google Shape;743;p101"/>
          <p:cNvSpPr txBox="1"/>
          <p:nvPr/>
        </p:nvSpPr>
        <p:spPr>
          <a:xfrm>
            <a:off x="431100" y="917700"/>
            <a:ext cx="7947300" cy="3321000"/>
          </a:xfrm>
          <a:prstGeom prst="rect">
            <a:avLst/>
          </a:prstGeom>
          <a:noFill/>
          <a:ln>
            <a:noFill/>
          </a:ln>
        </p:spPr>
        <p:txBody>
          <a:bodyPr anchorCtr="0" anchor="t" bIns="91425" lIns="91425" spcFirstLastPara="1" rIns="91425" wrap="square" tIns="91425">
            <a:spAutoFit/>
          </a:bodyPr>
          <a:lstStyle/>
          <a:p>
            <a:pPr indent="-307975" lvl="0" marL="685800" rtl="0" algn="l">
              <a:lnSpc>
                <a:spcPct val="158000"/>
              </a:lnSpc>
              <a:spcBef>
                <a:spcPts val="0"/>
              </a:spcBef>
              <a:spcAft>
                <a:spcPts val="0"/>
              </a:spcAft>
              <a:buClr>
                <a:srgbClr val="273239"/>
              </a:buClr>
              <a:buSzPts val="1250"/>
              <a:buFont typeface="Nunito"/>
              <a:buAutoNum type="arabicPeriod"/>
            </a:pPr>
            <a:r>
              <a:rPr b="1" lang="en" sz="1250">
                <a:solidFill>
                  <a:srgbClr val="273239"/>
                </a:solidFill>
                <a:highlight>
                  <a:srgbClr val="FFFFFF"/>
                </a:highlight>
                <a:latin typeface="Century Gothic"/>
                <a:ea typeface="Century Gothic"/>
                <a:cs typeface="Century Gothic"/>
                <a:sym typeface="Century Gothic"/>
              </a:rPr>
              <a:t>Input Layer:</a:t>
            </a:r>
            <a:r>
              <a:rPr lang="en" sz="1250">
                <a:solidFill>
                  <a:srgbClr val="273239"/>
                </a:solidFill>
                <a:highlight>
                  <a:srgbClr val="FFFFFF"/>
                </a:highlight>
                <a:latin typeface="Century Gothic"/>
                <a:ea typeface="Century Gothic"/>
                <a:cs typeface="Century Gothic"/>
                <a:sym typeface="Century Gothic"/>
              </a:rPr>
              <a:t> This is where the network receives its input data. Each input neuron in the layer corresponds to a feature in the input data.</a:t>
            </a:r>
            <a:br>
              <a:rPr lang="en" sz="1250">
                <a:solidFill>
                  <a:srgbClr val="273239"/>
                </a:solidFill>
                <a:highlight>
                  <a:srgbClr val="FFFFFF"/>
                </a:highlight>
                <a:latin typeface="Century Gothic"/>
                <a:ea typeface="Century Gothic"/>
                <a:cs typeface="Century Gothic"/>
                <a:sym typeface="Century Gothic"/>
              </a:rPr>
            </a:br>
            <a:endParaRPr sz="1250">
              <a:solidFill>
                <a:srgbClr val="273239"/>
              </a:solidFill>
              <a:highlight>
                <a:srgbClr val="FFFFFF"/>
              </a:highlight>
              <a:latin typeface="Century Gothic"/>
              <a:ea typeface="Century Gothic"/>
              <a:cs typeface="Century Gothic"/>
              <a:sym typeface="Century Gothic"/>
            </a:endParaRPr>
          </a:p>
          <a:p>
            <a:pPr indent="-307975" lvl="0" marL="685800" rtl="0" algn="l">
              <a:lnSpc>
                <a:spcPct val="158000"/>
              </a:lnSpc>
              <a:spcBef>
                <a:spcPts val="0"/>
              </a:spcBef>
              <a:spcAft>
                <a:spcPts val="0"/>
              </a:spcAft>
              <a:buClr>
                <a:srgbClr val="273239"/>
              </a:buClr>
              <a:buSzPts val="1250"/>
              <a:buFont typeface="Nunito"/>
              <a:buAutoNum type="arabicPeriod"/>
            </a:pPr>
            <a:r>
              <a:rPr b="1" lang="en" sz="1250">
                <a:solidFill>
                  <a:srgbClr val="273239"/>
                </a:solidFill>
                <a:highlight>
                  <a:srgbClr val="FFFFFF"/>
                </a:highlight>
                <a:latin typeface="Century Gothic"/>
                <a:ea typeface="Century Gothic"/>
                <a:cs typeface="Century Gothic"/>
                <a:sym typeface="Century Gothic"/>
              </a:rPr>
              <a:t>Hidden Layers:</a:t>
            </a:r>
            <a:r>
              <a:rPr lang="en" sz="1250">
                <a:solidFill>
                  <a:srgbClr val="273239"/>
                </a:solidFill>
                <a:highlight>
                  <a:srgbClr val="FFFFFF"/>
                </a:highlight>
                <a:latin typeface="Century Gothic"/>
                <a:ea typeface="Century Gothic"/>
                <a:cs typeface="Century Gothic"/>
                <a:sym typeface="Century Gothic"/>
              </a:rPr>
              <a:t> These layers perform most of the computational heavy lifting. A neural network can have one or multiple hidden layers. Each layer consists of units (neurons) that transform the inputs into something that the output layer can use.</a:t>
            </a:r>
            <a:br>
              <a:rPr lang="en" sz="1250">
                <a:solidFill>
                  <a:srgbClr val="273239"/>
                </a:solidFill>
                <a:highlight>
                  <a:srgbClr val="FFFFFF"/>
                </a:highlight>
                <a:latin typeface="Century Gothic"/>
                <a:ea typeface="Century Gothic"/>
                <a:cs typeface="Century Gothic"/>
                <a:sym typeface="Century Gothic"/>
              </a:rPr>
            </a:br>
            <a:endParaRPr sz="1250">
              <a:solidFill>
                <a:srgbClr val="273239"/>
              </a:solidFill>
              <a:highlight>
                <a:srgbClr val="FFFFFF"/>
              </a:highlight>
              <a:latin typeface="Century Gothic"/>
              <a:ea typeface="Century Gothic"/>
              <a:cs typeface="Century Gothic"/>
              <a:sym typeface="Century Gothic"/>
            </a:endParaRPr>
          </a:p>
          <a:p>
            <a:pPr indent="-307975" lvl="0" marL="685800" rtl="0" algn="l">
              <a:lnSpc>
                <a:spcPct val="158000"/>
              </a:lnSpc>
              <a:spcBef>
                <a:spcPts val="0"/>
              </a:spcBef>
              <a:spcAft>
                <a:spcPts val="0"/>
              </a:spcAft>
              <a:buClr>
                <a:srgbClr val="273239"/>
              </a:buClr>
              <a:buSzPts val="1250"/>
              <a:buFont typeface="Nunito"/>
              <a:buAutoNum type="arabicPeriod"/>
            </a:pPr>
            <a:r>
              <a:rPr b="1" lang="en" sz="1250">
                <a:solidFill>
                  <a:srgbClr val="273239"/>
                </a:solidFill>
                <a:highlight>
                  <a:srgbClr val="FFFFFF"/>
                </a:highlight>
                <a:latin typeface="Century Gothic"/>
                <a:ea typeface="Century Gothic"/>
                <a:cs typeface="Century Gothic"/>
                <a:sym typeface="Century Gothic"/>
              </a:rPr>
              <a:t>Output Layer:</a:t>
            </a:r>
            <a:r>
              <a:rPr lang="en" sz="1250">
                <a:solidFill>
                  <a:srgbClr val="273239"/>
                </a:solidFill>
                <a:highlight>
                  <a:srgbClr val="FFFFFF"/>
                </a:highlight>
                <a:latin typeface="Century Gothic"/>
                <a:ea typeface="Century Gothic"/>
                <a:cs typeface="Century Gothic"/>
                <a:sym typeface="Century Gothic"/>
              </a:rPr>
              <a:t> The final layer produces the output of the model. The format of these outputs varies depending on the specific task like classification, regression.</a:t>
            </a:r>
            <a:endParaRPr sz="1250">
              <a:solidFill>
                <a:srgbClr val="273239"/>
              </a:solidFill>
              <a:highlight>
                <a:srgbClr val="FFFFFF"/>
              </a:highlight>
              <a:latin typeface="Century Gothic"/>
              <a:ea typeface="Century Gothic"/>
              <a:cs typeface="Century Gothic"/>
              <a:sym typeface="Century Gothic"/>
            </a:endParaRPr>
          </a:p>
          <a:p>
            <a:pPr indent="0" lvl="0" marL="0" rtl="0" algn="l">
              <a:spcBef>
                <a:spcPts val="1800"/>
              </a:spcBef>
              <a:spcAft>
                <a:spcPts val="0"/>
              </a:spcAft>
              <a:buNone/>
            </a:pPr>
            <a:r>
              <a:t/>
            </a:r>
            <a:endParaRPr sz="1100">
              <a:solidFill>
                <a:srgbClr val="273239"/>
              </a:solidFill>
              <a:highlight>
                <a:srgbClr val="FFFFFF"/>
              </a:highlight>
              <a:latin typeface="Century Gothic"/>
              <a:ea typeface="Century Gothic"/>
              <a:cs typeface="Century Gothic"/>
              <a:sym typeface="Century Gothic"/>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7" name="Shape 747"/>
        <p:cNvGrpSpPr/>
        <p:nvPr/>
      </p:nvGrpSpPr>
      <p:grpSpPr>
        <a:xfrm>
          <a:off x="0" y="0"/>
          <a:ext cx="0" cy="0"/>
          <a:chOff x="0" y="0"/>
          <a:chExt cx="0" cy="0"/>
        </a:xfrm>
      </p:grpSpPr>
      <p:sp>
        <p:nvSpPr>
          <p:cNvPr id="748" name="Google Shape;748;p102"/>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Types of</a:t>
            </a:r>
            <a:r>
              <a:rPr lang="en" sz="2000">
                <a:solidFill>
                  <a:schemeClr val="dk1"/>
                </a:solidFill>
                <a:latin typeface="Century Gothic"/>
                <a:ea typeface="Century Gothic"/>
                <a:cs typeface="Century Gothic"/>
                <a:sym typeface="Century Gothic"/>
              </a:rPr>
              <a:t> Neural Network</a:t>
            </a:r>
            <a:endParaRPr sz="2000">
              <a:solidFill>
                <a:schemeClr val="dk1"/>
              </a:solidFill>
              <a:latin typeface="Century Gothic"/>
              <a:ea typeface="Century Gothic"/>
              <a:cs typeface="Century Gothic"/>
              <a:sym typeface="Century Gothic"/>
            </a:endParaRPr>
          </a:p>
        </p:txBody>
      </p:sp>
      <p:sp>
        <p:nvSpPr>
          <p:cNvPr id="749" name="Google Shape;749;p102"/>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750" name="Google Shape;750;p102"/>
          <p:cNvPicPr preferRelativeResize="0"/>
          <p:nvPr/>
        </p:nvPicPr>
        <p:blipFill>
          <a:blip r:embed="rId3">
            <a:alphaModFix/>
          </a:blip>
          <a:stretch>
            <a:fillRect/>
          </a:stretch>
        </p:blipFill>
        <p:spPr>
          <a:xfrm>
            <a:off x="704573" y="1055226"/>
            <a:ext cx="7734850" cy="31149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4" name="Shape 754"/>
        <p:cNvGrpSpPr/>
        <p:nvPr/>
      </p:nvGrpSpPr>
      <p:grpSpPr>
        <a:xfrm>
          <a:off x="0" y="0"/>
          <a:ext cx="0" cy="0"/>
          <a:chOff x="0" y="0"/>
          <a:chExt cx="0" cy="0"/>
        </a:xfrm>
      </p:grpSpPr>
      <p:sp>
        <p:nvSpPr>
          <p:cNvPr id="755" name="Google Shape;755;p103"/>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How Neurons Process Data in a Neural Network</a:t>
            </a:r>
            <a:endParaRPr sz="2000">
              <a:solidFill>
                <a:schemeClr val="dk1"/>
              </a:solidFill>
              <a:latin typeface="Century Gothic"/>
              <a:ea typeface="Century Gothic"/>
              <a:cs typeface="Century Gothic"/>
              <a:sym typeface="Century Gothic"/>
            </a:endParaRPr>
          </a:p>
        </p:txBody>
      </p:sp>
      <p:sp>
        <p:nvSpPr>
          <p:cNvPr id="756" name="Google Shape;756;p103"/>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757" name="Google Shape;757;p103"/>
          <p:cNvSpPr txBox="1"/>
          <p:nvPr/>
        </p:nvSpPr>
        <p:spPr>
          <a:xfrm>
            <a:off x="431100" y="917700"/>
            <a:ext cx="7947300" cy="37989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Clr>
                <a:schemeClr val="dk1"/>
              </a:buClr>
              <a:buSzPts val="1100"/>
              <a:buFont typeface="Arial"/>
              <a:buNone/>
            </a:pPr>
            <a:r>
              <a:rPr lang="en" sz="1200">
                <a:solidFill>
                  <a:srgbClr val="273239"/>
                </a:solidFill>
                <a:latin typeface="Century Gothic"/>
                <a:ea typeface="Century Gothic"/>
                <a:cs typeface="Century Gothic"/>
                <a:sym typeface="Century Gothic"/>
              </a:rPr>
              <a:t>In a neural network, input data is passed through multiple layers, including one or more hidden layers. Each neuron in these hidden layers performs several operations, transforming the input into a usable output.</a:t>
            </a:r>
            <a:endParaRPr sz="1200">
              <a:solidFill>
                <a:srgbClr val="273239"/>
              </a:solidFill>
              <a:latin typeface="Century Gothic"/>
              <a:ea typeface="Century Gothic"/>
              <a:cs typeface="Century Gothic"/>
              <a:sym typeface="Century Gothic"/>
            </a:endParaRPr>
          </a:p>
          <a:p>
            <a:pPr indent="0" lvl="0" marL="0" rtl="0" algn="l">
              <a:lnSpc>
                <a:spcPct val="120000"/>
              </a:lnSpc>
              <a:spcBef>
                <a:spcPts val="800"/>
              </a:spcBef>
              <a:spcAft>
                <a:spcPts val="0"/>
              </a:spcAft>
              <a:buClr>
                <a:schemeClr val="dk1"/>
              </a:buClr>
              <a:buSzPts val="1100"/>
              <a:buFont typeface="Arial"/>
              <a:buNone/>
            </a:pPr>
            <a:r>
              <a:rPr b="1" lang="en" sz="1200">
                <a:solidFill>
                  <a:srgbClr val="273239"/>
                </a:solidFill>
                <a:latin typeface="Century Gothic"/>
                <a:ea typeface="Century Gothic"/>
                <a:cs typeface="Century Gothic"/>
                <a:sym typeface="Century Gothic"/>
              </a:rPr>
              <a:t>1. Input Layer: </a:t>
            </a:r>
            <a:r>
              <a:rPr lang="en" sz="1200">
                <a:solidFill>
                  <a:srgbClr val="273239"/>
                </a:solidFill>
                <a:latin typeface="Century Gothic"/>
                <a:ea typeface="Century Gothic"/>
                <a:cs typeface="Century Gothic"/>
                <a:sym typeface="Century Gothic"/>
              </a:rPr>
              <a:t>The input layer contains 3 nodes that indicates the presence of each keyword.</a:t>
            </a:r>
            <a:endParaRPr sz="1200">
              <a:solidFill>
                <a:srgbClr val="273239"/>
              </a:solidFill>
              <a:latin typeface="Century Gothic"/>
              <a:ea typeface="Century Gothic"/>
              <a:cs typeface="Century Gothic"/>
              <a:sym typeface="Century Gothic"/>
            </a:endParaRPr>
          </a:p>
          <a:p>
            <a:pPr indent="0" lvl="0" marL="0" rtl="0" algn="l">
              <a:lnSpc>
                <a:spcPct val="120000"/>
              </a:lnSpc>
              <a:spcBef>
                <a:spcPts val="800"/>
              </a:spcBef>
              <a:spcAft>
                <a:spcPts val="0"/>
              </a:spcAft>
              <a:buNone/>
            </a:pPr>
            <a:r>
              <a:rPr b="1" lang="en" sz="1200">
                <a:solidFill>
                  <a:srgbClr val="273239"/>
                </a:solidFill>
                <a:latin typeface="Century Gothic"/>
                <a:ea typeface="Century Gothic"/>
                <a:cs typeface="Century Gothic"/>
                <a:sym typeface="Century Gothic"/>
              </a:rPr>
              <a:t>2. Hidden Layer</a:t>
            </a:r>
            <a:r>
              <a:rPr lang="en" sz="1200">
                <a:solidFill>
                  <a:srgbClr val="273239"/>
                </a:solidFill>
                <a:latin typeface="Century Gothic"/>
                <a:ea typeface="Century Gothic"/>
                <a:cs typeface="Century Gothic"/>
                <a:sym typeface="Century Gothic"/>
              </a:rPr>
              <a:t>: The input vector is passed through the hidden layer. Each neuron in the hidden layer performs two primary operations: a weighted sum followed by an activation function.</a:t>
            </a:r>
            <a:endParaRPr sz="1200">
              <a:solidFill>
                <a:srgbClr val="273239"/>
              </a:solidFill>
              <a:latin typeface="Century Gothic"/>
              <a:ea typeface="Century Gothic"/>
              <a:cs typeface="Century Gothic"/>
              <a:sym typeface="Century Gothic"/>
            </a:endParaRPr>
          </a:p>
          <a:p>
            <a:pPr indent="0" lvl="0" marL="0" rtl="0" algn="l">
              <a:lnSpc>
                <a:spcPct val="120000"/>
              </a:lnSpc>
              <a:spcBef>
                <a:spcPts val="800"/>
              </a:spcBef>
              <a:spcAft>
                <a:spcPts val="0"/>
              </a:spcAft>
              <a:buNone/>
            </a:pPr>
            <a:r>
              <a:rPr b="1" lang="en" sz="1000">
                <a:solidFill>
                  <a:srgbClr val="273239"/>
                </a:solidFill>
                <a:latin typeface="Century Gothic"/>
                <a:ea typeface="Century Gothic"/>
                <a:cs typeface="Century Gothic"/>
                <a:sym typeface="Century Gothic"/>
              </a:rPr>
              <a:t>Weights:</a:t>
            </a:r>
            <a:endParaRPr b="1" sz="1000">
              <a:solidFill>
                <a:srgbClr val="273239"/>
              </a:solidFill>
              <a:latin typeface="Century Gothic"/>
              <a:ea typeface="Century Gothic"/>
              <a:cs typeface="Century Gothic"/>
              <a:sym typeface="Century Gothic"/>
            </a:endParaRPr>
          </a:p>
          <a:p>
            <a:pPr indent="-292100" lvl="0" marL="685800" rtl="0" algn="l">
              <a:lnSpc>
                <a:spcPct val="158000"/>
              </a:lnSpc>
              <a:spcBef>
                <a:spcPts val="800"/>
              </a:spcBef>
              <a:spcAft>
                <a:spcPts val="0"/>
              </a:spcAft>
              <a:buClr>
                <a:srgbClr val="273239"/>
              </a:buClr>
              <a:buSzPts val="1000"/>
              <a:buFont typeface="Century Gothic"/>
              <a:buChar char="●"/>
            </a:pPr>
            <a:r>
              <a:rPr lang="en" sz="1000">
                <a:solidFill>
                  <a:srgbClr val="273239"/>
                </a:solidFill>
                <a:latin typeface="Century Gothic"/>
                <a:ea typeface="Century Gothic"/>
                <a:cs typeface="Century Gothic"/>
                <a:sym typeface="Century Gothic"/>
              </a:rPr>
              <a:t>Neuron H1: [0.5,−0.2,0.3]</a:t>
            </a:r>
            <a:endParaRPr sz="1000">
              <a:solidFill>
                <a:srgbClr val="273239"/>
              </a:solidFill>
              <a:latin typeface="Century Gothic"/>
              <a:ea typeface="Century Gothic"/>
              <a:cs typeface="Century Gothic"/>
              <a:sym typeface="Century Gothic"/>
            </a:endParaRPr>
          </a:p>
          <a:p>
            <a:pPr indent="-292100" lvl="0" marL="685800" rtl="0" algn="l">
              <a:lnSpc>
                <a:spcPct val="158000"/>
              </a:lnSpc>
              <a:spcBef>
                <a:spcPts val="0"/>
              </a:spcBef>
              <a:spcAft>
                <a:spcPts val="0"/>
              </a:spcAft>
              <a:buClr>
                <a:srgbClr val="273239"/>
              </a:buClr>
              <a:buSzPts val="1000"/>
              <a:buFont typeface="Century Gothic"/>
              <a:buChar char="●"/>
            </a:pPr>
            <a:r>
              <a:rPr lang="en" sz="1000">
                <a:solidFill>
                  <a:srgbClr val="273239"/>
                </a:solidFill>
                <a:latin typeface="Century Gothic"/>
                <a:ea typeface="Century Gothic"/>
                <a:cs typeface="Century Gothic"/>
                <a:sym typeface="Century Gothic"/>
              </a:rPr>
              <a:t>Neuron H2: [0.4,0.1,−0.5]</a:t>
            </a:r>
            <a:endParaRPr sz="1000">
              <a:solidFill>
                <a:srgbClr val="273239"/>
              </a:solidFill>
              <a:latin typeface="Century Gothic"/>
              <a:ea typeface="Century Gothic"/>
              <a:cs typeface="Century Gothic"/>
              <a:sym typeface="Century Gothic"/>
            </a:endParaRPr>
          </a:p>
          <a:p>
            <a:pPr indent="0" lvl="0" marL="0" rtl="0" algn="l">
              <a:lnSpc>
                <a:spcPct val="120000"/>
              </a:lnSpc>
              <a:spcBef>
                <a:spcPts val="1800"/>
              </a:spcBef>
              <a:spcAft>
                <a:spcPts val="0"/>
              </a:spcAft>
              <a:buNone/>
            </a:pPr>
            <a:r>
              <a:rPr b="1" lang="en" sz="1000">
                <a:solidFill>
                  <a:srgbClr val="273239"/>
                </a:solidFill>
                <a:latin typeface="Century Gothic"/>
                <a:ea typeface="Century Gothic"/>
                <a:cs typeface="Century Gothic"/>
                <a:sym typeface="Century Gothic"/>
              </a:rPr>
              <a:t>Input Vector: [1,0,1]</a:t>
            </a:r>
            <a:endParaRPr b="1" sz="1000">
              <a:solidFill>
                <a:srgbClr val="273239"/>
              </a:solidFill>
              <a:latin typeface="Century Gothic"/>
              <a:ea typeface="Century Gothic"/>
              <a:cs typeface="Century Gothic"/>
              <a:sym typeface="Century Gothic"/>
            </a:endParaRPr>
          </a:p>
          <a:p>
            <a:pPr indent="0" lvl="0" marL="0" rtl="0" algn="l">
              <a:lnSpc>
                <a:spcPct val="120000"/>
              </a:lnSpc>
              <a:spcBef>
                <a:spcPts val="800"/>
              </a:spcBef>
              <a:spcAft>
                <a:spcPts val="0"/>
              </a:spcAft>
              <a:buNone/>
            </a:pPr>
            <a:r>
              <a:rPr b="1" lang="en" sz="1000">
                <a:solidFill>
                  <a:srgbClr val="273239"/>
                </a:solidFill>
                <a:latin typeface="Century Gothic"/>
                <a:ea typeface="Century Gothic"/>
                <a:cs typeface="Century Gothic"/>
                <a:sym typeface="Century Gothic"/>
              </a:rPr>
              <a:t>Weighted Sum Calculation</a:t>
            </a:r>
            <a:endParaRPr b="1" sz="1000">
              <a:solidFill>
                <a:srgbClr val="273239"/>
              </a:solidFill>
              <a:latin typeface="Century Gothic"/>
              <a:ea typeface="Century Gothic"/>
              <a:cs typeface="Century Gothic"/>
              <a:sym typeface="Century Gothic"/>
            </a:endParaRPr>
          </a:p>
          <a:p>
            <a:pPr indent="-292100" lvl="0" marL="685800" rtl="0" algn="l">
              <a:lnSpc>
                <a:spcPct val="158000"/>
              </a:lnSpc>
              <a:spcBef>
                <a:spcPts val="800"/>
              </a:spcBef>
              <a:spcAft>
                <a:spcPts val="0"/>
              </a:spcAft>
              <a:buClr>
                <a:srgbClr val="273239"/>
              </a:buClr>
              <a:buSzPts val="1000"/>
              <a:buFont typeface="Nunito"/>
              <a:buChar char="●"/>
            </a:pPr>
            <a:r>
              <a:rPr b="1" lang="en" sz="1000">
                <a:solidFill>
                  <a:srgbClr val="273239"/>
                </a:solidFill>
                <a:latin typeface="Century Gothic"/>
                <a:ea typeface="Century Gothic"/>
                <a:cs typeface="Century Gothic"/>
                <a:sym typeface="Century Gothic"/>
              </a:rPr>
              <a:t>For H1: (</a:t>
            </a:r>
            <a:r>
              <a:rPr lang="en" sz="1000">
                <a:solidFill>
                  <a:srgbClr val="273239"/>
                </a:solidFill>
                <a:latin typeface="Century Gothic"/>
                <a:ea typeface="Century Gothic"/>
                <a:cs typeface="Century Gothic"/>
                <a:sym typeface="Century Gothic"/>
              </a:rPr>
              <a:t>1×0.5)+(0×−0.2)+(1×0.3)=0.5+0+0.3=0.8</a:t>
            </a:r>
            <a:endParaRPr sz="1000">
              <a:solidFill>
                <a:srgbClr val="273239"/>
              </a:solidFill>
              <a:latin typeface="Century Gothic"/>
              <a:ea typeface="Century Gothic"/>
              <a:cs typeface="Century Gothic"/>
              <a:sym typeface="Century Gothic"/>
            </a:endParaRPr>
          </a:p>
          <a:p>
            <a:pPr indent="-292100" lvl="0" marL="685800" rtl="0" algn="l">
              <a:lnSpc>
                <a:spcPct val="158000"/>
              </a:lnSpc>
              <a:spcBef>
                <a:spcPts val="0"/>
              </a:spcBef>
              <a:spcAft>
                <a:spcPts val="0"/>
              </a:spcAft>
              <a:buClr>
                <a:srgbClr val="273239"/>
              </a:buClr>
              <a:buSzPts val="1000"/>
              <a:buFont typeface="Nunito"/>
              <a:buChar char="●"/>
            </a:pPr>
            <a:r>
              <a:rPr b="1" lang="en" sz="1000">
                <a:solidFill>
                  <a:srgbClr val="273239"/>
                </a:solidFill>
                <a:latin typeface="Century Gothic"/>
                <a:ea typeface="Century Gothic"/>
                <a:cs typeface="Century Gothic"/>
                <a:sym typeface="Century Gothic"/>
              </a:rPr>
              <a:t>For H2: </a:t>
            </a:r>
            <a:r>
              <a:rPr lang="en" sz="1000">
                <a:solidFill>
                  <a:srgbClr val="273239"/>
                </a:solidFill>
                <a:latin typeface="Century Gothic"/>
                <a:ea typeface="Century Gothic"/>
                <a:cs typeface="Century Gothic"/>
                <a:sym typeface="Century Gothic"/>
              </a:rPr>
              <a:t>(1×0.4)+(0×0.1)+(1×−0.5)=0.4+0−0.5=−0.1</a:t>
            </a:r>
            <a:endParaRPr b="1" sz="1200">
              <a:solidFill>
                <a:srgbClr val="273239"/>
              </a:solidFill>
              <a:latin typeface="Century Gothic"/>
              <a:ea typeface="Century Gothic"/>
              <a:cs typeface="Century Gothic"/>
              <a:sym typeface="Century Gothic"/>
            </a:endParaRPr>
          </a:p>
        </p:txBody>
      </p:sp>
      <p:sp>
        <p:nvSpPr>
          <p:cNvPr id="758" name="Google Shape;758;p103"/>
          <p:cNvSpPr txBox="1"/>
          <p:nvPr/>
        </p:nvSpPr>
        <p:spPr>
          <a:xfrm>
            <a:off x="4772425" y="3560100"/>
            <a:ext cx="3000000" cy="11565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n" sz="1000">
                <a:solidFill>
                  <a:srgbClr val="273239"/>
                </a:solidFill>
                <a:latin typeface="Century Gothic"/>
                <a:ea typeface="Century Gothic"/>
                <a:cs typeface="Century Gothic"/>
                <a:sym typeface="Century Gothic"/>
              </a:rPr>
              <a:t>Activation Function</a:t>
            </a:r>
            <a:endParaRPr b="1" sz="1000">
              <a:solidFill>
                <a:srgbClr val="273239"/>
              </a:solidFill>
              <a:latin typeface="Century Gothic"/>
              <a:ea typeface="Century Gothic"/>
              <a:cs typeface="Century Gothic"/>
              <a:sym typeface="Century Gothic"/>
            </a:endParaRPr>
          </a:p>
          <a:p>
            <a:pPr indent="0" lvl="0" marL="0" rtl="0" algn="l">
              <a:lnSpc>
                <a:spcPct val="120000"/>
              </a:lnSpc>
              <a:spcBef>
                <a:spcPts val="800"/>
              </a:spcBef>
              <a:spcAft>
                <a:spcPts val="0"/>
              </a:spcAft>
              <a:buNone/>
            </a:pPr>
            <a:r>
              <a:rPr lang="en" sz="1000">
                <a:solidFill>
                  <a:srgbClr val="273239"/>
                </a:solidFill>
                <a:latin typeface="Century Gothic"/>
                <a:ea typeface="Century Gothic"/>
                <a:cs typeface="Century Gothic"/>
                <a:sym typeface="Century Gothic"/>
              </a:rPr>
              <a:t>Here we will use </a:t>
            </a:r>
            <a:r>
              <a:rPr lang="en" sz="1000" u="sng">
                <a:solidFill>
                  <a:srgbClr val="357960"/>
                </a:solidFill>
                <a:latin typeface="Century Gothic"/>
                <a:ea typeface="Century Gothic"/>
                <a:cs typeface="Century Gothic"/>
                <a:sym typeface="Century Gothic"/>
                <a:hlinkClick r:id="rId3">
                  <a:extLst>
                    <a:ext uri="{A12FA001-AC4F-418D-AE19-62706E023703}">
                      <ahyp:hlinkClr val="tx"/>
                    </a:ext>
                  </a:extLst>
                </a:hlinkClick>
              </a:rPr>
              <a:t>ReLu activation function</a:t>
            </a:r>
            <a:r>
              <a:rPr lang="en" sz="1000">
                <a:solidFill>
                  <a:srgbClr val="273239"/>
                </a:solidFill>
                <a:latin typeface="Century Gothic"/>
                <a:ea typeface="Century Gothic"/>
                <a:cs typeface="Century Gothic"/>
                <a:sym typeface="Century Gothic"/>
              </a:rPr>
              <a:t>:</a:t>
            </a:r>
            <a:endParaRPr sz="1000">
              <a:solidFill>
                <a:srgbClr val="273239"/>
              </a:solidFill>
              <a:latin typeface="Century Gothic"/>
              <a:ea typeface="Century Gothic"/>
              <a:cs typeface="Century Gothic"/>
              <a:sym typeface="Century Gothic"/>
            </a:endParaRPr>
          </a:p>
          <a:p>
            <a:pPr indent="-292100" lvl="0" marL="685800" rtl="0" algn="l">
              <a:lnSpc>
                <a:spcPct val="158000"/>
              </a:lnSpc>
              <a:spcBef>
                <a:spcPts val="800"/>
              </a:spcBef>
              <a:spcAft>
                <a:spcPts val="0"/>
              </a:spcAft>
              <a:buClr>
                <a:srgbClr val="273239"/>
              </a:buClr>
              <a:buSzPts val="1000"/>
              <a:buFont typeface="Nunito"/>
              <a:buChar char="●"/>
            </a:pPr>
            <a:r>
              <a:rPr b="1" lang="en" sz="1000">
                <a:solidFill>
                  <a:srgbClr val="273239"/>
                </a:solidFill>
                <a:latin typeface="Century Gothic"/>
                <a:ea typeface="Century Gothic"/>
                <a:cs typeface="Century Gothic"/>
                <a:sym typeface="Century Gothic"/>
              </a:rPr>
              <a:t>H1 Output:</a:t>
            </a:r>
            <a:r>
              <a:rPr lang="en" sz="1000">
                <a:solidFill>
                  <a:srgbClr val="273239"/>
                </a:solidFill>
                <a:latin typeface="Century Gothic"/>
                <a:ea typeface="Century Gothic"/>
                <a:cs typeface="Century Gothic"/>
                <a:sym typeface="Century Gothic"/>
              </a:rPr>
              <a:t> ReLU(0.8)= 0.8</a:t>
            </a:r>
            <a:endParaRPr sz="1000">
              <a:solidFill>
                <a:srgbClr val="273239"/>
              </a:solidFill>
              <a:latin typeface="Century Gothic"/>
              <a:ea typeface="Century Gothic"/>
              <a:cs typeface="Century Gothic"/>
              <a:sym typeface="Century Gothic"/>
            </a:endParaRPr>
          </a:p>
          <a:p>
            <a:pPr indent="-292100" lvl="0" marL="685800" rtl="0" algn="l">
              <a:lnSpc>
                <a:spcPct val="158000"/>
              </a:lnSpc>
              <a:spcBef>
                <a:spcPts val="0"/>
              </a:spcBef>
              <a:spcAft>
                <a:spcPts val="0"/>
              </a:spcAft>
              <a:buClr>
                <a:srgbClr val="273239"/>
              </a:buClr>
              <a:buSzPts val="1000"/>
              <a:buFont typeface="Nunito"/>
              <a:buChar char="●"/>
            </a:pPr>
            <a:r>
              <a:rPr b="1" lang="en" sz="1000">
                <a:solidFill>
                  <a:srgbClr val="273239"/>
                </a:solidFill>
                <a:latin typeface="Century Gothic"/>
                <a:ea typeface="Century Gothic"/>
                <a:cs typeface="Century Gothic"/>
                <a:sym typeface="Century Gothic"/>
              </a:rPr>
              <a:t>H2 Output:</a:t>
            </a:r>
            <a:r>
              <a:rPr lang="en" sz="1000">
                <a:solidFill>
                  <a:srgbClr val="273239"/>
                </a:solidFill>
                <a:latin typeface="Century Gothic"/>
                <a:ea typeface="Century Gothic"/>
                <a:cs typeface="Century Gothic"/>
                <a:sym typeface="Century Gothic"/>
              </a:rPr>
              <a:t> ReLu(-0.1) = 0</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2" name="Shape 762"/>
        <p:cNvGrpSpPr/>
        <p:nvPr/>
      </p:nvGrpSpPr>
      <p:grpSpPr>
        <a:xfrm>
          <a:off x="0" y="0"/>
          <a:ext cx="0" cy="0"/>
          <a:chOff x="0" y="0"/>
          <a:chExt cx="0" cy="0"/>
        </a:xfrm>
      </p:grpSpPr>
      <p:sp>
        <p:nvSpPr>
          <p:cNvPr id="763" name="Google Shape;763;p104"/>
          <p:cNvSpPr/>
          <p:nvPr/>
        </p:nvSpPr>
        <p:spPr>
          <a:xfrm>
            <a:off x="589850" y="502200"/>
            <a:ext cx="76794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How Neurons Process Data in a Neural Network (continued)</a:t>
            </a:r>
            <a:endParaRPr sz="2000">
              <a:solidFill>
                <a:schemeClr val="dk1"/>
              </a:solidFill>
              <a:latin typeface="Century Gothic"/>
              <a:ea typeface="Century Gothic"/>
              <a:cs typeface="Century Gothic"/>
              <a:sym typeface="Century Gothic"/>
            </a:endParaRPr>
          </a:p>
        </p:txBody>
      </p:sp>
      <p:sp>
        <p:nvSpPr>
          <p:cNvPr id="764" name="Google Shape;764;p104"/>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765" name="Google Shape;765;p104"/>
          <p:cNvSpPr txBox="1"/>
          <p:nvPr/>
        </p:nvSpPr>
        <p:spPr>
          <a:xfrm>
            <a:off x="530300" y="917700"/>
            <a:ext cx="4851600" cy="39534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n" sz="1250">
                <a:solidFill>
                  <a:srgbClr val="273239"/>
                </a:solidFill>
                <a:highlight>
                  <a:srgbClr val="FFFFFF"/>
                </a:highlight>
                <a:latin typeface="Nunito"/>
                <a:ea typeface="Nunito"/>
                <a:cs typeface="Nunito"/>
                <a:sym typeface="Nunito"/>
              </a:rPr>
              <a:t>3. Output Layer: </a:t>
            </a:r>
            <a:r>
              <a:rPr lang="en" sz="1250">
                <a:solidFill>
                  <a:srgbClr val="273239"/>
                </a:solidFill>
                <a:highlight>
                  <a:srgbClr val="FFFFFF"/>
                </a:highlight>
                <a:latin typeface="Nunito"/>
                <a:ea typeface="Nunito"/>
                <a:cs typeface="Nunito"/>
                <a:sym typeface="Nunito"/>
              </a:rPr>
              <a:t>The activated values from the hidden neurons are sent to the output neuron where they are again processed using a weighted sum and an activation function.</a:t>
            </a:r>
            <a:endParaRPr sz="1250">
              <a:solidFill>
                <a:srgbClr val="273239"/>
              </a:solidFill>
              <a:highlight>
                <a:srgbClr val="FFFFFF"/>
              </a:highlight>
              <a:latin typeface="Nunito"/>
              <a:ea typeface="Nunito"/>
              <a:cs typeface="Nunito"/>
              <a:sym typeface="Nunito"/>
            </a:endParaRPr>
          </a:p>
          <a:p>
            <a:pPr indent="0" lvl="0" marL="0" rtl="0" algn="l">
              <a:lnSpc>
                <a:spcPct val="120000"/>
              </a:lnSpc>
              <a:spcBef>
                <a:spcPts val="800"/>
              </a:spcBef>
              <a:spcAft>
                <a:spcPts val="0"/>
              </a:spcAft>
              <a:buNone/>
            </a:pPr>
            <a:r>
              <a:t/>
            </a:r>
            <a:endParaRPr sz="1250">
              <a:solidFill>
                <a:srgbClr val="273239"/>
              </a:solidFill>
              <a:highlight>
                <a:srgbClr val="FFFFFF"/>
              </a:highlight>
              <a:latin typeface="Nunito"/>
              <a:ea typeface="Nunito"/>
              <a:cs typeface="Nunito"/>
              <a:sym typeface="Nunito"/>
            </a:endParaRPr>
          </a:p>
          <a:p>
            <a:pPr indent="0" lvl="0" marL="0" rtl="0" algn="l">
              <a:lnSpc>
                <a:spcPct val="120000"/>
              </a:lnSpc>
              <a:spcBef>
                <a:spcPts val="800"/>
              </a:spcBef>
              <a:spcAft>
                <a:spcPts val="0"/>
              </a:spcAft>
              <a:buNone/>
            </a:pPr>
            <a:r>
              <a:t/>
            </a:r>
            <a:endParaRPr sz="1250">
              <a:solidFill>
                <a:srgbClr val="273239"/>
              </a:solidFill>
              <a:highlight>
                <a:srgbClr val="FFFFFF"/>
              </a:highlight>
              <a:latin typeface="Nunito"/>
              <a:ea typeface="Nunito"/>
              <a:cs typeface="Nunito"/>
              <a:sym typeface="Nunito"/>
            </a:endParaRPr>
          </a:p>
          <a:p>
            <a:pPr indent="0" lvl="0" marL="0" rtl="0" algn="l">
              <a:lnSpc>
                <a:spcPct val="120000"/>
              </a:lnSpc>
              <a:spcBef>
                <a:spcPts val="800"/>
              </a:spcBef>
              <a:spcAft>
                <a:spcPts val="0"/>
              </a:spcAft>
              <a:buNone/>
            </a:pPr>
            <a:r>
              <a:t/>
            </a:r>
            <a:endParaRPr sz="1250">
              <a:solidFill>
                <a:srgbClr val="273239"/>
              </a:solidFill>
              <a:highlight>
                <a:srgbClr val="FFFFFF"/>
              </a:highlight>
              <a:latin typeface="Nunito"/>
              <a:ea typeface="Nunito"/>
              <a:cs typeface="Nunito"/>
              <a:sym typeface="Nunito"/>
            </a:endParaRPr>
          </a:p>
          <a:p>
            <a:pPr indent="0" lvl="0" marL="0" rtl="0" algn="l">
              <a:lnSpc>
                <a:spcPct val="120000"/>
              </a:lnSpc>
              <a:spcBef>
                <a:spcPts val="800"/>
              </a:spcBef>
              <a:spcAft>
                <a:spcPts val="0"/>
              </a:spcAft>
              <a:buClr>
                <a:schemeClr val="dk1"/>
              </a:buClr>
              <a:buSzPts val="1100"/>
              <a:buFont typeface="Arial"/>
              <a:buNone/>
            </a:pPr>
            <a:r>
              <a:rPr b="1" lang="en" sz="1250">
                <a:solidFill>
                  <a:srgbClr val="273239"/>
                </a:solidFill>
                <a:highlight>
                  <a:srgbClr val="FFFFFF"/>
                </a:highlight>
                <a:latin typeface="Nunito"/>
                <a:ea typeface="Nunito"/>
                <a:cs typeface="Nunito"/>
                <a:sym typeface="Nunito"/>
              </a:rPr>
              <a:t>4. Final Classification:</a:t>
            </a:r>
            <a:endParaRPr b="1" sz="1250">
              <a:solidFill>
                <a:srgbClr val="273239"/>
              </a:solidFill>
              <a:highlight>
                <a:srgbClr val="FFFFFF"/>
              </a:highlight>
              <a:latin typeface="Nunito"/>
              <a:ea typeface="Nunito"/>
              <a:cs typeface="Nunito"/>
              <a:sym typeface="Nunito"/>
            </a:endParaRPr>
          </a:p>
          <a:p>
            <a:pPr indent="-307975" lvl="0" marL="685800" rtl="0" algn="l">
              <a:lnSpc>
                <a:spcPct val="158000"/>
              </a:lnSpc>
              <a:spcBef>
                <a:spcPts val="800"/>
              </a:spcBef>
              <a:spcAft>
                <a:spcPts val="0"/>
              </a:spcAft>
              <a:buClr>
                <a:srgbClr val="273239"/>
              </a:buClr>
              <a:buSzPts val="1250"/>
              <a:buFont typeface="Nunito"/>
              <a:buChar char="●"/>
            </a:pPr>
            <a:r>
              <a:rPr lang="en" sz="1250">
                <a:solidFill>
                  <a:srgbClr val="273239"/>
                </a:solidFill>
                <a:highlight>
                  <a:srgbClr val="FFFFFF"/>
                </a:highlight>
                <a:latin typeface="Nunito"/>
                <a:ea typeface="Nunito"/>
                <a:cs typeface="Nunito"/>
                <a:sym typeface="Nunito"/>
              </a:rPr>
              <a:t>The output value of approximately </a:t>
            </a:r>
            <a:r>
              <a:rPr b="1" lang="en" sz="1250">
                <a:solidFill>
                  <a:srgbClr val="273239"/>
                </a:solidFill>
                <a:highlight>
                  <a:srgbClr val="FFFFFF"/>
                </a:highlight>
                <a:latin typeface="Nunito"/>
                <a:ea typeface="Nunito"/>
                <a:cs typeface="Nunito"/>
                <a:sym typeface="Nunito"/>
              </a:rPr>
              <a:t>0.636</a:t>
            </a:r>
            <a:r>
              <a:rPr lang="en" sz="1250">
                <a:solidFill>
                  <a:srgbClr val="273239"/>
                </a:solidFill>
                <a:highlight>
                  <a:srgbClr val="FFFFFF"/>
                </a:highlight>
                <a:latin typeface="Nunito"/>
                <a:ea typeface="Nunito"/>
                <a:cs typeface="Nunito"/>
                <a:sym typeface="Nunito"/>
              </a:rPr>
              <a:t> indicates the probability of the email being spam.</a:t>
            </a:r>
            <a:endParaRPr sz="1250">
              <a:solidFill>
                <a:srgbClr val="273239"/>
              </a:solidFill>
              <a:highlight>
                <a:srgbClr val="FFFFFF"/>
              </a:highlight>
              <a:latin typeface="Nunito"/>
              <a:ea typeface="Nunito"/>
              <a:cs typeface="Nunito"/>
              <a:sym typeface="Nunito"/>
            </a:endParaRPr>
          </a:p>
          <a:p>
            <a:pPr indent="-307975" lvl="0" marL="685800" rtl="0" algn="l">
              <a:lnSpc>
                <a:spcPct val="158000"/>
              </a:lnSpc>
              <a:spcBef>
                <a:spcPts val="0"/>
              </a:spcBef>
              <a:spcAft>
                <a:spcPts val="0"/>
              </a:spcAft>
              <a:buClr>
                <a:srgbClr val="273239"/>
              </a:buClr>
              <a:buSzPts val="1250"/>
              <a:buFont typeface="Nunito"/>
              <a:buChar char="●"/>
            </a:pPr>
            <a:r>
              <a:rPr lang="en" sz="1250">
                <a:solidFill>
                  <a:srgbClr val="273239"/>
                </a:solidFill>
                <a:highlight>
                  <a:srgbClr val="FFFFFF"/>
                </a:highlight>
                <a:latin typeface="Nunito"/>
                <a:ea typeface="Nunito"/>
                <a:cs typeface="Nunito"/>
                <a:sym typeface="Nunito"/>
              </a:rPr>
              <a:t>Since this value is greater than 0.5, the neural network classifies the email as spam (1).</a:t>
            </a:r>
            <a:endParaRPr sz="1250">
              <a:solidFill>
                <a:srgbClr val="273239"/>
              </a:solidFill>
              <a:highlight>
                <a:srgbClr val="FFFFFF"/>
              </a:highlight>
              <a:latin typeface="Nunito"/>
              <a:ea typeface="Nunito"/>
              <a:cs typeface="Nunito"/>
              <a:sym typeface="Nunito"/>
            </a:endParaRPr>
          </a:p>
          <a:p>
            <a:pPr indent="0" lvl="0" marL="0" rtl="0" algn="l">
              <a:lnSpc>
                <a:spcPct val="158000"/>
              </a:lnSpc>
              <a:spcBef>
                <a:spcPts val="1800"/>
              </a:spcBef>
              <a:spcAft>
                <a:spcPts val="1800"/>
              </a:spcAft>
              <a:buNone/>
            </a:pPr>
            <a:r>
              <a:t/>
            </a:r>
            <a:endParaRPr b="1" sz="1250">
              <a:solidFill>
                <a:srgbClr val="273239"/>
              </a:solidFill>
              <a:highlight>
                <a:srgbClr val="FFFFFF"/>
              </a:highlight>
              <a:latin typeface="Nunito"/>
              <a:ea typeface="Nunito"/>
              <a:cs typeface="Nunito"/>
              <a:sym typeface="Nunito"/>
            </a:endParaRPr>
          </a:p>
        </p:txBody>
      </p:sp>
      <p:pic>
        <p:nvPicPr>
          <p:cNvPr id="766" name="Google Shape;766;p104"/>
          <p:cNvPicPr preferRelativeResize="0"/>
          <p:nvPr/>
        </p:nvPicPr>
        <p:blipFill>
          <a:blip r:embed="rId3">
            <a:alphaModFix/>
          </a:blip>
          <a:stretch>
            <a:fillRect/>
          </a:stretch>
        </p:blipFill>
        <p:spPr>
          <a:xfrm>
            <a:off x="530300" y="1797825"/>
            <a:ext cx="3461376" cy="880175"/>
          </a:xfrm>
          <a:prstGeom prst="rect">
            <a:avLst/>
          </a:prstGeom>
          <a:noFill/>
          <a:ln>
            <a:noFill/>
          </a:ln>
        </p:spPr>
      </p:pic>
      <p:pic>
        <p:nvPicPr>
          <p:cNvPr id="767" name="Google Shape;767;p104"/>
          <p:cNvPicPr preferRelativeResize="0"/>
          <p:nvPr/>
        </p:nvPicPr>
        <p:blipFill>
          <a:blip r:embed="rId4">
            <a:alphaModFix/>
          </a:blip>
          <a:stretch>
            <a:fillRect/>
          </a:stretch>
        </p:blipFill>
        <p:spPr>
          <a:xfrm>
            <a:off x="5302750" y="1550975"/>
            <a:ext cx="3592476" cy="179625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1" name="Shape 771"/>
        <p:cNvGrpSpPr/>
        <p:nvPr/>
      </p:nvGrpSpPr>
      <p:grpSpPr>
        <a:xfrm>
          <a:off x="0" y="0"/>
          <a:ext cx="0" cy="0"/>
          <a:chOff x="0" y="0"/>
          <a:chExt cx="0" cy="0"/>
        </a:xfrm>
      </p:grpSpPr>
      <p:sp>
        <p:nvSpPr>
          <p:cNvPr id="772" name="Google Shape;772;p105"/>
          <p:cNvSpPr/>
          <p:nvPr/>
        </p:nvSpPr>
        <p:spPr>
          <a:xfrm>
            <a:off x="589850" y="502200"/>
            <a:ext cx="76794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How Neurons Process Data in a Neural Network (continued)</a:t>
            </a:r>
            <a:endParaRPr sz="2000">
              <a:solidFill>
                <a:schemeClr val="dk1"/>
              </a:solidFill>
              <a:latin typeface="Century Gothic"/>
              <a:ea typeface="Century Gothic"/>
              <a:cs typeface="Century Gothic"/>
              <a:sym typeface="Century Gothic"/>
            </a:endParaRPr>
          </a:p>
        </p:txBody>
      </p:sp>
      <p:sp>
        <p:nvSpPr>
          <p:cNvPr id="773" name="Google Shape;773;p105"/>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774" name="Google Shape;774;p105"/>
          <p:cNvSpPr txBox="1"/>
          <p:nvPr/>
        </p:nvSpPr>
        <p:spPr>
          <a:xfrm>
            <a:off x="530300" y="917700"/>
            <a:ext cx="4851600" cy="39534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n" sz="1250">
                <a:solidFill>
                  <a:srgbClr val="273239"/>
                </a:solidFill>
                <a:highlight>
                  <a:srgbClr val="FFFFFF"/>
                </a:highlight>
                <a:latin typeface="Nunito"/>
                <a:ea typeface="Nunito"/>
                <a:cs typeface="Nunito"/>
                <a:sym typeface="Nunito"/>
              </a:rPr>
              <a:t>3. Output Layer: </a:t>
            </a:r>
            <a:r>
              <a:rPr lang="en" sz="1250">
                <a:solidFill>
                  <a:srgbClr val="273239"/>
                </a:solidFill>
                <a:highlight>
                  <a:srgbClr val="FFFFFF"/>
                </a:highlight>
                <a:latin typeface="Nunito"/>
                <a:ea typeface="Nunito"/>
                <a:cs typeface="Nunito"/>
                <a:sym typeface="Nunito"/>
              </a:rPr>
              <a:t>The activated values from the hidden neurons are sent to the output neuron where they are again processed using a weighted sum and an activation function.</a:t>
            </a:r>
            <a:endParaRPr sz="1250">
              <a:solidFill>
                <a:srgbClr val="273239"/>
              </a:solidFill>
              <a:highlight>
                <a:srgbClr val="FFFFFF"/>
              </a:highlight>
              <a:latin typeface="Nunito"/>
              <a:ea typeface="Nunito"/>
              <a:cs typeface="Nunito"/>
              <a:sym typeface="Nunito"/>
            </a:endParaRPr>
          </a:p>
          <a:p>
            <a:pPr indent="0" lvl="0" marL="0" rtl="0" algn="l">
              <a:lnSpc>
                <a:spcPct val="120000"/>
              </a:lnSpc>
              <a:spcBef>
                <a:spcPts val="800"/>
              </a:spcBef>
              <a:spcAft>
                <a:spcPts val="0"/>
              </a:spcAft>
              <a:buNone/>
            </a:pPr>
            <a:r>
              <a:t/>
            </a:r>
            <a:endParaRPr sz="1250">
              <a:solidFill>
                <a:srgbClr val="273239"/>
              </a:solidFill>
              <a:highlight>
                <a:srgbClr val="FFFFFF"/>
              </a:highlight>
              <a:latin typeface="Nunito"/>
              <a:ea typeface="Nunito"/>
              <a:cs typeface="Nunito"/>
              <a:sym typeface="Nunito"/>
            </a:endParaRPr>
          </a:p>
          <a:p>
            <a:pPr indent="0" lvl="0" marL="0" rtl="0" algn="l">
              <a:lnSpc>
                <a:spcPct val="120000"/>
              </a:lnSpc>
              <a:spcBef>
                <a:spcPts val="800"/>
              </a:spcBef>
              <a:spcAft>
                <a:spcPts val="0"/>
              </a:spcAft>
              <a:buNone/>
            </a:pPr>
            <a:r>
              <a:t/>
            </a:r>
            <a:endParaRPr sz="1250">
              <a:solidFill>
                <a:srgbClr val="273239"/>
              </a:solidFill>
              <a:highlight>
                <a:srgbClr val="FFFFFF"/>
              </a:highlight>
              <a:latin typeface="Nunito"/>
              <a:ea typeface="Nunito"/>
              <a:cs typeface="Nunito"/>
              <a:sym typeface="Nunito"/>
            </a:endParaRPr>
          </a:p>
          <a:p>
            <a:pPr indent="0" lvl="0" marL="0" rtl="0" algn="l">
              <a:lnSpc>
                <a:spcPct val="120000"/>
              </a:lnSpc>
              <a:spcBef>
                <a:spcPts val="800"/>
              </a:spcBef>
              <a:spcAft>
                <a:spcPts val="0"/>
              </a:spcAft>
              <a:buNone/>
            </a:pPr>
            <a:r>
              <a:t/>
            </a:r>
            <a:endParaRPr sz="1250">
              <a:solidFill>
                <a:srgbClr val="273239"/>
              </a:solidFill>
              <a:highlight>
                <a:srgbClr val="FFFFFF"/>
              </a:highlight>
              <a:latin typeface="Nunito"/>
              <a:ea typeface="Nunito"/>
              <a:cs typeface="Nunito"/>
              <a:sym typeface="Nunito"/>
            </a:endParaRPr>
          </a:p>
          <a:p>
            <a:pPr indent="0" lvl="0" marL="0" rtl="0" algn="l">
              <a:lnSpc>
                <a:spcPct val="120000"/>
              </a:lnSpc>
              <a:spcBef>
                <a:spcPts val="800"/>
              </a:spcBef>
              <a:spcAft>
                <a:spcPts val="0"/>
              </a:spcAft>
              <a:buNone/>
            </a:pPr>
            <a:r>
              <a:rPr b="1" lang="en" sz="1250">
                <a:solidFill>
                  <a:srgbClr val="273239"/>
                </a:solidFill>
                <a:highlight>
                  <a:srgbClr val="FFFFFF"/>
                </a:highlight>
                <a:latin typeface="Nunito"/>
                <a:ea typeface="Nunito"/>
                <a:cs typeface="Nunito"/>
                <a:sym typeface="Nunito"/>
              </a:rPr>
              <a:t>4. Final Classification:</a:t>
            </a:r>
            <a:endParaRPr b="1" sz="1250">
              <a:solidFill>
                <a:srgbClr val="273239"/>
              </a:solidFill>
              <a:highlight>
                <a:srgbClr val="FFFFFF"/>
              </a:highlight>
              <a:latin typeface="Nunito"/>
              <a:ea typeface="Nunito"/>
              <a:cs typeface="Nunito"/>
              <a:sym typeface="Nunito"/>
            </a:endParaRPr>
          </a:p>
          <a:p>
            <a:pPr indent="-307975" lvl="0" marL="685800" rtl="0" algn="l">
              <a:lnSpc>
                <a:spcPct val="158000"/>
              </a:lnSpc>
              <a:spcBef>
                <a:spcPts val="800"/>
              </a:spcBef>
              <a:spcAft>
                <a:spcPts val="0"/>
              </a:spcAft>
              <a:buClr>
                <a:srgbClr val="273239"/>
              </a:buClr>
              <a:buSzPts val="1250"/>
              <a:buFont typeface="Nunito"/>
              <a:buChar char="●"/>
            </a:pPr>
            <a:r>
              <a:rPr lang="en" sz="1250">
                <a:solidFill>
                  <a:srgbClr val="273239"/>
                </a:solidFill>
                <a:highlight>
                  <a:srgbClr val="FFFFFF"/>
                </a:highlight>
                <a:latin typeface="Nunito"/>
                <a:ea typeface="Nunito"/>
                <a:cs typeface="Nunito"/>
                <a:sym typeface="Nunito"/>
              </a:rPr>
              <a:t>The output value of approximately </a:t>
            </a:r>
            <a:r>
              <a:rPr b="1" lang="en" sz="1250">
                <a:solidFill>
                  <a:srgbClr val="273239"/>
                </a:solidFill>
                <a:highlight>
                  <a:srgbClr val="FFFFFF"/>
                </a:highlight>
                <a:latin typeface="Nunito"/>
                <a:ea typeface="Nunito"/>
                <a:cs typeface="Nunito"/>
                <a:sym typeface="Nunito"/>
              </a:rPr>
              <a:t>0.636</a:t>
            </a:r>
            <a:r>
              <a:rPr lang="en" sz="1250">
                <a:solidFill>
                  <a:srgbClr val="273239"/>
                </a:solidFill>
                <a:highlight>
                  <a:srgbClr val="FFFFFF"/>
                </a:highlight>
                <a:latin typeface="Nunito"/>
                <a:ea typeface="Nunito"/>
                <a:cs typeface="Nunito"/>
                <a:sym typeface="Nunito"/>
              </a:rPr>
              <a:t> indicates the probability of the email being spam.</a:t>
            </a:r>
            <a:endParaRPr sz="1250">
              <a:solidFill>
                <a:srgbClr val="273239"/>
              </a:solidFill>
              <a:highlight>
                <a:srgbClr val="FFFFFF"/>
              </a:highlight>
              <a:latin typeface="Nunito"/>
              <a:ea typeface="Nunito"/>
              <a:cs typeface="Nunito"/>
              <a:sym typeface="Nunito"/>
            </a:endParaRPr>
          </a:p>
          <a:p>
            <a:pPr indent="-307975" lvl="0" marL="685800" rtl="0" algn="l">
              <a:lnSpc>
                <a:spcPct val="158000"/>
              </a:lnSpc>
              <a:spcBef>
                <a:spcPts val="0"/>
              </a:spcBef>
              <a:spcAft>
                <a:spcPts val="0"/>
              </a:spcAft>
              <a:buClr>
                <a:srgbClr val="273239"/>
              </a:buClr>
              <a:buSzPts val="1250"/>
              <a:buFont typeface="Nunito"/>
              <a:buChar char="●"/>
            </a:pPr>
            <a:r>
              <a:rPr lang="en" sz="1250">
                <a:solidFill>
                  <a:srgbClr val="273239"/>
                </a:solidFill>
                <a:highlight>
                  <a:srgbClr val="FFFFFF"/>
                </a:highlight>
                <a:latin typeface="Nunito"/>
                <a:ea typeface="Nunito"/>
                <a:cs typeface="Nunito"/>
                <a:sym typeface="Nunito"/>
              </a:rPr>
              <a:t>Since this value is greater than 0.5, the neural network classifies the email as spam (1).</a:t>
            </a:r>
            <a:endParaRPr sz="1250">
              <a:solidFill>
                <a:srgbClr val="273239"/>
              </a:solidFill>
              <a:highlight>
                <a:srgbClr val="FFFFFF"/>
              </a:highlight>
              <a:latin typeface="Nunito"/>
              <a:ea typeface="Nunito"/>
              <a:cs typeface="Nunito"/>
              <a:sym typeface="Nunito"/>
            </a:endParaRPr>
          </a:p>
          <a:p>
            <a:pPr indent="0" lvl="0" marL="0" rtl="0" algn="l">
              <a:lnSpc>
                <a:spcPct val="158000"/>
              </a:lnSpc>
              <a:spcBef>
                <a:spcPts val="1800"/>
              </a:spcBef>
              <a:spcAft>
                <a:spcPts val="1800"/>
              </a:spcAft>
              <a:buNone/>
            </a:pPr>
            <a:r>
              <a:t/>
            </a:r>
            <a:endParaRPr b="1" sz="1250">
              <a:solidFill>
                <a:srgbClr val="273239"/>
              </a:solidFill>
              <a:highlight>
                <a:srgbClr val="FFFFFF"/>
              </a:highlight>
              <a:latin typeface="Nunito"/>
              <a:ea typeface="Nunito"/>
              <a:cs typeface="Nunito"/>
              <a:sym typeface="Nunito"/>
            </a:endParaRPr>
          </a:p>
        </p:txBody>
      </p:sp>
      <p:pic>
        <p:nvPicPr>
          <p:cNvPr id="775" name="Google Shape;775;p105"/>
          <p:cNvPicPr preferRelativeResize="0"/>
          <p:nvPr/>
        </p:nvPicPr>
        <p:blipFill>
          <a:blip r:embed="rId3">
            <a:alphaModFix/>
          </a:blip>
          <a:stretch>
            <a:fillRect/>
          </a:stretch>
        </p:blipFill>
        <p:spPr>
          <a:xfrm>
            <a:off x="530300" y="1797825"/>
            <a:ext cx="3461376" cy="880175"/>
          </a:xfrm>
          <a:prstGeom prst="rect">
            <a:avLst/>
          </a:prstGeom>
          <a:noFill/>
          <a:ln>
            <a:noFill/>
          </a:ln>
        </p:spPr>
      </p:pic>
      <p:pic>
        <p:nvPicPr>
          <p:cNvPr id="776" name="Google Shape;776;p105"/>
          <p:cNvPicPr preferRelativeResize="0"/>
          <p:nvPr/>
        </p:nvPicPr>
        <p:blipFill>
          <a:blip r:embed="rId4">
            <a:alphaModFix/>
          </a:blip>
          <a:stretch>
            <a:fillRect/>
          </a:stretch>
        </p:blipFill>
        <p:spPr>
          <a:xfrm>
            <a:off x="5302750" y="1550975"/>
            <a:ext cx="3592476" cy="17962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0" name="Shape 780"/>
        <p:cNvGrpSpPr/>
        <p:nvPr/>
      </p:nvGrpSpPr>
      <p:grpSpPr>
        <a:xfrm>
          <a:off x="0" y="0"/>
          <a:ext cx="0" cy="0"/>
          <a:chOff x="0" y="0"/>
          <a:chExt cx="0" cy="0"/>
        </a:xfrm>
      </p:grpSpPr>
      <p:cxnSp>
        <p:nvCxnSpPr>
          <p:cNvPr id="781" name="Google Shape;781;p106"/>
          <p:cNvCxnSpPr/>
          <p:nvPr/>
        </p:nvCxnSpPr>
        <p:spPr>
          <a:xfrm>
            <a:off x="2358131" y="683550"/>
            <a:ext cx="0" cy="3776400"/>
          </a:xfrm>
          <a:prstGeom prst="straightConnector1">
            <a:avLst/>
          </a:prstGeom>
          <a:noFill/>
          <a:ln cap="flat" cmpd="sng" w="9525">
            <a:solidFill>
              <a:srgbClr val="000000"/>
            </a:solidFill>
            <a:prstDash val="solid"/>
            <a:miter lim="800000"/>
            <a:headEnd len="sm" w="sm" type="none"/>
            <a:tailEnd len="sm" w="sm" type="none"/>
          </a:ln>
        </p:spPr>
      </p:cxnSp>
      <p:sp>
        <p:nvSpPr>
          <p:cNvPr id="782" name="Google Shape;782;p106"/>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fld id="{00000000-1234-1234-1234-123412341234}" type="slidenum">
              <a:rPr lang="en"/>
              <a:t>‹#›</a:t>
            </a:fld>
            <a:endParaRPr/>
          </a:p>
        </p:txBody>
      </p:sp>
      <p:sp>
        <p:nvSpPr>
          <p:cNvPr id="783" name="Google Shape;783;p106"/>
          <p:cNvSpPr/>
          <p:nvPr/>
        </p:nvSpPr>
        <p:spPr>
          <a:xfrm rot="-5400000">
            <a:off x="716856" y="2364036"/>
            <a:ext cx="2622300" cy="41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2700">
                <a:latin typeface="Trebuchet MS"/>
                <a:ea typeface="Trebuchet MS"/>
                <a:cs typeface="Trebuchet MS"/>
                <a:sym typeface="Trebuchet MS"/>
              </a:rPr>
              <a:t>AGENDA</a:t>
            </a:r>
            <a:r>
              <a:rPr lang="en" sz="2700">
                <a:latin typeface="Trebuchet MS"/>
                <a:ea typeface="Trebuchet MS"/>
                <a:cs typeface="Trebuchet MS"/>
                <a:sym typeface="Trebuchet MS"/>
              </a:rPr>
              <a:t> </a:t>
            </a:r>
            <a:endParaRPr sz="1100">
              <a:latin typeface="Trebuchet MS"/>
              <a:ea typeface="Trebuchet MS"/>
              <a:cs typeface="Trebuchet MS"/>
              <a:sym typeface="Trebuchet MS"/>
            </a:endParaRPr>
          </a:p>
        </p:txBody>
      </p:sp>
      <p:pic>
        <p:nvPicPr>
          <p:cNvPr id="784" name="Google Shape;784;p106"/>
          <p:cNvPicPr preferRelativeResize="0"/>
          <p:nvPr/>
        </p:nvPicPr>
        <p:blipFill rotWithShape="1">
          <a:blip r:embed="rId3">
            <a:alphaModFix/>
          </a:blip>
          <a:srcRect b="0" l="34609" r="33565" t="5330"/>
          <a:stretch/>
        </p:blipFill>
        <p:spPr>
          <a:xfrm>
            <a:off x="549281" y="604350"/>
            <a:ext cx="1198838" cy="3946389"/>
          </a:xfrm>
          <a:prstGeom prst="rect">
            <a:avLst/>
          </a:prstGeom>
          <a:noFill/>
          <a:ln>
            <a:noFill/>
          </a:ln>
        </p:spPr>
      </p:pic>
      <p:sp>
        <p:nvSpPr>
          <p:cNvPr id="785" name="Google Shape;785;p106"/>
          <p:cNvSpPr/>
          <p:nvPr/>
        </p:nvSpPr>
        <p:spPr>
          <a:xfrm>
            <a:off x="2737850" y="822800"/>
            <a:ext cx="5551800" cy="3727800"/>
          </a:xfrm>
          <a:prstGeom prst="rect">
            <a:avLst/>
          </a:prstGeom>
          <a:noFill/>
          <a:ln>
            <a:noFill/>
          </a:ln>
        </p:spPr>
        <p:txBody>
          <a:bodyPr anchorCtr="0" anchor="ctr" bIns="0" lIns="0" spcFirstLastPara="1" rIns="0" wrap="square" tIns="0">
            <a:noAutofit/>
          </a:bodyPr>
          <a:lstStyle/>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Classification – Logistic Regression &amp; Metrics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Tree-based Learning – Decision Trees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 Nearest Neighbors – KNN</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Unsupervised Learning – Clustering with K-Means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888888"/>
              </a:buClr>
              <a:buSzPts val="1200"/>
              <a:buFont typeface="Trebuchet MS"/>
              <a:buChar char="●"/>
            </a:pPr>
            <a:r>
              <a:rPr lang="en" sz="1200">
                <a:solidFill>
                  <a:srgbClr val="888888"/>
                </a:solidFill>
                <a:latin typeface="Trebuchet MS"/>
                <a:ea typeface="Trebuchet MS"/>
                <a:cs typeface="Trebuchet MS"/>
                <a:sym typeface="Trebuchet MS"/>
              </a:rPr>
              <a:t>Intro to Neural Networks</a:t>
            </a:r>
            <a:endParaRPr sz="1200">
              <a:solidFill>
                <a:srgbClr val="888888"/>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chemeClr val="dk1"/>
              </a:buClr>
              <a:buSzPts val="1200"/>
              <a:buFont typeface="Trebuchet MS"/>
              <a:buChar char="●"/>
            </a:pPr>
            <a:r>
              <a:rPr lang="en" sz="1200">
                <a:solidFill>
                  <a:schemeClr val="dk1"/>
                </a:solidFill>
                <a:latin typeface="Trebuchet MS"/>
                <a:ea typeface="Trebuchet MS"/>
                <a:cs typeface="Trebuchet MS"/>
                <a:sym typeface="Trebuchet MS"/>
              </a:rPr>
              <a:t>Case Study</a:t>
            </a:r>
            <a:endParaRPr sz="1200">
              <a:solidFill>
                <a:schemeClr val="dk1"/>
              </a:solidFill>
              <a:latin typeface="Trebuchet MS"/>
              <a:ea typeface="Trebuchet MS"/>
              <a:cs typeface="Trebuchet MS"/>
              <a:sym typeface="Trebuchet MS"/>
            </a:endParaRPr>
          </a:p>
          <a:p>
            <a:pPr indent="0" lvl="0" marL="342900" rtl="0" algn="l">
              <a:lnSpc>
                <a:spcPct val="200000"/>
              </a:lnSpc>
              <a:spcBef>
                <a:spcPts val="800"/>
              </a:spcBef>
              <a:spcAft>
                <a:spcPts val="800"/>
              </a:spcAft>
              <a:buNone/>
            </a:pPr>
            <a:r>
              <a:t/>
            </a:r>
            <a:endParaRPr sz="1200">
              <a:solidFill>
                <a:srgbClr val="888888"/>
              </a:solidFill>
              <a:latin typeface="Trebuchet MS"/>
              <a:ea typeface="Trebuchet MS"/>
              <a:cs typeface="Trebuchet MS"/>
              <a:sym typeface="Trebuchet MS"/>
            </a:endParaRPr>
          </a:p>
        </p:txBody>
      </p:sp>
      <p:pic>
        <p:nvPicPr>
          <p:cNvPr id="786" name="Google Shape;786;p106"/>
          <p:cNvPicPr preferRelativeResize="0"/>
          <p:nvPr/>
        </p:nvPicPr>
        <p:blipFill>
          <a:blip r:embed="rId4">
            <a:alphaModFix/>
          </a:blip>
          <a:stretch>
            <a:fillRect/>
          </a:stretch>
        </p:blipFill>
        <p:spPr>
          <a:xfrm>
            <a:off x="2565731" y="3443393"/>
            <a:ext cx="172125" cy="172125"/>
          </a:xfrm>
          <a:prstGeom prst="rect">
            <a:avLst/>
          </a:prstGeom>
          <a:noFill/>
          <a:ln>
            <a:noFill/>
          </a:ln>
        </p:spPr>
      </p:pic>
      <p:pic>
        <p:nvPicPr>
          <p:cNvPr id="787" name="Google Shape;787;p106"/>
          <p:cNvPicPr preferRelativeResize="0"/>
          <p:nvPr/>
        </p:nvPicPr>
        <p:blipFill rotWithShape="1">
          <a:blip r:embed="rId5">
            <a:alphaModFix amt="10000"/>
          </a:blip>
          <a:srcRect b="0" l="0" r="48909" t="0"/>
          <a:stretch/>
        </p:blipFill>
        <p:spPr>
          <a:xfrm>
            <a:off x="7159192" y="771525"/>
            <a:ext cx="1795377" cy="3514106"/>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1" name="Shape 791"/>
        <p:cNvGrpSpPr/>
        <p:nvPr/>
      </p:nvGrpSpPr>
      <p:grpSpPr>
        <a:xfrm>
          <a:off x="0" y="0"/>
          <a:ext cx="0" cy="0"/>
          <a:chOff x="0" y="0"/>
          <a:chExt cx="0" cy="0"/>
        </a:xfrm>
      </p:grpSpPr>
      <p:sp>
        <p:nvSpPr>
          <p:cNvPr id="792" name="Google Shape;792;p107"/>
          <p:cNvSpPr/>
          <p:nvPr/>
        </p:nvSpPr>
        <p:spPr>
          <a:xfrm>
            <a:off x="589850" y="502200"/>
            <a:ext cx="76794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Machine Learning Flow </a:t>
            </a:r>
            <a:endParaRPr sz="2000">
              <a:solidFill>
                <a:schemeClr val="dk1"/>
              </a:solidFill>
              <a:latin typeface="Century Gothic"/>
              <a:ea typeface="Century Gothic"/>
              <a:cs typeface="Century Gothic"/>
              <a:sym typeface="Century Gothic"/>
            </a:endParaRPr>
          </a:p>
        </p:txBody>
      </p:sp>
      <p:sp>
        <p:nvSpPr>
          <p:cNvPr id="793" name="Google Shape;793;p107"/>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794" name="Google Shape;794;p107"/>
          <p:cNvPicPr preferRelativeResize="0"/>
          <p:nvPr/>
        </p:nvPicPr>
        <p:blipFill rotWithShape="1">
          <a:blip r:embed="rId3">
            <a:alphaModFix/>
          </a:blip>
          <a:srcRect b="4498" l="0" r="0" t="0"/>
          <a:stretch/>
        </p:blipFill>
        <p:spPr>
          <a:xfrm>
            <a:off x="3517175" y="818500"/>
            <a:ext cx="5328425" cy="3814126"/>
          </a:xfrm>
          <a:prstGeom prst="rect">
            <a:avLst/>
          </a:prstGeom>
          <a:noFill/>
          <a:ln>
            <a:noFill/>
          </a:ln>
        </p:spPr>
      </p:pic>
      <p:sp>
        <p:nvSpPr>
          <p:cNvPr id="795" name="Google Shape;795;p107"/>
          <p:cNvSpPr txBox="1"/>
          <p:nvPr/>
        </p:nvSpPr>
        <p:spPr>
          <a:xfrm>
            <a:off x="589850" y="917700"/>
            <a:ext cx="3000000" cy="3124500"/>
          </a:xfrm>
          <a:prstGeom prst="rect">
            <a:avLst/>
          </a:prstGeom>
          <a:noFill/>
          <a:ln>
            <a:noFill/>
          </a:ln>
        </p:spPr>
        <p:txBody>
          <a:bodyPr anchorCtr="0" anchor="t" bIns="91425" lIns="91425" spcFirstLastPara="1" rIns="91425" wrap="square" tIns="91425">
            <a:spAutoFit/>
          </a:bodyPr>
          <a:lstStyle/>
          <a:p>
            <a:pPr indent="0" lvl="0" marL="0" rtl="0" algn="l">
              <a:lnSpc>
                <a:spcPct val="204545"/>
              </a:lnSpc>
              <a:spcBef>
                <a:spcPts val="0"/>
              </a:spcBef>
              <a:spcAft>
                <a:spcPts val="0"/>
              </a:spcAft>
              <a:buNone/>
            </a:pPr>
            <a:r>
              <a:rPr lang="en" sz="1100">
                <a:solidFill>
                  <a:srgbClr val="24244C"/>
                </a:solidFill>
                <a:latin typeface="Century Gothic"/>
                <a:ea typeface="Century Gothic"/>
                <a:cs typeface="Century Gothic"/>
                <a:sym typeface="Century Gothic"/>
              </a:rPr>
              <a:t>T</a:t>
            </a:r>
            <a:r>
              <a:rPr lang="en" sz="1100">
                <a:solidFill>
                  <a:srgbClr val="24244C"/>
                </a:solidFill>
                <a:latin typeface="Century Gothic"/>
                <a:ea typeface="Century Gothic"/>
                <a:cs typeface="Century Gothic"/>
                <a:sym typeface="Century Gothic"/>
              </a:rPr>
              <a:t>he typical machine learning workflow consists of three main phases:</a:t>
            </a:r>
            <a:endParaRPr sz="1100">
              <a:solidFill>
                <a:srgbClr val="24244C"/>
              </a:solidFill>
              <a:latin typeface="Century Gothic"/>
              <a:ea typeface="Century Gothic"/>
              <a:cs typeface="Century Gothic"/>
              <a:sym typeface="Century Gothic"/>
            </a:endParaRPr>
          </a:p>
          <a:p>
            <a:pPr indent="-298450" lvl="0" marL="457200" rtl="0" algn="l">
              <a:lnSpc>
                <a:spcPct val="204545"/>
              </a:lnSpc>
              <a:spcBef>
                <a:spcPts val="0"/>
              </a:spcBef>
              <a:spcAft>
                <a:spcPts val="0"/>
              </a:spcAft>
              <a:buClr>
                <a:schemeClr val="dk1"/>
              </a:buClr>
              <a:buSzPts val="1100"/>
              <a:buFont typeface="Century Gothic"/>
              <a:buAutoNum type="arabicParenR"/>
            </a:pPr>
            <a:r>
              <a:rPr b="1" lang="en" sz="1100">
                <a:solidFill>
                  <a:schemeClr val="dk1"/>
                </a:solidFill>
                <a:latin typeface="Century Gothic"/>
                <a:ea typeface="Century Gothic"/>
                <a:cs typeface="Century Gothic"/>
                <a:sym typeface="Century Gothic"/>
              </a:rPr>
              <a:t>Data Engineering</a:t>
            </a:r>
            <a:r>
              <a:rPr lang="en" sz="1100">
                <a:solidFill>
                  <a:schemeClr val="dk1"/>
                </a:solidFill>
                <a:latin typeface="Century Gothic"/>
                <a:ea typeface="Century Gothic"/>
                <a:cs typeface="Century Gothic"/>
                <a:sym typeface="Century Gothic"/>
              </a:rPr>
              <a:t>: data acquisition &amp; data preparation,</a:t>
            </a:r>
            <a:endParaRPr sz="1100">
              <a:solidFill>
                <a:schemeClr val="dk1"/>
              </a:solidFill>
              <a:latin typeface="Century Gothic"/>
              <a:ea typeface="Century Gothic"/>
              <a:cs typeface="Century Gothic"/>
              <a:sym typeface="Century Gothic"/>
            </a:endParaRPr>
          </a:p>
          <a:p>
            <a:pPr indent="-298450" lvl="0" marL="457200" rtl="0" algn="l">
              <a:lnSpc>
                <a:spcPct val="204545"/>
              </a:lnSpc>
              <a:spcBef>
                <a:spcPts val="0"/>
              </a:spcBef>
              <a:spcAft>
                <a:spcPts val="0"/>
              </a:spcAft>
              <a:buClr>
                <a:schemeClr val="dk1"/>
              </a:buClr>
              <a:buSzPts val="1100"/>
              <a:buFont typeface="Century Gothic"/>
              <a:buAutoNum type="arabicParenR"/>
            </a:pPr>
            <a:r>
              <a:rPr b="1" lang="en" sz="1100">
                <a:solidFill>
                  <a:schemeClr val="dk1"/>
                </a:solidFill>
                <a:latin typeface="Century Gothic"/>
                <a:ea typeface="Century Gothic"/>
                <a:cs typeface="Century Gothic"/>
                <a:sym typeface="Century Gothic"/>
              </a:rPr>
              <a:t>ML Model Engineering</a:t>
            </a:r>
            <a:r>
              <a:rPr lang="en" sz="1100">
                <a:solidFill>
                  <a:schemeClr val="dk1"/>
                </a:solidFill>
                <a:latin typeface="Century Gothic"/>
                <a:ea typeface="Century Gothic"/>
                <a:cs typeface="Century Gothic"/>
                <a:sym typeface="Century Gothic"/>
              </a:rPr>
              <a:t>: ML model training &amp; serving, and</a:t>
            </a:r>
            <a:endParaRPr sz="1100">
              <a:solidFill>
                <a:schemeClr val="dk1"/>
              </a:solidFill>
              <a:latin typeface="Century Gothic"/>
              <a:ea typeface="Century Gothic"/>
              <a:cs typeface="Century Gothic"/>
              <a:sym typeface="Century Gothic"/>
            </a:endParaRPr>
          </a:p>
          <a:p>
            <a:pPr indent="-298450" lvl="0" marL="457200" rtl="0" algn="l">
              <a:lnSpc>
                <a:spcPct val="204545"/>
              </a:lnSpc>
              <a:spcBef>
                <a:spcPts val="0"/>
              </a:spcBef>
              <a:spcAft>
                <a:spcPts val="0"/>
              </a:spcAft>
              <a:buClr>
                <a:schemeClr val="dk1"/>
              </a:buClr>
              <a:buSzPts val="1100"/>
              <a:buFont typeface="Century Gothic"/>
              <a:buAutoNum type="arabicParenR"/>
            </a:pPr>
            <a:r>
              <a:rPr b="1" lang="en" sz="1100">
                <a:solidFill>
                  <a:schemeClr val="dk1"/>
                </a:solidFill>
                <a:latin typeface="Century Gothic"/>
                <a:ea typeface="Century Gothic"/>
                <a:cs typeface="Century Gothic"/>
                <a:sym typeface="Century Gothic"/>
              </a:rPr>
              <a:t>Code Engineering</a:t>
            </a:r>
            <a:r>
              <a:rPr lang="en" sz="1100">
                <a:solidFill>
                  <a:schemeClr val="dk1"/>
                </a:solidFill>
                <a:latin typeface="Century Gothic"/>
                <a:ea typeface="Century Gothic"/>
                <a:cs typeface="Century Gothic"/>
                <a:sym typeface="Century Gothic"/>
              </a:rPr>
              <a:t> :integrating ML model into the final product.</a:t>
            </a:r>
            <a:endParaRPr sz="1100">
              <a:solidFill>
                <a:schemeClr val="dk1"/>
              </a:solidFill>
              <a:latin typeface="Century Gothic"/>
              <a:ea typeface="Century Gothic"/>
              <a:cs typeface="Century Gothic"/>
              <a:sym typeface="Century Gothic"/>
            </a:endParaRPr>
          </a:p>
          <a:p>
            <a:pPr indent="-228600" lvl="0" marL="457200" rtl="0" algn="l">
              <a:lnSpc>
                <a:spcPct val="204545"/>
              </a:lnSpc>
              <a:spcBef>
                <a:spcPts val="0"/>
              </a:spcBef>
              <a:spcAft>
                <a:spcPts val="0"/>
              </a:spcAft>
              <a:buClr>
                <a:srgbClr val="24244C"/>
              </a:buClr>
              <a:buSzPts val="1100"/>
              <a:buFont typeface="Century Gothic"/>
              <a:buNone/>
            </a:pPr>
            <a:r>
              <a:t/>
            </a:r>
            <a:endParaRPr sz="1100">
              <a:solidFill>
                <a:srgbClr val="24244C"/>
              </a:solidFill>
              <a:latin typeface="Century Gothic"/>
              <a:ea typeface="Century Gothic"/>
              <a:cs typeface="Century Gothic"/>
              <a:sym typeface="Century Gothic"/>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9" name="Shape 799"/>
        <p:cNvGrpSpPr/>
        <p:nvPr/>
      </p:nvGrpSpPr>
      <p:grpSpPr>
        <a:xfrm>
          <a:off x="0" y="0"/>
          <a:ext cx="0" cy="0"/>
          <a:chOff x="0" y="0"/>
          <a:chExt cx="0" cy="0"/>
        </a:xfrm>
      </p:grpSpPr>
      <p:sp>
        <p:nvSpPr>
          <p:cNvPr id="800" name="Google Shape;800;p108"/>
          <p:cNvSpPr/>
          <p:nvPr/>
        </p:nvSpPr>
        <p:spPr>
          <a:xfrm>
            <a:off x="589850" y="502200"/>
            <a:ext cx="76794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Data Engineering</a:t>
            </a:r>
            <a:endParaRPr sz="2000">
              <a:solidFill>
                <a:schemeClr val="dk1"/>
              </a:solidFill>
              <a:latin typeface="Century Gothic"/>
              <a:ea typeface="Century Gothic"/>
              <a:cs typeface="Century Gothic"/>
              <a:sym typeface="Century Gothic"/>
            </a:endParaRPr>
          </a:p>
        </p:txBody>
      </p:sp>
      <p:sp>
        <p:nvSpPr>
          <p:cNvPr id="801" name="Google Shape;801;p108"/>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802" name="Google Shape;802;p108"/>
          <p:cNvSpPr txBox="1"/>
          <p:nvPr/>
        </p:nvSpPr>
        <p:spPr>
          <a:xfrm>
            <a:off x="589850" y="917700"/>
            <a:ext cx="7838400" cy="427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latin typeface="Century Gothic"/>
                <a:ea typeface="Century Gothic"/>
                <a:cs typeface="Century Gothic"/>
                <a:sym typeface="Century Gothic"/>
              </a:rPr>
              <a:t>Data Engineering is the first step in the data science workflow, focused on collecting, preparing, and organizing data for analysis. Since data usually comes from multiple sources and formats, it must be cleaned and transformed into usable datasets.</a:t>
            </a:r>
            <a:endParaRPr sz="11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None/>
            </a:pPr>
            <a:r>
              <a:rPr lang="en" sz="1100">
                <a:solidFill>
                  <a:schemeClr val="dk1"/>
                </a:solidFill>
                <a:latin typeface="Century Gothic"/>
                <a:ea typeface="Century Gothic"/>
                <a:cs typeface="Century Gothic"/>
                <a:sym typeface="Century Gothic"/>
              </a:rPr>
              <a:t>This stage is often the </a:t>
            </a:r>
            <a:r>
              <a:rPr b="1" lang="en" sz="1100">
                <a:solidFill>
                  <a:schemeClr val="dk1"/>
                </a:solidFill>
                <a:latin typeface="Century Gothic"/>
                <a:ea typeface="Century Gothic"/>
                <a:cs typeface="Century Gothic"/>
                <a:sym typeface="Century Gothic"/>
              </a:rPr>
              <a:t>most time-consuming and resource-intensive</a:t>
            </a:r>
            <a:r>
              <a:rPr lang="en" sz="1100">
                <a:solidFill>
                  <a:schemeClr val="dk1"/>
                </a:solidFill>
                <a:latin typeface="Century Gothic"/>
                <a:ea typeface="Century Gothic"/>
                <a:cs typeface="Century Gothic"/>
                <a:sym typeface="Century Gothic"/>
              </a:rPr>
              <a:t>, but it is critical because poor data quality leads to incorrect insights and weak models.</a:t>
            </a:r>
            <a:endParaRPr sz="11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None/>
            </a:pPr>
            <a:r>
              <a:rPr b="1" lang="en" sz="1100">
                <a:solidFill>
                  <a:schemeClr val="dk1"/>
                </a:solidFill>
                <a:latin typeface="Century Gothic"/>
                <a:ea typeface="Century Gothic"/>
                <a:cs typeface="Century Gothic"/>
                <a:sym typeface="Century Gothic"/>
              </a:rPr>
              <a:t>Key Steps</a:t>
            </a:r>
            <a:endParaRPr b="1" sz="1100">
              <a:solidFill>
                <a:schemeClr val="dk1"/>
              </a:solidFill>
              <a:latin typeface="Century Gothic"/>
              <a:ea typeface="Century Gothic"/>
              <a:cs typeface="Century Gothic"/>
              <a:sym typeface="Century Gothic"/>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Century Gothic"/>
                <a:ea typeface="Century Gothic"/>
                <a:cs typeface="Century Gothic"/>
                <a:sym typeface="Century Gothic"/>
              </a:rPr>
              <a:t>Data Ingestion:</a:t>
            </a:r>
            <a:r>
              <a:rPr lang="en" sz="1100">
                <a:solidFill>
                  <a:schemeClr val="dk1"/>
                </a:solidFill>
                <a:latin typeface="Century Gothic"/>
                <a:ea typeface="Century Gothic"/>
                <a:cs typeface="Century Gothic"/>
                <a:sym typeface="Century Gothic"/>
              </a:rPr>
              <a:t> Collect data from sources such as databases, files, or distributed systems (e.g., Spark, CSV).</a:t>
            </a:r>
            <a:br>
              <a:rPr lang="en" sz="1100">
                <a:solidFill>
                  <a:schemeClr val="dk1"/>
                </a:solidFill>
                <a:latin typeface="Century Gothic"/>
                <a:ea typeface="Century Gothic"/>
                <a:cs typeface="Century Gothic"/>
                <a:sym typeface="Century Gothic"/>
              </a:rPr>
            </a:br>
            <a:endParaRPr sz="1100">
              <a:solidFill>
                <a:schemeClr val="dk1"/>
              </a:solidFill>
              <a:latin typeface="Century Gothic"/>
              <a:ea typeface="Century Gothic"/>
              <a:cs typeface="Century Gothic"/>
              <a:sym typeface="Century Goth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entury Gothic"/>
                <a:ea typeface="Century Gothic"/>
                <a:cs typeface="Century Gothic"/>
                <a:sym typeface="Century Gothic"/>
              </a:rPr>
              <a:t>Exploration &amp; Validation:</a:t>
            </a:r>
            <a:r>
              <a:rPr lang="en" sz="1100">
                <a:solidFill>
                  <a:schemeClr val="dk1"/>
                </a:solidFill>
                <a:latin typeface="Century Gothic"/>
                <a:ea typeface="Century Gothic"/>
                <a:cs typeface="Century Gothic"/>
                <a:sym typeface="Century Gothic"/>
              </a:rPr>
              <a:t> Profile data to understand structure, detect errors, and generate metadata (min, max, averages).</a:t>
            </a:r>
            <a:br>
              <a:rPr lang="en" sz="1100">
                <a:solidFill>
                  <a:schemeClr val="dk1"/>
                </a:solidFill>
                <a:latin typeface="Century Gothic"/>
                <a:ea typeface="Century Gothic"/>
                <a:cs typeface="Century Gothic"/>
                <a:sym typeface="Century Gothic"/>
              </a:rPr>
            </a:br>
            <a:endParaRPr sz="1100">
              <a:solidFill>
                <a:schemeClr val="dk1"/>
              </a:solidFill>
              <a:latin typeface="Century Gothic"/>
              <a:ea typeface="Century Gothic"/>
              <a:cs typeface="Century Gothic"/>
              <a:sym typeface="Century Goth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entury Gothic"/>
                <a:ea typeface="Century Gothic"/>
                <a:cs typeface="Century Gothic"/>
                <a:sym typeface="Century Gothic"/>
              </a:rPr>
              <a:t>Data Wrangling:</a:t>
            </a:r>
            <a:r>
              <a:rPr lang="en" sz="1100">
                <a:solidFill>
                  <a:schemeClr val="dk1"/>
                </a:solidFill>
                <a:latin typeface="Century Gothic"/>
                <a:ea typeface="Century Gothic"/>
                <a:cs typeface="Century Gothic"/>
                <a:sym typeface="Century Gothic"/>
              </a:rPr>
              <a:t> Clean and transform data (handle missing values, fix formats).</a:t>
            </a:r>
            <a:br>
              <a:rPr lang="en" sz="1100">
                <a:solidFill>
                  <a:schemeClr val="dk1"/>
                </a:solidFill>
                <a:latin typeface="Century Gothic"/>
                <a:ea typeface="Century Gothic"/>
                <a:cs typeface="Century Gothic"/>
                <a:sym typeface="Century Gothic"/>
              </a:rPr>
            </a:br>
            <a:endParaRPr sz="1100">
              <a:solidFill>
                <a:schemeClr val="dk1"/>
              </a:solidFill>
              <a:latin typeface="Century Gothic"/>
              <a:ea typeface="Century Gothic"/>
              <a:cs typeface="Century Gothic"/>
              <a:sym typeface="Century Goth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entury Gothic"/>
                <a:ea typeface="Century Gothic"/>
                <a:cs typeface="Century Gothic"/>
                <a:sym typeface="Century Gothic"/>
              </a:rPr>
              <a:t>Data Labeling:</a:t>
            </a:r>
            <a:r>
              <a:rPr lang="en" sz="1100">
                <a:solidFill>
                  <a:schemeClr val="dk1"/>
                </a:solidFill>
                <a:latin typeface="Century Gothic"/>
                <a:ea typeface="Century Gothic"/>
                <a:cs typeface="Century Gothic"/>
                <a:sym typeface="Century Gothic"/>
              </a:rPr>
              <a:t> Assign categories or labels to data for supervised learning.</a:t>
            </a:r>
            <a:br>
              <a:rPr lang="en" sz="1100">
                <a:solidFill>
                  <a:schemeClr val="dk1"/>
                </a:solidFill>
                <a:latin typeface="Century Gothic"/>
                <a:ea typeface="Century Gothic"/>
                <a:cs typeface="Century Gothic"/>
                <a:sym typeface="Century Gothic"/>
              </a:rPr>
            </a:br>
            <a:endParaRPr sz="1100">
              <a:solidFill>
                <a:schemeClr val="dk1"/>
              </a:solidFill>
              <a:latin typeface="Century Gothic"/>
              <a:ea typeface="Century Gothic"/>
              <a:cs typeface="Century Gothic"/>
              <a:sym typeface="Century Goth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Century Gothic"/>
                <a:ea typeface="Century Gothic"/>
                <a:cs typeface="Century Gothic"/>
                <a:sym typeface="Century Gothic"/>
              </a:rPr>
              <a:t>Data Splitting:</a:t>
            </a:r>
            <a:r>
              <a:rPr lang="en" sz="1100">
                <a:solidFill>
                  <a:schemeClr val="dk1"/>
                </a:solidFill>
                <a:latin typeface="Century Gothic"/>
                <a:ea typeface="Century Gothic"/>
                <a:cs typeface="Century Gothic"/>
                <a:sym typeface="Century Gothic"/>
              </a:rPr>
              <a:t> Divide data into </a:t>
            </a:r>
            <a:r>
              <a:rPr b="1" lang="en" sz="1100">
                <a:solidFill>
                  <a:schemeClr val="dk1"/>
                </a:solidFill>
                <a:latin typeface="Century Gothic"/>
                <a:ea typeface="Century Gothic"/>
                <a:cs typeface="Century Gothic"/>
                <a:sym typeface="Century Gothic"/>
              </a:rPr>
              <a:t>training, validation, and test datasets</a:t>
            </a:r>
            <a:r>
              <a:rPr lang="en" sz="1100">
                <a:solidFill>
                  <a:schemeClr val="dk1"/>
                </a:solidFill>
                <a:latin typeface="Century Gothic"/>
                <a:ea typeface="Century Gothic"/>
                <a:cs typeface="Century Gothic"/>
                <a:sym typeface="Century Gothic"/>
              </a:rPr>
              <a:t>.</a:t>
            </a:r>
            <a:br>
              <a:rPr lang="en" sz="1100">
                <a:solidFill>
                  <a:schemeClr val="dk1"/>
                </a:solidFill>
                <a:latin typeface="Century Gothic"/>
                <a:ea typeface="Century Gothic"/>
                <a:cs typeface="Century Gothic"/>
                <a:sym typeface="Century Gothic"/>
              </a:rPr>
            </a:br>
            <a:endParaRPr sz="1100">
              <a:solidFill>
                <a:schemeClr val="dk1"/>
              </a:solidFill>
              <a:latin typeface="Century Gothic"/>
              <a:ea typeface="Century Gothic"/>
              <a:cs typeface="Century Gothic"/>
              <a:sym typeface="Century Gothic"/>
            </a:endParaRPr>
          </a:p>
          <a:p>
            <a:pPr indent="0" lvl="0" marL="0" rtl="0" algn="l">
              <a:lnSpc>
                <a:spcPct val="204545"/>
              </a:lnSpc>
              <a:spcBef>
                <a:spcPts val="1200"/>
              </a:spcBef>
              <a:spcAft>
                <a:spcPts val="0"/>
              </a:spcAft>
              <a:buNone/>
            </a:pPr>
            <a:r>
              <a:t/>
            </a:r>
            <a:endParaRPr sz="1100">
              <a:solidFill>
                <a:srgbClr val="24244C"/>
              </a:solidFill>
              <a:latin typeface="Century Gothic"/>
              <a:ea typeface="Century Gothic"/>
              <a:cs typeface="Century Gothic"/>
              <a:sym typeface="Century Gothic"/>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6" name="Shape 806"/>
        <p:cNvGrpSpPr/>
        <p:nvPr/>
      </p:nvGrpSpPr>
      <p:grpSpPr>
        <a:xfrm>
          <a:off x="0" y="0"/>
          <a:ext cx="0" cy="0"/>
          <a:chOff x="0" y="0"/>
          <a:chExt cx="0" cy="0"/>
        </a:xfrm>
      </p:grpSpPr>
      <p:sp>
        <p:nvSpPr>
          <p:cNvPr id="807" name="Google Shape;807;p109"/>
          <p:cNvSpPr/>
          <p:nvPr/>
        </p:nvSpPr>
        <p:spPr>
          <a:xfrm>
            <a:off x="589850" y="502200"/>
            <a:ext cx="76794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Model Engineering</a:t>
            </a:r>
            <a:endParaRPr sz="2000">
              <a:solidFill>
                <a:schemeClr val="dk1"/>
              </a:solidFill>
              <a:latin typeface="Century Gothic"/>
              <a:ea typeface="Century Gothic"/>
              <a:cs typeface="Century Gothic"/>
              <a:sym typeface="Century Gothic"/>
            </a:endParaRPr>
          </a:p>
        </p:txBody>
      </p:sp>
      <p:sp>
        <p:nvSpPr>
          <p:cNvPr id="808" name="Google Shape;808;p109"/>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809" name="Google Shape;809;p109"/>
          <p:cNvSpPr txBox="1"/>
          <p:nvPr/>
        </p:nvSpPr>
        <p:spPr>
          <a:xfrm>
            <a:off x="589850" y="917700"/>
            <a:ext cx="7838400" cy="338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chemeClr val="dk1"/>
                </a:solidFill>
                <a:latin typeface="Century Gothic"/>
                <a:ea typeface="Century Gothic"/>
                <a:cs typeface="Century Gothic"/>
                <a:sym typeface="Century Gothic"/>
              </a:rPr>
              <a:t>Model Engineering focuses on developing and validating machine learning models using prepared data.</a:t>
            </a:r>
            <a:endParaRPr sz="12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None/>
            </a:pPr>
            <a:r>
              <a:rPr b="1" lang="en" sz="1200">
                <a:solidFill>
                  <a:schemeClr val="dk1"/>
                </a:solidFill>
                <a:latin typeface="Century Gothic"/>
                <a:ea typeface="Century Gothic"/>
                <a:cs typeface="Century Gothic"/>
                <a:sym typeface="Century Gothic"/>
              </a:rPr>
              <a:t>Key Steps</a:t>
            </a:r>
            <a:endParaRPr b="1" sz="1200">
              <a:solidFill>
                <a:schemeClr val="dk1"/>
              </a:solidFill>
              <a:latin typeface="Century Gothic"/>
              <a:ea typeface="Century Gothic"/>
              <a:cs typeface="Century Gothic"/>
              <a:sym typeface="Century Gothic"/>
            </a:endParaRPr>
          </a:p>
          <a:p>
            <a:pPr indent="-304800" lvl="0" marL="457200" rtl="0" algn="l">
              <a:lnSpc>
                <a:spcPct val="115000"/>
              </a:lnSpc>
              <a:spcBef>
                <a:spcPts val="1200"/>
              </a:spcBef>
              <a:spcAft>
                <a:spcPts val="0"/>
              </a:spcAft>
              <a:buClr>
                <a:schemeClr val="dk1"/>
              </a:buClr>
              <a:buSzPts val="1200"/>
              <a:buChar char="●"/>
            </a:pPr>
            <a:r>
              <a:rPr b="1" lang="en" sz="1200">
                <a:solidFill>
                  <a:schemeClr val="dk1"/>
                </a:solidFill>
                <a:latin typeface="Century Gothic"/>
                <a:ea typeface="Century Gothic"/>
                <a:cs typeface="Century Gothic"/>
                <a:sym typeface="Century Gothic"/>
              </a:rPr>
              <a:t>Model Training:</a:t>
            </a:r>
            <a:r>
              <a:rPr lang="en" sz="1200">
                <a:solidFill>
                  <a:schemeClr val="dk1"/>
                </a:solidFill>
                <a:latin typeface="Century Gothic"/>
                <a:ea typeface="Century Gothic"/>
                <a:cs typeface="Century Gothic"/>
                <a:sym typeface="Century Gothic"/>
              </a:rPr>
              <a:t> Apply ML algorithms to training data, including </a:t>
            </a:r>
            <a:r>
              <a:rPr b="1" lang="en" sz="1200">
                <a:solidFill>
                  <a:schemeClr val="dk1"/>
                </a:solidFill>
                <a:latin typeface="Century Gothic"/>
                <a:ea typeface="Century Gothic"/>
                <a:cs typeface="Century Gothic"/>
                <a:sym typeface="Century Gothic"/>
              </a:rPr>
              <a:t>feature engineering</a:t>
            </a:r>
            <a:r>
              <a:rPr lang="en" sz="1200">
                <a:solidFill>
                  <a:schemeClr val="dk1"/>
                </a:solidFill>
                <a:latin typeface="Century Gothic"/>
                <a:ea typeface="Century Gothic"/>
                <a:cs typeface="Century Gothic"/>
                <a:sym typeface="Century Gothic"/>
              </a:rPr>
              <a:t> and </a:t>
            </a:r>
            <a:r>
              <a:rPr b="1" lang="en" sz="1200">
                <a:solidFill>
                  <a:schemeClr val="dk1"/>
                </a:solidFill>
                <a:latin typeface="Century Gothic"/>
                <a:ea typeface="Century Gothic"/>
                <a:cs typeface="Century Gothic"/>
                <a:sym typeface="Century Gothic"/>
              </a:rPr>
              <a:t>hyperparameter tuning</a:t>
            </a:r>
            <a:r>
              <a:rPr lang="en" sz="1200">
                <a:solidFill>
                  <a:schemeClr val="dk1"/>
                </a:solidFill>
                <a:latin typeface="Century Gothic"/>
                <a:ea typeface="Century Gothic"/>
                <a:cs typeface="Century Gothic"/>
                <a:sym typeface="Century Gothic"/>
              </a:rPr>
              <a:t>.</a:t>
            </a:r>
            <a:br>
              <a:rPr lang="en" sz="1200">
                <a:solidFill>
                  <a:schemeClr val="dk1"/>
                </a:solidFill>
                <a:latin typeface="Century Gothic"/>
                <a:ea typeface="Century Gothic"/>
                <a:cs typeface="Century Gothic"/>
                <a:sym typeface="Century Gothic"/>
              </a:rPr>
            </a:b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Century Gothic"/>
                <a:ea typeface="Century Gothic"/>
                <a:cs typeface="Century Gothic"/>
                <a:sym typeface="Century Gothic"/>
              </a:rPr>
              <a:t>Model Evaluation:</a:t>
            </a:r>
            <a:r>
              <a:rPr lang="en" sz="1200">
                <a:solidFill>
                  <a:schemeClr val="dk1"/>
                </a:solidFill>
                <a:latin typeface="Century Gothic"/>
                <a:ea typeface="Century Gothic"/>
                <a:cs typeface="Century Gothic"/>
                <a:sym typeface="Century Gothic"/>
              </a:rPr>
              <a:t> Measure performance to ensure the model meets defined objectives.</a:t>
            </a:r>
            <a:br>
              <a:rPr lang="en" sz="1200">
                <a:solidFill>
                  <a:schemeClr val="dk1"/>
                </a:solidFill>
                <a:latin typeface="Century Gothic"/>
                <a:ea typeface="Century Gothic"/>
                <a:cs typeface="Century Gothic"/>
                <a:sym typeface="Century Gothic"/>
              </a:rPr>
            </a:b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Century Gothic"/>
                <a:ea typeface="Century Gothic"/>
                <a:cs typeface="Century Gothic"/>
                <a:sym typeface="Century Gothic"/>
              </a:rPr>
              <a:t>Model Testing:</a:t>
            </a:r>
            <a:r>
              <a:rPr lang="en" sz="1200">
                <a:solidFill>
                  <a:schemeClr val="dk1"/>
                </a:solidFill>
                <a:latin typeface="Century Gothic"/>
                <a:ea typeface="Century Gothic"/>
                <a:cs typeface="Century Gothic"/>
                <a:sym typeface="Century Gothic"/>
              </a:rPr>
              <a:t> Perform final validation using a </a:t>
            </a:r>
            <a:r>
              <a:rPr b="1" lang="en" sz="1200">
                <a:solidFill>
                  <a:schemeClr val="dk1"/>
                </a:solidFill>
                <a:latin typeface="Century Gothic"/>
                <a:ea typeface="Century Gothic"/>
                <a:cs typeface="Century Gothic"/>
                <a:sym typeface="Century Gothic"/>
              </a:rPr>
              <a:t>hold-out test dataset</a:t>
            </a:r>
            <a:r>
              <a:rPr lang="en" sz="1200">
                <a:solidFill>
                  <a:schemeClr val="dk1"/>
                </a:solidFill>
                <a:latin typeface="Century Gothic"/>
                <a:ea typeface="Century Gothic"/>
                <a:cs typeface="Century Gothic"/>
                <a:sym typeface="Century Gothic"/>
              </a:rPr>
              <a:t>.</a:t>
            </a:r>
            <a:br>
              <a:rPr lang="en" sz="1200">
                <a:solidFill>
                  <a:schemeClr val="dk1"/>
                </a:solidFill>
                <a:latin typeface="Century Gothic"/>
                <a:ea typeface="Century Gothic"/>
                <a:cs typeface="Century Gothic"/>
                <a:sym typeface="Century Gothic"/>
              </a:rPr>
            </a:b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Century Gothic"/>
                <a:ea typeface="Century Gothic"/>
                <a:cs typeface="Century Gothic"/>
                <a:sym typeface="Century Gothic"/>
              </a:rPr>
              <a:t>Model Packaging:</a:t>
            </a:r>
            <a:r>
              <a:rPr lang="en" sz="1200">
                <a:solidFill>
                  <a:schemeClr val="dk1"/>
                </a:solidFill>
                <a:latin typeface="Century Gothic"/>
                <a:ea typeface="Century Gothic"/>
                <a:cs typeface="Century Gothic"/>
                <a:sym typeface="Century Gothic"/>
              </a:rPr>
              <a:t> Export the model in standardized formats (e.g., </a:t>
            </a:r>
            <a:r>
              <a:rPr b="1" lang="en" sz="1200">
                <a:solidFill>
                  <a:schemeClr val="dk1"/>
                </a:solidFill>
                <a:latin typeface="Century Gothic"/>
                <a:ea typeface="Century Gothic"/>
                <a:cs typeface="Century Gothic"/>
                <a:sym typeface="Century Gothic"/>
              </a:rPr>
              <a:t>ONNX, PMML, PFA</a:t>
            </a:r>
            <a:r>
              <a:rPr lang="en" sz="1200">
                <a:solidFill>
                  <a:schemeClr val="dk1"/>
                </a:solidFill>
                <a:latin typeface="Century Gothic"/>
                <a:ea typeface="Century Gothic"/>
                <a:cs typeface="Century Gothic"/>
                <a:sym typeface="Century Gothic"/>
              </a:rPr>
              <a:t>) so it can be integrated into applications.</a:t>
            </a:r>
            <a:endParaRPr sz="1200">
              <a:solidFill>
                <a:schemeClr val="dk1"/>
              </a:solidFill>
              <a:latin typeface="Century Gothic"/>
              <a:ea typeface="Century Gothic"/>
              <a:cs typeface="Century Gothic"/>
              <a:sym typeface="Century Gothic"/>
            </a:endParaRPr>
          </a:p>
          <a:p>
            <a:pPr indent="0" lvl="0" marL="0" rtl="0" algn="l">
              <a:lnSpc>
                <a:spcPct val="204545"/>
              </a:lnSpc>
              <a:spcBef>
                <a:spcPts val="1200"/>
              </a:spcBef>
              <a:spcAft>
                <a:spcPts val="0"/>
              </a:spcAft>
              <a:buNone/>
            </a:pPr>
            <a:r>
              <a:t/>
            </a:r>
            <a:endParaRPr sz="1200">
              <a:solidFill>
                <a:schemeClr val="dk1"/>
              </a:solidFill>
              <a:latin typeface="Century Gothic"/>
              <a:ea typeface="Century Gothic"/>
              <a:cs typeface="Century Gothic"/>
              <a:sym typeface="Century Gothic"/>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3" name="Shape 813"/>
        <p:cNvGrpSpPr/>
        <p:nvPr/>
      </p:nvGrpSpPr>
      <p:grpSpPr>
        <a:xfrm>
          <a:off x="0" y="0"/>
          <a:ext cx="0" cy="0"/>
          <a:chOff x="0" y="0"/>
          <a:chExt cx="0" cy="0"/>
        </a:xfrm>
      </p:grpSpPr>
      <p:sp>
        <p:nvSpPr>
          <p:cNvPr id="814" name="Google Shape;814;p110"/>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815" name="Google Shape;815;p110"/>
          <p:cNvSpPr/>
          <p:nvPr/>
        </p:nvSpPr>
        <p:spPr>
          <a:xfrm>
            <a:off x="589850" y="502200"/>
            <a:ext cx="76794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 Model Deployment (Using the Model in Real Applications)</a:t>
            </a:r>
            <a:endParaRPr sz="2000">
              <a:solidFill>
                <a:schemeClr val="dk1"/>
              </a:solidFill>
              <a:latin typeface="Century Gothic"/>
              <a:ea typeface="Century Gothic"/>
              <a:cs typeface="Century Gothic"/>
              <a:sym typeface="Century Gothic"/>
            </a:endParaRPr>
          </a:p>
        </p:txBody>
      </p:sp>
      <p:sp>
        <p:nvSpPr>
          <p:cNvPr id="816" name="Google Shape;816;p110"/>
          <p:cNvSpPr txBox="1"/>
          <p:nvPr/>
        </p:nvSpPr>
        <p:spPr>
          <a:xfrm>
            <a:off x="589850" y="917700"/>
            <a:ext cx="7838400" cy="275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Century Gothic"/>
                <a:ea typeface="Century Gothic"/>
                <a:cs typeface="Century Gothic"/>
                <a:sym typeface="Century Gothic"/>
              </a:rPr>
              <a:t>After training, the model must be integrated into real-world systems where it can generate predictions.</a:t>
            </a:r>
            <a:endParaRPr sz="12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latin typeface="Century Gothic"/>
                <a:ea typeface="Century Gothic"/>
                <a:cs typeface="Century Gothic"/>
                <a:sym typeface="Century Gothic"/>
              </a:rPr>
              <a:t>Key Steps</a:t>
            </a:r>
            <a:endParaRPr b="1" sz="1200">
              <a:solidFill>
                <a:schemeClr val="dk1"/>
              </a:solidFill>
              <a:latin typeface="Century Gothic"/>
              <a:ea typeface="Century Gothic"/>
              <a:cs typeface="Century Gothic"/>
              <a:sym typeface="Century Gothic"/>
            </a:endParaRPr>
          </a:p>
          <a:p>
            <a:pPr indent="-304800" lvl="0" marL="457200" rtl="0" algn="l">
              <a:lnSpc>
                <a:spcPct val="115000"/>
              </a:lnSpc>
              <a:spcBef>
                <a:spcPts val="1200"/>
              </a:spcBef>
              <a:spcAft>
                <a:spcPts val="0"/>
              </a:spcAft>
              <a:buClr>
                <a:schemeClr val="dk1"/>
              </a:buClr>
              <a:buSzPts val="1200"/>
              <a:buChar char="●"/>
            </a:pPr>
            <a:r>
              <a:rPr b="1" lang="en" sz="1200">
                <a:solidFill>
                  <a:schemeClr val="dk1"/>
                </a:solidFill>
                <a:latin typeface="Century Gothic"/>
                <a:ea typeface="Century Gothic"/>
                <a:cs typeface="Century Gothic"/>
                <a:sym typeface="Century Gothic"/>
              </a:rPr>
              <a:t>Model Serving:</a:t>
            </a:r>
            <a:r>
              <a:rPr lang="en" sz="1200">
                <a:solidFill>
                  <a:schemeClr val="dk1"/>
                </a:solidFill>
                <a:latin typeface="Century Gothic"/>
                <a:ea typeface="Century Gothic"/>
                <a:cs typeface="Century Gothic"/>
                <a:sym typeface="Century Gothic"/>
              </a:rPr>
              <a:t> Deploy the model in a production environment (e.g., APIs, applications).</a:t>
            </a:r>
            <a:br>
              <a:rPr lang="en" sz="1200">
                <a:solidFill>
                  <a:schemeClr val="dk1"/>
                </a:solidFill>
                <a:latin typeface="Century Gothic"/>
                <a:ea typeface="Century Gothic"/>
                <a:cs typeface="Century Gothic"/>
                <a:sym typeface="Century Gothic"/>
              </a:rPr>
            </a:b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Century Gothic"/>
                <a:ea typeface="Century Gothic"/>
                <a:cs typeface="Century Gothic"/>
                <a:sym typeface="Century Gothic"/>
              </a:rPr>
              <a:t>Performance Monitoring:</a:t>
            </a:r>
            <a:r>
              <a:rPr lang="en" sz="1200">
                <a:solidFill>
                  <a:schemeClr val="dk1"/>
                </a:solidFill>
                <a:latin typeface="Century Gothic"/>
                <a:ea typeface="Century Gothic"/>
                <a:cs typeface="Century Gothic"/>
                <a:sym typeface="Century Gothic"/>
              </a:rPr>
              <a:t> Track model performance on new data to detect issues like </a:t>
            </a:r>
            <a:r>
              <a:rPr b="1" lang="en" sz="1200">
                <a:solidFill>
                  <a:schemeClr val="dk1"/>
                </a:solidFill>
                <a:latin typeface="Century Gothic"/>
                <a:ea typeface="Century Gothic"/>
                <a:cs typeface="Century Gothic"/>
                <a:sym typeface="Century Gothic"/>
              </a:rPr>
              <a:t>prediction drift</a:t>
            </a:r>
            <a:r>
              <a:rPr lang="en" sz="1200">
                <a:solidFill>
                  <a:schemeClr val="dk1"/>
                </a:solidFill>
                <a:latin typeface="Century Gothic"/>
                <a:ea typeface="Century Gothic"/>
                <a:cs typeface="Century Gothic"/>
                <a:sym typeface="Century Gothic"/>
              </a:rPr>
              <a:t> or reduced accuracy.</a:t>
            </a:r>
            <a:br>
              <a:rPr lang="en" sz="1200">
                <a:solidFill>
                  <a:schemeClr val="dk1"/>
                </a:solidFill>
                <a:latin typeface="Century Gothic"/>
                <a:ea typeface="Century Gothic"/>
                <a:cs typeface="Century Gothic"/>
                <a:sym typeface="Century Gothic"/>
              </a:rPr>
            </a:b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Century Gothic"/>
                <a:ea typeface="Century Gothic"/>
                <a:cs typeface="Century Gothic"/>
                <a:sym typeface="Century Gothic"/>
              </a:rPr>
              <a:t>Model Retraining:</a:t>
            </a:r>
            <a:r>
              <a:rPr lang="en" sz="1200">
                <a:solidFill>
                  <a:schemeClr val="dk1"/>
                </a:solidFill>
                <a:latin typeface="Century Gothic"/>
                <a:ea typeface="Century Gothic"/>
                <a:cs typeface="Century Gothic"/>
                <a:sym typeface="Century Gothic"/>
              </a:rPr>
              <a:t> Use monitoring signals to trigger updates or retraining when performance declines.</a:t>
            </a:r>
            <a:endParaRPr sz="1200">
              <a:solidFill>
                <a:schemeClr val="dk1"/>
              </a:solidFill>
              <a:latin typeface="Century Gothic"/>
              <a:ea typeface="Century Gothic"/>
              <a:cs typeface="Century Gothic"/>
              <a:sym typeface="Century Gothic"/>
            </a:endParaRPr>
          </a:p>
          <a:p>
            <a:pPr indent="0" lvl="0" marL="0" rtl="0" algn="l">
              <a:lnSpc>
                <a:spcPct val="204545"/>
              </a:lnSpc>
              <a:spcBef>
                <a:spcPts val="1200"/>
              </a:spcBef>
              <a:spcAft>
                <a:spcPts val="0"/>
              </a:spcAft>
              <a:buNone/>
            </a:pPr>
            <a:r>
              <a:t/>
            </a:r>
            <a:endParaRPr sz="1300">
              <a:solidFill>
                <a:schemeClr val="dk1"/>
              </a:solidFill>
              <a:latin typeface="Century Gothic"/>
              <a:ea typeface="Century Gothic"/>
              <a:cs typeface="Century Gothic"/>
              <a:sym typeface="Century Gothic"/>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0" name="Shape 820"/>
        <p:cNvGrpSpPr/>
        <p:nvPr/>
      </p:nvGrpSpPr>
      <p:grpSpPr>
        <a:xfrm>
          <a:off x="0" y="0"/>
          <a:ext cx="0" cy="0"/>
          <a:chOff x="0" y="0"/>
          <a:chExt cx="0" cy="0"/>
        </a:xfrm>
      </p:grpSpPr>
      <p:sp>
        <p:nvSpPr>
          <p:cNvPr id="821" name="Google Shape;821;p111"/>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822" name="Google Shape;822;p111"/>
          <p:cNvSpPr/>
          <p:nvPr/>
        </p:nvSpPr>
        <p:spPr>
          <a:xfrm>
            <a:off x="589850" y="502200"/>
            <a:ext cx="76794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Choosing The Right Model Type</a:t>
            </a:r>
            <a:endParaRPr sz="2000">
              <a:solidFill>
                <a:schemeClr val="dk1"/>
              </a:solidFill>
              <a:latin typeface="Century Gothic"/>
              <a:ea typeface="Century Gothic"/>
              <a:cs typeface="Century Gothic"/>
              <a:sym typeface="Century Gothic"/>
            </a:endParaRPr>
          </a:p>
        </p:txBody>
      </p:sp>
      <p:sp>
        <p:nvSpPr>
          <p:cNvPr id="823" name="Google Shape;823;p111"/>
          <p:cNvSpPr txBox="1"/>
          <p:nvPr/>
        </p:nvSpPr>
        <p:spPr>
          <a:xfrm>
            <a:off x="589850" y="917700"/>
            <a:ext cx="7838400" cy="2258400"/>
          </a:xfrm>
          <a:prstGeom prst="rect">
            <a:avLst/>
          </a:prstGeom>
          <a:noFill/>
          <a:ln>
            <a:noFill/>
          </a:ln>
        </p:spPr>
        <p:txBody>
          <a:bodyPr anchorCtr="0" anchor="t" bIns="91425" lIns="91425" spcFirstLastPara="1" rIns="91425" wrap="square" tIns="91425">
            <a:spAutoFit/>
          </a:bodyPr>
          <a:lstStyle/>
          <a:p>
            <a:pPr indent="0" lvl="0" marL="0" rtl="0" algn="l">
              <a:lnSpc>
                <a:spcPct val="204545"/>
              </a:lnSpc>
              <a:spcBef>
                <a:spcPts val="0"/>
              </a:spcBef>
              <a:spcAft>
                <a:spcPts val="0"/>
              </a:spcAft>
              <a:buNone/>
            </a:pPr>
            <a:r>
              <a:rPr lang="en" sz="1200">
                <a:solidFill>
                  <a:schemeClr val="dk1"/>
                </a:solidFill>
                <a:latin typeface="Century Gothic"/>
                <a:ea typeface="Century Gothic"/>
                <a:cs typeface="Century Gothic"/>
                <a:sym typeface="Century Gothic"/>
              </a:rPr>
              <a:t>To understand how machine learning models make predictions, it’s important to know the difference between Classification and Regression. Both are supervised learning techniques, but they solve different types of problems depending on the nature of the target variable.</a:t>
            </a:r>
            <a:endParaRPr sz="1200">
              <a:solidFill>
                <a:schemeClr val="dk1"/>
              </a:solidFill>
              <a:latin typeface="Century Gothic"/>
              <a:ea typeface="Century Gothic"/>
              <a:cs typeface="Century Gothic"/>
              <a:sym typeface="Century Gothic"/>
            </a:endParaRPr>
          </a:p>
          <a:p>
            <a:pPr indent="-304800" lvl="0" marL="457200" rtl="0" algn="l">
              <a:lnSpc>
                <a:spcPct val="204545"/>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Classification predicts categories or labels like spam/not spam, disease/no disease, etc.</a:t>
            </a:r>
            <a:endParaRPr sz="1200">
              <a:solidFill>
                <a:schemeClr val="dk1"/>
              </a:solidFill>
              <a:latin typeface="Century Gothic"/>
              <a:ea typeface="Century Gothic"/>
              <a:cs typeface="Century Gothic"/>
              <a:sym typeface="Century Gothic"/>
            </a:endParaRPr>
          </a:p>
          <a:p>
            <a:pPr indent="-304800" lvl="0" marL="457200" rtl="0" algn="l">
              <a:lnSpc>
                <a:spcPct val="204545"/>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Regression predicts continuous values like price, temperature, sales, etc</a:t>
            </a:r>
            <a:endParaRPr sz="1200">
              <a:solidFill>
                <a:schemeClr val="dk1"/>
              </a:solidFill>
              <a:latin typeface="Century Gothic"/>
              <a:ea typeface="Century Gothic"/>
              <a:cs typeface="Century Gothic"/>
              <a:sym typeface="Century Gothic"/>
            </a:endParaRPr>
          </a:p>
          <a:p>
            <a:pPr indent="0" lvl="0" marL="0" rtl="0" algn="l">
              <a:lnSpc>
                <a:spcPct val="204545"/>
              </a:lnSpc>
              <a:spcBef>
                <a:spcPts val="0"/>
              </a:spcBef>
              <a:spcAft>
                <a:spcPts val="0"/>
              </a:spcAft>
              <a:buNone/>
            </a:pPr>
            <a:r>
              <a:t/>
            </a:r>
            <a:endParaRPr sz="1200">
              <a:solidFill>
                <a:schemeClr val="dk1"/>
              </a:solidFill>
              <a:latin typeface="Century Gothic"/>
              <a:ea typeface="Century Gothic"/>
              <a:cs typeface="Century Gothic"/>
              <a:sym typeface="Century Gothic"/>
            </a:endParaRPr>
          </a:p>
        </p:txBody>
      </p:sp>
      <p:pic>
        <p:nvPicPr>
          <p:cNvPr id="824" name="Google Shape;824;p111"/>
          <p:cNvPicPr preferRelativeResize="0"/>
          <p:nvPr/>
        </p:nvPicPr>
        <p:blipFill>
          <a:blip r:embed="rId3">
            <a:alphaModFix/>
          </a:blip>
          <a:stretch>
            <a:fillRect/>
          </a:stretch>
        </p:blipFill>
        <p:spPr>
          <a:xfrm>
            <a:off x="2316250" y="2794325"/>
            <a:ext cx="4243950" cy="2064026"/>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8" name="Shape 828"/>
        <p:cNvGrpSpPr/>
        <p:nvPr/>
      </p:nvGrpSpPr>
      <p:grpSpPr>
        <a:xfrm>
          <a:off x="0" y="0"/>
          <a:ext cx="0" cy="0"/>
          <a:chOff x="0" y="0"/>
          <a:chExt cx="0" cy="0"/>
        </a:xfrm>
      </p:grpSpPr>
      <p:sp>
        <p:nvSpPr>
          <p:cNvPr id="829" name="Google Shape;829;p112"/>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830" name="Google Shape;830;p112"/>
          <p:cNvSpPr/>
          <p:nvPr/>
        </p:nvSpPr>
        <p:spPr>
          <a:xfrm>
            <a:off x="589850" y="502200"/>
            <a:ext cx="76794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Regression VS Classification</a:t>
            </a:r>
            <a:endParaRPr sz="2000">
              <a:solidFill>
                <a:schemeClr val="dk1"/>
              </a:solidFill>
              <a:latin typeface="Century Gothic"/>
              <a:ea typeface="Century Gothic"/>
              <a:cs typeface="Century Gothic"/>
              <a:sym typeface="Century Gothic"/>
            </a:endParaRPr>
          </a:p>
        </p:txBody>
      </p:sp>
      <p:graphicFrame>
        <p:nvGraphicFramePr>
          <p:cNvPr id="831" name="Google Shape;831;p112"/>
          <p:cNvGraphicFramePr/>
          <p:nvPr/>
        </p:nvGraphicFramePr>
        <p:xfrm>
          <a:off x="589850" y="986875"/>
          <a:ext cx="3000000" cy="3000000"/>
        </p:xfrm>
        <a:graphic>
          <a:graphicData uri="http://schemas.openxmlformats.org/drawingml/2006/table">
            <a:tbl>
              <a:tblPr>
                <a:noFill/>
                <a:tableStyleId>{10C029A5-F50C-4C77-A6D6-2CE4461C021A}</a:tableStyleId>
              </a:tblPr>
              <a:tblGrid>
                <a:gridCol w="1379475"/>
                <a:gridCol w="3010600"/>
                <a:gridCol w="3722050"/>
              </a:tblGrid>
              <a:tr h="393425">
                <a:tc>
                  <a:txBody>
                    <a:bodyPr/>
                    <a:lstStyle/>
                    <a:p>
                      <a:pPr indent="0" lvl="0" marL="0" rtl="0" algn="ctr">
                        <a:lnSpc>
                          <a:spcPct val="120000"/>
                        </a:lnSpc>
                        <a:spcBef>
                          <a:spcPts val="0"/>
                        </a:spcBef>
                        <a:spcAft>
                          <a:spcPts val="0"/>
                        </a:spcAft>
                        <a:buNone/>
                      </a:pPr>
                      <a:r>
                        <a:rPr b="1" lang="en">
                          <a:solidFill>
                            <a:schemeClr val="dk1"/>
                          </a:solidFill>
                          <a:latin typeface="Century Gothic"/>
                          <a:ea typeface="Century Gothic"/>
                          <a:cs typeface="Century Gothic"/>
                          <a:sym typeface="Century Gothic"/>
                        </a:rPr>
                        <a:t>Features</a:t>
                      </a:r>
                      <a:endParaRPr b="1">
                        <a:solidFill>
                          <a:schemeClr val="dk1"/>
                        </a:solidFill>
                        <a:latin typeface="Century Gothic"/>
                        <a:ea typeface="Century Gothic"/>
                        <a:cs typeface="Century Gothic"/>
                        <a:sym typeface="Century Gothic"/>
                      </a:endParaRPr>
                    </a:p>
                  </a:txBody>
                  <a:tcPr marT="95250" marB="95250" marR="38100" marL="381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lnSpc>
                          <a:spcPct val="120000"/>
                        </a:lnSpc>
                        <a:spcBef>
                          <a:spcPts val="0"/>
                        </a:spcBef>
                        <a:spcAft>
                          <a:spcPts val="0"/>
                        </a:spcAft>
                        <a:buNone/>
                      </a:pPr>
                      <a:r>
                        <a:rPr b="1" lang="en">
                          <a:solidFill>
                            <a:schemeClr val="dk1"/>
                          </a:solidFill>
                          <a:latin typeface="Century Gothic"/>
                          <a:ea typeface="Century Gothic"/>
                          <a:cs typeface="Century Gothic"/>
                          <a:sym typeface="Century Gothic"/>
                        </a:rPr>
                        <a:t>Regression</a:t>
                      </a:r>
                      <a:endParaRPr b="1">
                        <a:solidFill>
                          <a:schemeClr val="dk1"/>
                        </a:solidFill>
                        <a:latin typeface="Century Gothic"/>
                        <a:ea typeface="Century Gothic"/>
                        <a:cs typeface="Century Gothic"/>
                        <a:sym typeface="Century Gothic"/>
                      </a:endParaRPr>
                    </a:p>
                  </a:txBody>
                  <a:tcPr marT="95250" marB="95250" marR="95250" marL="952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lnSpc>
                          <a:spcPct val="120000"/>
                        </a:lnSpc>
                        <a:spcBef>
                          <a:spcPts val="0"/>
                        </a:spcBef>
                        <a:spcAft>
                          <a:spcPts val="0"/>
                        </a:spcAft>
                        <a:buNone/>
                      </a:pPr>
                      <a:r>
                        <a:rPr b="1" lang="en">
                          <a:solidFill>
                            <a:schemeClr val="dk1"/>
                          </a:solidFill>
                          <a:latin typeface="Century Gothic"/>
                          <a:ea typeface="Century Gothic"/>
                          <a:cs typeface="Century Gothic"/>
                          <a:sym typeface="Century Gothic"/>
                        </a:rPr>
                        <a:t>Classification</a:t>
                      </a:r>
                      <a:endParaRPr b="1">
                        <a:solidFill>
                          <a:schemeClr val="dk1"/>
                        </a:solidFill>
                        <a:latin typeface="Century Gothic"/>
                        <a:ea typeface="Century Gothic"/>
                        <a:cs typeface="Century Gothic"/>
                        <a:sym typeface="Century Gothic"/>
                      </a:endParaRPr>
                    </a:p>
                  </a:txBody>
                  <a:tcPr marT="95250" marB="95250" marR="95250" marL="952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r>
              <a:tr h="426200">
                <a:tc>
                  <a:txBody>
                    <a:bodyPr/>
                    <a:lstStyle/>
                    <a:p>
                      <a:pPr indent="0" lvl="0" marL="0" rtl="0" algn="ctr">
                        <a:lnSpc>
                          <a:spcPct val="120000"/>
                        </a:lnSpc>
                        <a:spcBef>
                          <a:spcPts val="0"/>
                        </a:spcBef>
                        <a:spcAft>
                          <a:spcPts val="0"/>
                        </a:spcAft>
                        <a:buNone/>
                      </a:pPr>
                      <a:r>
                        <a:rPr b="1" lang="en" sz="1100">
                          <a:solidFill>
                            <a:schemeClr val="dk1"/>
                          </a:solidFill>
                          <a:latin typeface="Century Gothic"/>
                          <a:ea typeface="Century Gothic"/>
                          <a:cs typeface="Century Gothic"/>
                          <a:sym typeface="Century Gothic"/>
                        </a:rPr>
                        <a:t>Output Type</a:t>
                      </a:r>
                      <a:endParaRPr b="1" sz="1100">
                        <a:solidFill>
                          <a:schemeClr val="dk1"/>
                        </a:solidFill>
                        <a:latin typeface="Century Gothic"/>
                        <a:ea typeface="Century Gothic"/>
                        <a:cs typeface="Century Gothic"/>
                        <a:sym typeface="Century Gothic"/>
                      </a:endParaRPr>
                    </a:p>
                  </a:txBody>
                  <a:tcPr marT="73300" marB="73300" marR="38100" marL="381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lnSpc>
                          <a:spcPct val="120000"/>
                        </a:lnSpc>
                        <a:spcBef>
                          <a:spcPts val="0"/>
                        </a:spcBef>
                        <a:spcAft>
                          <a:spcPts val="0"/>
                        </a:spcAft>
                        <a:buNone/>
                      </a:pPr>
                      <a:r>
                        <a:rPr lang="en" sz="1100">
                          <a:solidFill>
                            <a:schemeClr val="dk1"/>
                          </a:solidFill>
                          <a:latin typeface="Century Gothic"/>
                          <a:ea typeface="Century Gothic"/>
                          <a:cs typeface="Century Gothic"/>
                          <a:sym typeface="Century Gothic"/>
                        </a:rPr>
                        <a:t>Predicts a continuous numeric value</a:t>
                      </a:r>
                      <a:endParaRPr sz="1100">
                        <a:solidFill>
                          <a:schemeClr val="dk1"/>
                        </a:solidFill>
                        <a:latin typeface="Century Gothic"/>
                        <a:ea typeface="Century Gothic"/>
                        <a:cs typeface="Century Gothic"/>
                        <a:sym typeface="Century Gothic"/>
                      </a:endParaRPr>
                    </a:p>
                  </a:txBody>
                  <a:tcPr marT="133350" marB="133350" marR="95250" marL="952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lnSpc>
                          <a:spcPct val="120000"/>
                        </a:lnSpc>
                        <a:spcBef>
                          <a:spcPts val="0"/>
                        </a:spcBef>
                        <a:spcAft>
                          <a:spcPts val="0"/>
                        </a:spcAft>
                        <a:buNone/>
                      </a:pPr>
                      <a:r>
                        <a:rPr lang="en" sz="1100">
                          <a:solidFill>
                            <a:schemeClr val="dk1"/>
                          </a:solidFill>
                          <a:latin typeface="Century Gothic"/>
                          <a:ea typeface="Century Gothic"/>
                          <a:cs typeface="Century Gothic"/>
                          <a:sym typeface="Century Gothic"/>
                        </a:rPr>
                        <a:t>Predicts a categorical label</a:t>
                      </a:r>
                      <a:endParaRPr sz="1100">
                        <a:solidFill>
                          <a:schemeClr val="dk1"/>
                        </a:solidFill>
                        <a:latin typeface="Century Gothic"/>
                        <a:ea typeface="Century Gothic"/>
                        <a:cs typeface="Century Gothic"/>
                        <a:sym typeface="Century Gothic"/>
                      </a:endParaRPr>
                    </a:p>
                  </a:txBody>
                  <a:tcPr marT="133350" marB="133350" marR="95250" marL="952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r>
              <a:tr h="426200">
                <a:tc>
                  <a:txBody>
                    <a:bodyPr/>
                    <a:lstStyle/>
                    <a:p>
                      <a:pPr indent="0" lvl="0" marL="0" rtl="0" algn="ctr">
                        <a:lnSpc>
                          <a:spcPct val="120000"/>
                        </a:lnSpc>
                        <a:spcBef>
                          <a:spcPts val="0"/>
                        </a:spcBef>
                        <a:spcAft>
                          <a:spcPts val="0"/>
                        </a:spcAft>
                        <a:buNone/>
                      </a:pPr>
                      <a:r>
                        <a:rPr b="1" lang="en" sz="1100">
                          <a:solidFill>
                            <a:schemeClr val="dk1"/>
                          </a:solidFill>
                          <a:latin typeface="Century Gothic"/>
                          <a:ea typeface="Century Gothic"/>
                          <a:cs typeface="Century Gothic"/>
                          <a:sym typeface="Century Gothic"/>
                        </a:rPr>
                        <a:t>Goal</a:t>
                      </a:r>
                      <a:endParaRPr b="1" sz="1100">
                        <a:solidFill>
                          <a:schemeClr val="dk1"/>
                        </a:solidFill>
                        <a:latin typeface="Century Gothic"/>
                        <a:ea typeface="Century Gothic"/>
                        <a:cs typeface="Century Gothic"/>
                        <a:sym typeface="Century Gothic"/>
                      </a:endParaRPr>
                    </a:p>
                  </a:txBody>
                  <a:tcPr marT="73300" marB="73300" marR="38100" marL="381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lnSpc>
                          <a:spcPct val="120000"/>
                        </a:lnSpc>
                        <a:spcBef>
                          <a:spcPts val="0"/>
                        </a:spcBef>
                        <a:spcAft>
                          <a:spcPts val="0"/>
                        </a:spcAft>
                        <a:buNone/>
                      </a:pPr>
                      <a:r>
                        <a:rPr lang="en" sz="1100">
                          <a:solidFill>
                            <a:schemeClr val="dk1"/>
                          </a:solidFill>
                          <a:latin typeface="Century Gothic"/>
                          <a:ea typeface="Century Gothic"/>
                          <a:cs typeface="Century Gothic"/>
                          <a:sym typeface="Century Gothic"/>
                        </a:rPr>
                        <a:t>Fitting the best-fit line or curve</a:t>
                      </a:r>
                      <a:endParaRPr sz="1100">
                        <a:solidFill>
                          <a:schemeClr val="dk1"/>
                        </a:solidFill>
                        <a:latin typeface="Century Gothic"/>
                        <a:ea typeface="Century Gothic"/>
                        <a:cs typeface="Century Gothic"/>
                        <a:sym typeface="Century Gothic"/>
                      </a:endParaRPr>
                    </a:p>
                  </a:txBody>
                  <a:tcPr marT="133350" marB="133350" marR="95250" marL="952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lnSpc>
                          <a:spcPct val="120000"/>
                        </a:lnSpc>
                        <a:spcBef>
                          <a:spcPts val="0"/>
                        </a:spcBef>
                        <a:spcAft>
                          <a:spcPts val="0"/>
                        </a:spcAft>
                        <a:buNone/>
                      </a:pPr>
                      <a:r>
                        <a:rPr lang="en" sz="1100">
                          <a:solidFill>
                            <a:schemeClr val="dk1"/>
                          </a:solidFill>
                          <a:latin typeface="Century Gothic"/>
                          <a:ea typeface="Century Gothic"/>
                          <a:cs typeface="Century Gothic"/>
                          <a:sym typeface="Century Gothic"/>
                        </a:rPr>
                        <a:t>Drawing a decision boundary between classes</a:t>
                      </a:r>
                      <a:endParaRPr sz="1100">
                        <a:solidFill>
                          <a:schemeClr val="dk1"/>
                        </a:solidFill>
                        <a:latin typeface="Century Gothic"/>
                        <a:ea typeface="Century Gothic"/>
                        <a:cs typeface="Century Gothic"/>
                        <a:sym typeface="Century Gothic"/>
                      </a:endParaRPr>
                    </a:p>
                  </a:txBody>
                  <a:tcPr marT="133350" marB="133350" marR="95250" marL="952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r>
              <a:tr h="603250">
                <a:tc>
                  <a:txBody>
                    <a:bodyPr/>
                    <a:lstStyle/>
                    <a:p>
                      <a:pPr indent="0" lvl="0" marL="0" rtl="0" algn="ctr">
                        <a:lnSpc>
                          <a:spcPct val="120000"/>
                        </a:lnSpc>
                        <a:spcBef>
                          <a:spcPts val="0"/>
                        </a:spcBef>
                        <a:spcAft>
                          <a:spcPts val="0"/>
                        </a:spcAft>
                        <a:buNone/>
                      </a:pPr>
                      <a:r>
                        <a:rPr b="1" lang="en" sz="1100">
                          <a:solidFill>
                            <a:schemeClr val="dk1"/>
                          </a:solidFill>
                          <a:latin typeface="Century Gothic"/>
                          <a:ea typeface="Century Gothic"/>
                          <a:cs typeface="Century Gothic"/>
                          <a:sym typeface="Century Gothic"/>
                        </a:rPr>
                        <a:t>Error Measure</a:t>
                      </a:r>
                      <a:endParaRPr b="1" sz="1100">
                        <a:solidFill>
                          <a:schemeClr val="dk1"/>
                        </a:solidFill>
                        <a:latin typeface="Century Gothic"/>
                        <a:ea typeface="Century Gothic"/>
                        <a:cs typeface="Century Gothic"/>
                        <a:sym typeface="Century Gothic"/>
                      </a:endParaRPr>
                    </a:p>
                  </a:txBody>
                  <a:tcPr marT="73300" marB="73300" marR="38100" marL="381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lnSpc>
                          <a:spcPct val="120000"/>
                        </a:lnSpc>
                        <a:spcBef>
                          <a:spcPts val="0"/>
                        </a:spcBef>
                        <a:spcAft>
                          <a:spcPts val="0"/>
                        </a:spcAft>
                        <a:buNone/>
                      </a:pPr>
                      <a:r>
                        <a:rPr lang="en" sz="1100">
                          <a:solidFill>
                            <a:schemeClr val="dk1"/>
                          </a:solidFill>
                          <a:latin typeface="Century Gothic"/>
                          <a:ea typeface="Century Gothic"/>
                          <a:cs typeface="Century Gothic"/>
                          <a:sym typeface="Century Gothic"/>
                        </a:rPr>
                        <a:t>Uses metrics like MSE, MAE, RMSE</a:t>
                      </a:r>
                      <a:endParaRPr sz="1100">
                        <a:solidFill>
                          <a:schemeClr val="dk1"/>
                        </a:solidFill>
                        <a:latin typeface="Century Gothic"/>
                        <a:ea typeface="Century Gothic"/>
                        <a:cs typeface="Century Gothic"/>
                        <a:sym typeface="Century Gothic"/>
                      </a:endParaRPr>
                    </a:p>
                  </a:txBody>
                  <a:tcPr marT="133350" marB="133350" marR="95250" marL="952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lnSpc>
                          <a:spcPct val="120000"/>
                        </a:lnSpc>
                        <a:spcBef>
                          <a:spcPts val="0"/>
                        </a:spcBef>
                        <a:spcAft>
                          <a:spcPts val="0"/>
                        </a:spcAft>
                        <a:buNone/>
                      </a:pPr>
                      <a:r>
                        <a:rPr lang="en" sz="1100">
                          <a:solidFill>
                            <a:schemeClr val="dk1"/>
                          </a:solidFill>
                          <a:latin typeface="Century Gothic"/>
                          <a:ea typeface="Century Gothic"/>
                          <a:cs typeface="Century Gothic"/>
                          <a:sym typeface="Century Gothic"/>
                        </a:rPr>
                        <a:t>Uses metrics like Accuracy, Precision, Recall, F1 Score</a:t>
                      </a:r>
                      <a:endParaRPr sz="1100">
                        <a:solidFill>
                          <a:schemeClr val="dk1"/>
                        </a:solidFill>
                        <a:latin typeface="Century Gothic"/>
                        <a:ea typeface="Century Gothic"/>
                        <a:cs typeface="Century Gothic"/>
                        <a:sym typeface="Century Gothic"/>
                      </a:endParaRPr>
                    </a:p>
                  </a:txBody>
                  <a:tcPr marT="133350" marB="133350" marR="95250" marL="952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r>
              <a:tr h="603250">
                <a:tc>
                  <a:txBody>
                    <a:bodyPr/>
                    <a:lstStyle/>
                    <a:p>
                      <a:pPr indent="0" lvl="0" marL="0" rtl="0" algn="ctr">
                        <a:lnSpc>
                          <a:spcPct val="120000"/>
                        </a:lnSpc>
                        <a:spcBef>
                          <a:spcPts val="0"/>
                        </a:spcBef>
                        <a:spcAft>
                          <a:spcPts val="0"/>
                        </a:spcAft>
                        <a:buNone/>
                      </a:pPr>
                      <a:r>
                        <a:rPr b="1" lang="en" sz="1100">
                          <a:solidFill>
                            <a:schemeClr val="dk1"/>
                          </a:solidFill>
                          <a:latin typeface="Century Gothic"/>
                          <a:ea typeface="Century Gothic"/>
                          <a:cs typeface="Century Gothic"/>
                          <a:sym typeface="Century Gothic"/>
                        </a:rPr>
                        <a:t>Use Cases</a:t>
                      </a:r>
                      <a:endParaRPr b="1" sz="1100">
                        <a:solidFill>
                          <a:schemeClr val="dk1"/>
                        </a:solidFill>
                        <a:latin typeface="Century Gothic"/>
                        <a:ea typeface="Century Gothic"/>
                        <a:cs typeface="Century Gothic"/>
                        <a:sym typeface="Century Gothic"/>
                      </a:endParaRPr>
                    </a:p>
                  </a:txBody>
                  <a:tcPr marT="73300" marB="73300" marR="38100" marL="381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lnSpc>
                          <a:spcPct val="120000"/>
                        </a:lnSpc>
                        <a:spcBef>
                          <a:spcPts val="0"/>
                        </a:spcBef>
                        <a:spcAft>
                          <a:spcPts val="0"/>
                        </a:spcAft>
                        <a:buNone/>
                      </a:pPr>
                      <a:r>
                        <a:rPr lang="en" sz="1100">
                          <a:solidFill>
                            <a:schemeClr val="dk1"/>
                          </a:solidFill>
                          <a:latin typeface="Century Gothic"/>
                          <a:ea typeface="Century Gothic"/>
                          <a:cs typeface="Century Gothic"/>
                          <a:sym typeface="Century Gothic"/>
                        </a:rPr>
                        <a:t>Forecasting, price prediction, risk estimation</a:t>
                      </a:r>
                      <a:endParaRPr sz="1100">
                        <a:solidFill>
                          <a:schemeClr val="dk1"/>
                        </a:solidFill>
                        <a:latin typeface="Century Gothic"/>
                        <a:ea typeface="Century Gothic"/>
                        <a:cs typeface="Century Gothic"/>
                        <a:sym typeface="Century Gothic"/>
                      </a:endParaRPr>
                    </a:p>
                  </a:txBody>
                  <a:tcPr marT="133350" marB="133350" marR="95250" marL="952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lnSpc>
                          <a:spcPct val="120000"/>
                        </a:lnSpc>
                        <a:spcBef>
                          <a:spcPts val="0"/>
                        </a:spcBef>
                        <a:spcAft>
                          <a:spcPts val="0"/>
                        </a:spcAft>
                        <a:buNone/>
                      </a:pPr>
                      <a:r>
                        <a:rPr lang="en" sz="1100">
                          <a:solidFill>
                            <a:schemeClr val="dk1"/>
                          </a:solidFill>
                          <a:latin typeface="Century Gothic"/>
                          <a:ea typeface="Century Gothic"/>
                          <a:cs typeface="Century Gothic"/>
                          <a:sym typeface="Century Gothic"/>
                        </a:rPr>
                        <a:t>Image recognition, sentiment analysis, fraud detection</a:t>
                      </a:r>
                      <a:endParaRPr sz="1100">
                        <a:solidFill>
                          <a:schemeClr val="dk1"/>
                        </a:solidFill>
                        <a:latin typeface="Century Gothic"/>
                        <a:ea typeface="Century Gothic"/>
                        <a:cs typeface="Century Gothic"/>
                        <a:sym typeface="Century Gothic"/>
                      </a:endParaRPr>
                    </a:p>
                  </a:txBody>
                  <a:tcPr marT="133350" marB="133350" marR="95250" marL="952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r>
              <a:tr h="550800">
                <a:tc>
                  <a:txBody>
                    <a:bodyPr/>
                    <a:lstStyle/>
                    <a:p>
                      <a:pPr indent="0" lvl="0" marL="0" rtl="0" algn="ctr">
                        <a:lnSpc>
                          <a:spcPct val="120000"/>
                        </a:lnSpc>
                        <a:spcBef>
                          <a:spcPts val="0"/>
                        </a:spcBef>
                        <a:spcAft>
                          <a:spcPts val="0"/>
                        </a:spcAft>
                        <a:buNone/>
                      </a:pPr>
                      <a:r>
                        <a:rPr b="1" lang="en" sz="1100">
                          <a:solidFill>
                            <a:schemeClr val="dk1"/>
                          </a:solidFill>
                          <a:latin typeface="Century Gothic"/>
                          <a:ea typeface="Century Gothic"/>
                          <a:cs typeface="Century Gothic"/>
                          <a:sym typeface="Century Gothic"/>
                        </a:rPr>
                        <a:t>Handling Outliers</a:t>
                      </a:r>
                      <a:endParaRPr b="1" sz="1100">
                        <a:solidFill>
                          <a:schemeClr val="dk1"/>
                        </a:solidFill>
                        <a:latin typeface="Century Gothic"/>
                        <a:ea typeface="Century Gothic"/>
                        <a:cs typeface="Century Gothic"/>
                        <a:sym typeface="Century Gothic"/>
                      </a:endParaRPr>
                    </a:p>
                  </a:txBody>
                  <a:tcPr marT="73300" marB="73300" marR="38100" marL="381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lnSpc>
                          <a:spcPct val="120000"/>
                        </a:lnSpc>
                        <a:spcBef>
                          <a:spcPts val="0"/>
                        </a:spcBef>
                        <a:spcAft>
                          <a:spcPts val="0"/>
                        </a:spcAft>
                        <a:buNone/>
                      </a:pPr>
                      <a:r>
                        <a:rPr lang="en" sz="1100">
                          <a:solidFill>
                            <a:schemeClr val="dk1"/>
                          </a:solidFill>
                          <a:latin typeface="Century Gothic"/>
                          <a:ea typeface="Century Gothic"/>
                          <a:cs typeface="Century Gothic"/>
                          <a:sym typeface="Century Gothic"/>
                        </a:rPr>
                        <a:t>Highly sensitive</a:t>
                      </a:r>
                      <a:endParaRPr sz="1100">
                        <a:solidFill>
                          <a:schemeClr val="dk1"/>
                        </a:solidFill>
                        <a:latin typeface="Century Gothic"/>
                        <a:ea typeface="Century Gothic"/>
                        <a:cs typeface="Century Gothic"/>
                        <a:sym typeface="Century Gothic"/>
                      </a:endParaRPr>
                    </a:p>
                  </a:txBody>
                  <a:tcPr marT="133350" marB="133350" marR="95250" marL="952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c>
                  <a:txBody>
                    <a:bodyPr/>
                    <a:lstStyle/>
                    <a:p>
                      <a:pPr indent="0" lvl="0" marL="0" rtl="0" algn="ctr">
                        <a:lnSpc>
                          <a:spcPct val="120000"/>
                        </a:lnSpc>
                        <a:spcBef>
                          <a:spcPts val="0"/>
                        </a:spcBef>
                        <a:spcAft>
                          <a:spcPts val="0"/>
                        </a:spcAft>
                        <a:buNone/>
                      </a:pPr>
                      <a:r>
                        <a:rPr lang="en" sz="1100">
                          <a:solidFill>
                            <a:schemeClr val="dk1"/>
                          </a:solidFill>
                          <a:latin typeface="Century Gothic"/>
                          <a:ea typeface="Century Gothic"/>
                          <a:cs typeface="Century Gothic"/>
                          <a:sym typeface="Century Gothic"/>
                        </a:rPr>
                        <a:t>Less sensitive</a:t>
                      </a:r>
                      <a:endParaRPr sz="1100">
                        <a:solidFill>
                          <a:schemeClr val="dk1"/>
                        </a:solidFill>
                        <a:latin typeface="Century Gothic"/>
                        <a:ea typeface="Century Gothic"/>
                        <a:cs typeface="Century Gothic"/>
                        <a:sym typeface="Century Gothic"/>
                      </a:endParaRPr>
                    </a:p>
                  </a:txBody>
                  <a:tcPr marT="133350" marB="133350" marR="95250" marL="952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5" name="Shape 835"/>
        <p:cNvGrpSpPr/>
        <p:nvPr/>
      </p:nvGrpSpPr>
      <p:grpSpPr>
        <a:xfrm>
          <a:off x="0" y="0"/>
          <a:ext cx="0" cy="0"/>
          <a:chOff x="0" y="0"/>
          <a:chExt cx="0" cy="0"/>
        </a:xfrm>
      </p:grpSpPr>
      <p:sp>
        <p:nvSpPr>
          <p:cNvPr id="836" name="Google Shape;836;p113"/>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837" name="Google Shape;837;p113"/>
          <p:cNvSpPr/>
          <p:nvPr/>
        </p:nvSpPr>
        <p:spPr>
          <a:xfrm>
            <a:off x="589850" y="502200"/>
            <a:ext cx="76794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Choosing The Right Model Type</a:t>
            </a:r>
            <a:endParaRPr sz="2000">
              <a:solidFill>
                <a:schemeClr val="dk1"/>
              </a:solidFill>
              <a:latin typeface="Century Gothic"/>
              <a:ea typeface="Century Gothic"/>
              <a:cs typeface="Century Gothic"/>
              <a:sym typeface="Century Gothic"/>
            </a:endParaRPr>
          </a:p>
        </p:txBody>
      </p:sp>
      <p:sp>
        <p:nvSpPr>
          <p:cNvPr id="838" name="Google Shape;838;p113"/>
          <p:cNvSpPr txBox="1"/>
          <p:nvPr/>
        </p:nvSpPr>
        <p:spPr>
          <a:xfrm>
            <a:off x="589850" y="917700"/>
            <a:ext cx="7838400" cy="2258400"/>
          </a:xfrm>
          <a:prstGeom prst="rect">
            <a:avLst/>
          </a:prstGeom>
          <a:noFill/>
          <a:ln>
            <a:noFill/>
          </a:ln>
        </p:spPr>
        <p:txBody>
          <a:bodyPr anchorCtr="0" anchor="t" bIns="91425" lIns="91425" spcFirstLastPara="1" rIns="91425" wrap="square" tIns="91425">
            <a:spAutoFit/>
          </a:bodyPr>
          <a:lstStyle/>
          <a:p>
            <a:pPr indent="0" lvl="0" marL="0" rtl="0" algn="l">
              <a:lnSpc>
                <a:spcPct val="204545"/>
              </a:lnSpc>
              <a:spcBef>
                <a:spcPts val="0"/>
              </a:spcBef>
              <a:spcAft>
                <a:spcPts val="0"/>
              </a:spcAft>
              <a:buNone/>
            </a:pPr>
            <a:r>
              <a:rPr lang="en" sz="1200">
                <a:solidFill>
                  <a:schemeClr val="dk1"/>
                </a:solidFill>
                <a:latin typeface="Century Gothic"/>
                <a:ea typeface="Century Gothic"/>
                <a:cs typeface="Century Gothic"/>
                <a:sym typeface="Century Gothic"/>
              </a:rPr>
              <a:t>To understand how machine learning models make predictions, it’s important to know the difference between Classification and Regression. Both are supervised learning techniques, but they solve different types of problems depending on the nature of the target variable.</a:t>
            </a:r>
            <a:endParaRPr sz="1200">
              <a:solidFill>
                <a:schemeClr val="dk1"/>
              </a:solidFill>
              <a:latin typeface="Century Gothic"/>
              <a:ea typeface="Century Gothic"/>
              <a:cs typeface="Century Gothic"/>
              <a:sym typeface="Century Gothic"/>
            </a:endParaRPr>
          </a:p>
          <a:p>
            <a:pPr indent="-304800" lvl="0" marL="457200" rtl="0" algn="l">
              <a:lnSpc>
                <a:spcPct val="204545"/>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Classification predicts categories or labels like spam/not spam, disease/no disease, etc.</a:t>
            </a:r>
            <a:endParaRPr sz="1200">
              <a:solidFill>
                <a:schemeClr val="dk1"/>
              </a:solidFill>
              <a:latin typeface="Century Gothic"/>
              <a:ea typeface="Century Gothic"/>
              <a:cs typeface="Century Gothic"/>
              <a:sym typeface="Century Gothic"/>
            </a:endParaRPr>
          </a:p>
          <a:p>
            <a:pPr indent="-304800" lvl="0" marL="457200" rtl="0" algn="l">
              <a:lnSpc>
                <a:spcPct val="204545"/>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Regression predicts continuous values like price, temperature, sales, etc</a:t>
            </a:r>
            <a:endParaRPr sz="1200">
              <a:solidFill>
                <a:schemeClr val="dk1"/>
              </a:solidFill>
              <a:latin typeface="Century Gothic"/>
              <a:ea typeface="Century Gothic"/>
              <a:cs typeface="Century Gothic"/>
              <a:sym typeface="Century Gothic"/>
            </a:endParaRPr>
          </a:p>
          <a:p>
            <a:pPr indent="0" lvl="0" marL="0" rtl="0" algn="l">
              <a:lnSpc>
                <a:spcPct val="204545"/>
              </a:lnSpc>
              <a:spcBef>
                <a:spcPts val="0"/>
              </a:spcBef>
              <a:spcAft>
                <a:spcPts val="0"/>
              </a:spcAft>
              <a:buNone/>
            </a:pPr>
            <a:r>
              <a:t/>
            </a:r>
            <a:endParaRPr sz="1200">
              <a:solidFill>
                <a:schemeClr val="dk1"/>
              </a:solidFill>
              <a:latin typeface="Century Gothic"/>
              <a:ea typeface="Century Gothic"/>
              <a:cs typeface="Century Gothic"/>
              <a:sym typeface="Century Gothic"/>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2" name="Shape 842"/>
        <p:cNvGrpSpPr/>
        <p:nvPr/>
      </p:nvGrpSpPr>
      <p:grpSpPr>
        <a:xfrm>
          <a:off x="0" y="0"/>
          <a:ext cx="0" cy="0"/>
          <a:chOff x="0" y="0"/>
          <a:chExt cx="0" cy="0"/>
        </a:xfrm>
      </p:grpSpPr>
      <p:sp>
        <p:nvSpPr>
          <p:cNvPr id="843" name="Google Shape;843;p114"/>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844" name="Google Shape;844;p114"/>
          <p:cNvSpPr/>
          <p:nvPr/>
        </p:nvSpPr>
        <p:spPr>
          <a:xfrm>
            <a:off x="629550" y="502200"/>
            <a:ext cx="76398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Determine the Best Model for Your Use Case</a:t>
            </a:r>
            <a:endParaRPr sz="2000">
              <a:solidFill>
                <a:schemeClr val="dk1"/>
              </a:solidFill>
              <a:latin typeface="Century Gothic"/>
              <a:ea typeface="Century Gothic"/>
              <a:cs typeface="Century Gothic"/>
              <a:sym typeface="Century Gothic"/>
            </a:endParaRPr>
          </a:p>
        </p:txBody>
      </p:sp>
      <p:sp>
        <p:nvSpPr>
          <p:cNvPr id="845" name="Google Shape;845;p114"/>
          <p:cNvSpPr txBox="1"/>
          <p:nvPr/>
        </p:nvSpPr>
        <p:spPr>
          <a:xfrm>
            <a:off x="589850" y="917700"/>
            <a:ext cx="7838400" cy="3471000"/>
          </a:xfrm>
          <a:prstGeom prst="rect">
            <a:avLst/>
          </a:prstGeom>
          <a:noFill/>
          <a:ln>
            <a:noFill/>
          </a:ln>
        </p:spPr>
        <p:txBody>
          <a:bodyPr anchorCtr="0" anchor="t" bIns="91425" lIns="91425" spcFirstLastPara="1" rIns="91425" wrap="square" tIns="91425">
            <a:spAutoFit/>
          </a:bodyPr>
          <a:lstStyle/>
          <a:p>
            <a:pPr indent="0" lvl="0" marL="0" rtl="0" algn="l">
              <a:lnSpc>
                <a:spcPct val="204545"/>
              </a:lnSpc>
              <a:spcBef>
                <a:spcPts val="0"/>
              </a:spcBef>
              <a:spcAft>
                <a:spcPts val="0"/>
              </a:spcAft>
              <a:buNone/>
            </a:pPr>
            <a:r>
              <a:rPr b="1" lang="en" sz="1100">
                <a:solidFill>
                  <a:schemeClr val="dk1"/>
                </a:solidFill>
                <a:latin typeface="Century Gothic"/>
                <a:ea typeface="Century Gothic"/>
                <a:cs typeface="Century Gothic"/>
                <a:sym typeface="Century Gothic"/>
              </a:rPr>
              <a:t>Processing Before Train-Test Split: </a:t>
            </a:r>
            <a:r>
              <a:rPr lang="en" sz="1100">
                <a:solidFill>
                  <a:schemeClr val="dk1"/>
                </a:solidFill>
                <a:latin typeface="Century Gothic"/>
                <a:ea typeface="Century Gothic"/>
                <a:cs typeface="Century Gothic"/>
                <a:sym typeface="Century Gothic"/>
              </a:rPr>
              <a:t>Data preprocessing should be done </a:t>
            </a:r>
            <a:r>
              <a:rPr b="1" lang="en" sz="1100">
                <a:solidFill>
                  <a:schemeClr val="dk1"/>
                </a:solidFill>
                <a:latin typeface="Century Gothic"/>
                <a:ea typeface="Century Gothic"/>
                <a:cs typeface="Century Gothic"/>
                <a:sym typeface="Century Gothic"/>
              </a:rPr>
              <a:t>after splitting</a:t>
            </a:r>
            <a:r>
              <a:rPr lang="en" sz="1100">
                <a:solidFill>
                  <a:schemeClr val="dk1"/>
                </a:solidFill>
                <a:latin typeface="Century Gothic"/>
                <a:ea typeface="Century Gothic"/>
                <a:cs typeface="Century Gothic"/>
                <a:sym typeface="Century Gothic"/>
              </a:rPr>
              <a:t> the dataset. If done before, the preprocessing model may learn patterns from the </a:t>
            </a:r>
            <a:r>
              <a:rPr b="1" lang="en" sz="1100">
                <a:solidFill>
                  <a:schemeClr val="dk1"/>
                </a:solidFill>
                <a:latin typeface="Century Gothic"/>
                <a:ea typeface="Century Gothic"/>
                <a:cs typeface="Century Gothic"/>
                <a:sym typeface="Century Gothic"/>
              </a:rPr>
              <a:t>test data</a:t>
            </a:r>
            <a:r>
              <a:rPr lang="en" sz="1100">
                <a:solidFill>
                  <a:schemeClr val="dk1"/>
                </a:solidFill>
                <a:latin typeface="Century Gothic"/>
                <a:ea typeface="Century Gothic"/>
                <a:cs typeface="Century Gothic"/>
                <a:sym typeface="Century Gothic"/>
              </a:rPr>
              <a:t>, causing </a:t>
            </a:r>
            <a:r>
              <a:rPr b="1" lang="en" sz="1100">
                <a:solidFill>
                  <a:schemeClr val="dk1"/>
                </a:solidFill>
                <a:latin typeface="Century Gothic"/>
                <a:ea typeface="Century Gothic"/>
                <a:cs typeface="Century Gothic"/>
                <a:sym typeface="Century Gothic"/>
              </a:rPr>
              <a:t>data leakage</a:t>
            </a:r>
            <a:r>
              <a:rPr lang="en" sz="1100">
                <a:solidFill>
                  <a:schemeClr val="dk1"/>
                </a:solidFill>
                <a:latin typeface="Century Gothic"/>
                <a:ea typeface="Century Gothic"/>
                <a:cs typeface="Century Gothic"/>
                <a:sym typeface="Century Gothic"/>
              </a:rPr>
              <a:t> and overly optimistic results.</a:t>
            </a:r>
            <a:endParaRPr sz="1100">
              <a:solidFill>
                <a:schemeClr val="dk1"/>
              </a:solidFill>
              <a:latin typeface="Century Gothic"/>
              <a:ea typeface="Century Gothic"/>
              <a:cs typeface="Century Gothic"/>
              <a:sym typeface="Century Gothic"/>
            </a:endParaRPr>
          </a:p>
          <a:p>
            <a:pPr indent="0" lvl="0" marL="0" rtl="0" algn="l">
              <a:lnSpc>
                <a:spcPct val="204545"/>
              </a:lnSpc>
              <a:spcBef>
                <a:spcPts val="0"/>
              </a:spcBef>
              <a:spcAft>
                <a:spcPts val="0"/>
              </a:spcAft>
              <a:buNone/>
            </a:pPr>
            <a:r>
              <a:rPr b="1" lang="en" sz="1100">
                <a:solidFill>
                  <a:schemeClr val="dk1"/>
                </a:solidFill>
                <a:latin typeface="Century Gothic"/>
                <a:ea typeface="Century Gothic"/>
                <a:cs typeface="Century Gothic"/>
                <a:sym typeface="Century Gothic"/>
              </a:rPr>
              <a:t>Duplicate Data: </a:t>
            </a:r>
            <a:r>
              <a:rPr lang="en" sz="1100">
                <a:solidFill>
                  <a:schemeClr val="dk1"/>
                </a:solidFill>
                <a:latin typeface="Century Gothic"/>
                <a:ea typeface="Century Gothic"/>
                <a:cs typeface="Century Gothic"/>
                <a:sym typeface="Century Gothic"/>
              </a:rPr>
              <a:t>Real-world datasets may contain </a:t>
            </a:r>
            <a:r>
              <a:rPr b="1" lang="en" sz="1100">
                <a:solidFill>
                  <a:schemeClr val="dk1"/>
                </a:solidFill>
                <a:latin typeface="Century Gothic"/>
                <a:ea typeface="Century Gothic"/>
                <a:cs typeface="Century Gothic"/>
                <a:sym typeface="Century Gothic"/>
              </a:rPr>
              <a:t>identical or near-identical entries</a:t>
            </a:r>
            <a:r>
              <a:rPr lang="en" sz="1100">
                <a:solidFill>
                  <a:schemeClr val="dk1"/>
                </a:solidFill>
                <a:latin typeface="Century Gothic"/>
                <a:ea typeface="Century Gothic"/>
                <a:cs typeface="Century Gothic"/>
                <a:sym typeface="Century Gothic"/>
              </a:rPr>
              <a:t> (e.g., repeated spam messages). If duplicates appear in both </a:t>
            </a:r>
            <a:r>
              <a:rPr b="1" lang="en" sz="1100">
                <a:solidFill>
                  <a:schemeClr val="dk1"/>
                </a:solidFill>
                <a:latin typeface="Century Gothic"/>
                <a:ea typeface="Century Gothic"/>
                <a:cs typeface="Century Gothic"/>
                <a:sym typeface="Century Gothic"/>
              </a:rPr>
              <a:t>training and test sets</a:t>
            </a:r>
            <a:r>
              <a:rPr lang="en" sz="1100">
                <a:solidFill>
                  <a:schemeClr val="dk1"/>
                </a:solidFill>
                <a:latin typeface="Century Gothic"/>
                <a:ea typeface="Century Gothic"/>
                <a:cs typeface="Century Gothic"/>
                <a:sym typeface="Century Gothic"/>
              </a:rPr>
              <a:t>, the model may simply memorize them, leading to </a:t>
            </a:r>
            <a:r>
              <a:rPr b="1" lang="en" sz="1100">
                <a:solidFill>
                  <a:schemeClr val="dk1"/>
                </a:solidFill>
                <a:latin typeface="Century Gothic"/>
                <a:ea typeface="Century Gothic"/>
                <a:cs typeface="Century Gothic"/>
                <a:sym typeface="Century Gothic"/>
              </a:rPr>
              <a:t>unrealistic performance</a:t>
            </a:r>
            <a:r>
              <a:rPr lang="en" sz="1100">
                <a:solidFill>
                  <a:schemeClr val="dk1"/>
                </a:solidFill>
                <a:latin typeface="Century Gothic"/>
                <a:ea typeface="Century Gothic"/>
                <a:cs typeface="Century Gothic"/>
                <a:sym typeface="Century Gothic"/>
              </a:rPr>
              <a:t>.</a:t>
            </a:r>
            <a:endParaRPr sz="1100">
              <a:solidFill>
                <a:schemeClr val="dk1"/>
              </a:solidFill>
              <a:latin typeface="Century Gothic"/>
              <a:ea typeface="Century Gothic"/>
              <a:cs typeface="Century Gothic"/>
              <a:sym typeface="Century Gothic"/>
            </a:endParaRPr>
          </a:p>
          <a:p>
            <a:pPr indent="0" lvl="0" marL="0" rtl="0" algn="l">
              <a:lnSpc>
                <a:spcPct val="204545"/>
              </a:lnSpc>
              <a:spcBef>
                <a:spcPts val="0"/>
              </a:spcBef>
              <a:spcAft>
                <a:spcPts val="0"/>
              </a:spcAft>
              <a:buNone/>
            </a:pPr>
            <a:r>
              <a:rPr b="1" lang="en" sz="1100">
                <a:solidFill>
                  <a:schemeClr val="dk1"/>
                </a:solidFill>
                <a:latin typeface="Century Gothic"/>
                <a:ea typeface="Century Gothic"/>
                <a:cs typeface="Century Gothic"/>
                <a:sym typeface="Century Gothic"/>
              </a:rPr>
              <a:t>Temporal Data Issues: </a:t>
            </a:r>
            <a:r>
              <a:rPr lang="en" sz="1100">
                <a:solidFill>
                  <a:schemeClr val="dk1"/>
                </a:solidFill>
                <a:latin typeface="Century Gothic"/>
                <a:ea typeface="Century Gothic"/>
                <a:cs typeface="Century Gothic"/>
                <a:sym typeface="Century Gothic"/>
              </a:rPr>
              <a:t>With time-based data, training on </a:t>
            </a:r>
            <a:r>
              <a:rPr b="1" lang="en" sz="1100">
                <a:solidFill>
                  <a:schemeClr val="dk1"/>
                </a:solidFill>
                <a:latin typeface="Century Gothic"/>
                <a:ea typeface="Century Gothic"/>
                <a:cs typeface="Century Gothic"/>
                <a:sym typeface="Century Gothic"/>
              </a:rPr>
              <a:t>future data</a:t>
            </a:r>
            <a:r>
              <a:rPr lang="en" sz="1100">
                <a:solidFill>
                  <a:schemeClr val="dk1"/>
                </a:solidFill>
                <a:latin typeface="Century Gothic"/>
                <a:ea typeface="Century Gothic"/>
                <a:cs typeface="Century Gothic"/>
                <a:sym typeface="Century Gothic"/>
              </a:rPr>
              <a:t> and testing on </a:t>
            </a:r>
            <a:r>
              <a:rPr b="1" lang="en" sz="1100">
                <a:solidFill>
                  <a:schemeClr val="dk1"/>
                </a:solidFill>
                <a:latin typeface="Century Gothic"/>
                <a:ea typeface="Century Gothic"/>
                <a:cs typeface="Century Gothic"/>
                <a:sym typeface="Century Gothic"/>
              </a:rPr>
              <a:t>past data</a:t>
            </a:r>
            <a:r>
              <a:rPr lang="en" sz="1100">
                <a:solidFill>
                  <a:schemeClr val="dk1"/>
                </a:solidFill>
                <a:latin typeface="Century Gothic"/>
                <a:ea typeface="Century Gothic"/>
                <a:cs typeface="Century Gothic"/>
                <a:sym typeface="Century Gothic"/>
              </a:rPr>
              <a:t> gives the model information it wouldn’t have in real scenarios. To avoid this, ensure </a:t>
            </a:r>
            <a:r>
              <a:rPr b="1" lang="en" sz="1100">
                <a:solidFill>
                  <a:schemeClr val="dk1"/>
                </a:solidFill>
                <a:latin typeface="Century Gothic"/>
                <a:ea typeface="Century Gothic"/>
                <a:cs typeface="Century Gothic"/>
                <a:sym typeface="Century Gothic"/>
              </a:rPr>
              <a:t>training data comes earlier in time than testing data</a:t>
            </a:r>
            <a:r>
              <a:rPr lang="en" sz="1100">
                <a:solidFill>
                  <a:schemeClr val="dk1"/>
                </a:solidFill>
                <a:latin typeface="Century Gothic"/>
                <a:ea typeface="Century Gothic"/>
                <a:cs typeface="Century Gothic"/>
                <a:sym typeface="Century Gothic"/>
              </a:rPr>
              <a:t>.</a:t>
            </a:r>
            <a:endParaRPr sz="1100">
              <a:solidFill>
                <a:schemeClr val="dk1"/>
              </a:solidFill>
              <a:latin typeface="Century Gothic"/>
              <a:ea typeface="Century Gothic"/>
              <a:cs typeface="Century Gothic"/>
              <a:sym typeface="Century Gothic"/>
            </a:endParaRPr>
          </a:p>
          <a:p>
            <a:pPr indent="0" lvl="0" marL="0" rtl="0" algn="l">
              <a:lnSpc>
                <a:spcPct val="204545"/>
              </a:lnSpc>
              <a:spcBef>
                <a:spcPts val="0"/>
              </a:spcBef>
              <a:spcAft>
                <a:spcPts val="0"/>
              </a:spcAft>
              <a:buNone/>
            </a:pPr>
            <a:r>
              <a:t/>
            </a:r>
            <a:endParaRPr sz="1100">
              <a:solidFill>
                <a:schemeClr val="dk1"/>
              </a:solidFill>
              <a:latin typeface="Century Gothic"/>
              <a:ea typeface="Century Gothic"/>
              <a:cs typeface="Century Gothic"/>
              <a:sym typeface="Century Gothic"/>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9" name="Shape 849"/>
        <p:cNvGrpSpPr/>
        <p:nvPr/>
      </p:nvGrpSpPr>
      <p:grpSpPr>
        <a:xfrm>
          <a:off x="0" y="0"/>
          <a:ext cx="0" cy="0"/>
          <a:chOff x="0" y="0"/>
          <a:chExt cx="0" cy="0"/>
        </a:xfrm>
      </p:grpSpPr>
      <p:sp>
        <p:nvSpPr>
          <p:cNvPr id="850" name="Google Shape;850;p115"/>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851" name="Google Shape;851;p115"/>
          <p:cNvSpPr/>
          <p:nvPr/>
        </p:nvSpPr>
        <p:spPr>
          <a:xfrm>
            <a:off x="629550" y="502200"/>
            <a:ext cx="76398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Prevent Test Data Leakage </a:t>
            </a:r>
            <a:endParaRPr sz="2000">
              <a:solidFill>
                <a:schemeClr val="dk1"/>
              </a:solidFill>
              <a:latin typeface="Century Gothic"/>
              <a:ea typeface="Century Gothic"/>
              <a:cs typeface="Century Gothic"/>
              <a:sym typeface="Century Gothic"/>
            </a:endParaRPr>
          </a:p>
        </p:txBody>
      </p:sp>
      <p:sp>
        <p:nvSpPr>
          <p:cNvPr id="852" name="Google Shape;852;p115"/>
          <p:cNvSpPr txBox="1"/>
          <p:nvPr/>
        </p:nvSpPr>
        <p:spPr>
          <a:xfrm>
            <a:off x="589850" y="917700"/>
            <a:ext cx="7838400" cy="3124500"/>
          </a:xfrm>
          <a:prstGeom prst="rect">
            <a:avLst/>
          </a:prstGeom>
          <a:noFill/>
          <a:ln>
            <a:noFill/>
          </a:ln>
        </p:spPr>
        <p:txBody>
          <a:bodyPr anchorCtr="0" anchor="t" bIns="91425" lIns="91425" spcFirstLastPara="1" rIns="91425" wrap="square" tIns="91425">
            <a:spAutoFit/>
          </a:bodyPr>
          <a:lstStyle/>
          <a:p>
            <a:pPr indent="0" lvl="0" marL="0" rtl="0" algn="l">
              <a:lnSpc>
                <a:spcPct val="204545"/>
              </a:lnSpc>
              <a:spcBef>
                <a:spcPts val="0"/>
              </a:spcBef>
              <a:spcAft>
                <a:spcPts val="0"/>
              </a:spcAft>
              <a:buNone/>
            </a:pPr>
            <a:r>
              <a:rPr lang="en" sz="1100">
                <a:solidFill>
                  <a:schemeClr val="dk1"/>
                </a:solidFill>
                <a:latin typeface="Century Gothic"/>
                <a:ea typeface="Century Gothic"/>
                <a:cs typeface="Century Gothic"/>
                <a:sym typeface="Century Gothic"/>
              </a:rPr>
              <a:t>We can unpack industry folklore such as the No Free Lunch (NFL) theorem to help us reevaluate any assumptions about which ML model to use. The NFL theorem suggests that no ML approach is better than any other when applied over every possible problem. </a:t>
            </a:r>
            <a:endParaRPr sz="1100">
              <a:solidFill>
                <a:schemeClr val="dk1"/>
              </a:solidFill>
              <a:latin typeface="Century Gothic"/>
              <a:ea typeface="Century Gothic"/>
              <a:cs typeface="Century Gothic"/>
              <a:sym typeface="Century Gothic"/>
            </a:endParaRPr>
          </a:p>
          <a:p>
            <a:pPr indent="0" lvl="0" marL="0" rtl="0" algn="l">
              <a:lnSpc>
                <a:spcPct val="204545"/>
              </a:lnSpc>
              <a:spcBef>
                <a:spcPts val="0"/>
              </a:spcBef>
              <a:spcAft>
                <a:spcPts val="0"/>
              </a:spcAft>
              <a:buNone/>
            </a:pPr>
            <a:r>
              <a:rPr lang="en" sz="1100">
                <a:solidFill>
                  <a:schemeClr val="dk1"/>
                </a:solidFill>
                <a:latin typeface="Century Gothic"/>
                <a:ea typeface="Century Gothic"/>
                <a:cs typeface="Century Gothic"/>
                <a:sym typeface="Century Gothic"/>
              </a:rPr>
              <a:t>Even if no amount of research can exactly prescribe the best ML model for a specific use case, it can still provide some explicit no-gos including:</a:t>
            </a:r>
            <a:endParaRPr sz="1100">
              <a:solidFill>
                <a:schemeClr val="dk1"/>
              </a:solidFill>
              <a:latin typeface="Century Gothic"/>
              <a:ea typeface="Century Gothic"/>
              <a:cs typeface="Century Gothic"/>
              <a:sym typeface="Century Gothic"/>
            </a:endParaRPr>
          </a:p>
          <a:p>
            <a:pPr indent="-298450" lvl="0" marL="457200" rtl="0" algn="l">
              <a:lnSpc>
                <a:spcPct val="204545"/>
              </a:lnSpc>
              <a:spcBef>
                <a:spcPts val="0"/>
              </a:spcBef>
              <a:spcAft>
                <a:spcPts val="0"/>
              </a:spcAft>
              <a:buClr>
                <a:schemeClr val="dk1"/>
              </a:buClr>
              <a:buSzPts val="1100"/>
              <a:buFont typeface="Century Gothic"/>
              <a:buChar char="●"/>
            </a:pPr>
            <a:r>
              <a:rPr lang="en" sz="1100">
                <a:solidFill>
                  <a:schemeClr val="dk1"/>
                </a:solidFill>
                <a:latin typeface="Century Gothic"/>
                <a:ea typeface="Century Gothic"/>
                <a:cs typeface="Century Gothic"/>
                <a:sym typeface="Century Gothic"/>
              </a:rPr>
              <a:t>Using a deep neural network in instances where data is limited.</a:t>
            </a:r>
            <a:endParaRPr sz="1100">
              <a:solidFill>
                <a:schemeClr val="dk1"/>
              </a:solidFill>
              <a:latin typeface="Century Gothic"/>
              <a:ea typeface="Century Gothic"/>
              <a:cs typeface="Century Gothic"/>
              <a:sym typeface="Century Gothic"/>
            </a:endParaRPr>
          </a:p>
          <a:p>
            <a:pPr indent="-298450" lvl="0" marL="457200" rtl="0" algn="l">
              <a:lnSpc>
                <a:spcPct val="204545"/>
              </a:lnSpc>
              <a:spcBef>
                <a:spcPts val="0"/>
              </a:spcBef>
              <a:spcAft>
                <a:spcPts val="0"/>
              </a:spcAft>
              <a:buClr>
                <a:schemeClr val="dk1"/>
              </a:buClr>
              <a:buSzPts val="1100"/>
              <a:buFont typeface="Century Gothic"/>
              <a:buChar char="●"/>
            </a:pPr>
            <a:r>
              <a:rPr lang="en" sz="1100">
                <a:solidFill>
                  <a:schemeClr val="dk1"/>
                </a:solidFill>
                <a:latin typeface="Century Gothic"/>
                <a:ea typeface="Century Gothic"/>
                <a:cs typeface="Century Gothic"/>
                <a:sym typeface="Century Gothic"/>
              </a:rPr>
              <a:t>Using models that expect categorical features to a dataset which consists of numeric features.</a:t>
            </a:r>
            <a:endParaRPr sz="1100">
              <a:solidFill>
                <a:schemeClr val="dk1"/>
              </a:solidFill>
              <a:latin typeface="Century Gothic"/>
              <a:ea typeface="Century Gothic"/>
              <a:cs typeface="Century Gothic"/>
              <a:sym typeface="Century Gothic"/>
            </a:endParaRPr>
          </a:p>
          <a:p>
            <a:pPr indent="-298450" lvl="0" marL="457200" rtl="0" algn="l">
              <a:lnSpc>
                <a:spcPct val="204545"/>
              </a:lnSpc>
              <a:spcBef>
                <a:spcPts val="0"/>
              </a:spcBef>
              <a:spcAft>
                <a:spcPts val="0"/>
              </a:spcAft>
              <a:buClr>
                <a:schemeClr val="dk1"/>
              </a:buClr>
              <a:buSzPts val="1100"/>
              <a:buFont typeface="Century Gothic"/>
              <a:buChar char="●"/>
            </a:pPr>
            <a:r>
              <a:rPr lang="en" sz="1100">
                <a:solidFill>
                  <a:schemeClr val="dk1"/>
                </a:solidFill>
                <a:latin typeface="Century Gothic"/>
                <a:ea typeface="Century Gothic"/>
                <a:cs typeface="Century Gothic"/>
                <a:sym typeface="Century Gothic"/>
              </a:rPr>
              <a:t>Using a model that assumes no dependencies between variables and time series data.</a:t>
            </a:r>
            <a:endParaRPr sz="1100">
              <a:solidFill>
                <a:schemeClr val="dk1"/>
              </a:solidFill>
              <a:latin typeface="Century Gothic"/>
              <a:ea typeface="Century Gothic"/>
              <a:cs typeface="Century Gothic"/>
              <a:sym typeface="Century Gothic"/>
            </a:endParaRPr>
          </a:p>
          <a:p>
            <a:pPr indent="0" lvl="0" marL="0" rtl="0" algn="l">
              <a:lnSpc>
                <a:spcPct val="204545"/>
              </a:lnSpc>
              <a:spcBef>
                <a:spcPts val="0"/>
              </a:spcBef>
              <a:spcAft>
                <a:spcPts val="0"/>
              </a:spcAft>
              <a:buNone/>
            </a:pPr>
            <a:r>
              <a:t/>
            </a:r>
            <a:endParaRPr sz="1100">
              <a:solidFill>
                <a:schemeClr val="dk1"/>
              </a:solidFill>
              <a:latin typeface="Century Gothic"/>
              <a:ea typeface="Century Gothic"/>
              <a:cs typeface="Century Gothic"/>
              <a:sym typeface="Century Gothic"/>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6" name="Shape 856"/>
        <p:cNvGrpSpPr/>
        <p:nvPr/>
      </p:nvGrpSpPr>
      <p:grpSpPr>
        <a:xfrm>
          <a:off x="0" y="0"/>
          <a:ext cx="0" cy="0"/>
          <a:chOff x="0" y="0"/>
          <a:chExt cx="0" cy="0"/>
        </a:xfrm>
      </p:grpSpPr>
      <p:sp>
        <p:nvSpPr>
          <p:cNvPr id="857" name="Google Shape;857;p116"/>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858" name="Google Shape;858;p116"/>
          <p:cNvSpPr/>
          <p:nvPr/>
        </p:nvSpPr>
        <p:spPr>
          <a:xfrm>
            <a:off x="629550" y="502200"/>
            <a:ext cx="76398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Hyperparameter Optimization</a:t>
            </a:r>
            <a:endParaRPr sz="2000">
              <a:solidFill>
                <a:schemeClr val="dk1"/>
              </a:solidFill>
              <a:latin typeface="Century Gothic"/>
              <a:ea typeface="Century Gothic"/>
              <a:cs typeface="Century Gothic"/>
              <a:sym typeface="Century Gothic"/>
            </a:endParaRPr>
          </a:p>
        </p:txBody>
      </p:sp>
      <p:sp>
        <p:nvSpPr>
          <p:cNvPr id="859" name="Google Shape;859;p116"/>
          <p:cNvSpPr txBox="1"/>
          <p:nvPr/>
        </p:nvSpPr>
        <p:spPr>
          <a:xfrm>
            <a:off x="589850" y="917700"/>
            <a:ext cx="7838400" cy="1046700"/>
          </a:xfrm>
          <a:prstGeom prst="rect">
            <a:avLst/>
          </a:prstGeom>
          <a:noFill/>
          <a:ln>
            <a:noFill/>
          </a:ln>
        </p:spPr>
        <p:txBody>
          <a:bodyPr anchorCtr="0" anchor="t" bIns="91425" lIns="91425" spcFirstLastPara="1" rIns="91425" wrap="square" tIns="91425">
            <a:spAutoFit/>
          </a:bodyPr>
          <a:lstStyle/>
          <a:p>
            <a:pPr indent="0" lvl="0" marL="0" rtl="0" algn="l">
              <a:lnSpc>
                <a:spcPct val="204545"/>
              </a:lnSpc>
              <a:spcBef>
                <a:spcPts val="0"/>
              </a:spcBef>
              <a:spcAft>
                <a:spcPts val="0"/>
              </a:spcAft>
              <a:buNone/>
            </a:pPr>
            <a:r>
              <a:rPr lang="en" sz="1100">
                <a:solidFill>
                  <a:schemeClr val="dk1"/>
                </a:solidFill>
                <a:latin typeface="Century Gothic"/>
                <a:ea typeface="Century Gothic"/>
                <a:cs typeface="Century Gothic"/>
                <a:sym typeface="Century Gothic"/>
              </a:rPr>
              <a:t>To create efficient ML algorithms, you need to optimize any hyperparameters to get the best result for your use case. Examples of hyperparameters include number of trees in a random forest or the architecture of a neural network.</a:t>
            </a:r>
            <a:endParaRPr sz="1100">
              <a:solidFill>
                <a:schemeClr val="dk1"/>
              </a:solidFill>
              <a:latin typeface="Century Gothic"/>
              <a:ea typeface="Century Gothic"/>
              <a:cs typeface="Century Gothic"/>
              <a:sym typeface="Century Gothic"/>
            </a:endParaRPr>
          </a:p>
        </p:txBody>
      </p:sp>
      <p:pic>
        <p:nvPicPr>
          <p:cNvPr id="860" name="Google Shape;860;p116"/>
          <p:cNvPicPr preferRelativeResize="0"/>
          <p:nvPr/>
        </p:nvPicPr>
        <p:blipFill>
          <a:blip r:embed="rId3">
            <a:alphaModFix/>
          </a:blip>
          <a:stretch>
            <a:fillRect/>
          </a:stretch>
        </p:blipFill>
        <p:spPr>
          <a:xfrm>
            <a:off x="1908412" y="2038600"/>
            <a:ext cx="5082074" cy="2631426"/>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4" name="Shape 864"/>
        <p:cNvGrpSpPr/>
        <p:nvPr/>
      </p:nvGrpSpPr>
      <p:grpSpPr>
        <a:xfrm>
          <a:off x="0" y="0"/>
          <a:ext cx="0" cy="0"/>
          <a:chOff x="0" y="0"/>
          <a:chExt cx="0" cy="0"/>
        </a:xfrm>
      </p:grpSpPr>
      <p:sp>
        <p:nvSpPr>
          <p:cNvPr id="865" name="Google Shape;865;p117"/>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866" name="Google Shape;866;p117"/>
          <p:cNvSpPr/>
          <p:nvPr/>
        </p:nvSpPr>
        <p:spPr>
          <a:xfrm>
            <a:off x="629550" y="502200"/>
            <a:ext cx="76398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Hyperparameter Optimization (continued)</a:t>
            </a:r>
            <a:endParaRPr sz="2000">
              <a:solidFill>
                <a:schemeClr val="dk1"/>
              </a:solidFill>
              <a:latin typeface="Century Gothic"/>
              <a:ea typeface="Century Gothic"/>
              <a:cs typeface="Century Gothic"/>
              <a:sym typeface="Century Gothic"/>
            </a:endParaRPr>
          </a:p>
        </p:txBody>
      </p:sp>
      <p:sp>
        <p:nvSpPr>
          <p:cNvPr id="867" name="Google Shape;867;p117"/>
          <p:cNvSpPr txBox="1"/>
          <p:nvPr/>
        </p:nvSpPr>
        <p:spPr>
          <a:xfrm>
            <a:off x="589850" y="917700"/>
            <a:ext cx="8007000" cy="3817200"/>
          </a:xfrm>
          <a:prstGeom prst="rect">
            <a:avLst/>
          </a:prstGeom>
          <a:noFill/>
          <a:ln>
            <a:noFill/>
          </a:ln>
        </p:spPr>
        <p:txBody>
          <a:bodyPr anchorCtr="0" anchor="t" bIns="91425" lIns="91425" spcFirstLastPara="1" rIns="91425" wrap="square" tIns="91425">
            <a:spAutoFit/>
          </a:bodyPr>
          <a:lstStyle/>
          <a:p>
            <a:pPr indent="0" lvl="0" marL="0" rtl="0" algn="l">
              <a:lnSpc>
                <a:spcPct val="204545"/>
              </a:lnSpc>
              <a:spcBef>
                <a:spcPts val="0"/>
              </a:spcBef>
              <a:spcAft>
                <a:spcPts val="0"/>
              </a:spcAft>
              <a:buNone/>
            </a:pPr>
            <a:r>
              <a:rPr lang="en" sz="1100">
                <a:solidFill>
                  <a:schemeClr val="dk1"/>
                </a:solidFill>
                <a:latin typeface="Century Gothic"/>
                <a:ea typeface="Century Gothic"/>
                <a:cs typeface="Century Gothic"/>
                <a:sym typeface="Century Gothic"/>
              </a:rPr>
              <a:t>Some of the most well-known optimization approaches include:</a:t>
            </a:r>
            <a:endParaRPr sz="1100">
              <a:solidFill>
                <a:schemeClr val="dk1"/>
              </a:solidFill>
              <a:latin typeface="Century Gothic"/>
              <a:ea typeface="Century Gothic"/>
              <a:cs typeface="Century Gothic"/>
              <a:sym typeface="Century Gothic"/>
            </a:endParaRPr>
          </a:p>
          <a:p>
            <a:pPr indent="-298450" lvl="0" marL="457200" rtl="0" algn="l">
              <a:lnSpc>
                <a:spcPct val="204545"/>
              </a:lnSpc>
              <a:spcBef>
                <a:spcPts val="0"/>
              </a:spcBef>
              <a:spcAft>
                <a:spcPts val="0"/>
              </a:spcAft>
              <a:buClr>
                <a:schemeClr val="dk1"/>
              </a:buClr>
              <a:buSzPts val="1100"/>
              <a:buFont typeface="Century Gothic"/>
              <a:buChar char="●"/>
            </a:pPr>
            <a:r>
              <a:rPr b="1" lang="en" sz="1100">
                <a:solidFill>
                  <a:schemeClr val="dk1"/>
                </a:solidFill>
                <a:latin typeface="Century Gothic"/>
                <a:ea typeface="Century Gothic"/>
                <a:cs typeface="Century Gothic"/>
                <a:sym typeface="Century Gothic"/>
              </a:rPr>
              <a:t>Grid search</a:t>
            </a:r>
            <a:r>
              <a:rPr lang="en" sz="1100">
                <a:solidFill>
                  <a:schemeClr val="dk1"/>
                </a:solidFill>
                <a:latin typeface="Century Gothic"/>
                <a:ea typeface="Century Gothic"/>
                <a:cs typeface="Century Gothic"/>
                <a:sym typeface="Century Gothic"/>
              </a:rPr>
              <a:t>: Also known as a parameter sweep, grid search is an exhaustive search through a manually specified subset of the hyperparameter space of a learning algorithm.</a:t>
            </a:r>
            <a:endParaRPr sz="1100">
              <a:solidFill>
                <a:schemeClr val="dk1"/>
              </a:solidFill>
              <a:latin typeface="Century Gothic"/>
              <a:ea typeface="Century Gothic"/>
              <a:cs typeface="Century Gothic"/>
              <a:sym typeface="Century Gothic"/>
            </a:endParaRPr>
          </a:p>
          <a:p>
            <a:pPr indent="-298450" lvl="0" marL="457200" rtl="0" algn="l">
              <a:lnSpc>
                <a:spcPct val="204545"/>
              </a:lnSpc>
              <a:spcBef>
                <a:spcPts val="0"/>
              </a:spcBef>
              <a:spcAft>
                <a:spcPts val="0"/>
              </a:spcAft>
              <a:buClr>
                <a:schemeClr val="dk1"/>
              </a:buClr>
              <a:buSzPts val="1100"/>
              <a:buFont typeface="Century Gothic"/>
              <a:buChar char="●"/>
            </a:pPr>
            <a:r>
              <a:rPr b="1" lang="en" sz="1100">
                <a:solidFill>
                  <a:schemeClr val="dk1"/>
                </a:solidFill>
                <a:latin typeface="Century Gothic"/>
                <a:ea typeface="Century Gothic"/>
                <a:cs typeface="Century Gothic"/>
                <a:sym typeface="Century Gothic"/>
              </a:rPr>
              <a:t>Random Search</a:t>
            </a:r>
            <a:r>
              <a:rPr lang="en" sz="1100">
                <a:solidFill>
                  <a:schemeClr val="dk1"/>
                </a:solidFill>
                <a:latin typeface="Century Gothic"/>
                <a:ea typeface="Century Gothic"/>
                <a:cs typeface="Century Gothic"/>
                <a:sym typeface="Century Gothic"/>
              </a:rPr>
              <a:t>: Randomly samples hyperparameter combinations instead of testing all possibilities like grid search. Faster and often finds good solutions efficiently.</a:t>
            </a:r>
            <a:endParaRPr sz="1100">
              <a:solidFill>
                <a:schemeClr val="dk1"/>
              </a:solidFill>
              <a:latin typeface="Century Gothic"/>
              <a:ea typeface="Century Gothic"/>
              <a:cs typeface="Century Gothic"/>
              <a:sym typeface="Century Gothic"/>
            </a:endParaRPr>
          </a:p>
          <a:p>
            <a:pPr indent="-298450" lvl="0" marL="457200" rtl="0" algn="l">
              <a:lnSpc>
                <a:spcPct val="204545"/>
              </a:lnSpc>
              <a:spcBef>
                <a:spcPts val="0"/>
              </a:spcBef>
              <a:spcAft>
                <a:spcPts val="0"/>
              </a:spcAft>
              <a:buClr>
                <a:schemeClr val="dk1"/>
              </a:buClr>
              <a:buSzPts val="1100"/>
              <a:buFont typeface="Century Gothic"/>
              <a:buChar char="●"/>
            </a:pPr>
            <a:r>
              <a:rPr b="1" lang="en" sz="1100">
                <a:solidFill>
                  <a:schemeClr val="dk1"/>
                </a:solidFill>
                <a:latin typeface="Century Gothic"/>
                <a:ea typeface="Century Gothic"/>
                <a:cs typeface="Century Gothic"/>
                <a:sym typeface="Century Gothic"/>
              </a:rPr>
              <a:t>Bayesian Optimization:</a:t>
            </a:r>
            <a:r>
              <a:rPr lang="en" sz="1100">
                <a:solidFill>
                  <a:schemeClr val="dk1"/>
                </a:solidFill>
                <a:latin typeface="Century Gothic"/>
                <a:ea typeface="Century Gothic"/>
                <a:cs typeface="Century Gothic"/>
                <a:sym typeface="Century Gothic"/>
              </a:rPr>
              <a:t> Builds a probabilistic model linking hyperparameters to performance and iteratively tests promising configurations to find the optimum.</a:t>
            </a:r>
            <a:endParaRPr sz="1100">
              <a:solidFill>
                <a:schemeClr val="dk1"/>
              </a:solidFill>
              <a:latin typeface="Century Gothic"/>
              <a:ea typeface="Century Gothic"/>
              <a:cs typeface="Century Gothic"/>
              <a:sym typeface="Century Gothic"/>
            </a:endParaRPr>
          </a:p>
          <a:p>
            <a:pPr indent="-298450" lvl="0" marL="457200" rtl="0" algn="l">
              <a:lnSpc>
                <a:spcPct val="204545"/>
              </a:lnSpc>
              <a:spcBef>
                <a:spcPts val="0"/>
              </a:spcBef>
              <a:spcAft>
                <a:spcPts val="0"/>
              </a:spcAft>
              <a:buClr>
                <a:schemeClr val="dk1"/>
              </a:buClr>
              <a:buSzPts val="1100"/>
              <a:buFont typeface="Century Gothic"/>
              <a:buChar char="●"/>
            </a:pPr>
            <a:r>
              <a:rPr b="1" lang="en" sz="1100">
                <a:solidFill>
                  <a:schemeClr val="dk1"/>
                </a:solidFill>
                <a:latin typeface="Century Gothic"/>
                <a:ea typeface="Century Gothic"/>
                <a:cs typeface="Century Gothic"/>
                <a:sym typeface="Century Gothic"/>
              </a:rPr>
              <a:t>Evolutionary Optimization</a:t>
            </a:r>
            <a:r>
              <a:rPr lang="en" sz="1100">
                <a:solidFill>
                  <a:schemeClr val="dk1"/>
                </a:solidFill>
                <a:latin typeface="Century Gothic"/>
                <a:ea typeface="Century Gothic"/>
                <a:cs typeface="Century Gothic"/>
                <a:sym typeface="Century Gothic"/>
              </a:rPr>
              <a:t>: Uses evolutionary algorithms (selection, crossover, mutation) to evolve better hyperparameter sets over generations.</a:t>
            </a:r>
            <a:endParaRPr sz="1100">
              <a:solidFill>
                <a:schemeClr val="dk1"/>
              </a:solidFill>
              <a:latin typeface="Century Gothic"/>
              <a:ea typeface="Century Gothic"/>
              <a:cs typeface="Century Gothic"/>
              <a:sym typeface="Century Gothic"/>
            </a:endParaRPr>
          </a:p>
          <a:p>
            <a:pPr indent="-298450" lvl="0" marL="457200" rtl="0" algn="l">
              <a:lnSpc>
                <a:spcPct val="204545"/>
              </a:lnSpc>
              <a:spcBef>
                <a:spcPts val="0"/>
              </a:spcBef>
              <a:spcAft>
                <a:spcPts val="0"/>
              </a:spcAft>
              <a:buClr>
                <a:schemeClr val="dk1"/>
              </a:buClr>
              <a:buSzPts val="1100"/>
              <a:buFont typeface="Century Gothic"/>
              <a:buChar char="●"/>
            </a:pPr>
            <a:r>
              <a:rPr b="1" lang="en" sz="1100">
                <a:solidFill>
                  <a:schemeClr val="dk1"/>
                </a:solidFill>
                <a:latin typeface="Century Gothic"/>
                <a:ea typeface="Century Gothic"/>
                <a:cs typeface="Century Gothic"/>
                <a:sym typeface="Century Gothic"/>
              </a:rPr>
              <a:t>Population-Based Training</a:t>
            </a:r>
            <a:r>
              <a:rPr lang="en" sz="1100">
                <a:solidFill>
                  <a:schemeClr val="dk1"/>
                </a:solidFill>
                <a:latin typeface="Century Gothic"/>
                <a:ea typeface="Century Gothic"/>
                <a:cs typeface="Century Gothic"/>
                <a:sym typeface="Century Gothic"/>
              </a:rPr>
              <a:t>: Runs multiple models with different hyperparameters simultaneously and replaces poorly performing models with improved versions of better ones.</a:t>
            </a:r>
            <a:endParaRPr sz="1100">
              <a:solidFill>
                <a:schemeClr val="dk1"/>
              </a:solidFill>
              <a:latin typeface="Century Gothic"/>
              <a:ea typeface="Century Gothic"/>
              <a:cs typeface="Century Gothic"/>
              <a:sym typeface="Century Gothic"/>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1" name="Shape 871"/>
        <p:cNvGrpSpPr/>
        <p:nvPr/>
      </p:nvGrpSpPr>
      <p:grpSpPr>
        <a:xfrm>
          <a:off x="0" y="0"/>
          <a:ext cx="0" cy="0"/>
          <a:chOff x="0" y="0"/>
          <a:chExt cx="0" cy="0"/>
        </a:xfrm>
      </p:grpSpPr>
      <p:sp>
        <p:nvSpPr>
          <p:cNvPr id="872" name="Google Shape;872;p118"/>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873" name="Google Shape;873;p118"/>
          <p:cNvSpPr/>
          <p:nvPr/>
        </p:nvSpPr>
        <p:spPr>
          <a:xfrm>
            <a:off x="629550" y="502200"/>
            <a:ext cx="76398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Real-World Use Cases</a:t>
            </a:r>
            <a:endParaRPr sz="2000">
              <a:solidFill>
                <a:schemeClr val="dk1"/>
              </a:solidFill>
              <a:latin typeface="Century Gothic"/>
              <a:ea typeface="Century Gothic"/>
              <a:cs typeface="Century Gothic"/>
              <a:sym typeface="Century Gothic"/>
            </a:endParaRPr>
          </a:p>
        </p:txBody>
      </p:sp>
      <p:sp>
        <p:nvSpPr>
          <p:cNvPr id="874" name="Google Shape;874;p118"/>
          <p:cNvSpPr txBox="1"/>
          <p:nvPr/>
        </p:nvSpPr>
        <p:spPr>
          <a:xfrm>
            <a:off x="629550" y="917700"/>
            <a:ext cx="7967400" cy="274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chemeClr val="dk1"/>
                </a:solidFill>
                <a:latin typeface="Century Gothic"/>
                <a:ea typeface="Century Gothic"/>
                <a:cs typeface="Century Gothic"/>
                <a:sym typeface="Century Gothic"/>
              </a:rPr>
              <a:t>Artificial Intelligence and Machine Learning are widely used in everyday digital services.</a:t>
            </a:r>
            <a:endParaRPr sz="12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None/>
            </a:pPr>
            <a:r>
              <a:rPr lang="en" sz="1200">
                <a:solidFill>
                  <a:schemeClr val="dk1"/>
                </a:solidFill>
                <a:latin typeface="Century Gothic"/>
                <a:ea typeface="Century Gothic"/>
                <a:cs typeface="Century Gothic"/>
                <a:sym typeface="Century Gothic"/>
              </a:rPr>
              <a:t>Common areas include:</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120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Personalized recommendations</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Fraud detection</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Traffic prediction</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Autonomous driving</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Healthcare diagnostics</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Email spam filtering</a:t>
            </a:r>
            <a:endParaRPr sz="12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1200"/>
              </a:spcAft>
              <a:buNone/>
            </a:pPr>
            <a:r>
              <a:rPr lang="en" sz="1200">
                <a:solidFill>
                  <a:schemeClr val="dk1"/>
                </a:solidFill>
                <a:latin typeface="Century Gothic"/>
                <a:ea typeface="Century Gothic"/>
                <a:cs typeface="Century Gothic"/>
                <a:sym typeface="Century Gothic"/>
              </a:rPr>
              <a:t>These systems analyze large volumes of data to </a:t>
            </a:r>
            <a:r>
              <a:rPr b="1" lang="en" sz="1200">
                <a:solidFill>
                  <a:schemeClr val="dk1"/>
                </a:solidFill>
                <a:latin typeface="Century Gothic"/>
                <a:ea typeface="Century Gothic"/>
                <a:cs typeface="Century Gothic"/>
                <a:sym typeface="Century Gothic"/>
              </a:rPr>
              <a:t>predict behavior, classify information, and optimize decisions.</a:t>
            </a:r>
            <a:endParaRPr b="1" sz="1500">
              <a:latin typeface="Century Gothic"/>
              <a:ea typeface="Century Gothic"/>
              <a:cs typeface="Century Gothic"/>
              <a:sym typeface="Century Gothic"/>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8" name="Shape 878"/>
        <p:cNvGrpSpPr/>
        <p:nvPr/>
      </p:nvGrpSpPr>
      <p:grpSpPr>
        <a:xfrm>
          <a:off x="0" y="0"/>
          <a:ext cx="0" cy="0"/>
          <a:chOff x="0" y="0"/>
          <a:chExt cx="0" cy="0"/>
        </a:xfrm>
      </p:grpSpPr>
      <p:sp>
        <p:nvSpPr>
          <p:cNvPr id="879" name="Google Shape;879;p119"/>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880" name="Google Shape;880;p119"/>
          <p:cNvSpPr/>
          <p:nvPr/>
        </p:nvSpPr>
        <p:spPr>
          <a:xfrm>
            <a:off x="629550" y="502200"/>
            <a:ext cx="76398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Case Study: Netflix Recommendation System</a:t>
            </a:r>
            <a:endParaRPr sz="2000">
              <a:solidFill>
                <a:schemeClr val="dk1"/>
              </a:solidFill>
              <a:latin typeface="Century Gothic"/>
              <a:ea typeface="Century Gothic"/>
              <a:cs typeface="Century Gothic"/>
              <a:sym typeface="Century Gothic"/>
            </a:endParaRPr>
          </a:p>
        </p:txBody>
      </p:sp>
      <p:sp>
        <p:nvSpPr>
          <p:cNvPr id="881" name="Google Shape;881;p119"/>
          <p:cNvSpPr txBox="1"/>
          <p:nvPr/>
        </p:nvSpPr>
        <p:spPr>
          <a:xfrm>
            <a:off x="629550" y="917700"/>
            <a:ext cx="3820800" cy="326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latin typeface="Century Gothic"/>
                <a:ea typeface="Century Gothic"/>
                <a:cs typeface="Century Gothic"/>
                <a:sym typeface="Century Gothic"/>
              </a:rPr>
              <a:t>Company:</a:t>
            </a:r>
            <a:r>
              <a:rPr lang="en" sz="1200">
                <a:solidFill>
                  <a:schemeClr val="dk1"/>
                </a:solidFill>
                <a:latin typeface="Century Gothic"/>
                <a:ea typeface="Century Gothic"/>
                <a:cs typeface="Century Gothic"/>
                <a:sym typeface="Century Gothic"/>
              </a:rPr>
              <a:t> Netflix</a:t>
            </a:r>
            <a:endParaRPr sz="12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latin typeface="Century Gothic"/>
                <a:ea typeface="Century Gothic"/>
                <a:cs typeface="Century Gothic"/>
                <a:sym typeface="Century Gothic"/>
              </a:rPr>
              <a:t>Use Case: </a:t>
            </a:r>
            <a:r>
              <a:rPr lang="en" sz="1200">
                <a:solidFill>
                  <a:schemeClr val="dk1"/>
                </a:solidFill>
                <a:latin typeface="Century Gothic"/>
                <a:ea typeface="Century Gothic"/>
                <a:cs typeface="Century Gothic"/>
                <a:sym typeface="Century Gothic"/>
              </a:rPr>
              <a:t>Personalized movie and TV show recommendations.</a:t>
            </a:r>
            <a:endParaRPr sz="12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Century Gothic"/>
                <a:ea typeface="Century Gothic"/>
                <a:cs typeface="Century Gothic"/>
                <a:sym typeface="Century Gothic"/>
              </a:rPr>
              <a:t>How AI/ML is used:</a:t>
            </a:r>
            <a:endParaRPr b="1" sz="1200">
              <a:solidFill>
                <a:schemeClr val="dk1"/>
              </a:solidFill>
              <a:latin typeface="Century Gothic"/>
              <a:ea typeface="Century Gothic"/>
              <a:cs typeface="Century Gothic"/>
              <a:sym typeface="Century Gothic"/>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latin typeface="Century Gothic"/>
                <a:ea typeface="Century Gothic"/>
                <a:cs typeface="Century Gothic"/>
                <a:sym typeface="Century Gothic"/>
              </a:rPr>
              <a:t>Analyzes </a:t>
            </a:r>
            <a:r>
              <a:rPr b="1" lang="en" sz="1200">
                <a:solidFill>
                  <a:schemeClr val="dk1"/>
                </a:solidFill>
                <a:latin typeface="Century Gothic"/>
                <a:ea typeface="Century Gothic"/>
                <a:cs typeface="Century Gothic"/>
                <a:sym typeface="Century Gothic"/>
              </a:rPr>
              <a:t>watch history</a:t>
            </a:r>
            <a:endParaRPr b="1"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latin typeface="Century Gothic"/>
                <a:ea typeface="Century Gothic"/>
                <a:cs typeface="Century Gothic"/>
                <a:sym typeface="Century Gothic"/>
              </a:rPr>
              <a:t>Uses </a:t>
            </a:r>
            <a:r>
              <a:rPr b="1" lang="en" sz="1200">
                <a:solidFill>
                  <a:schemeClr val="dk1"/>
                </a:solidFill>
                <a:latin typeface="Century Gothic"/>
                <a:ea typeface="Century Gothic"/>
                <a:cs typeface="Century Gothic"/>
                <a:sym typeface="Century Gothic"/>
              </a:rPr>
              <a:t>user ratings and preferences</a:t>
            </a:r>
            <a:endParaRPr b="1"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Compares viewing patterns across users</a:t>
            </a:r>
            <a:endParaRPr sz="12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latin typeface="Century Gothic"/>
                <a:ea typeface="Century Gothic"/>
                <a:cs typeface="Century Gothic"/>
                <a:sym typeface="Century Gothic"/>
              </a:rPr>
              <a:t>Impact:</a:t>
            </a:r>
            <a:endParaRPr b="1" sz="1200">
              <a:solidFill>
                <a:schemeClr val="dk1"/>
              </a:solidFill>
              <a:latin typeface="Century Gothic"/>
              <a:ea typeface="Century Gothic"/>
              <a:cs typeface="Century Gothic"/>
              <a:sym typeface="Century Gothic"/>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latin typeface="Century Gothic"/>
                <a:ea typeface="Century Gothic"/>
                <a:cs typeface="Century Gothic"/>
                <a:sym typeface="Century Gothic"/>
              </a:rPr>
              <a:t>Over </a:t>
            </a:r>
            <a:r>
              <a:rPr b="1" lang="en" sz="1200">
                <a:solidFill>
                  <a:schemeClr val="dk1"/>
                </a:solidFill>
                <a:latin typeface="Century Gothic"/>
                <a:ea typeface="Century Gothic"/>
                <a:cs typeface="Century Gothic"/>
                <a:sym typeface="Century Gothic"/>
              </a:rPr>
              <a:t>80% of content watched</a:t>
            </a:r>
            <a:r>
              <a:rPr lang="en" sz="1200">
                <a:solidFill>
                  <a:schemeClr val="dk1"/>
                </a:solidFill>
                <a:latin typeface="Century Gothic"/>
                <a:ea typeface="Century Gothic"/>
                <a:cs typeface="Century Gothic"/>
                <a:sym typeface="Century Gothic"/>
              </a:rPr>
              <a:t> comes from recommendations</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Improves user engagement and retention</a:t>
            </a:r>
            <a:endParaRPr sz="1200">
              <a:solidFill>
                <a:schemeClr val="dk1"/>
              </a:solidFill>
              <a:latin typeface="Century Gothic"/>
              <a:ea typeface="Century Gothic"/>
              <a:cs typeface="Century Gothic"/>
              <a:sym typeface="Century Gothic"/>
            </a:endParaRPr>
          </a:p>
        </p:txBody>
      </p:sp>
      <p:pic>
        <p:nvPicPr>
          <p:cNvPr id="882" name="Google Shape;882;p119"/>
          <p:cNvPicPr preferRelativeResize="0"/>
          <p:nvPr/>
        </p:nvPicPr>
        <p:blipFill rotWithShape="1">
          <a:blip r:embed="rId3">
            <a:alphaModFix/>
          </a:blip>
          <a:srcRect b="0" l="3996" r="5809" t="0"/>
          <a:stretch/>
        </p:blipFill>
        <p:spPr>
          <a:xfrm>
            <a:off x="4450350" y="1201325"/>
            <a:ext cx="4395249" cy="2740861"/>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6" name="Shape 886"/>
        <p:cNvGrpSpPr/>
        <p:nvPr/>
      </p:nvGrpSpPr>
      <p:grpSpPr>
        <a:xfrm>
          <a:off x="0" y="0"/>
          <a:ext cx="0" cy="0"/>
          <a:chOff x="0" y="0"/>
          <a:chExt cx="0" cy="0"/>
        </a:xfrm>
      </p:grpSpPr>
      <p:sp>
        <p:nvSpPr>
          <p:cNvPr id="887" name="Google Shape;887;p120"/>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888" name="Google Shape;888;p120"/>
          <p:cNvSpPr/>
          <p:nvPr/>
        </p:nvSpPr>
        <p:spPr>
          <a:xfrm>
            <a:off x="629550" y="502200"/>
            <a:ext cx="76398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Case Study: Uber Demand Prediction</a:t>
            </a:r>
            <a:endParaRPr sz="2000">
              <a:solidFill>
                <a:schemeClr val="dk1"/>
              </a:solidFill>
              <a:latin typeface="Century Gothic"/>
              <a:ea typeface="Century Gothic"/>
              <a:cs typeface="Century Gothic"/>
              <a:sym typeface="Century Gothic"/>
            </a:endParaRPr>
          </a:p>
        </p:txBody>
      </p:sp>
      <p:sp>
        <p:nvSpPr>
          <p:cNvPr id="889" name="Google Shape;889;p120"/>
          <p:cNvSpPr txBox="1"/>
          <p:nvPr/>
        </p:nvSpPr>
        <p:spPr>
          <a:xfrm>
            <a:off x="629550" y="917700"/>
            <a:ext cx="3820800" cy="327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solidFill>
                  <a:schemeClr val="dk1"/>
                </a:solidFill>
                <a:latin typeface="Century Gothic"/>
                <a:ea typeface="Century Gothic"/>
                <a:cs typeface="Century Gothic"/>
                <a:sym typeface="Century Gothic"/>
              </a:rPr>
              <a:t>Company</a:t>
            </a:r>
            <a:r>
              <a:rPr lang="en" sz="1200">
                <a:solidFill>
                  <a:schemeClr val="dk1"/>
                </a:solidFill>
                <a:latin typeface="Century Gothic"/>
                <a:ea typeface="Century Gothic"/>
                <a:cs typeface="Century Gothic"/>
                <a:sym typeface="Century Gothic"/>
              </a:rPr>
              <a:t>: Uber</a:t>
            </a:r>
            <a:endParaRPr sz="12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None/>
            </a:pPr>
            <a:r>
              <a:rPr b="1" lang="en" sz="1200">
                <a:solidFill>
                  <a:schemeClr val="dk1"/>
                </a:solidFill>
                <a:latin typeface="Century Gothic"/>
                <a:ea typeface="Century Gothic"/>
                <a:cs typeface="Century Gothic"/>
                <a:sym typeface="Century Gothic"/>
              </a:rPr>
              <a:t>Use Case</a:t>
            </a:r>
            <a:r>
              <a:rPr lang="en" sz="1200">
                <a:solidFill>
                  <a:schemeClr val="dk1"/>
                </a:solidFill>
                <a:latin typeface="Century Gothic"/>
                <a:ea typeface="Century Gothic"/>
                <a:cs typeface="Century Gothic"/>
                <a:sym typeface="Century Gothic"/>
              </a:rPr>
              <a:t>: Predicting ride demand and optimizing driver allocation.</a:t>
            </a:r>
            <a:endParaRPr sz="12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None/>
            </a:pPr>
            <a:r>
              <a:rPr lang="en" sz="1200">
                <a:solidFill>
                  <a:schemeClr val="dk1"/>
                </a:solidFill>
                <a:latin typeface="Century Gothic"/>
                <a:ea typeface="Century Gothic"/>
                <a:cs typeface="Century Gothic"/>
                <a:sym typeface="Century Gothic"/>
              </a:rPr>
              <a:t>How AI/ML is used:</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latin typeface="Century Gothic"/>
                <a:ea typeface="Century Gothic"/>
                <a:cs typeface="Century Gothic"/>
                <a:sym typeface="Century Gothic"/>
              </a:rPr>
              <a:t>Analyzes </a:t>
            </a:r>
            <a:r>
              <a:rPr b="1" lang="en" sz="1200">
                <a:solidFill>
                  <a:schemeClr val="dk1"/>
                </a:solidFill>
                <a:latin typeface="Century Gothic"/>
                <a:ea typeface="Century Gothic"/>
                <a:cs typeface="Century Gothic"/>
                <a:sym typeface="Century Gothic"/>
              </a:rPr>
              <a:t>historical ride data</a:t>
            </a:r>
            <a:endParaRPr b="1"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latin typeface="Century Gothic"/>
                <a:ea typeface="Century Gothic"/>
                <a:cs typeface="Century Gothic"/>
                <a:sym typeface="Century Gothic"/>
              </a:rPr>
              <a:t>Uses </a:t>
            </a:r>
            <a:r>
              <a:rPr b="1" lang="en" sz="1200">
                <a:solidFill>
                  <a:schemeClr val="dk1"/>
                </a:solidFill>
                <a:latin typeface="Century Gothic"/>
                <a:ea typeface="Century Gothic"/>
                <a:cs typeface="Century Gothic"/>
                <a:sym typeface="Century Gothic"/>
              </a:rPr>
              <a:t>time, location, and weather patterns</a:t>
            </a:r>
            <a:endParaRPr b="1"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Predicts demand across city zones</a:t>
            </a:r>
            <a:endParaRPr sz="12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None/>
            </a:pPr>
            <a:r>
              <a:rPr b="1" lang="en" sz="1200">
                <a:solidFill>
                  <a:schemeClr val="dk1"/>
                </a:solidFill>
                <a:latin typeface="Century Gothic"/>
                <a:ea typeface="Century Gothic"/>
                <a:cs typeface="Century Gothic"/>
                <a:sym typeface="Century Gothic"/>
              </a:rPr>
              <a:t>Impact</a:t>
            </a:r>
            <a:r>
              <a:rPr lang="en" sz="1200">
                <a:solidFill>
                  <a:schemeClr val="dk1"/>
                </a:solidFill>
                <a:latin typeface="Century Gothic"/>
                <a:ea typeface="Century Gothic"/>
                <a:cs typeface="Century Gothic"/>
                <a:sym typeface="Century Gothic"/>
              </a:rPr>
              <a:t>:</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120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Reduces passenger wait time</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Improves driver utilization</a:t>
            </a:r>
            <a:br>
              <a:rPr lang="en" sz="1200">
                <a:solidFill>
                  <a:schemeClr val="dk1"/>
                </a:solidFill>
                <a:latin typeface="Century Gothic"/>
                <a:ea typeface="Century Gothic"/>
                <a:cs typeface="Century Gothic"/>
                <a:sym typeface="Century Gothic"/>
              </a:rPr>
            </a:br>
            <a:endParaRPr b="1" sz="1300">
              <a:solidFill>
                <a:schemeClr val="dk1"/>
              </a:solidFill>
              <a:latin typeface="Century Gothic"/>
              <a:ea typeface="Century Gothic"/>
              <a:cs typeface="Century Gothic"/>
              <a:sym typeface="Century Gothic"/>
            </a:endParaRPr>
          </a:p>
        </p:txBody>
      </p:sp>
      <p:pic>
        <p:nvPicPr>
          <p:cNvPr id="890" name="Google Shape;890;p120"/>
          <p:cNvPicPr preferRelativeResize="0"/>
          <p:nvPr/>
        </p:nvPicPr>
        <p:blipFill rotWithShape="1">
          <a:blip r:embed="rId3">
            <a:alphaModFix/>
          </a:blip>
          <a:srcRect b="0" l="18066" r="0" t="0"/>
          <a:stretch/>
        </p:blipFill>
        <p:spPr>
          <a:xfrm>
            <a:off x="4450350" y="1209025"/>
            <a:ext cx="4267200" cy="2825003"/>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4" name="Shape 894"/>
        <p:cNvGrpSpPr/>
        <p:nvPr/>
      </p:nvGrpSpPr>
      <p:grpSpPr>
        <a:xfrm>
          <a:off x="0" y="0"/>
          <a:ext cx="0" cy="0"/>
          <a:chOff x="0" y="0"/>
          <a:chExt cx="0" cy="0"/>
        </a:xfrm>
      </p:grpSpPr>
      <p:sp>
        <p:nvSpPr>
          <p:cNvPr id="895" name="Google Shape;895;p121"/>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896" name="Google Shape;896;p121"/>
          <p:cNvSpPr/>
          <p:nvPr/>
        </p:nvSpPr>
        <p:spPr>
          <a:xfrm>
            <a:off x="629550" y="502200"/>
            <a:ext cx="76398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Case Study: Gmail Spam Detection</a:t>
            </a:r>
            <a:endParaRPr sz="2000">
              <a:solidFill>
                <a:schemeClr val="dk1"/>
              </a:solidFill>
              <a:latin typeface="Century Gothic"/>
              <a:ea typeface="Century Gothic"/>
              <a:cs typeface="Century Gothic"/>
              <a:sym typeface="Century Gothic"/>
            </a:endParaRPr>
          </a:p>
        </p:txBody>
      </p:sp>
      <p:sp>
        <p:nvSpPr>
          <p:cNvPr id="897" name="Google Shape;897;p121"/>
          <p:cNvSpPr txBox="1"/>
          <p:nvPr/>
        </p:nvSpPr>
        <p:spPr>
          <a:xfrm>
            <a:off x="629550" y="917700"/>
            <a:ext cx="3869400" cy="320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solidFill>
                  <a:schemeClr val="dk1"/>
                </a:solidFill>
                <a:latin typeface="Century Gothic"/>
                <a:ea typeface="Century Gothic"/>
                <a:cs typeface="Century Gothic"/>
                <a:sym typeface="Century Gothic"/>
              </a:rPr>
              <a:t>Product</a:t>
            </a:r>
            <a:r>
              <a:rPr lang="en" sz="1200">
                <a:solidFill>
                  <a:schemeClr val="dk1"/>
                </a:solidFill>
                <a:latin typeface="Century Gothic"/>
                <a:ea typeface="Century Gothic"/>
                <a:cs typeface="Century Gothic"/>
                <a:sym typeface="Century Gothic"/>
              </a:rPr>
              <a:t>: Gmail </a:t>
            </a:r>
            <a:endParaRPr sz="12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None/>
            </a:pPr>
            <a:r>
              <a:rPr b="1" lang="en" sz="1200">
                <a:solidFill>
                  <a:schemeClr val="dk1"/>
                </a:solidFill>
                <a:latin typeface="Century Gothic"/>
                <a:ea typeface="Century Gothic"/>
                <a:cs typeface="Century Gothic"/>
                <a:sym typeface="Century Gothic"/>
              </a:rPr>
              <a:t>Company</a:t>
            </a:r>
            <a:r>
              <a:rPr lang="en" sz="1200">
                <a:solidFill>
                  <a:schemeClr val="dk1"/>
                </a:solidFill>
                <a:latin typeface="Century Gothic"/>
                <a:ea typeface="Century Gothic"/>
                <a:cs typeface="Century Gothic"/>
                <a:sym typeface="Century Gothic"/>
              </a:rPr>
              <a:t>: Google</a:t>
            </a:r>
            <a:endParaRPr sz="12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None/>
            </a:pPr>
            <a:r>
              <a:rPr b="1" lang="en" sz="1200">
                <a:solidFill>
                  <a:schemeClr val="dk1"/>
                </a:solidFill>
                <a:latin typeface="Century Gothic"/>
                <a:ea typeface="Century Gothic"/>
                <a:cs typeface="Century Gothic"/>
                <a:sym typeface="Century Gothic"/>
              </a:rPr>
              <a:t>Use Case</a:t>
            </a:r>
            <a:r>
              <a:rPr lang="en" sz="1200">
                <a:solidFill>
                  <a:schemeClr val="dk1"/>
                </a:solidFill>
                <a:latin typeface="Century Gothic"/>
                <a:ea typeface="Century Gothic"/>
                <a:cs typeface="Century Gothic"/>
                <a:sym typeface="Century Gothic"/>
              </a:rPr>
              <a:t>: Automatic spam email filtering.</a:t>
            </a:r>
            <a:endParaRPr sz="12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None/>
            </a:pPr>
            <a:r>
              <a:rPr lang="en" sz="1200">
                <a:solidFill>
                  <a:schemeClr val="dk1"/>
                </a:solidFill>
                <a:latin typeface="Century Gothic"/>
                <a:ea typeface="Century Gothic"/>
                <a:cs typeface="Century Gothic"/>
                <a:sym typeface="Century Gothic"/>
              </a:rPr>
              <a:t>How AI/ML is used:</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120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Text classification models</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Pattern recognition in email content</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Sender reputation analysis</a:t>
            </a:r>
            <a:endParaRPr sz="1200">
              <a:solidFill>
                <a:schemeClr val="dk1"/>
              </a:solidFill>
              <a:latin typeface="Century Gothic"/>
              <a:ea typeface="Century Gothic"/>
              <a:cs typeface="Century Gothic"/>
              <a:sym typeface="Century Gothic"/>
            </a:endParaRPr>
          </a:p>
          <a:p>
            <a:pPr indent="0" lvl="0" marL="0" rtl="0" algn="l">
              <a:lnSpc>
                <a:spcPct val="115000"/>
              </a:lnSpc>
              <a:spcBef>
                <a:spcPts val="1200"/>
              </a:spcBef>
              <a:spcAft>
                <a:spcPts val="0"/>
              </a:spcAft>
              <a:buNone/>
            </a:pPr>
            <a:r>
              <a:rPr b="1" lang="en" sz="1200">
                <a:solidFill>
                  <a:schemeClr val="dk1"/>
                </a:solidFill>
                <a:latin typeface="Century Gothic"/>
                <a:ea typeface="Century Gothic"/>
                <a:cs typeface="Century Gothic"/>
                <a:sym typeface="Century Gothic"/>
              </a:rPr>
              <a:t>Impact</a:t>
            </a:r>
            <a:r>
              <a:rPr lang="en" sz="1200">
                <a:solidFill>
                  <a:schemeClr val="dk1"/>
                </a:solidFill>
                <a:latin typeface="Century Gothic"/>
                <a:ea typeface="Century Gothic"/>
                <a:cs typeface="Century Gothic"/>
                <a:sym typeface="Century Gothic"/>
              </a:rPr>
              <a:t>:</a:t>
            </a:r>
            <a:endParaRPr sz="1200">
              <a:solidFill>
                <a:schemeClr val="dk1"/>
              </a:solidFill>
              <a:latin typeface="Century Gothic"/>
              <a:ea typeface="Century Gothic"/>
              <a:cs typeface="Century Gothic"/>
              <a:sym typeface="Century Gothic"/>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latin typeface="Century Gothic"/>
                <a:ea typeface="Century Gothic"/>
                <a:cs typeface="Century Gothic"/>
                <a:sym typeface="Century Gothic"/>
              </a:rPr>
              <a:t>Blocks </a:t>
            </a:r>
            <a:r>
              <a:rPr b="1" lang="en" sz="1200">
                <a:solidFill>
                  <a:schemeClr val="dk1"/>
                </a:solidFill>
                <a:latin typeface="Century Gothic"/>
                <a:ea typeface="Century Gothic"/>
                <a:cs typeface="Century Gothic"/>
                <a:sym typeface="Century Gothic"/>
              </a:rPr>
              <a:t>billions of spam emails daily</a:t>
            </a:r>
            <a:endParaRPr b="1" sz="1200">
              <a:solidFill>
                <a:schemeClr val="dk1"/>
              </a:solidFill>
              <a:latin typeface="Century Gothic"/>
              <a:ea typeface="Century Gothic"/>
              <a:cs typeface="Century Gothic"/>
              <a:sym typeface="Century Gothic"/>
            </a:endParaRPr>
          </a:p>
          <a:p>
            <a:pPr indent="-304800" lvl="0" marL="457200" rtl="0" algn="l">
              <a:lnSpc>
                <a:spcPct val="115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Protects users from phishing and scams</a:t>
            </a:r>
            <a:endParaRPr b="1" sz="1200">
              <a:solidFill>
                <a:schemeClr val="dk1"/>
              </a:solidFill>
              <a:latin typeface="Century Gothic"/>
              <a:ea typeface="Century Gothic"/>
              <a:cs typeface="Century Gothic"/>
              <a:sym typeface="Century Gothic"/>
            </a:endParaRPr>
          </a:p>
        </p:txBody>
      </p:sp>
      <p:pic>
        <p:nvPicPr>
          <p:cNvPr id="898" name="Google Shape;898;p121"/>
          <p:cNvPicPr preferRelativeResize="0"/>
          <p:nvPr/>
        </p:nvPicPr>
        <p:blipFill>
          <a:blip r:embed="rId3">
            <a:alphaModFix/>
          </a:blip>
          <a:stretch>
            <a:fillRect/>
          </a:stretch>
        </p:blipFill>
        <p:spPr>
          <a:xfrm>
            <a:off x="4498950" y="1073250"/>
            <a:ext cx="4340250" cy="289350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2" name="Shape 902"/>
        <p:cNvGrpSpPr/>
        <p:nvPr/>
      </p:nvGrpSpPr>
      <p:grpSpPr>
        <a:xfrm>
          <a:off x="0" y="0"/>
          <a:ext cx="0" cy="0"/>
          <a:chOff x="0" y="0"/>
          <a:chExt cx="0" cy="0"/>
        </a:xfrm>
      </p:grpSpPr>
      <p:sp>
        <p:nvSpPr>
          <p:cNvPr id="903" name="Google Shape;903;p122"/>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904" name="Google Shape;904;p122"/>
          <p:cNvSpPr/>
          <p:nvPr/>
        </p:nvSpPr>
        <p:spPr>
          <a:xfrm>
            <a:off x="629550" y="502200"/>
            <a:ext cx="30480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Key Takeaways</a:t>
            </a:r>
            <a:endParaRPr sz="2000">
              <a:solidFill>
                <a:schemeClr val="dk1"/>
              </a:solidFill>
              <a:latin typeface="Century Gothic"/>
              <a:ea typeface="Century Gothic"/>
              <a:cs typeface="Century Gothic"/>
              <a:sym typeface="Century Gothic"/>
            </a:endParaRPr>
          </a:p>
        </p:txBody>
      </p:sp>
      <p:sp>
        <p:nvSpPr>
          <p:cNvPr id="905" name="Google Shape;905;p122"/>
          <p:cNvSpPr txBox="1"/>
          <p:nvPr/>
        </p:nvSpPr>
        <p:spPr>
          <a:xfrm>
            <a:off x="629550" y="917700"/>
            <a:ext cx="7967400" cy="4032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Clr>
                <a:schemeClr val="dk1"/>
              </a:buClr>
              <a:buSzPts val="1100"/>
              <a:buFont typeface="Arial"/>
              <a:buNone/>
            </a:pPr>
            <a:r>
              <a:rPr b="1" lang="en" sz="1200">
                <a:solidFill>
                  <a:schemeClr val="dk1"/>
                </a:solidFill>
                <a:latin typeface="Century Gothic"/>
                <a:ea typeface="Century Gothic"/>
                <a:cs typeface="Century Gothic"/>
                <a:sym typeface="Century Gothic"/>
              </a:rPr>
              <a:t>AI/ML enables systems to:</a:t>
            </a:r>
            <a:endParaRPr b="1" sz="1200">
              <a:solidFill>
                <a:schemeClr val="dk1"/>
              </a:solidFill>
              <a:latin typeface="Century Gothic"/>
              <a:ea typeface="Century Gothic"/>
              <a:cs typeface="Century Gothic"/>
              <a:sym typeface="Century Gothic"/>
            </a:endParaRPr>
          </a:p>
          <a:p>
            <a:pPr indent="-304800" lvl="0" marL="457200" rtl="0" algn="l">
              <a:lnSpc>
                <a:spcPct val="150000"/>
              </a:lnSpc>
              <a:spcBef>
                <a:spcPts val="120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Predict user behavior</a:t>
            </a:r>
            <a:endParaRPr sz="1200">
              <a:solidFill>
                <a:schemeClr val="dk1"/>
              </a:solidFill>
              <a:latin typeface="Century Gothic"/>
              <a:ea typeface="Century Gothic"/>
              <a:cs typeface="Century Gothic"/>
              <a:sym typeface="Century Gothic"/>
            </a:endParaRPr>
          </a:p>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Personalized</a:t>
            </a:r>
            <a:r>
              <a:rPr lang="en" sz="1200">
                <a:solidFill>
                  <a:schemeClr val="dk1"/>
                </a:solidFill>
                <a:latin typeface="Century Gothic"/>
                <a:ea typeface="Century Gothic"/>
                <a:cs typeface="Century Gothic"/>
                <a:sym typeface="Century Gothic"/>
              </a:rPr>
              <a:t> </a:t>
            </a:r>
            <a:r>
              <a:rPr lang="en" sz="1200">
                <a:solidFill>
                  <a:schemeClr val="dk1"/>
                </a:solidFill>
                <a:latin typeface="Century Gothic"/>
                <a:ea typeface="Century Gothic"/>
                <a:cs typeface="Century Gothic"/>
                <a:sym typeface="Century Gothic"/>
              </a:rPr>
              <a:t>experience</a:t>
            </a:r>
            <a:endParaRPr sz="1200">
              <a:solidFill>
                <a:schemeClr val="dk1"/>
              </a:solidFill>
              <a:latin typeface="Century Gothic"/>
              <a:ea typeface="Century Gothic"/>
              <a:cs typeface="Century Gothic"/>
              <a:sym typeface="Century Gothic"/>
            </a:endParaRPr>
          </a:p>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Detect anomalies and fraud</a:t>
            </a:r>
            <a:endParaRPr sz="1200">
              <a:solidFill>
                <a:schemeClr val="dk1"/>
              </a:solidFill>
              <a:latin typeface="Century Gothic"/>
              <a:ea typeface="Century Gothic"/>
              <a:cs typeface="Century Gothic"/>
              <a:sym typeface="Century Gothic"/>
            </a:endParaRPr>
          </a:p>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Optimize operations</a:t>
            </a:r>
            <a:endParaRPr sz="1200">
              <a:solidFill>
                <a:schemeClr val="dk1"/>
              </a:solidFill>
              <a:latin typeface="Century Gothic"/>
              <a:ea typeface="Century Gothic"/>
              <a:cs typeface="Century Gothic"/>
              <a:sym typeface="Century Gothic"/>
            </a:endParaRPr>
          </a:p>
          <a:p>
            <a:pPr indent="0" lvl="0" marL="0" rtl="0" algn="l">
              <a:lnSpc>
                <a:spcPct val="150000"/>
              </a:lnSpc>
              <a:spcBef>
                <a:spcPts val="1200"/>
              </a:spcBef>
              <a:spcAft>
                <a:spcPts val="0"/>
              </a:spcAft>
              <a:buClr>
                <a:schemeClr val="dk1"/>
              </a:buClr>
              <a:buSzPts val="1100"/>
              <a:buFont typeface="Arial"/>
              <a:buNone/>
            </a:pPr>
            <a:r>
              <a:rPr b="1" lang="en" sz="1200">
                <a:solidFill>
                  <a:schemeClr val="dk1"/>
                </a:solidFill>
                <a:latin typeface="Century Gothic"/>
                <a:ea typeface="Century Gothic"/>
                <a:cs typeface="Century Gothic"/>
                <a:sym typeface="Century Gothic"/>
              </a:rPr>
              <a:t>Industries using AI today:</a:t>
            </a:r>
            <a:endParaRPr b="1" sz="1200">
              <a:solidFill>
                <a:schemeClr val="dk1"/>
              </a:solidFill>
              <a:latin typeface="Century Gothic"/>
              <a:ea typeface="Century Gothic"/>
              <a:cs typeface="Century Gothic"/>
              <a:sym typeface="Century Gothic"/>
            </a:endParaRPr>
          </a:p>
          <a:p>
            <a:pPr indent="-304800" lvl="0" marL="457200" rtl="0" algn="l">
              <a:lnSpc>
                <a:spcPct val="150000"/>
              </a:lnSpc>
              <a:spcBef>
                <a:spcPts val="120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Entertainment</a:t>
            </a:r>
            <a:endParaRPr sz="1200">
              <a:solidFill>
                <a:schemeClr val="dk1"/>
              </a:solidFill>
              <a:latin typeface="Century Gothic"/>
              <a:ea typeface="Century Gothic"/>
              <a:cs typeface="Century Gothic"/>
              <a:sym typeface="Century Gothic"/>
            </a:endParaRPr>
          </a:p>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E-commerce</a:t>
            </a:r>
            <a:endParaRPr sz="1200">
              <a:solidFill>
                <a:schemeClr val="dk1"/>
              </a:solidFill>
              <a:latin typeface="Century Gothic"/>
              <a:ea typeface="Century Gothic"/>
              <a:cs typeface="Century Gothic"/>
              <a:sym typeface="Century Gothic"/>
            </a:endParaRPr>
          </a:p>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Transportation</a:t>
            </a:r>
            <a:endParaRPr sz="1200">
              <a:solidFill>
                <a:schemeClr val="dk1"/>
              </a:solidFill>
              <a:latin typeface="Century Gothic"/>
              <a:ea typeface="Century Gothic"/>
              <a:cs typeface="Century Gothic"/>
              <a:sym typeface="Century Gothic"/>
            </a:endParaRPr>
          </a:p>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Finance</a:t>
            </a:r>
            <a:endParaRPr sz="1200">
              <a:solidFill>
                <a:schemeClr val="dk1"/>
              </a:solidFill>
              <a:latin typeface="Century Gothic"/>
              <a:ea typeface="Century Gothic"/>
              <a:cs typeface="Century Gothic"/>
              <a:sym typeface="Century Gothic"/>
            </a:endParaRPr>
          </a:p>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Healthcare</a:t>
            </a:r>
            <a:endParaRPr sz="1200">
              <a:solidFill>
                <a:schemeClr val="dk1"/>
              </a:solidFill>
              <a:latin typeface="Century Gothic"/>
              <a:ea typeface="Century Gothic"/>
              <a:cs typeface="Century Gothic"/>
              <a:sym typeface="Century Gothic"/>
            </a:endParaRPr>
          </a:p>
          <a:p>
            <a:pPr indent="0" lvl="0" marL="0" rtl="0" algn="l">
              <a:lnSpc>
                <a:spcPct val="150000"/>
              </a:lnSpc>
              <a:spcBef>
                <a:spcPts val="1200"/>
              </a:spcBef>
              <a:spcAft>
                <a:spcPts val="1200"/>
              </a:spcAft>
              <a:buNone/>
            </a:pPr>
            <a:r>
              <a:t/>
            </a:r>
            <a:endParaRPr sz="1200">
              <a:solidFill>
                <a:schemeClr val="dk1"/>
              </a:solidFill>
              <a:latin typeface="Century Gothic"/>
              <a:ea typeface="Century Gothic"/>
              <a:cs typeface="Century Gothic"/>
              <a:sym typeface="Century Gothic"/>
            </a:endParaRPr>
          </a:p>
        </p:txBody>
      </p:sp>
      <p:pic>
        <p:nvPicPr>
          <p:cNvPr id="906" name="Google Shape;906;p122"/>
          <p:cNvPicPr preferRelativeResize="0"/>
          <p:nvPr/>
        </p:nvPicPr>
        <p:blipFill rotWithShape="1">
          <a:blip r:embed="rId3">
            <a:alphaModFix/>
          </a:blip>
          <a:srcRect b="5014" l="1931" r="1544" t="10853"/>
          <a:stretch/>
        </p:blipFill>
        <p:spPr>
          <a:xfrm>
            <a:off x="3369423" y="1026250"/>
            <a:ext cx="5568027" cy="316120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0" name="Shape 910"/>
        <p:cNvGrpSpPr/>
        <p:nvPr/>
      </p:nvGrpSpPr>
      <p:grpSpPr>
        <a:xfrm>
          <a:off x="0" y="0"/>
          <a:ext cx="0" cy="0"/>
          <a:chOff x="0" y="0"/>
          <a:chExt cx="0" cy="0"/>
        </a:xfrm>
      </p:grpSpPr>
      <p:sp>
        <p:nvSpPr>
          <p:cNvPr id="911" name="Google Shape;911;p123"/>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912" name="Google Shape;912;p123"/>
          <p:cNvSpPr/>
          <p:nvPr/>
        </p:nvSpPr>
        <p:spPr>
          <a:xfrm>
            <a:off x="3772387" y="2225076"/>
            <a:ext cx="2181300" cy="829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nvGrpSpPr>
          <p:cNvPr id="913" name="Google Shape;913;p123"/>
          <p:cNvGrpSpPr/>
          <p:nvPr/>
        </p:nvGrpSpPr>
        <p:grpSpPr>
          <a:xfrm>
            <a:off x="2249719" y="726566"/>
            <a:ext cx="4419451" cy="3826922"/>
            <a:chOff x="3099100" y="1113850"/>
            <a:chExt cx="5511224" cy="4904424"/>
          </a:xfrm>
        </p:grpSpPr>
        <p:pic>
          <p:nvPicPr>
            <p:cNvPr id="914" name="Google Shape;914;p123"/>
            <p:cNvPicPr preferRelativeResize="0"/>
            <p:nvPr/>
          </p:nvPicPr>
          <p:blipFill rotWithShape="1">
            <a:blip r:embed="rId3">
              <a:alphaModFix/>
            </a:blip>
            <a:srcRect b="11124" l="3830" r="11252" t="13308"/>
            <a:stretch/>
          </p:blipFill>
          <p:spPr>
            <a:xfrm>
              <a:off x="3099100" y="1113850"/>
              <a:ext cx="5511224" cy="4904424"/>
            </a:xfrm>
            <a:prstGeom prst="rect">
              <a:avLst/>
            </a:prstGeom>
            <a:noFill/>
            <a:ln>
              <a:noFill/>
            </a:ln>
          </p:spPr>
        </p:pic>
        <p:sp>
          <p:nvSpPr>
            <p:cNvPr id="915" name="Google Shape;915;p123"/>
            <p:cNvSpPr/>
            <p:nvPr/>
          </p:nvSpPr>
          <p:spPr>
            <a:xfrm>
              <a:off x="4990775" y="3039375"/>
              <a:ext cx="2685300" cy="1018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sp>
        <p:nvSpPr>
          <p:cNvPr id="916" name="Google Shape;916;p123"/>
          <p:cNvSpPr txBox="1"/>
          <p:nvPr>
            <p:ph idx="4294967295" type="title"/>
          </p:nvPr>
        </p:nvSpPr>
        <p:spPr>
          <a:xfrm>
            <a:off x="3745713" y="2094131"/>
            <a:ext cx="2451300" cy="9597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Clr>
                <a:srgbClr val="28BA73"/>
              </a:buClr>
              <a:buSzPts val="2600"/>
              <a:buFont typeface="Trebuchet MS"/>
              <a:buNone/>
            </a:pPr>
            <a:r>
              <a:rPr lang="en" sz="2900">
                <a:latin typeface="Impact"/>
                <a:ea typeface="Impact"/>
                <a:cs typeface="Impact"/>
                <a:sym typeface="Impact"/>
              </a:rPr>
              <a:t>ANY </a:t>
            </a:r>
            <a:endParaRPr sz="2900">
              <a:latin typeface="Impact"/>
              <a:ea typeface="Impact"/>
              <a:cs typeface="Impact"/>
              <a:sym typeface="Impact"/>
            </a:endParaRPr>
          </a:p>
          <a:p>
            <a:pPr indent="0" lvl="0" marL="0" rtl="0" algn="r">
              <a:lnSpc>
                <a:spcPct val="115000"/>
              </a:lnSpc>
              <a:spcBef>
                <a:spcPts val="0"/>
              </a:spcBef>
              <a:spcAft>
                <a:spcPts val="0"/>
              </a:spcAft>
              <a:buClr>
                <a:srgbClr val="28BA73"/>
              </a:buClr>
              <a:buSzPts val="2600"/>
              <a:buFont typeface="Trebuchet MS"/>
              <a:buNone/>
            </a:pPr>
            <a:r>
              <a:rPr b="1" lang="en" sz="2900">
                <a:solidFill>
                  <a:srgbClr val="CC0000"/>
                </a:solidFill>
                <a:latin typeface="Impact"/>
                <a:ea typeface="Impact"/>
                <a:cs typeface="Impact"/>
                <a:sym typeface="Impact"/>
              </a:rPr>
              <a:t>QUESTIONS ?</a:t>
            </a:r>
            <a:endParaRPr sz="2900">
              <a:solidFill>
                <a:srgbClr val="CC0000"/>
              </a:solidFill>
              <a:latin typeface="Impact"/>
              <a:ea typeface="Impact"/>
              <a:cs typeface="Impact"/>
              <a:sym typeface="Impact"/>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pic>
        <p:nvPicPr>
          <p:cNvPr id="922" name="Google Shape;922;p124"/>
          <p:cNvPicPr preferRelativeResize="0"/>
          <p:nvPr/>
        </p:nvPicPr>
        <p:blipFill rotWithShape="1">
          <a:blip r:embed="rId3">
            <a:alphaModFix/>
          </a:blip>
          <a:srcRect b="0" l="0" r="0" t="27347"/>
          <a:stretch/>
        </p:blipFill>
        <p:spPr>
          <a:xfrm>
            <a:off x="0" y="0"/>
            <a:ext cx="9365268" cy="5393794"/>
          </a:xfrm>
          <a:prstGeom prst="rect">
            <a:avLst/>
          </a:prstGeom>
          <a:noFill/>
          <a:ln>
            <a:noFill/>
          </a:ln>
        </p:spPr>
      </p:pic>
      <p:sp>
        <p:nvSpPr>
          <p:cNvPr id="923" name="Google Shape;923;p124"/>
          <p:cNvSpPr/>
          <p:nvPr/>
        </p:nvSpPr>
        <p:spPr>
          <a:xfrm>
            <a:off x="56" y="0"/>
            <a:ext cx="9365100" cy="5393700"/>
          </a:xfrm>
          <a:prstGeom prst="rect">
            <a:avLst/>
          </a:prstGeom>
          <a:solidFill>
            <a:srgbClr val="00070A">
              <a:alpha val="51959"/>
            </a:srgbClr>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24" name="Google Shape;924;p124"/>
          <p:cNvSpPr/>
          <p:nvPr/>
        </p:nvSpPr>
        <p:spPr>
          <a:xfrm>
            <a:off x="1009650" y="1752600"/>
            <a:ext cx="8134500" cy="1752600"/>
          </a:xfrm>
          <a:prstGeom prst="rect">
            <a:avLst/>
          </a:prstGeom>
          <a:solidFill>
            <a:srgbClr val="000000">
              <a:alpha val="8039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925" name="Google Shape;925;p124"/>
          <p:cNvSpPr/>
          <p:nvPr/>
        </p:nvSpPr>
        <p:spPr>
          <a:xfrm>
            <a:off x="3676650" y="-1"/>
            <a:ext cx="1790700" cy="1901700"/>
          </a:xfrm>
          <a:prstGeom prst="rect">
            <a:avLst/>
          </a:prstGeom>
          <a:solidFill>
            <a:srgbClr val="990000">
              <a:alpha val="7647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926" name="Google Shape;926;p124"/>
          <p:cNvSpPr/>
          <p:nvPr/>
        </p:nvSpPr>
        <p:spPr>
          <a:xfrm>
            <a:off x="1129393" y="3245303"/>
            <a:ext cx="750900" cy="500700"/>
          </a:xfrm>
          <a:prstGeom prst="rect">
            <a:avLst/>
          </a:prstGeom>
          <a:solidFill>
            <a:srgbClr val="990000">
              <a:alpha val="7647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sz="1400">
              <a:solidFill>
                <a:schemeClr val="lt1"/>
              </a:solidFill>
              <a:latin typeface="Calibri"/>
              <a:ea typeface="Calibri"/>
              <a:cs typeface="Calibri"/>
              <a:sym typeface="Calibri"/>
            </a:endParaRPr>
          </a:p>
        </p:txBody>
      </p:sp>
      <p:sp>
        <p:nvSpPr>
          <p:cNvPr id="927" name="Google Shape;927;p124"/>
          <p:cNvSpPr/>
          <p:nvPr/>
        </p:nvSpPr>
        <p:spPr>
          <a:xfrm>
            <a:off x="1129393" y="3816463"/>
            <a:ext cx="750900" cy="202200"/>
          </a:xfrm>
          <a:prstGeom prst="rect">
            <a:avLst/>
          </a:prstGeom>
          <a:solidFill>
            <a:srgbClr val="0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928" name="Google Shape;928;p124"/>
          <p:cNvSpPr txBox="1"/>
          <p:nvPr/>
        </p:nvSpPr>
        <p:spPr>
          <a:xfrm>
            <a:off x="1810826" y="2063920"/>
            <a:ext cx="5522400" cy="101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6600">
                <a:solidFill>
                  <a:schemeClr val="lt1"/>
                </a:solidFill>
                <a:latin typeface="Century Gothic"/>
                <a:ea typeface="Century Gothic"/>
                <a:cs typeface="Century Gothic"/>
                <a:sym typeface="Century Gothic"/>
              </a:rPr>
              <a:t>THANK </a:t>
            </a:r>
            <a:r>
              <a:rPr lang="en" sz="6600">
                <a:solidFill>
                  <a:schemeClr val="lt1"/>
                </a:solidFill>
                <a:latin typeface="Century Gothic"/>
                <a:ea typeface="Century Gothic"/>
                <a:cs typeface="Century Gothic"/>
                <a:sym typeface="Century Gothic"/>
              </a:rPr>
              <a:t>YOU</a:t>
            </a:r>
            <a:endParaRPr sz="1100"/>
          </a:p>
        </p:txBody>
      </p:sp>
      <p:sp>
        <p:nvSpPr>
          <p:cNvPr id="929" name="Google Shape;929;p124"/>
          <p:cNvSpPr/>
          <p:nvPr/>
        </p:nvSpPr>
        <p:spPr>
          <a:xfrm>
            <a:off x="7119257" y="2865581"/>
            <a:ext cx="1790700" cy="1901700"/>
          </a:xfrm>
          <a:prstGeom prst="rect">
            <a:avLst/>
          </a:prstGeom>
          <a:solidFill>
            <a:srgbClr val="990000">
              <a:alpha val="7647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