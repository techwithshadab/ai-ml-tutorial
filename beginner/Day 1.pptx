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7" r:id="rId5"/>
    <p:sldMasterId id="214748368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y="5143500" cx="9144000"/>
  <p:notesSz cx="6858000" cy="9144000"/>
  <p:embeddedFontLst>
    <p:embeddedFont>
      <p:font typeface="Raleway"/>
      <p:regular r:id="rId85"/>
      <p:bold r:id="rId86"/>
      <p:italic r:id="rId87"/>
      <p:boldItalic r:id="rId88"/>
    </p:embeddedFont>
    <p:embeddedFont>
      <p:font typeface="Inter Light"/>
      <p:regular r:id="rId89"/>
      <p:bold r:id="rId90"/>
      <p:italic r:id="rId91"/>
      <p:boldItalic r:id="rId92"/>
    </p:embeddedFont>
    <p:embeddedFont>
      <p:font typeface="Nunito"/>
      <p:regular r:id="rId93"/>
      <p:bold r:id="rId94"/>
      <p:italic r:id="rId95"/>
      <p:boldItalic r:id="rId96"/>
    </p:embeddedFont>
    <p:embeddedFont>
      <p:font typeface="Montserrat"/>
      <p:regular r:id="rId97"/>
      <p:bold r:id="rId98"/>
      <p:italic r:id="rId99"/>
      <p:boldItalic r:id="rId100"/>
    </p:embeddedFont>
    <p:embeddedFont>
      <p:font typeface="Geist"/>
      <p:regular r:id="rId101"/>
      <p:bold r:id="rId102"/>
    </p:embeddedFont>
    <p:embeddedFont>
      <p:font typeface="Varela Round"/>
      <p:regular r:id="rId103"/>
    </p:embeddedFont>
    <p:embeddedFont>
      <p:font typeface="Lora"/>
      <p:regular r:id="rId104"/>
      <p:bold r:id="rId105"/>
      <p:italic r:id="rId106"/>
      <p:boldItalic r:id="rId107"/>
    </p:embeddedFont>
    <p:embeddedFont>
      <p:font typeface="Century Gothic"/>
      <p:regular r:id="rId108"/>
      <p:bold r:id="rId109"/>
      <p:italic r:id="rId110"/>
      <p:boldItalic r:id="rId1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7D10B8-D09D-4B30-A7EF-2C3402F03075}">
  <a:tblStyle styleId="{B77D10B8-D09D-4B30-A7EF-2C3402F03075}"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Lora-boldItalic.fntdata"/><Relationship Id="rId106" Type="http://schemas.openxmlformats.org/officeDocument/2006/relationships/font" Target="fonts/Lora-italic.fntdata"/><Relationship Id="rId105" Type="http://schemas.openxmlformats.org/officeDocument/2006/relationships/font" Target="fonts/Lora-bold.fntdata"/><Relationship Id="rId104" Type="http://schemas.openxmlformats.org/officeDocument/2006/relationships/font" Target="fonts/Lora-regular.fntdata"/><Relationship Id="rId109" Type="http://schemas.openxmlformats.org/officeDocument/2006/relationships/font" Target="fonts/CenturyGothic-bold.fntdata"/><Relationship Id="rId108" Type="http://schemas.openxmlformats.org/officeDocument/2006/relationships/font" Target="fonts/CenturyGothic-regular.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font" Target="fonts/VarelaRound-regular.fntdata"/><Relationship Id="rId102" Type="http://schemas.openxmlformats.org/officeDocument/2006/relationships/font" Target="fonts/Geist-bold.fntdata"/><Relationship Id="rId101" Type="http://schemas.openxmlformats.org/officeDocument/2006/relationships/font" Target="fonts/Geist-regular.fntdata"/><Relationship Id="rId100" Type="http://schemas.openxmlformats.org/officeDocument/2006/relationships/font" Target="fonts/Montserrat-boldItalic.fntdata"/><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font" Target="fonts/Nunito-italic.fntdata"/><Relationship Id="rId94" Type="http://schemas.openxmlformats.org/officeDocument/2006/relationships/font" Target="fonts/Nunito-bold.fntdata"/><Relationship Id="rId97" Type="http://schemas.openxmlformats.org/officeDocument/2006/relationships/font" Target="fonts/Montserrat-regular.fntdata"/><Relationship Id="rId96" Type="http://schemas.openxmlformats.org/officeDocument/2006/relationships/font" Target="fonts/Nunito-boldItalic.fntdata"/><Relationship Id="rId11" Type="http://schemas.openxmlformats.org/officeDocument/2006/relationships/slide" Target="slides/slide4.xml"/><Relationship Id="rId99" Type="http://schemas.openxmlformats.org/officeDocument/2006/relationships/font" Target="fonts/Montserrat-italic.fntdata"/><Relationship Id="rId10" Type="http://schemas.openxmlformats.org/officeDocument/2006/relationships/slide" Target="slides/slide3.xml"/><Relationship Id="rId98" Type="http://schemas.openxmlformats.org/officeDocument/2006/relationships/font" Target="fonts/Montserrat-bold.fnt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font" Target="fonts/InterLight-italic.fntdata"/><Relationship Id="rId90" Type="http://schemas.openxmlformats.org/officeDocument/2006/relationships/font" Target="fonts/InterLight-bold.fntdata"/><Relationship Id="rId93" Type="http://schemas.openxmlformats.org/officeDocument/2006/relationships/font" Target="fonts/Nunito-regular.fntdata"/><Relationship Id="rId92" Type="http://schemas.openxmlformats.org/officeDocument/2006/relationships/font" Target="fonts/InterLight-boldItalic.fntdata"/><Relationship Id="rId15" Type="http://schemas.openxmlformats.org/officeDocument/2006/relationships/slide" Target="slides/slide8.xml"/><Relationship Id="rId110" Type="http://schemas.openxmlformats.org/officeDocument/2006/relationships/font" Target="fonts/CenturyGothic-italic.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111" Type="http://schemas.openxmlformats.org/officeDocument/2006/relationships/font" Target="fonts/CenturyGothic-bold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font" Target="fonts/Raleway-bold.fntdata"/><Relationship Id="rId85" Type="http://schemas.openxmlformats.org/officeDocument/2006/relationships/font" Target="fonts/Raleway-regular.fntdata"/><Relationship Id="rId88" Type="http://schemas.openxmlformats.org/officeDocument/2006/relationships/font" Target="fonts/Raleway-boldItalic.fntdata"/><Relationship Id="rId87" Type="http://schemas.openxmlformats.org/officeDocument/2006/relationships/font" Target="fonts/Raleway-italic.fntdata"/><Relationship Id="rId89" Type="http://schemas.openxmlformats.org/officeDocument/2006/relationships/font" Target="fonts/InterLight-regular.fntdata"/><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594a4dc68a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594a4dc68a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594a4dc68a_0_0: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c4affc7411_4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g3c4affc7411_4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c517574a45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21" name="Google Shape;221;g3c517574a45_0_30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6f59973c8a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28" name="Google Shape;228;g36f59973c8a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c4ab914fb5_3_30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50" name="Google Shape;250;g3c4ab914fb5_3_30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c4ab914fb5_3_3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70" name="Google Shape;270;g3c4ab914fb5_3_30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c4ab914fb5_3_30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77" name="Google Shape;277;g3c4ab914fb5_3_30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c4ab914fb5_3_30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284" name="Google Shape;284;g3c4ab914fb5_3_30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c4ab914fb5_3_3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01" name="Google Shape;301;g3c4ab914fb5_3_31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c4ab914fb5_3_3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08" name="Google Shape;308;g3c4ab914fb5_3_3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c4ab914fb5_3_3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15" name="Google Shape;315;g3c4ab914fb5_3_31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c4ab914fb5_3_3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42" name="Google Shape;342;g3c4ab914fb5_3_31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c4ab914fb5_3_3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65" name="Google Shape;365;g3c4ab914fb5_3_3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c4ab914fb5_3_3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77" name="Google Shape;377;g3c4ab914fb5_3_32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4ab914fb5_3_3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387" name="Google Shape;387;g3c4ab914fb5_3_3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g3c4ab914fb5_3_3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12" name="Google Shape;412;g3c4ab914fb5_3_329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c4ab914fb5_3_3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32" name="Google Shape;432;g3c4ab914fb5_3_33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3" name="Shape 463"/>
        <p:cNvGrpSpPr/>
        <p:nvPr/>
      </p:nvGrpSpPr>
      <p:grpSpPr>
        <a:xfrm>
          <a:off x="0" y="0"/>
          <a:ext cx="0" cy="0"/>
          <a:chOff x="0" y="0"/>
          <a:chExt cx="0" cy="0"/>
        </a:xfrm>
      </p:grpSpPr>
      <p:sp>
        <p:nvSpPr>
          <p:cNvPr id="464" name="Google Shape;464;g3c4ab914fb5_3_33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65" name="Google Shape;465;g3c4ab914fb5_3_33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c4ab914fb5_3_34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482" name="Google Shape;482;g3c4ab914fb5_3_34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3c4ab914fb5_3_3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08" name="Google Shape;508;g3c4ab914fb5_3_3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g3c4ab914fb5_3_3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33" name="Google Shape;533;g3c4ab914fb5_3_35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c4ab914fb5_3_35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47" name="Google Shape;547;g3c4ab914fb5_3_35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c4ab914fb5_3_3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76" name="Google Shape;576;g3c4ab914fb5_3_35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c4cf008e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583" name="Google Shape;583;g3c4cf008e8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g3c4affc7411_4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g3c4affc7411_4_2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c4cf008e8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02" name="Google Shape;602;g3c4cf008e83_0_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c517574a45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17" name="Google Shape;617;g3c517574a45_0_1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c4ab914fb5_3_36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25" name="Google Shape;625;g3c4ab914fb5_3_36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c517574a45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54" name="Google Shape;654;g3c517574a45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c517574a45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61" name="Google Shape;661;g3c517574a45_0_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7" name="Shape 667"/>
        <p:cNvGrpSpPr/>
        <p:nvPr/>
      </p:nvGrpSpPr>
      <p:grpSpPr>
        <a:xfrm>
          <a:off x="0" y="0"/>
          <a:ext cx="0" cy="0"/>
          <a:chOff x="0" y="0"/>
          <a:chExt cx="0" cy="0"/>
        </a:xfrm>
      </p:grpSpPr>
      <p:sp>
        <p:nvSpPr>
          <p:cNvPr id="668" name="Google Shape;668;g3c517574a45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69" name="Google Shape;669;g3c517574a45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c517574a4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76" name="Google Shape;676;g3c517574a45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c517574a4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84" name="Google Shape;684;g3c517574a45_0_1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1" name="Shape 691"/>
        <p:cNvGrpSpPr/>
        <p:nvPr/>
      </p:nvGrpSpPr>
      <p:grpSpPr>
        <a:xfrm>
          <a:off x="0" y="0"/>
          <a:ext cx="0" cy="0"/>
          <a:chOff x="0" y="0"/>
          <a:chExt cx="0" cy="0"/>
        </a:xfrm>
      </p:grpSpPr>
      <p:sp>
        <p:nvSpPr>
          <p:cNvPr id="692" name="Google Shape;692;g3c517574a4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693" name="Google Shape;693;g3c517574a45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c517574a45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04" name="Google Shape;704;g3c517574a45_0_1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c517574a45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13" name="Google Shape;713;g3c517574a45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3c517574a4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22" name="Google Shape;722;g3c517574a45_0_2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517574a45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33" name="Google Shape;733;g3c517574a45_0_2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3c517574a45_0_2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44" name="Google Shape;744;g3c517574a45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c517574a45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55" name="Google Shape;755;g3c517574a45_0_2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c517574a45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66" name="Google Shape;766;g3c517574a45_0_2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c517574a45_0_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77" name="Google Shape;777;g3c517574a45_0_2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3c517574a45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788" name="Google Shape;788;g3c517574a45_0_2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3c4affc7411_4_2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g3c4affc7411_4_2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3c4ab914fb5_3_35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10" name="Google Shape;810;g3c4ab914fb5_3_35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c4cf008e83_0_4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25" name="Google Shape;825;g3c4cf008e83_0_4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3c4ab914fb5_3_36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42" name="Google Shape;842;g3c4ab914fb5_3_36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c4ab914fb5_3_3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51" name="Google Shape;851;g3c4ab914fb5_3_36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c4ab914fb5_3_36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58" name="Google Shape;858;g3c4ab914fb5_3_36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c51a6d6b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86" name="Google Shape;886;g3c51a6d6b2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4" name="Shape 894"/>
        <p:cNvGrpSpPr/>
        <p:nvPr/>
      </p:nvGrpSpPr>
      <p:grpSpPr>
        <a:xfrm>
          <a:off x="0" y="0"/>
          <a:ext cx="0" cy="0"/>
          <a:chOff x="0" y="0"/>
          <a:chExt cx="0" cy="0"/>
        </a:xfrm>
      </p:grpSpPr>
      <p:sp>
        <p:nvSpPr>
          <p:cNvPr id="895" name="Google Shape;895;g3c4cf008e83_0_5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896" name="Google Shape;896;g3c4cf008e83_0_5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0" name="Shape 910"/>
        <p:cNvGrpSpPr/>
        <p:nvPr/>
      </p:nvGrpSpPr>
      <p:grpSpPr>
        <a:xfrm>
          <a:off x="0" y="0"/>
          <a:ext cx="0" cy="0"/>
          <a:chOff x="0" y="0"/>
          <a:chExt cx="0" cy="0"/>
        </a:xfrm>
      </p:grpSpPr>
      <p:sp>
        <p:nvSpPr>
          <p:cNvPr id="911" name="Google Shape;911;g3c4cf008e83_0_6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912" name="Google Shape;912;g3c4cf008e83_0_6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c4cf008e83_0_7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928" name="Google Shape;928;g3c4cf008e83_0_7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g3c4cf008e83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944" name="Google Shape;944;g3c4cf008e83_0_7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g3c4cf008e83_0_8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956" name="Google Shape;956;g3c4cf008e83_0_8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2" name="Shape 972"/>
        <p:cNvGrpSpPr/>
        <p:nvPr/>
      </p:nvGrpSpPr>
      <p:grpSpPr>
        <a:xfrm>
          <a:off x="0" y="0"/>
          <a:ext cx="0" cy="0"/>
          <a:chOff x="0" y="0"/>
          <a:chExt cx="0" cy="0"/>
        </a:xfrm>
      </p:grpSpPr>
      <p:sp>
        <p:nvSpPr>
          <p:cNvPr id="973" name="Google Shape;973;g3c4cf008e83_0_8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g3c4cf008e83_0_8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g3c517574a45_0_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5" name="Google Shape;985;g3c517574a4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4" name="Shape 1004"/>
        <p:cNvGrpSpPr/>
        <p:nvPr/>
      </p:nvGrpSpPr>
      <p:grpSpPr>
        <a:xfrm>
          <a:off x="0" y="0"/>
          <a:ext cx="0" cy="0"/>
          <a:chOff x="0" y="0"/>
          <a:chExt cx="0" cy="0"/>
        </a:xfrm>
      </p:grpSpPr>
      <p:sp>
        <p:nvSpPr>
          <p:cNvPr id="1005" name="Google Shape;1005;g3c517574a45_0_20: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06" name="Google Shape;1006;g3c517574a45_0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c4affc7411_1_4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17" name="Google Shape;1017;g3c4affc7411_1_4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c4affc7411_1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25" name="Google Shape;1025;g3c4affc7411_1_4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g3c4affc7411_1_4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32" name="Google Shape;1032;g3c4affc7411_1_4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c4affc7411_1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40" name="Google Shape;1040;g3c4affc7411_1_4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5" name="Shape 1045"/>
        <p:cNvGrpSpPr/>
        <p:nvPr/>
      </p:nvGrpSpPr>
      <p:grpSpPr>
        <a:xfrm>
          <a:off x="0" y="0"/>
          <a:ext cx="0" cy="0"/>
          <a:chOff x="0" y="0"/>
          <a:chExt cx="0" cy="0"/>
        </a:xfrm>
      </p:grpSpPr>
      <p:sp>
        <p:nvSpPr>
          <p:cNvPr id="1046" name="Google Shape;1046;g3c4affc7411_1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47" name="Google Shape;1047;g3c4affc7411_1_5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c4affc7411_1_5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54" name="Google Shape;1054;g3c4affc7411_1_5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g3c4affc7411_1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62" name="Google Shape;1062;g3c4affc7411_1_5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3c4affc7411_1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69" name="Google Shape;1069;g3c4affc7411_1_5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g3c4affc7411_1_5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77" name="Google Shape;1077;g3c4affc7411_1_5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c4affc7411_1_6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85" name="Google Shape;1085;g3c4affc7411_1_60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g3c4affc7411_1_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92" name="Google Shape;1092;g3c4affc7411_1_6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3c4affc7411_1_6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099" name="Google Shape;1099;g3c4affc7411_1_6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c4affc7411_1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107" name="Google Shape;1107;g3c4affc7411_1_6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g3c4affc7411_1_6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114" name="Google Shape;1114;g3c4affc7411_1_6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c4affc7411_1_6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123" name="Google Shape;1123;g3c4affc7411_1_6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3c4affc7411_1_6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132" name="Google Shape;1132;g3c4affc7411_1_6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0" name="Shape 1140"/>
        <p:cNvGrpSpPr/>
        <p:nvPr/>
      </p:nvGrpSpPr>
      <p:grpSpPr>
        <a:xfrm>
          <a:off x="0" y="0"/>
          <a:ext cx="0" cy="0"/>
          <a:chOff x="0" y="0"/>
          <a:chExt cx="0" cy="0"/>
        </a:xfrm>
      </p:grpSpPr>
      <p:sp>
        <p:nvSpPr>
          <p:cNvPr id="1141" name="Google Shape;1141;g3c4affc7411_1_6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solidFill>
                  <a:schemeClr val="dk1"/>
                </a:solidFill>
              </a:rPr>
              <a:t>Content:</a:t>
            </a:r>
            <a:endParaRPr b="1">
              <a:solidFill>
                <a:schemeClr val="dk1"/>
              </a:solidFill>
            </a:endParaRPr>
          </a:p>
          <a:p>
            <a:pPr indent="0" lvl="0" marL="0" rtl="0" algn="l">
              <a:lnSpc>
                <a:spcPct val="115000"/>
              </a:lnSpc>
              <a:spcBef>
                <a:spcPts val="1200"/>
              </a:spcBef>
              <a:spcAft>
                <a:spcPts val="0"/>
              </a:spcAft>
              <a:buNone/>
            </a:pPr>
            <a:r>
              <a:rPr lang="en">
                <a:solidFill>
                  <a:schemeClr val="dk1"/>
                </a:solidFill>
              </a:rPr>
              <a:t>Not every GenAI idea is worth pursuing immediately. Use a </a:t>
            </a:r>
            <a:r>
              <a:rPr b="1" lang="en">
                <a:solidFill>
                  <a:schemeClr val="dk1"/>
                </a:solidFill>
              </a:rPr>
              <a:t>3-factor model</a:t>
            </a:r>
            <a:r>
              <a:rPr lang="en">
                <a:solidFill>
                  <a:schemeClr val="dk1"/>
                </a:solidFill>
              </a:rPr>
              <a:t>:</a:t>
            </a: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1. ROI (Return on Investment)</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Time saved per sprint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Reduction in delivery delays or defects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Value of insight gained</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2. Complexity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Data requirements and integration effort</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Workflow disruption and training needs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Tool/vendor dependency</a:t>
            </a:r>
            <a:br>
              <a:rPr lang="en">
                <a:solidFill>
                  <a:schemeClr val="dk1"/>
                </a:solidFill>
              </a:rPr>
            </a:br>
            <a:endParaRPr>
              <a:solidFill>
                <a:schemeClr val="dk1"/>
              </a:solidFill>
            </a:endParaRPr>
          </a:p>
          <a:p>
            <a:pPr indent="0" lvl="0" marL="0" rtl="0" algn="l">
              <a:lnSpc>
                <a:spcPct val="115000"/>
              </a:lnSpc>
              <a:spcBef>
                <a:spcPts val="1400"/>
              </a:spcBef>
              <a:spcAft>
                <a:spcPts val="0"/>
              </a:spcAft>
              <a:buNone/>
            </a:pPr>
            <a:r>
              <a:rPr b="1" lang="en" sz="1300">
                <a:solidFill>
                  <a:schemeClr val="dk1"/>
                </a:solidFill>
              </a:rPr>
              <a:t>✅ 3. Feasibility</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Team maturity and skills</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Existing tool compatibility</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Governance and AI policy readiness</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Use This Matrix:</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Quick Wins</a:t>
            </a:r>
            <a:r>
              <a:rPr lang="en">
                <a:solidFill>
                  <a:schemeClr val="dk1"/>
                </a:solidFill>
              </a:rPr>
              <a:t> – High ROI, low complexity (start here)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Strategic Bets</a:t>
            </a:r>
            <a:r>
              <a:rPr lang="en">
                <a:solidFill>
                  <a:schemeClr val="dk1"/>
                </a:solidFill>
              </a:rPr>
              <a:t> – High ROI, high complexity (plan for scale)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Deprioritized</a:t>
            </a:r>
            <a:r>
              <a:rPr lang="en">
                <a:solidFill>
                  <a:schemeClr val="dk1"/>
                </a:solidFill>
              </a:rPr>
              <a:t> – Low ROI, high complexity (low leverage)</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Example Exercise:</a:t>
            </a:r>
            <a:br>
              <a:rPr b="1" lang="en">
                <a:solidFill>
                  <a:schemeClr val="dk1"/>
                </a:solidFill>
              </a:rPr>
            </a:br>
            <a:r>
              <a:rPr lang="en">
                <a:solidFill>
                  <a:schemeClr val="dk1"/>
                </a:solidFill>
              </a:rPr>
              <a:t> Score the "automated release note generator":</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ROI = High</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Complexity = Medium</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Feasibility = High</a:t>
            </a:r>
            <a:br>
              <a:rPr lang="en">
                <a:solidFill>
                  <a:schemeClr val="dk1"/>
                </a:solidFill>
              </a:rPr>
            </a:br>
            <a:r>
              <a:rPr lang="en">
                <a:solidFill>
                  <a:schemeClr val="dk1"/>
                </a:solidFill>
              </a:rPr>
              <a:t> → Prioritize for pilot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marR="381000" rtl="0" algn="l">
              <a:lnSpc>
                <a:spcPct val="115000"/>
              </a:lnSpc>
              <a:spcBef>
                <a:spcPts val="1200"/>
              </a:spcBef>
              <a:spcAft>
                <a:spcPts val="1200"/>
              </a:spcAft>
              <a:buNone/>
            </a:pPr>
            <a:r>
              <a:t/>
            </a:r>
            <a:endParaRPr b="1">
              <a:solidFill>
                <a:schemeClr val="dk1"/>
              </a:solidFill>
            </a:endParaRPr>
          </a:p>
        </p:txBody>
      </p:sp>
      <p:sp>
        <p:nvSpPr>
          <p:cNvPr id="1142" name="Google Shape;1142;g3c4affc7411_1_6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g35b164f5962_0_8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None/>
            </a:pPr>
            <a:r>
              <a:t/>
            </a:r>
            <a:endParaRPr b="1">
              <a:solidFill>
                <a:schemeClr val="dk1"/>
              </a:solidFill>
            </a:endParaRPr>
          </a:p>
        </p:txBody>
      </p:sp>
      <p:sp>
        <p:nvSpPr>
          <p:cNvPr id="1149" name="Google Shape;1149;g35b164f5962_0_8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7" name="Shape 1157"/>
        <p:cNvGrpSpPr/>
        <p:nvPr/>
      </p:nvGrpSpPr>
      <p:grpSpPr>
        <a:xfrm>
          <a:off x="0" y="0"/>
          <a:ext cx="0" cy="0"/>
          <a:chOff x="0" y="0"/>
          <a:chExt cx="0" cy="0"/>
        </a:xfrm>
      </p:grpSpPr>
      <p:sp>
        <p:nvSpPr>
          <p:cNvPr id="1158" name="Google Shape;1158;g3594a4dc68a_0_9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59" name="Google Shape;1159;g3594a4dc68a_0_994: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g3594a4dc68a_0_994: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1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amma.app/?utm_source=made-with-gamma" TargetMode="External"/><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p:cSld name="2_Fade">
    <p:spTree>
      <p:nvGrpSpPr>
        <p:cNvPr id="50" name="Shape 50"/>
        <p:cNvGrpSpPr/>
        <p:nvPr/>
      </p:nvGrpSpPr>
      <p:grpSpPr>
        <a:xfrm>
          <a:off x="0" y="0"/>
          <a:ext cx="0" cy="0"/>
          <a:chOff x="0" y="0"/>
          <a:chExt cx="0" cy="0"/>
        </a:xfrm>
      </p:grpSpPr>
      <p:sp>
        <p:nvSpPr>
          <p:cNvPr id="51" name="Google Shape;51;p13"/>
          <p:cNvSpPr/>
          <p:nvPr>
            <p:ph idx="2" type="pic"/>
          </p:nvPr>
        </p:nvSpPr>
        <p:spPr>
          <a:xfrm>
            <a:off x="352196" y="979955"/>
            <a:ext cx="2900400" cy="3217500"/>
          </a:xfrm>
          <a:prstGeom prst="rect">
            <a:avLst/>
          </a:prstGeom>
          <a:solidFill>
            <a:schemeClr val="dk1"/>
          </a:solidFill>
          <a:ln>
            <a:noFill/>
          </a:ln>
        </p:spPr>
        <p:txBody>
          <a:bodyPr anchorCtr="0" anchor="ctr" bIns="34275" lIns="68575" spcFirstLastPara="1" rIns="68575" wrap="square" tIns="34275">
            <a:noAutofit/>
          </a:bodyPr>
          <a:lstStyle>
            <a:lvl1pPr lvl="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Raleway"/>
                <a:ea typeface="Raleway"/>
                <a:cs typeface="Raleway"/>
                <a:sym typeface="Raleway"/>
              </a:defRPr>
            </a:lvl1pPr>
            <a:lvl2pPr lvl="1"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2pPr>
            <a:lvl3pPr lvl="2"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alibri"/>
                <a:ea typeface="Calibri"/>
                <a:cs typeface="Calibri"/>
                <a:sym typeface="Calibri"/>
              </a:defRPr>
            </a:lvl3pPr>
            <a:lvl4pPr lvl="3"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4pPr>
            <a:lvl5pPr lvl="4"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5pPr>
            <a:lvl6pPr lvl="5"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6pPr>
            <a:lvl7pPr lvl="6"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7pPr>
            <a:lvl8pPr lvl="7"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8pPr>
            <a:lvl9pPr lvl="8"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9pPr>
          </a:lstStyle>
          <a:p/>
        </p:txBody>
      </p:sp>
      <p:sp>
        <p:nvSpPr>
          <p:cNvPr id="52" name="Google Shape;52;p13"/>
          <p:cNvSpPr txBox="1"/>
          <p:nvPr>
            <p:ph idx="12" type="sldNum"/>
          </p:nvPr>
        </p:nvSpPr>
        <p:spPr>
          <a:xfrm>
            <a:off x="8556784" y="4749851"/>
            <a:ext cx="548700" cy="393600"/>
          </a:xfrm>
          <a:prstGeom prst="rect">
            <a:avLst/>
          </a:prstGeom>
        </p:spPr>
        <p:txBody>
          <a:bodyPr anchorCtr="0" anchor="t" bIns="91425" lIns="91425" spcFirstLastPara="1" rIns="91425" wrap="square" tIns="91425">
            <a:normAutofit/>
          </a:bodyPr>
          <a:lstStyle>
            <a:lvl1pPr lvl="0">
              <a:buNone/>
              <a:defRPr sz="1000"/>
            </a:lvl1pPr>
            <a:lvl2pPr lvl="1">
              <a:buNone/>
              <a:defRPr sz="1000"/>
            </a:lvl2pPr>
            <a:lvl3pPr lvl="2">
              <a:buNone/>
              <a:defRPr sz="1000"/>
            </a:lvl3pPr>
            <a:lvl4pPr lvl="3">
              <a:buNone/>
              <a:defRPr sz="1000"/>
            </a:lvl4pPr>
            <a:lvl5pPr lvl="4">
              <a:buNone/>
              <a:defRPr sz="1000"/>
            </a:lvl5pPr>
            <a:lvl6pPr lvl="5">
              <a:buNone/>
              <a:defRPr sz="1000"/>
            </a:lvl6pPr>
            <a:lvl7pPr lvl="6">
              <a:buNone/>
              <a:defRPr sz="1000"/>
            </a:lvl7pPr>
            <a:lvl8pPr lvl="7">
              <a:buNone/>
              <a:defRPr sz="1000"/>
            </a:lvl8pPr>
            <a:lvl9pPr lvl="8">
              <a:buNone/>
              <a:defRPr sz="10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51"/>
                                        </p:tgtEl>
                                        <p:attrNameLst>
                                          <p:attrName>style.visibility</p:attrName>
                                        </p:attrNameLst>
                                      </p:cBhvr>
                                      <p:to>
                                        <p:strVal val="visible"/>
                                      </p:to>
                                    </p:set>
                                    <p:anim calcmode="lin" valueType="num">
                                      <p:cBhvr additive="base">
                                        <p:cTn dur="1000"/>
                                        <p:tgtEl>
                                          <p:spTgt spid="5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2" name="Shape 62"/>
        <p:cNvGrpSpPr/>
        <p:nvPr/>
      </p:nvGrpSpPr>
      <p:grpSpPr>
        <a:xfrm>
          <a:off x="0" y="0"/>
          <a:ext cx="0" cy="0"/>
          <a:chOff x="0" y="0"/>
          <a:chExt cx="0" cy="0"/>
        </a:xfrm>
      </p:grpSpPr>
      <p:sp>
        <p:nvSpPr>
          <p:cNvPr id="63" name="Google Shape;63;p1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nvSpPr>
        <p:spPr>
          <a:xfrm rot="-5400000">
            <a:off x="7586821" y="2875834"/>
            <a:ext cx="28878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
              <a:buFont typeface="Arial"/>
              <a:buNone/>
            </a:pPr>
            <a:r>
              <a:rPr b="0" i="0" lang="en" sz="500" u="none" cap="none" strike="noStrike">
                <a:solidFill>
                  <a:schemeClr val="lt1"/>
                </a:solidFill>
                <a:latin typeface="Trebuchet MS"/>
                <a:ea typeface="Trebuchet MS"/>
                <a:cs typeface="Trebuchet MS"/>
                <a:sym typeface="Trebuchet MS"/>
              </a:rPr>
              <a:t>Copyright © </a:t>
            </a:r>
            <a:r>
              <a:rPr lang="en" sz="500">
                <a:solidFill>
                  <a:schemeClr val="lt1"/>
                </a:solidFill>
                <a:latin typeface="Trebuchet MS"/>
                <a:ea typeface="Trebuchet MS"/>
                <a:cs typeface="Trebuchet MS"/>
                <a:sym typeface="Trebuchet MS"/>
              </a:rPr>
              <a:t>2026 </a:t>
            </a:r>
            <a:r>
              <a:rPr b="0" i="0" lang="en" sz="500" u="none" cap="none" strike="noStrike">
                <a:solidFill>
                  <a:schemeClr val="lt1"/>
                </a:solidFill>
                <a:latin typeface="Trebuchet MS"/>
                <a:ea typeface="Trebuchet MS"/>
                <a:cs typeface="Trebuchet MS"/>
                <a:sym typeface="Trebuchet MS"/>
              </a:rPr>
              <a:t> by </a:t>
            </a:r>
            <a:r>
              <a:rPr lang="en" sz="500">
                <a:solidFill>
                  <a:schemeClr val="lt1"/>
                </a:solidFill>
                <a:latin typeface="Trebuchet MS"/>
                <a:ea typeface="Trebuchet MS"/>
                <a:cs typeface="Trebuchet MS"/>
                <a:sym typeface="Trebuchet MS"/>
              </a:rPr>
              <a:t>DataCouch Pvt. Ltd.</a:t>
            </a:r>
            <a:r>
              <a:rPr b="0" i="0" lang="en" sz="500" u="none" cap="none" strike="noStrike">
                <a:solidFill>
                  <a:schemeClr val="lt1"/>
                </a:solidFill>
                <a:latin typeface="Trebuchet MS"/>
                <a:ea typeface="Trebuchet MS"/>
                <a:cs typeface="Trebuchet MS"/>
                <a:sym typeface="Trebuchet MS"/>
              </a:rPr>
              <a:t>. All rights reserved.</a:t>
            </a:r>
            <a:endParaRPr b="0" i="0" sz="500" u="none" cap="none" strike="noStrike">
              <a:solidFill>
                <a:schemeClr val="lt1"/>
              </a:solidFill>
              <a:latin typeface="Trebuchet MS"/>
              <a:ea typeface="Trebuchet MS"/>
              <a:cs typeface="Trebuchet MS"/>
              <a:sym typeface="Trebuchet MS"/>
            </a:endParaRPr>
          </a:p>
        </p:txBody>
      </p:sp>
      <p:cxnSp>
        <p:nvCxnSpPr>
          <p:cNvPr id="66" name="Google Shape;66;p15"/>
          <p:cNvCxnSpPr/>
          <p:nvPr/>
        </p:nvCxnSpPr>
        <p:spPr>
          <a:xfrm>
            <a:off x="454144" y="4904187"/>
            <a:ext cx="8391600" cy="0"/>
          </a:xfrm>
          <a:prstGeom prst="straightConnector1">
            <a:avLst/>
          </a:prstGeom>
          <a:noFill/>
          <a:ln cap="flat" cmpd="sng" w="9525">
            <a:solidFill>
              <a:srgbClr val="455262"/>
            </a:solidFill>
            <a:prstDash val="solid"/>
            <a:miter lim="800000"/>
            <a:headEnd len="sm" w="sm" type="none"/>
            <a:tailEnd len="sm" w="sm" type="none"/>
          </a:ln>
        </p:spPr>
      </p:cxnSp>
      <p:sp>
        <p:nvSpPr>
          <p:cNvPr id="67" name="Google Shape;67;p15"/>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8" name="Shape 68"/>
        <p:cNvGrpSpPr/>
        <p:nvPr/>
      </p:nvGrpSpPr>
      <p:grpSpPr>
        <a:xfrm>
          <a:off x="0" y="0"/>
          <a:ext cx="0" cy="0"/>
          <a:chOff x="0" y="0"/>
          <a:chExt cx="0" cy="0"/>
        </a:xfrm>
      </p:grpSpPr>
      <p:sp>
        <p:nvSpPr>
          <p:cNvPr id="69" name="Google Shape;69;p16"/>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Autofit/>
          </a:bodyPr>
          <a:lstStyle>
            <a:lvl1pPr lvl="0" algn="ctr">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6"/>
          <p:cNvSpPr txBox="1"/>
          <p:nvPr>
            <p:ph idx="1" type="subTitle"/>
          </p:nvPr>
        </p:nvSpPr>
        <p:spPr>
          <a:xfrm>
            <a:off x="1143000" y="2701528"/>
            <a:ext cx="6858000" cy="1241700"/>
          </a:xfrm>
          <a:prstGeom prst="rect">
            <a:avLst/>
          </a:prstGeom>
          <a:noFill/>
          <a:ln>
            <a:noFill/>
          </a:ln>
        </p:spPr>
        <p:txBody>
          <a:bodyPr anchorCtr="0" anchor="t" bIns="34275" lIns="68575" spcFirstLastPara="1" rIns="68575" wrap="square" tIns="34275">
            <a:no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71" name="Google Shape;71;p1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4" name="Shape 74"/>
        <p:cNvGrpSpPr/>
        <p:nvPr/>
      </p:nvGrpSpPr>
      <p:grpSpPr>
        <a:xfrm>
          <a:off x="0" y="0"/>
          <a:ext cx="0" cy="0"/>
          <a:chOff x="0" y="0"/>
          <a:chExt cx="0" cy="0"/>
        </a:xfrm>
      </p:grpSpPr>
      <p:sp>
        <p:nvSpPr>
          <p:cNvPr id="75" name="Google Shape;75;p1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Google Shape;76;p1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Google Shape;77;p1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7"/>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a:spcBef>
                <a:spcPts val="0"/>
              </a:spcBef>
              <a:buNone/>
              <a:defRPr/>
            </a:lvl1pPr>
            <a:lvl2pPr indent="0" lvl="1" marL="0">
              <a:spcBef>
                <a:spcPts val="0"/>
              </a:spcBef>
              <a:buNone/>
              <a:defRPr/>
            </a:lvl2pPr>
            <a:lvl3pPr indent="0" lvl="2" marL="0">
              <a:spcBef>
                <a:spcPts val="0"/>
              </a:spcBef>
              <a:buNone/>
              <a:defRPr/>
            </a:lvl3pPr>
            <a:lvl4pPr indent="0" lvl="3" marL="0">
              <a:spcBef>
                <a:spcPts val="0"/>
              </a:spcBef>
              <a:buNone/>
              <a:defRPr/>
            </a:lvl4pPr>
            <a:lvl5pPr indent="0" lvl="4" marL="0">
              <a:spcBef>
                <a:spcPts val="0"/>
              </a:spcBef>
              <a:buNone/>
              <a:defRPr/>
            </a:lvl5pPr>
            <a:lvl6pPr indent="0" lvl="5" marL="0">
              <a:spcBef>
                <a:spcPts val="0"/>
              </a:spcBef>
              <a:buNone/>
              <a:defRPr/>
            </a:lvl6pPr>
            <a:lvl7pPr indent="0" lvl="6" marL="0">
              <a:spcBef>
                <a:spcPts val="0"/>
              </a:spcBef>
              <a:buNone/>
              <a:defRPr/>
            </a:lvl7pPr>
            <a:lvl8pPr indent="0" lvl="7" marL="0">
              <a:spcBef>
                <a:spcPts val="0"/>
              </a:spcBef>
              <a:buNone/>
              <a:defRPr/>
            </a:lvl8pPr>
            <a:lvl9pPr indent="0" lvl="8" marL="0">
              <a:spcBef>
                <a:spcPts val="0"/>
              </a:spcBef>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8"/>
          <p:cNvSpPr txBox="1"/>
          <p:nvPr>
            <p:ph type="title"/>
          </p:nvPr>
        </p:nvSpPr>
        <p:spPr>
          <a:xfrm>
            <a:off x="623888" y="1282304"/>
            <a:ext cx="7886700" cy="21396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4500"/>
              <a:buFont typeface="Century Gothic"/>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2" name="Google Shape;82;p18"/>
          <p:cNvSpPr txBox="1"/>
          <p:nvPr>
            <p:ph idx="1" type="body"/>
          </p:nvPr>
        </p:nvSpPr>
        <p:spPr>
          <a:xfrm>
            <a:off x="623888" y="3442097"/>
            <a:ext cx="7886700" cy="11253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83" name="Google Shape;83;p1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8"/>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6" name="Shape 86"/>
        <p:cNvGrpSpPr/>
        <p:nvPr/>
      </p:nvGrpSpPr>
      <p:grpSpPr>
        <a:xfrm>
          <a:off x="0" y="0"/>
          <a:ext cx="0" cy="0"/>
          <a:chOff x="0" y="0"/>
          <a:chExt cx="0" cy="0"/>
        </a:xfrm>
      </p:grpSpPr>
      <p:sp>
        <p:nvSpPr>
          <p:cNvPr id="87" name="Google Shape;87;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9"/>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9" name="Google Shape;89;p19"/>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0" name="Google Shape;90;p1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1" name="Google Shape;91;p1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3" name="Shape 93"/>
        <p:cNvGrpSpPr/>
        <p:nvPr/>
      </p:nvGrpSpPr>
      <p:grpSpPr>
        <a:xfrm>
          <a:off x="0" y="0"/>
          <a:ext cx="0" cy="0"/>
          <a:chOff x="0" y="0"/>
          <a:chExt cx="0" cy="0"/>
        </a:xfrm>
      </p:grpSpPr>
      <p:sp>
        <p:nvSpPr>
          <p:cNvPr id="94" name="Google Shape;94;p20"/>
          <p:cNvSpPr txBox="1"/>
          <p:nvPr>
            <p:ph type="title"/>
          </p:nvPr>
        </p:nvSpPr>
        <p:spPr>
          <a:xfrm>
            <a:off x="629841"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20"/>
          <p:cNvSpPr txBox="1"/>
          <p:nvPr>
            <p:ph idx="1" type="body"/>
          </p:nvPr>
        </p:nvSpPr>
        <p:spPr>
          <a:xfrm>
            <a:off x="629841" y="1260872"/>
            <a:ext cx="38685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6" name="Google Shape;96;p20"/>
          <p:cNvSpPr txBox="1"/>
          <p:nvPr>
            <p:ph idx="2" type="body"/>
          </p:nvPr>
        </p:nvSpPr>
        <p:spPr>
          <a:xfrm>
            <a:off x="629841" y="1878806"/>
            <a:ext cx="3868500" cy="27636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7" name="Google Shape;97;p20"/>
          <p:cNvSpPr txBox="1"/>
          <p:nvPr>
            <p:ph idx="3" type="body"/>
          </p:nvPr>
        </p:nvSpPr>
        <p:spPr>
          <a:xfrm>
            <a:off x="4629150" y="1260872"/>
            <a:ext cx="3887400" cy="618000"/>
          </a:xfrm>
          <a:prstGeom prst="rect">
            <a:avLst/>
          </a:prstGeom>
          <a:noFill/>
          <a:ln>
            <a:noFill/>
          </a:ln>
        </p:spPr>
        <p:txBody>
          <a:bodyPr anchorCtr="0" anchor="b" bIns="34275" lIns="68575" spcFirstLastPara="1" rIns="68575" wrap="square" tIns="34275">
            <a:no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98" name="Google Shape;98;p20"/>
          <p:cNvSpPr txBox="1"/>
          <p:nvPr>
            <p:ph idx="4" type="body"/>
          </p:nvPr>
        </p:nvSpPr>
        <p:spPr>
          <a:xfrm>
            <a:off x="4629150" y="1878806"/>
            <a:ext cx="3887400" cy="27636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99" name="Google Shape;99;p2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0" name="Google Shape;100;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1" name="Google Shape;101;p20"/>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p2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4" name="Google Shape;104;p2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txBox="1"/>
          <p:nvPr>
            <p:ph idx="1" type="body"/>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10" name="Google Shape;110;p22"/>
          <p:cNvSpPr txBox="1"/>
          <p:nvPr>
            <p:ph idx="2"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9841" y="342900"/>
            <a:ext cx="2949000" cy="1200300"/>
          </a:xfrm>
          <a:prstGeom prst="rect">
            <a:avLst/>
          </a:prstGeom>
          <a:noFill/>
          <a:ln>
            <a:noFill/>
          </a:ln>
        </p:spPr>
        <p:txBody>
          <a:bodyPr anchorCtr="0" anchor="b" bIns="34275" lIns="68575" spcFirstLastPara="1" rIns="68575" wrap="square" tIns="34275">
            <a:noAutofit/>
          </a:bodyPr>
          <a:lstStyle>
            <a:lvl1pPr lvl="0" algn="l">
              <a:lnSpc>
                <a:spcPct val="90000"/>
              </a:lnSpc>
              <a:spcBef>
                <a:spcPts val="0"/>
              </a:spcBef>
              <a:spcAft>
                <a:spcPts val="0"/>
              </a:spcAft>
              <a:buClr>
                <a:schemeClr val="dk1"/>
              </a:buClr>
              <a:buSzPts val="2400"/>
              <a:buFont typeface="Century Gothic"/>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p:nvPr>
            <p:ph idx="2" type="pic"/>
          </p:nvPr>
        </p:nvSpPr>
        <p:spPr>
          <a:xfrm>
            <a:off x="3887391" y="740569"/>
            <a:ext cx="4629300" cy="36552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2100"/>
              <a:buFont typeface="Arial"/>
              <a:buNone/>
              <a:defRPr b="0" i="0" sz="21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500"/>
              <a:buFont typeface="Arial"/>
              <a:buNone/>
              <a:defRPr b="0" i="0" sz="1500" u="none" cap="none" strike="noStrike">
                <a:solidFill>
                  <a:schemeClr val="dk1"/>
                </a:solidFill>
                <a:latin typeface="Calibri"/>
                <a:ea typeface="Calibri"/>
                <a:cs typeface="Calibri"/>
                <a:sym typeface="Calibri"/>
              </a:defRPr>
            </a:lvl9pPr>
          </a:lstStyle>
          <a:p/>
        </p:txBody>
      </p:sp>
      <p:sp>
        <p:nvSpPr>
          <p:cNvPr id="117" name="Google Shape;117;p23"/>
          <p:cNvSpPr txBox="1"/>
          <p:nvPr>
            <p:ph idx="1" type="body"/>
          </p:nvPr>
        </p:nvSpPr>
        <p:spPr>
          <a:xfrm>
            <a:off x="629841" y="1543050"/>
            <a:ext cx="2949000" cy="2858700"/>
          </a:xfrm>
          <a:prstGeom prst="rect">
            <a:avLst/>
          </a:prstGeom>
          <a:noFill/>
          <a:ln>
            <a:noFill/>
          </a:ln>
        </p:spPr>
        <p:txBody>
          <a:bodyPr anchorCtr="0" anchor="t" bIns="34275" lIns="68575" spcFirstLastPara="1" rIns="68575" wrap="square" tIns="34275">
            <a:no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8" name="Google Shape;118;p2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3"/>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1" name="Shape 121"/>
        <p:cNvGrpSpPr/>
        <p:nvPr/>
      </p:nvGrpSpPr>
      <p:grpSpPr>
        <a:xfrm>
          <a:off x="0" y="0"/>
          <a:ext cx="0" cy="0"/>
          <a:chOff x="0" y="0"/>
          <a:chExt cx="0" cy="0"/>
        </a:xfrm>
      </p:grpSpPr>
      <p:sp>
        <p:nvSpPr>
          <p:cNvPr id="122" name="Google Shape;122;p2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3" name="Google Shape;123;p24"/>
          <p:cNvSpPr txBox="1"/>
          <p:nvPr>
            <p:ph idx="1" type="body"/>
          </p:nvPr>
        </p:nvSpPr>
        <p:spPr>
          <a:xfrm rot="5400000">
            <a:off x="2940300" y="-942431"/>
            <a:ext cx="3263400" cy="78867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4" name="Google Shape;124;p2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6" name="Google Shape;126;p24"/>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7" name="Shape 127"/>
        <p:cNvGrpSpPr/>
        <p:nvPr/>
      </p:nvGrpSpPr>
      <p:grpSpPr>
        <a:xfrm>
          <a:off x="0" y="0"/>
          <a:ext cx="0" cy="0"/>
          <a:chOff x="0" y="0"/>
          <a:chExt cx="0" cy="0"/>
        </a:xfrm>
      </p:grpSpPr>
      <p:sp>
        <p:nvSpPr>
          <p:cNvPr id="128" name="Google Shape;128;p25"/>
          <p:cNvSpPr txBox="1"/>
          <p:nvPr>
            <p:ph type="title"/>
          </p:nvPr>
        </p:nvSpPr>
        <p:spPr>
          <a:xfrm rot="5400000">
            <a:off x="5350050" y="1467544"/>
            <a:ext cx="4359000" cy="1971600"/>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9" name="Google Shape;129;p25"/>
          <p:cNvSpPr txBox="1"/>
          <p:nvPr>
            <p:ph idx="1" type="body"/>
          </p:nvPr>
        </p:nvSpPr>
        <p:spPr>
          <a:xfrm rot="5400000">
            <a:off x="1349475" y="-447056"/>
            <a:ext cx="4359000" cy="5800800"/>
          </a:xfrm>
          <a:prstGeom prst="rect">
            <a:avLst/>
          </a:prstGeom>
          <a:noFill/>
          <a:ln>
            <a:noFill/>
          </a:ln>
        </p:spPr>
        <p:txBody>
          <a:bodyPr anchorCtr="0" anchor="t" bIns="34275" lIns="68575" spcFirstLastPara="1" rIns="68575" wrap="square" tIns="34275">
            <a:no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30" name="Google Shape;130;p2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1" name="Google Shape;131;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5"/>
          <p:cNvSpPr txBox="1"/>
          <p:nvPr>
            <p:ph idx="12" type="sldNum"/>
          </p:nvPr>
        </p:nvSpPr>
        <p:spPr>
          <a:xfrm>
            <a:off x="8094694" y="4778981"/>
            <a:ext cx="750900" cy="25050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p:cSld name="2_Fade">
    <p:spTree>
      <p:nvGrpSpPr>
        <p:cNvPr id="133" name="Shape 133"/>
        <p:cNvGrpSpPr/>
        <p:nvPr/>
      </p:nvGrpSpPr>
      <p:grpSpPr>
        <a:xfrm>
          <a:off x="0" y="0"/>
          <a:ext cx="0" cy="0"/>
          <a:chOff x="0" y="0"/>
          <a:chExt cx="0" cy="0"/>
        </a:xfrm>
      </p:grpSpPr>
      <p:sp>
        <p:nvSpPr>
          <p:cNvPr id="134" name="Google Shape;134;p26"/>
          <p:cNvSpPr/>
          <p:nvPr>
            <p:ph idx="2" type="pic"/>
          </p:nvPr>
        </p:nvSpPr>
        <p:spPr>
          <a:xfrm>
            <a:off x="352196" y="979955"/>
            <a:ext cx="2900400" cy="3217500"/>
          </a:xfrm>
          <a:prstGeom prst="rect">
            <a:avLst/>
          </a:prstGeom>
          <a:solidFill>
            <a:schemeClr val="dk1"/>
          </a:solidFill>
          <a:ln>
            <a:noFill/>
          </a:ln>
        </p:spPr>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34"/>
                                        </p:tgtEl>
                                        <p:attrNameLst>
                                          <p:attrName>style.visibility</p:attrName>
                                        </p:attrNameLst>
                                      </p:cBhvr>
                                      <p:to>
                                        <p:strVal val="visible"/>
                                      </p:to>
                                    </p:set>
                                    <p:anim calcmode="lin" valueType="num">
                                      <p:cBhvr additive="base">
                                        <p:cTn dur="1000"/>
                                        <p:tgtEl>
                                          <p:spTgt spid="13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 Only">
    <p:bg>
      <p:bgPr>
        <a:solidFill>
          <a:schemeClr val="lt2"/>
        </a:solidFill>
      </p:bgPr>
    </p:bg>
    <p:spTree>
      <p:nvGrpSpPr>
        <p:cNvPr id="135" name="Shape 135"/>
        <p:cNvGrpSpPr/>
        <p:nvPr/>
      </p:nvGrpSpPr>
      <p:grpSpPr>
        <a:xfrm>
          <a:off x="0" y="0"/>
          <a:ext cx="0" cy="0"/>
          <a:chOff x="0" y="0"/>
          <a:chExt cx="0" cy="0"/>
        </a:xfrm>
      </p:grpSpPr>
      <p:sp>
        <p:nvSpPr>
          <p:cNvPr id="136" name="Google Shape;136;p27"/>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lnSpc>
                <a:spcPct val="100000"/>
              </a:lnSpc>
              <a:spcBef>
                <a:spcPts val="0"/>
              </a:spcBef>
              <a:spcAft>
                <a:spcPts val="0"/>
              </a:spcAft>
              <a:buSzPts val="1100"/>
              <a:buNone/>
              <a:defRPr>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37" name="Google Shape;137;p27"/>
          <p:cNvSpPr txBox="1"/>
          <p:nvPr/>
        </p:nvSpPr>
        <p:spPr>
          <a:xfrm rot="-5400000">
            <a:off x="7112786" y="2943570"/>
            <a:ext cx="3850500" cy="69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Clr>
                <a:srgbClr val="000000"/>
              </a:buClr>
              <a:buSzPts val="400"/>
              <a:buFont typeface="Arial"/>
              <a:buNone/>
            </a:pPr>
            <a:r>
              <a:rPr b="0" i="0" lang="en" sz="500" u="none" cap="none" strike="noStrike">
                <a:solidFill>
                  <a:srgbClr val="666666"/>
                </a:solidFill>
                <a:latin typeface="Trebuchet MS"/>
                <a:ea typeface="Trebuchet MS"/>
                <a:cs typeface="Trebuchet MS"/>
                <a:sym typeface="Trebuchet MS"/>
              </a:rPr>
              <a:t>Copyright © 2023 by DataCouch Pvt. Ltd.. All rights reserved.</a:t>
            </a:r>
            <a:endParaRPr b="0" i="0" sz="500" u="none" cap="none" strike="noStrike">
              <a:solidFill>
                <a:srgbClr val="666666"/>
              </a:solidFill>
              <a:latin typeface="Trebuchet MS"/>
              <a:ea typeface="Trebuchet MS"/>
              <a:cs typeface="Trebuchet MS"/>
              <a:sym typeface="Trebuchet MS"/>
            </a:endParaRPr>
          </a:p>
        </p:txBody>
      </p:sp>
      <p:sp>
        <p:nvSpPr>
          <p:cNvPr id="138" name="Google Shape;138;p27"/>
          <p:cNvSpPr txBox="1"/>
          <p:nvPr>
            <p:ph type="title"/>
          </p:nvPr>
        </p:nvSpPr>
        <p:spPr>
          <a:xfrm>
            <a:off x="472500" y="467100"/>
            <a:ext cx="8199900" cy="3534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000000"/>
              </a:buClr>
              <a:buSzPts val="2600"/>
              <a:buFont typeface="Trebuchet MS"/>
              <a:buNone/>
              <a:defRPr b="0" i="0" sz="2600" u="none">
                <a:solidFill>
                  <a:srgbClr val="000000"/>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 Title Only">
  <p:cSld name="D. Title Only">
    <p:spTree>
      <p:nvGrpSpPr>
        <p:cNvPr id="139" name="Shape 139"/>
        <p:cNvGrpSpPr/>
        <p:nvPr/>
      </p:nvGrpSpPr>
      <p:grpSpPr>
        <a:xfrm>
          <a:off x="0" y="0"/>
          <a:ext cx="0" cy="0"/>
          <a:chOff x="0" y="0"/>
          <a:chExt cx="0" cy="0"/>
        </a:xfrm>
      </p:grpSpPr>
      <p:sp>
        <p:nvSpPr>
          <p:cNvPr id="140" name="Google Shape;140;p28"/>
          <p:cNvSpPr txBox="1"/>
          <p:nvPr>
            <p:ph idx="10" type="dt"/>
          </p:nvPr>
        </p:nvSpPr>
        <p:spPr>
          <a:xfrm>
            <a:off x="7258050" y="4803777"/>
            <a:ext cx="1111500" cy="115500"/>
          </a:xfrm>
          <a:prstGeom prst="rect">
            <a:avLst/>
          </a:prstGeom>
          <a:noFill/>
          <a:ln>
            <a:noFill/>
          </a:ln>
        </p:spPr>
        <p:txBody>
          <a:bodyPr anchorCtr="0" anchor="b" bIns="0" lIns="0" spcFirstLastPara="1" rIns="0" wrap="square" tIns="0">
            <a:spAutoFit/>
          </a:bodyPr>
          <a:lstStyle>
            <a:lvl1pPr lvl="0" algn="r">
              <a:lnSpc>
                <a:spcPct val="100000"/>
              </a:lnSpc>
              <a:spcBef>
                <a:spcPts val="0"/>
              </a:spcBef>
              <a:spcAft>
                <a:spcPts val="0"/>
              </a:spcAft>
              <a:buSzPts val="1100"/>
              <a:buNone/>
              <a:defRPr>
                <a:solidFill>
                  <a:srgbClr val="7F7F7F"/>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
        <p:nvSpPr>
          <p:cNvPr id="141" name="Google Shape;141;p28"/>
          <p:cNvSpPr txBox="1"/>
          <p:nvPr>
            <p:ph type="title"/>
          </p:nvPr>
        </p:nvSpPr>
        <p:spPr>
          <a:xfrm>
            <a:off x="472500" y="467100"/>
            <a:ext cx="8200200" cy="249300"/>
          </a:xfrm>
          <a:prstGeom prst="rect">
            <a:avLst/>
          </a:prstGeom>
          <a:noFill/>
          <a:ln>
            <a:noFill/>
          </a:ln>
        </p:spPr>
        <p:txBody>
          <a:bodyPr anchorCtr="0" anchor="t" bIns="0" lIns="0" spcFirstLastPara="1" rIns="0" wrap="square" tIns="0">
            <a:spAutoFit/>
          </a:bodyPr>
          <a:lstStyle>
            <a:lvl1pPr lvl="0" algn="l">
              <a:lnSpc>
                <a:spcPct val="90000"/>
              </a:lnSpc>
              <a:spcBef>
                <a:spcPts val="0"/>
              </a:spcBef>
              <a:spcAft>
                <a:spcPts val="0"/>
              </a:spcAft>
              <a:buClr>
                <a:srgbClr val="181818"/>
              </a:buClr>
              <a:buSzPts val="1800"/>
              <a:buFont typeface="Trebuchet MS"/>
              <a:buNone/>
              <a:defRPr>
                <a:solidFill>
                  <a:srgbClr val="181818"/>
                </a:solidFill>
                <a:latin typeface="Trebuchet MS"/>
                <a:ea typeface="Trebuchet MS"/>
                <a:cs typeface="Trebuchet MS"/>
                <a:sym typeface="Trebuchet MS"/>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p:txBody>
      </p:sp>
    </p:spTree>
  </p:cSld>
  <p:clrMapOvr>
    <a:masterClrMapping/>
  </p:clrMapOvr>
  <mc:AlternateContent>
    <mc:Choice Requires="p14">
      <p:transition p14:dur="250">
        <p:fade/>
      </p:transition>
    </mc:Choice>
    <mc:Fallback>
      <p:transition>
        <p:fade/>
      </p:transition>
    </mc:Fallback>
  </mc:AlternateContent>
  <p:extLst>
    <p:ext uri="{DCECCB84-F9BA-43D5-87BE-67443E8EF086}">
      <p15:sldGuideLst>
        <p15:guide id="1" orient="horz" pos="32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_Content">
  <p:cSld name="CUSTOM_2_3">
    <p:spTree>
      <p:nvGrpSpPr>
        <p:cNvPr id="142" name="Shape 142"/>
        <p:cNvGrpSpPr/>
        <p:nvPr/>
      </p:nvGrpSpPr>
      <p:grpSpPr>
        <a:xfrm>
          <a:off x="0" y="0"/>
          <a:ext cx="0" cy="0"/>
          <a:chOff x="0" y="0"/>
          <a:chExt cx="0" cy="0"/>
        </a:xfrm>
      </p:grpSpPr>
      <p:sp>
        <p:nvSpPr>
          <p:cNvPr id="143" name="Google Shape;143;p29"/>
          <p:cNvSpPr txBox="1"/>
          <p:nvPr>
            <p:ph idx="1" type="body"/>
          </p:nvPr>
        </p:nvSpPr>
        <p:spPr>
          <a:xfrm>
            <a:off x="457175" y="1536250"/>
            <a:ext cx="5459100" cy="30822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44" name="Google Shape;144;p29"/>
          <p:cNvSpPr txBox="1"/>
          <p:nvPr>
            <p:ph type="title"/>
          </p:nvPr>
        </p:nvSpPr>
        <p:spPr>
          <a:xfrm>
            <a:off x="457175" y="460250"/>
            <a:ext cx="5459100" cy="999900"/>
          </a:xfrm>
          <a:prstGeom prst="rect">
            <a:avLst/>
          </a:prstGeom>
          <a:noFill/>
          <a:ln>
            <a:noFill/>
          </a:ln>
        </p:spPr>
        <p:txBody>
          <a:bodyPr anchorCtr="0" anchor="t" bIns="0" lIns="0" spcFirstLastPara="1" rIns="91425" wrap="square" tIns="0">
            <a:noAutofit/>
          </a:bodyPr>
          <a:lstStyle>
            <a:lvl1pPr lvl="0" algn="l">
              <a:lnSpc>
                <a:spcPct val="120000"/>
              </a:lnSpc>
              <a:spcBef>
                <a:spcPts val="0"/>
              </a:spcBef>
              <a:spcAft>
                <a:spcPts val="0"/>
              </a:spcAft>
              <a:buSzPts val="2400"/>
              <a:buNone/>
              <a:defRPr/>
            </a:lvl1pPr>
            <a:lvl2pPr lvl="1" algn="l">
              <a:lnSpc>
                <a:spcPct val="120000"/>
              </a:lnSpc>
              <a:spcBef>
                <a:spcPts val="0"/>
              </a:spcBef>
              <a:spcAft>
                <a:spcPts val="0"/>
              </a:spcAft>
              <a:buSzPts val="2400"/>
              <a:buNone/>
              <a:defRPr/>
            </a:lvl2pPr>
            <a:lvl3pPr lvl="2" algn="l">
              <a:lnSpc>
                <a:spcPct val="120000"/>
              </a:lnSpc>
              <a:spcBef>
                <a:spcPts val="0"/>
              </a:spcBef>
              <a:spcAft>
                <a:spcPts val="0"/>
              </a:spcAft>
              <a:buSzPts val="2400"/>
              <a:buNone/>
              <a:defRPr/>
            </a:lvl3pPr>
            <a:lvl4pPr lvl="3" algn="l">
              <a:lnSpc>
                <a:spcPct val="120000"/>
              </a:lnSpc>
              <a:spcBef>
                <a:spcPts val="0"/>
              </a:spcBef>
              <a:spcAft>
                <a:spcPts val="0"/>
              </a:spcAft>
              <a:buSzPts val="2400"/>
              <a:buNone/>
              <a:defRPr/>
            </a:lvl4pPr>
            <a:lvl5pPr lvl="4" algn="l">
              <a:lnSpc>
                <a:spcPct val="120000"/>
              </a:lnSpc>
              <a:spcBef>
                <a:spcPts val="0"/>
              </a:spcBef>
              <a:spcAft>
                <a:spcPts val="0"/>
              </a:spcAft>
              <a:buSzPts val="2400"/>
              <a:buNone/>
              <a:defRPr/>
            </a:lvl5pPr>
            <a:lvl6pPr lvl="5" algn="l">
              <a:lnSpc>
                <a:spcPct val="120000"/>
              </a:lnSpc>
              <a:spcBef>
                <a:spcPts val="0"/>
              </a:spcBef>
              <a:spcAft>
                <a:spcPts val="0"/>
              </a:spcAft>
              <a:buSzPts val="2400"/>
              <a:buNone/>
              <a:defRPr/>
            </a:lvl6pPr>
            <a:lvl7pPr lvl="6" algn="l">
              <a:lnSpc>
                <a:spcPct val="120000"/>
              </a:lnSpc>
              <a:spcBef>
                <a:spcPts val="0"/>
              </a:spcBef>
              <a:spcAft>
                <a:spcPts val="0"/>
              </a:spcAft>
              <a:buSzPts val="2400"/>
              <a:buNone/>
              <a:defRPr/>
            </a:lvl7pPr>
            <a:lvl8pPr lvl="7" algn="l">
              <a:lnSpc>
                <a:spcPct val="120000"/>
              </a:lnSpc>
              <a:spcBef>
                <a:spcPts val="0"/>
              </a:spcBef>
              <a:spcAft>
                <a:spcPts val="0"/>
              </a:spcAft>
              <a:buSzPts val="2400"/>
              <a:buNone/>
              <a:defRPr/>
            </a:lvl8pPr>
            <a:lvl9pPr lvl="8" algn="l">
              <a:lnSpc>
                <a:spcPct val="120000"/>
              </a:lnSpc>
              <a:spcBef>
                <a:spcPts val="0"/>
              </a:spcBef>
              <a:spcAft>
                <a:spcPts val="0"/>
              </a:spcAft>
              <a:buSzPts val="2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Fade 1">
  <p:cSld name="2_Fade_1">
    <p:spTree>
      <p:nvGrpSpPr>
        <p:cNvPr id="145" name="Shape 145"/>
        <p:cNvGrpSpPr/>
        <p:nvPr/>
      </p:nvGrpSpPr>
      <p:grpSpPr>
        <a:xfrm>
          <a:off x="0" y="0"/>
          <a:ext cx="0" cy="0"/>
          <a:chOff x="0" y="0"/>
          <a:chExt cx="0" cy="0"/>
        </a:xfrm>
      </p:grpSpPr>
      <p:sp>
        <p:nvSpPr>
          <p:cNvPr id="146" name="Google Shape;146;p30"/>
          <p:cNvSpPr/>
          <p:nvPr>
            <p:ph idx="2" type="pic"/>
          </p:nvPr>
        </p:nvSpPr>
        <p:spPr>
          <a:xfrm>
            <a:off x="352196" y="979955"/>
            <a:ext cx="2900400" cy="3217500"/>
          </a:xfrm>
          <a:prstGeom prst="rect">
            <a:avLst/>
          </a:prstGeom>
          <a:solidFill>
            <a:schemeClr val="dk1"/>
          </a:solidFill>
          <a:ln>
            <a:noFill/>
          </a:ln>
        </p:spPr>
        <p:txBody>
          <a:bodyPr anchorCtr="0" anchor="ctr" bIns="34275" lIns="68575" spcFirstLastPara="1" rIns="68575" wrap="square" tIns="34275">
            <a:noAutofit/>
          </a:bodyPr>
          <a:lstStyle>
            <a:lvl1pPr lvl="0" marR="0" algn="ctr">
              <a:lnSpc>
                <a:spcPct val="90000"/>
              </a:lnSpc>
              <a:spcBef>
                <a:spcPts val="800"/>
              </a:spcBef>
              <a:spcAft>
                <a:spcPts val="0"/>
              </a:spcAft>
              <a:buClr>
                <a:schemeClr val="lt1"/>
              </a:buClr>
              <a:buSzPts val="1200"/>
              <a:buFont typeface="Arial"/>
              <a:buNone/>
              <a:defRPr b="0" i="0" sz="1200" u="none" cap="none" strike="noStrike">
                <a:solidFill>
                  <a:schemeClr val="lt1"/>
                </a:solidFill>
                <a:latin typeface="Raleway"/>
                <a:ea typeface="Raleway"/>
                <a:cs typeface="Raleway"/>
                <a:sym typeface="Raleway"/>
              </a:defRPr>
            </a:lvl1pPr>
            <a:lvl2pPr lvl="1" marR="0" algn="l">
              <a:lnSpc>
                <a:spcPct val="90000"/>
              </a:lnSpc>
              <a:spcBef>
                <a:spcPts val="400"/>
              </a:spcBef>
              <a:spcAft>
                <a:spcPts val="0"/>
              </a:spcAft>
              <a:buClr>
                <a:schemeClr val="lt1"/>
              </a:buClr>
              <a:buSzPts val="1800"/>
              <a:buFont typeface="Arial"/>
              <a:buChar char="•"/>
              <a:defRPr b="0" i="0" sz="1800" u="none" cap="none" strike="noStrike">
                <a:solidFill>
                  <a:schemeClr val="lt1"/>
                </a:solidFill>
                <a:latin typeface="Calibri"/>
                <a:ea typeface="Calibri"/>
                <a:cs typeface="Calibri"/>
                <a:sym typeface="Calibri"/>
              </a:defRPr>
            </a:lvl2pPr>
            <a:lvl3pPr lvl="2" marR="0" algn="l">
              <a:lnSpc>
                <a:spcPct val="90000"/>
              </a:lnSpc>
              <a:spcBef>
                <a:spcPts val="400"/>
              </a:spcBef>
              <a:spcAft>
                <a:spcPts val="0"/>
              </a:spcAft>
              <a:buClr>
                <a:schemeClr val="lt1"/>
              </a:buClr>
              <a:buSzPts val="1500"/>
              <a:buFont typeface="Arial"/>
              <a:buChar char="•"/>
              <a:defRPr b="0" i="0" sz="1500" u="none" cap="none" strike="noStrike">
                <a:solidFill>
                  <a:schemeClr val="lt1"/>
                </a:solidFill>
                <a:latin typeface="Calibri"/>
                <a:ea typeface="Calibri"/>
                <a:cs typeface="Calibri"/>
                <a:sym typeface="Calibri"/>
              </a:defRPr>
            </a:lvl3pPr>
            <a:lvl4pPr lvl="3"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4pPr>
            <a:lvl5pPr lvl="4"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5pPr>
            <a:lvl6pPr lvl="5"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6pPr>
            <a:lvl7pPr lvl="6"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7pPr>
            <a:lvl8pPr lvl="7"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8pPr>
            <a:lvl9pPr lvl="8" marR="0" algn="l">
              <a:lnSpc>
                <a:spcPct val="90000"/>
              </a:lnSpc>
              <a:spcBef>
                <a:spcPts val="40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9pPr>
          </a:lstStyle>
          <a:p/>
        </p:txBody>
      </p:sp>
      <p:sp>
        <p:nvSpPr>
          <p:cNvPr id="147" name="Google Shape;147;p30"/>
          <p:cNvSpPr txBox="1"/>
          <p:nvPr>
            <p:ph idx="12" type="sldNum"/>
          </p:nvPr>
        </p:nvSpPr>
        <p:spPr>
          <a:xfrm>
            <a:off x="8556784" y="4749851"/>
            <a:ext cx="548700" cy="393600"/>
          </a:xfrm>
          <a:prstGeom prst="rect">
            <a:avLst/>
          </a:prstGeom>
        </p:spPr>
        <p:txBody>
          <a:bodyPr anchorCtr="0" anchor="t" bIns="34275" lIns="68575" spcFirstLastPara="1" rIns="68575" wrap="square" tIns="34275">
            <a:noAutofit/>
          </a:bodyPr>
          <a:lstStyle>
            <a:lvl1pPr lvl="0">
              <a:buNone/>
              <a:defRPr sz="1000"/>
            </a:lvl1pPr>
            <a:lvl2pPr lvl="1">
              <a:buNone/>
              <a:defRPr sz="1000"/>
            </a:lvl2pPr>
            <a:lvl3pPr lvl="2">
              <a:buNone/>
              <a:defRPr sz="1000"/>
            </a:lvl3pPr>
            <a:lvl4pPr lvl="3">
              <a:buNone/>
              <a:defRPr sz="1000"/>
            </a:lvl4pPr>
            <a:lvl5pPr lvl="4">
              <a:buNone/>
              <a:defRPr sz="1000"/>
            </a:lvl5pPr>
            <a:lvl6pPr lvl="5">
              <a:buNone/>
              <a:defRPr sz="1000"/>
            </a:lvl6pPr>
            <a:lvl7pPr lvl="6">
              <a:buNone/>
              <a:defRPr sz="1000"/>
            </a:lvl7pPr>
            <a:lvl8pPr lvl="7">
              <a:buNone/>
              <a:defRPr sz="1000"/>
            </a:lvl8pPr>
            <a:lvl9pPr lvl="8">
              <a:buNone/>
              <a:defRPr sz="1000"/>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146"/>
                                        </p:tgtEl>
                                        <p:attrNameLst>
                                          <p:attrName>style.visibility</p:attrName>
                                        </p:attrNameLst>
                                      </p:cBhvr>
                                      <p:to>
                                        <p:strVal val="visible"/>
                                      </p:to>
                                    </p:set>
                                    <p:anim calcmode="lin" valueType="num">
                                      <p:cBhvr additive="base">
                                        <p:cTn dur="1000"/>
                                        <p:tgtEl>
                                          <p:spTgt spid="14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Y Title Only">
  <p:cSld name="EY Title Only">
    <p:spTree>
      <p:nvGrpSpPr>
        <p:cNvPr id="148" name="Shape 148"/>
        <p:cNvGrpSpPr/>
        <p:nvPr/>
      </p:nvGrpSpPr>
      <p:grpSpPr>
        <a:xfrm>
          <a:off x="0" y="0"/>
          <a:ext cx="0" cy="0"/>
          <a:chOff x="0" y="0"/>
          <a:chExt cx="0" cy="0"/>
        </a:xfrm>
      </p:grpSpPr>
      <p:sp>
        <p:nvSpPr>
          <p:cNvPr id="149" name="Google Shape;149;p31"/>
          <p:cNvSpPr txBox="1"/>
          <p:nvPr>
            <p:ph type="title"/>
          </p:nvPr>
        </p:nvSpPr>
        <p:spPr>
          <a:xfrm>
            <a:off x="457200" y="220650"/>
            <a:ext cx="8229600" cy="4434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1600"/>
              <a:buFont typeface="Inter Light"/>
              <a:buNone/>
              <a:defRPr>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cxnSp>
        <p:nvCxnSpPr>
          <p:cNvPr id="150" name="Google Shape;150;p31"/>
          <p:cNvCxnSpPr/>
          <p:nvPr/>
        </p:nvCxnSpPr>
        <p:spPr>
          <a:xfrm>
            <a:off x="457200" y="680813"/>
            <a:ext cx="8230800" cy="0"/>
          </a:xfrm>
          <a:prstGeom prst="straightConnector1">
            <a:avLst/>
          </a:prstGeom>
          <a:noFill/>
          <a:ln cap="flat" cmpd="sng" w="19050">
            <a:solidFill>
              <a:schemeClr val="dk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slide 2">
  <p:cSld name="Standard slide 2">
    <p:spTree>
      <p:nvGrpSpPr>
        <p:cNvPr id="151" name="Shape 151"/>
        <p:cNvGrpSpPr/>
        <p:nvPr/>
      </p:nvGrpSpPr>
      <p:grpSpPr>
        <a:xfrm>
          <a:off x="0" y="0"/>
          <a:ext cx="0" cy="0"/>
          <a:chOff x="0" y="0"/>
          <a:chExt cx="0" cy="0"/>
        </a:xfrm>
      </p:grpSpPr>
      <p:pic>
        <p:nvPicPr>
          <p:cNvPr descr="A picture containing indoor, person, automaton&#10;&#10;Description automatically generated" id="152" name="Google Shape;152;p32"/>
          <p:cNvPicPr preferRelativeResize="0"/>
          <p:nvPr/>
        </p:nvPicPr>
        <p:blipFill rotWithShape="1">
          <a:blip r:embed="rId2">
            <a:alphaModFix amt="20000"/>
          </a:blip>
          <a:srcRect b="0" l="0" r="0" t="0"/>
          <a:stretch/>
        </p:blipFill>
        <p:spPr>
          <a:xfrm>
            <a:off x="0" y="-1"/>
            <a:ext cx="9143996" cy="5143502"/>
          </a:xfrm>
          <a:prstGeom prst="rect">
            <a:avLst/>
          </a:prstGeom>
          <a:noFill/>
          <a:ln>
            <a:noFill/>
          </a:ln>
        </p:spPr>
      </p:pic>
      <p:sp>
        <p:nvSpPr>
          <p:cNvPr id="153" name="Google Shape;153;p32"/>
          <p:cNvSpPr/>
          <p:nvPr/>
        </p:nvSpPr>
        <p:spPr>
          <a:xfrm>
            <a:off x="0" y="0"/>
            <a:ext cx="9144000" cy="5143500"/>
          </a:xfrm>
          <a:prstGeom prst="rect">
            <a:avLst/>
          </a:prstGeom>
          <a:solidFill>
            <a:schemeClr val="lt2">
              <a:alpha val="26670"/>
            </a:schemeClr>
          </a:solidFill>
          <a:ln>
            <a:noFill/>
          </a:ln>
        </p:spPr>
        <p:txBody>
          <a:bodyPr anchorCtr="0" anchor="t" bIns="34275" lIns="68575" spcFirstLastPara="1" rIns="68575" wrap="square" tIns="34275">
            <a:noAutofit/>
          </a:bodyPr>
          <a:lstStyle/>
          <a:p>
            <a:pPr indent="0" lvl="0" marL="0" marR="0" rtl="0" algn="ctr">
              <a:spcBef>
                <a:spcPts val="0"/>
              </a:spcBef>
              <a:spcAft>
                <a:spcPts val="0"/>
              </a:spcAft>
              <a:buNone/>
            </a:pPr>
            <a:r>
              <a:t/>
            </a:r>
            <a:endParaRPr b="0" i="0" sz="900" u="none" cap="none" strike="noStrike">
              <a:solidFill>
                <a:schemeClr val="dk1"/>
              </a:solidFill>
              <a:latin typeface="Inter Light"/>
              <a:ea typeface="Inter Light"/>
              <a:cs typeface="Inter Light"/>
              <a:sym typeface="Inter Light"/>
            </a:endParaRPr>
          </a:p>
        </p:txBody>
      </p:sp>
      <p:sp>
        <p:nvSpPr>
          <p:cNvPr id="154" name="Google Shape;154;p32"/>
          <p:cNvSpPr txBox="1"/>
          <p:nvPr>
            <p:ph type="title"/>
          </p:nvPr>
        </p:nvSpPr>
        <p:spPr>
          <a:xfrm>
            <a:off x="457201" y="220650"/>
            <a:ext cx="8229600" cy="442800"/>
          </a:xfrm>
          <a:prstGeom prst="rect">
            <a:avLst/>
          </a:prstGeom>
          <a:noFill/>
          <a:ln>
            <a:noFill/>
          </a:ln>
        </p:spPr>
        <p:txBody>
          <a:bodyPr anchorCtr="0" anchor="t" bIns="0" lIns="0" spcFirstLastPara="1" rIns="0" wrap="square" tIns="0">
            <a:noAutofit/>
          </a:bodyPr>
          <a:lstStyle>
            <a:lvl1pPr lvl="0" algn="l">
              <a:lnSpc>
                <a:spcPct val="85000"/>
              </a:lnSpc>
              <a:spcBef>
                <a:spcPts val="0"/>
              </a:spcBef>
              <a:spcAft>
                <a:spcPts val="0"/>
              </a:spcAft>
              <a:buClr>
                <a:schemeClr val="lt1"/>
              </a:buClr>
              <a:buSzPts val="1800"/>
              <a:buFont typeface="Inter Light"/>
              <a:buNone/>
              <a:defRPr sz="18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2">
  <p:cSld name="TITLE_2_1_1_2_2">
    <p:bg>
      <p:bgPr>
        <a:solidFill>
          <a:srgbClr val="000000"/>
        </a:solidFill>
      </p:bgPr>
    </p:bg>
    <p:spTree>
      <p:nvGrpSpPr>
        <p:cNvPr id="155" name="Shape 155"/>
        <p:cNvGrpSpPr/>
        <p:nvPr/>
      </p:nvGrpSpPr>
      <p:grpSpPr>
        <a:xfrm>
          <a:off x="0" y="0"/>
          <a:ext cx="0" cy="0"/>
          <a:chOff x="0" y="0"/>
          <a:chExt cx="0" cy="0"/>
        </a:xfrm>
      </p:grpSpPr>
      <p:sp>
        <p:nvSpPr>
          <p:cNvPr id="156" name="Google Shape;156;p33"/>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lvl1pPr lvl="0" algn="l">
              <a:lnSpc>
                <a:spcPct val="90000"/>
              </a:lnSpc>
              <a:spcBef>
                <a:spcPts val="0"/>
              </a:spcBef>
              <a:spcAft>
                <a:spcPts val="0"/>
              </a:spcAft>
              <a:buClr>
                <a:schemeClr val="lt1"/>
              </a:buClr>
              <a:buSzPts val="2000"/>
              <a:buNone/>
              <a:defRPr sz="2000">
                <a:solidFill>
                  <a:schemeClr val="lt1"/>
                </a:solidFill>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57" name="Google Shape;157;p33"/>
          <p:cNvSpPr txBox="1"/>
          <p:nvPr>
            <p:ph idx="1" type="body"/>
          </p:nvPr>
        </p:nvSpPr>
        <p:spPr>
          <a:xfrm>
            <a:off x="4935755" y="1139150"/>
            <a:ext cx="3771000" cy="3416400"/>
          </a:xfrm>
          <a:prstGeom prst="rect">
            <a:avLst/>
          </a:prstGeom>
          <a:noFill/>
          <a:ln>
            <a:noFill/>
          </a:ln>
        </p:spPr>
        <p:txBody>
          <a:bodyPr anchorCtr="0" anchor="t" bIns="91400" lIns="91400" spcFirstLastPara="1" rIns="91400" wrap="square" tIns="91400">
            <a:noAutofit/>
          </a:bodyPr>
          <a:lstStyle>
            <a:lvl1pPr indent="-228600" lvl="0" marL="457200" algn="l">
              <a:lnSpc>
                <a:spcPct val="100000"/>
              </a:lnSpc>
              <a:spcBef>
                <a:spcPts val="0"/>
              </a:spcBef>
              <a:spcAft>
                <a:spcPts val="0"/>
              </a:spcAft>
              <a:buSzPts val="1500"/>
              <a:buNone/>
              <a:defRPr sz="1500"/>
            </a:lvl1pPr>
            <a:lvl2pPr indent="-228600" lvl="1" marL="914400" algn="l">
              <a:lnSpc>
                <a:spcPct val="100000"/>
              </a:lnSpc>
              <a:spcBef>
                <a:spcPts val="0"/>
              </a:spcBef>
              <a:spcAft>
                <a:spcPts val="0"/>
              </a:spcAft>
              <a:buSzPts val="1500"/>
              <a:buNone/>
              <a:defRPr sz="1500"/>
            </a:lvl2pPr>
            <a:lvl3pPr indent="-228600" lvl="2" marL="1371600" algn="l">
              <a:lnSpc>
                <a:spcPct val="100000"/>
              </a:lnSpc>
              <a:spcBef>
                <a:spcPts val="0"/>
              </a:spcBef>
              <a:spcAft>
                <a:spcPts val="0"/>
              </a:spcAft>
              <a:buSzPts val="1500"/>
              <a:buNone/>
              <a:defRPr sz="1500"/>
            </a:lvl3pPr>
            <a:lvl4pPr indent="-228600" lvl="3" marL="1828800" algn="l">
              <a:lnSpc>
                <a:spcPct val="100000"/>
              </a:lnSpc>
              <a:spcBef>
                <a:spcPts val="0"/>
              </a:spcBef>
              <a:spcAft>
                <a:spcPts val="0"/>
              </a:spcAft>
              <a:buSzPts val="1500"/>
              <a:buNone/>
              <a:defRPr sz="1500"/>
            </a:lvl4pPr>
            <a:lvl5pPr indent="-228600" lvl="4" marL="2286000" algn="l">
              <a:lnSpc>
                <a:spcPct val="100000"/>
              </a:lnSpc>
              <a:spcBef>
                <a:spcPts val="0"/>
              </a:spcBef>
              <a:spcAft>
                <a:spcPts val="0"/>
              </a:spcAft>
              <a:buSzPts val="1500"/>
              <a:buNone/>
              <a:defRPr sz="1500"/>
            </a:lvl5pPr>
            <a:lvl6pPr indent="-323850" lvl="5" marL="2743200" algn="l">
              <a:lnSpc>
                <a:spcPct val="100000"/>
              </a:lnSpc>
              <a:spcBef>
                <a:spcPts val="0"/>
              </a:spcBef>
              <a:spcAft>
                <a:spcPts val="0"/>
              </a:spcAft>
              <a:buSzPts val="1500"/>
              <a:buChar char="•"/>
              <a:defRPr sz="1500"/>
            </a:lvl6pPr>
            <a:lvl7pPr indent="-323850" lvl="6" marL="3200400" algn="l">
              <a:lnSpc>
                <a:spcPct val="100000"/>
              </a:lnSpc>
              <a:spcBef>
                <a:spcPts val="0"/>
              </a:spcBef>
              <a:spcAft>
                <a:spcPts val="0"/>
              </a:spcAft>
              <a:buSzPts val="1500"/>
              <a:buChar char="•"/>
              <a:defRPr sz="1500"/>
            </a:lvl7pPr>
            <a:lvl8pPr indent="-323850" lvl="7" marL="3657600" algn="l">
              <a:lnSpc>
                <a:spcPct val="100000"/>
              </a:lnSpc>
              <a:spcBef>
                <a:spcPts val="0"/>
              </a:spcBef>
              <a:spcAft>
                <a:spcPts val="0"/>
              </a:spcAft>
              <a:buSzPts val="1500"/>
              <a:buChar char="•"/>
              <a:defRPr sz="1500"/>
            </a:lvl8pPr>
            <a:lvl9pPr indent="-323850" lvl="8" marL="4114800" algn="l">
              <a:lnSpc>
                <a:spcPct val="100000"/>
              </a:lnSpc>
              <a:spcBef>
                <a:spcPts val="0"/>
              </a:spcBef>
              <a:spcAft>
                <a:spcPts val="0"/>
              </a:spcAft>
              <a:buSzPts val="1500"/>
              <a:buChar char="•"/>
              <a:defRPr sz="1500"/>
            </a:lvl9pPr>
          </a:lstStyle>
          <a:p/>
        </p:txBody>
      </p:sp>
      <p:sp>
        <p:nvSpPr>
          <p:cNvPr id="158" name="Google Shape;158;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kills Gradient" type="tx">
  <p:cSld name="TITLE_AND_BODY">
    <p:bg>
      <p:bgPr>
        <a:gradFill>
          <a:gsLst>
            <a:gs pos="0">
              <a:schemeClr val="accent1"/>
            </a:gs>
            <a:gs pos="100000">
              <a:schemeClr val="accent2"/>
            </a:gs>
          </a:gsLst>
          <a:lin ang="0" scaled="0"/>
        </a:gradFill>
      </p:bgPr>
    </p:bg>
    <p:spTree>
      <p:nvGrpSpPr>
        <p:cNvPr id="159" name="Shape 159"/>
        <p:cNvGrpSpPr/>
        <p:nvPr/>
      </p:nvGrpSpPr>
      <p:grpSpPr>
        <a:xfrm>
          <a:off x="0" y="0"/>
          <a:ext cx="0" cy="0"/>
          <a:chOff x="0" y="0"/>
          <a:chExt cx="0" cy="0"/>
        </a:xfrm>
      </p:grpSpPr>
      <p:sp>
        <p:nvSpPr>
          <p:cNvPr id="160" name="Google Shape;160;p3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FFFFF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showMasterSp="0">
  <p:cSld name="Title Slide">
    <p:spTree>
      <p:nvGrpSpPr>
        <p:cNvPr id="161" name="Shape 161"/>
        <p:cNvGrpSpPr/>
        <p:nvPr/>
      </p:nvGrpSpPr>
      <p:grpSpPr>
        <a:xfrm>
          <a:off x="0" y="0"/>
          <a:ext cx="0" cy="0"/>
          <a:chOff x="0" y="0"/>
          <a:chExt cx="0" cy="0"/>
        </a:xfrm>
      </p:grpSpPr>
      <p:sp>
        <p:nvSpPr>
          <p:cNvPr id="162" name="Google Shape;162;p35"/>
          <p:cNvSpPr/>
          <p:nvPr/>
        </p:nvSpPr>
        <p:spPr>
          <a:xfrm>
            <a:off x="0" y="0"/>
            <a:ext cx="9144000" cy="5143500"/>
          </a:xfrm>
          <a:custGeom>
            <a:rect b="b" l="l" r="r" t="t"/>
            <a:pathLst>
              <a:path extrusionOk="0" h="6858000" w="12192000">
                <a:moveTo>
                  <a:pt x="874713" y="873125"/>
                </a:moveTo>
                <a:lnTo>
                  <a:pt x="874713" y="5984875"/>
                </a:lnTo>
                <a:lnTo>
                  <a:pt x="11317288" y="5984875"/>
                </a:lnTo>
                <a:lnTo>
                  <a:pt x="11317288" y="873125"/>
                </a:lnTo>
                <a:close/>
                <a:moveTo>
                  <a:pt x="0" y="0"/>
                </a:moveTo>
                <a:lnTo>
                  <a:pt x="12192000" y="0"/>
                </a:lnTo>
                <a:lnTo>
                  <a:pt x="12192000" y="6858000"/>
                </a:lnTo>
                <a:lnTo>
                  <a:pt x="0" y="6858000"/>
                </a:lnTo>
                <a:close/>
              </a:path>
            </a:pathLst>
          </a:cu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lt2"/>
              </a:buClr>
              <a:buSzPts val="2700"/>
              <a:buFont typeface="Arial"/>
              <a:buNone/>
            </a:pPr>
            <a:r>
              <a:t/>
            </a:r>
            <a:endParaRPr b="0" i="0" sz="2700" u="none" cap="none" strike="noStrike">
              <a:solidFill>
                <a:schemeClr val="lt2"/>
              </a:solidFill>
              <a:latin typeface="Arial"/>
              <a:ea typeface="Arial"/>
              <a:cs typeface="Arial"/>
              <a:sym typeface="Arial"/>
            </a:endParaRPr>
          </a:p>
        </p:txBody>
      </p:sp>
      <p:pic>
        <p:nvPicPr>
          <p:cNvPr id="163" name="Google Shape;163;p35"/>
          <p:cNvPicPr preferRelativeResize="0"/>
          <p:nvPr/>
        </p:nvPicPr>
        <p:blipFill rotWithShape="1">
          <a:blip r:embed="rId2">
            <a:alphaModFix/>
          </a:blip>
          <a:srcRect b="0" l="0" r="0" t="0"/>
          <a:stretch/>
        </p:blipFill>
        <p:spPr>
          <a:xfrm>
            <a:off x="8572499" y="139266"/>
            <a:ext cx="400950" cy="437400"/>
          </a:xfrm>
          <a:prstGeom prst="rect">
            <a:avLst/>
          </a:prstGeom>
          <a:noFill/>
          <a:ln>
            <a:noFill/>
          </a:ln>
        </p:spPr>
      </p:pic>
      <p:sp>
        <p:nvSpPr>
          <p:cNvPr id="164" name="Google Shape;164;p35"/>
          <p:cNvSpPr txBox="1"/>
          <p:nvPr>
            <p:ph type="ctrTitle"/>
          </p:nvPr>
        </p:nvSpPr>
        <p:spPr>
          <a:xfrm>
            <a:off x="980035" y="1117765"/>
            <a:ext cx="6724500" cy="1168200"/>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3300"/>
              <a:buNone/>
              <a:defRPr b="1" i="0" sz="2400">
                <a:solidFill>
                  <a:schemeClr val="dk1"/>
                </a:solidFill>
                <a:latin typeface="Arial"/>
                <a:ea typeface="Arial"/>
                <a:cs typeface="Arial"/>
                <a:sym typeface="Aria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35"/>
          <p:cNvSpPr txBox="1"/>
          <p:nvPr>
            <p:ph idx="1" type="subTitle"/>
          </p:nvPr>
        </p:nvSpPr>
        <p:spPr>
          <a:xfrm>
            <a:off x="984619" y="2334798"/>
            <a:ext cx="6372300" cy="307800"/>
          </a:xfrm>
          <a:prstGeom prst="rect">
            <a:avLst/>
          </a:prstGeom>
          <a:noFill/>
          <a:ln>
            <a:noFill/>
          </a:ln>
        </p:spPr>
        <p:txBody>
          <a:bodyPr anchorCtr="0" anchor="t" bIns="0" lIns="0" spcFirstLastPara="1" rIns="0" wrap="square" tIns="0">
            <a:noAutofit/>
          </a:bodyPr>
          <a:lstStyle>
            <a:lvl1pPr lvl="0" algn="l">
              <a:lnSpc>
                <a:spcPct val="100000"/>
              </a:lnSpc>
              <a:spcBef>
                <a:spcPts val="800"/>
              </a:spcBef>
              <a:spcAft>
                <a:spcPts val="0"/>
              </a:spcAft>
              <a:buSzPts val="1500"/>
              <a:buFont typeface="Noto Sans Symbols"/>
              <a:buNone/>
              <a:defRPr b="0" i="0" sz="1500">
                <a:solidFill>
                  <a:schemeClr val="dk1"/>
                </a:solidFill>
                <a:latin typeface="Arial"/>
                <a:ea typeface="Arial"/>
                <a:cs typeface="Arial"/>
                <a:sym typeface="Arial"/>
              </a:defRPr>
            </a:lvl1pPr>
            <a:lvl2pPr lvl="1" algn="l">
              <a:lnSpc>
                <a:spcPct val="100000"/>
              </a:lnSpc>
              <a:spcBef>
                <a:spcPts val="700"/>
              </a:spcBef>
              <a:spcAft>
                <a:spcPts val="0"/>
              </a:spcAft>
              <a:buClr>
                <a:schemeClr val="dk1"/>
              </a:buClr>
              <a:buSzPts val="1400"/>
              <a:buChar char="•"/>
              <a:defRPr/>
            </a:lvl2pPr>
            <a:lvl3pPr lvl="2" algn="l">
              <a:lnSpc>
                <a:spcPct val="100000"/>
              </a:lnSpc>
              <a:spcBef>
                <a:spcPts val="700"/>
              </a:spcBef>
              <a:spcAft>
                <a:spcPts val="0"/>
              </a:spcAft>
              <a:buClr>
                <a:schemeClr val="dk1"/>
              </a:buClr>
              <a:buSzPts val="1400"/>
              <a:buChar char="•"/>
              <a:defRPr/>
            </a:lvl3pPr>
            <a:lvl4pPr lvl="3" algn="l">
              <a:lnSpc>
                <a:spcPct val="100000"/>
              </a:lnSpc>
              <a:spcBef>
                <a:spcPts val="700"/>
              </a:spcBef>
              <a:spcAft>
                <a:spcPts val="0"/>
              </a:spcAft>
              <a:buClr>
                <a:schemeClr val="dk1"/>
              </a:buClr>
              <a:buSzPts val="1400"/>
              <a:buChar char="•"/>
              <a:defRPr/>
            </a:lvl4pPr>
            <a:lvl5pPr lvl="4" algn="l">
              <a:lnSpc>
                <a:spcPct val="100000"/>
              </a:lnSpc>
              <a:spcBef>
                <a:spcPts val="700"/>
              </a:spcBef>
              <a:spcAft>
                <a:spcPts val="0"/>
              </a:spcAft>
              <a:buClr>
                <a:schemeClr val="dk1"/>
              </a:buClr>
              <a:buSzPts val="1400"/>
              <a:buChar char="•"/>
              <a:defRPr/>
            </a:lvl5pPr>
            <a:lvl6pPr lvl="5" algn="l">
              <a:lnSpc>
                <a:spcPct val="110000"/>
              </a:lnSpc>
              <a:spcBef>
                <a:spcPts val="700"/>
              </a:spcBef>
              <a:spcAft>
                <a:spcPts val="0"/>
              </a:spcAft>
              <a:buSzPts val="1400"/>
              <a:buChar char="•"/>
              <a:defRPr/>
            </a:lvl6pPr>
            <a:lvl7pPr lvl="6" algn="l">
              <a:lnSpc>
                <a:spcPct val="110000"/>
              </a:lnSpc>
              <a:spcBef>
                <a:spcPts val="700"/>
              </a:spcBef>
              <a:spcAft>
                <a:spcPts val="0"/>
              </a:spcAft>
              <a:buSzPts val="1400"/>
              <a:buChar char="•"/>
              <a:defRPr/>
            </a:lvl7pPr>
            <a:lvl8pPr lvl="7" algn="l">
              <a:lnSpc>
                <a:spcPct val="110000"/>
              </a:lnSpc>
              <a:spcBef>
                <a:spcPts val="700"/>
              </a:spcBef>
              <a:spcAft>
                <a:spcPts val="0"/>
              </a:spcAft>
              <a:buSzPts val="1400"/>
              <a:buChar char="•"/>
              <a:defRPr/>
            </a:lvl8pPr>
            <a:lvl9pPr lvl="8" algn="l">
              <a:lnSpc>
                <a:spcPct val="110000"/>
              </a:lnSpc>
              <a:spcBef>
                <a:spcPts val="700"/>
              </a:spcBef>
              <a:spcAft>
                <a:spcPts val="0"/>
              </a:spcAft>
              <a:buSzPts val="1400"/>
              <a:buChar char="•"/>
              <a:defRPr/>
            </a:lvl9pPr>
          </a:lstStyle>
          <a:p/>
        </p:txBody>
      </p:sp>
      <p:sp>
        <p:nvSpPr>
          <p:cNvPr id="166" name="Google Shape;166;p35"/>
          <p:cNvSpPr txBox="1"/>
          <p:nvPr>
            <p:ph idx="2" type="body"/>
          </p:nvPr>
        </p:nvSpPr>
        <p:spPr>
          <a:xfrm>
            <a:off x="984622" y="2900949"/>
            <a:ext cx="2787300" cy="2127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500"/>
              </a:spcBef>
              <a:spcAft>
                <a:spcPts val="0"/>
              </a:spcAft>
              <a:buSzPts val="900"/>
              <a:buChar char="•"/>
              <a:defRPr sz="900">
                <a:latin typeface="Arial"/>
                <a:ea typeface="Arial"/>
                <a:cs typeface="Arial"/>
                <a:sym typeface="Arial"/>
              </a:defRPr>
            </a:lvl1pPr>
            <a:lvl2pPr indent="-317500" lvl="1" marL="914400" algn="l">
              <a:lnSpc>
                <a:spcPct val="100000"/>
              </a:lnSpc>
              <a:spcBef>
                <a:spcPts val="700"/>
              </a:spcBef>
              <a:spcAft>
                <a:spcPts val="0"/>
              </a:spcAft>
              <a:buClr>
                <a:schemeClr val="dk1"/>
              </a:buClr>
              <a:buSzPts val="1400"/>
              <a:buChar char="•"/>
              <a:defRPr/>
            </a:lvl2pPr>
            <a:lvl3pPr indent="-317500" lvl="2" marL="1371600" algn="l">
              <a:lnSpc>
                <a:spcPct val="100000"/>
              </a:lnSpc>
              <a:spcBef>
                <a:spcPts val="700"/>
              </a:spcBef>
              <a:spcAft>
                <a:spcPts val="0"/>
              </a:spcAft>
              <a:buClr>
                <a:schemeClr val="dk1"/>
              </a:buClr>
              <a:buSzPts val="1400"/>
              <a:buChar char="•"/>
              <a:defRPr/>
            </a:lvl3pPr>
            <a:lvl4pPr indent="-317500" lvl="3" marL="1828800" algn="l">
              <a:lnSpc>
                <a:spcPct val="100000"/>
              </a:lnSpc>
              <a:spcBef>
                <a:spcPts val="700"/>
              </a:spcBef>
              <a:spcAft>
                <a:spcPts val="0"/>
              </a:spcAft>
              <a:buClr>
                <a:schemeClr val="dk1"/>
              </a:buClr>
              <a:buSzPts val="1400"/>
              <a:buChar char="•"/>
              <a:defRPr/>
            </a:lvl4pPr>
            <a:lvl5pPr indent="-317500" lvl="4" marL="2286000" algn="l">
              <a:lnSpc>
                <a:spcPct val="100000"/>
              </a:lnSpc>
              <a:spcBef>
                <a:spcPts val="700"/>
              </a:spcBef>
              <a:spcAft>
                <a:spcPts val="0"/>
              </a:spcAft>
              <a:buClr>
                <a:schemeClr val="dk1"/>
              </a:buClr>
              <a:buSzPts val="1400"/>
              <a:buChar char="•"/>
              <a:defRPr/>
            </a:lvl5pPr>
            <a:lvl6pPr indent="-317500" lvl="5" marL="2743200" algn="l">
              <a:lnSpc>
                <a:spcPct val="110000"/>
              </a:lnSpc>
              <a:spcBef>
                <a:spcPts val="700"/>
              </a:spcBef>
              <a:spcAft>
                <a:spcPts val="0"/>
              </a:spcAft>
              <a:buSzPts val="1400"/>
              <a:buChar char="•"/>
              <a:defRPr/>
            </a:lvl6pPr>
            <a:lvl7pPr indent="-317500" lvl="6" marL="3200400" algn="l">
              <a:lnSpc>
                <a:spcPct val="110000"/>
              </a:lnSpc>
              <a:spcBef>
                <a:spcPts val="700"/>
              </a:spcBef>
              <a:spcAft>
                <a:spcPts val="0"/>
              </a:spcAft>
              <a:buSzPts val="1400"/>
              <a:buChar char="•"/>
              <a:defRPr/>
            </a:lvl7pPr>
            <a:lvl8pPr indent="-317500" lvl="7" marL="3657600" algn="l">
              <a:lnSpc>
                <a:spcPct val="110000"/>
              </a:lnSpc>
              <a:spcBef>
                <a:spcPts val="700"/>
              </a:spcBef>
              <a:spcAft>
                <a:spcPts val="0"/>
              </a:spcAft>
              <a:buSzPts val="1400"/>
              <a:buChar char="•"/>
              <a:defRPr/>
            </a:lvl8pPr>
            <a:lvl9pPr indent="-317500" lvl="8" marL="4114800" algn="l">
              <a:lnSpc>
                <a:spcPct val="110000"/>
              </a:lnSpc>
              <a:spcBef>
                <a:spcPts val="700"/>
              </a:spcBef>
              <a:spcAft>
                <a:spcPts val="0"/>
              </a:spcAft>
              <a:buSzPts val="1400"/>
              <a:buChar char="•"/>
              <a:defRPr/>
            </a:lvl9pPr>
          </a:lstStyle>
          <a:p/>
        </p:txBody>
      </p:sp>
      <p:sp>
        <p:nvSpPr>
          <p:cNvPr id="167" name="Google Shape;167;p35"/>
          <p:cNvSpPr txBox="1"/>
          <p:nvPr>
            <p:ph idx="3" type="body"/>
          </p:nvPr>
        </p:nvSpPr>
        <p:spPr>
          <a:xfrm>
            <a:off x="984622" y="3113680"/>
            <a:ext cx="2787300" cy="212700"/>
          </a:xfrm>
          <a:prstGeom prst="rect">
            <a:avLst/>
          </a:prstGeom>
          <a:noFill/>
          <a:ln>
            <a:noFill/>
          </a:ln>
        </p:spPr>
        <p:txBody>
          <a:bodyPr anchorCtr="0" anchor="t" bIns="0" lIns="0" spcFirstLastPara="1" rIns="0" wrap="square" tIns="0">
            <a:noAutofit/>
          </a:bodyPr>
          <a:lstStyle>
            <a:lvl1pPr indent="-285750" lvl="0" marL="457200" algn="l">
              <a:lnSpc>
                <a:spcPct val="100000"/>
              </a:lnSpc>
              <a:spcBef>
                <a:spcPts val="500"/>
              </a:spcBef>
              <a:spcAft>
                <a:spcPts val="0"/>
              </a:spcAft>
              <a:buSzPts val="900"/>
              <a:buChar char="•"/>
              <a:defRPr sz="900">
                <a:latin typeface="Arial"/>
                <a:ea typeface="Arial"/>
                <a:cs typeface="Arial"/>
                <a:sym typeface="Arial"/>
              </a:defRPr>
            </a:lvl1pPr>
            <a:lvl2pPr indent="-317500" lvl="1" marL="914400" algn="l">
              <a:lnSpc>
                <a:spcPct val="100000"/>
              </a:lnSpc>
              <a:spcBef>
                <a:spcPts val="700"/>
              </a:spcBef>
              <a:spcAft>
                <a:spcPts val="0"/>
              </a:spcAft>
              <a:buClr>
                <a:schemeClr val="dk1"/>
              </a:buClr>
              <a:buSzPts val="1400"/>
              <a:buChar char="•"/>
              <a:defRPr/>
            </a:lvl2pPr>
            <a:lvl3pPr indent="-317500" lvl="2" marL="1371600" algn="l">
              <a:lnSpc>
                <a:spcPct val="100000"/>
              </a:lnSpc>
              <a:spcBef>
                <a:spcPts val="700"/>
              </a:spcBef>
              <a:spcAft>
                <a:spcPts val="0"/>
              </a:spcAft>
              <a:buClr>
                <a:schemeClr val="dk1"/>
              </a:buClr>
              <a:buSzPts val="1400"/>
              <a:buChar char="•"/>
              <a:defRPr/>
            </a:lvl3pPr>
            <a:lvl4pPr indent="-317500" lvl="3" marL="1828800" algn="l">
              <a:lnSpc>
                <a:spcPct val="100000"/>
              </a:lnSpc>
              <a:spcBef>
                <a:spcPts val="700"/>
              </a:spcBef>
              <a:spcAft>
                <a:spcPts val="0"/>
              </a:spcAft>
              <a:buClr>
                <a:schemeClr val="dk1"/>
              </a:buClr>
              <a:buSzPts val="1400"/>
              <a:buChar char="•"/>
              <a:defRPr/>
            </a:lvl4pPr>
            <a:lvl5pPr indent="-317500" lvl="4" marL="2286000" algn="l">
              <a:lnSpc>
                <a:spcPct val="100000"/>
              </a:lnSpc>
              <a:spcBef>
                <a:spcPts val="700"/>
              </a:spcBef>
              <a:spcAft>
                <a:spcPts val="0"/>
              </a:spcAft>
              <a:buClr>
                <a:schemeClr val="dk1"/>
              </a:buClr>
              <a:buSzPts val="1400"/>
              <a:buChar char="•"/>
              <a:defRPr/>
            </a:lvl5pPr>
            <a:lvl6pPr indent="-317500" lvl="5" marL="2743200" algn="l">
              <a:lnSpc>
                <a:spcPct val="110000"/>
              </a:lnSpc>
              <a:spcBef>
                <a:spcPts val="700"/>
              </a:spcBef>
              <a:spcAft>
                <a:spcPts val="0"/>
              </a:spcAft>
              <a:buSzPts val="1400"/>
              <a:buChar char="•"/>
              <a:defRPr/>
            </a:lvl6pPr>
            <a:lvl7pPr indent="-317500" lvl="6" marL="3200400" algn="l">
              <a:lnSpc>
                <a:spcPct val="110000"/>
              </a:lnSpc>
              <a:spcBef>
                <a:spcPts val="700"/>
              </a:spcBef>
              <a:spcAft>
                <a:spcPts val="0"/>
              </a:spcAft>
              <a:buSzPts val="1400"/>
              <a:buChar char="•"/>
              <a:defRPr/>
            </a:lvl7pPr>
            <a:lvl8pPr indent="-317500" lvl="7" marL="3657600" algn="l">
              <a:lnSpc>
                <a:spcPct val="110000"/>
              </a:lnSpc>
              <a:spcBef>
                <a:spcPts val="700"/>
              </a:spcBef>
              <a:spcAft>
                <a:spcPts val="0"/>
              </a:spcAft>
              <a:buSzPts val="1400"/>
              <a:buChar char="•"/>
              <a:defRPr/>
            </a:lvl8pPr>
            <a:lvl9pPr indent="-317500" lvl="8" marL="4114800" algn="l">
              <a:lnSpc>
                <a:spcPct val="110000"/>
              </a:lnSpc>
              <a:spcBef>
                <a:spcPts val="700"/>
              </a:spcBef>
              <a:spcAft>
                <a:spcPts val="0"/>
              </a:spcAft>
              <a:buSzPts val="1400"/>
              <a:buChar char="•"/>
              <a:defRPr/>
            </a:lvl9pPr>
          </a:lstStyle>
          <a:p/>
        </p:txBody>
      </p:sp>
      <p:pic>
        <p:nvPicPr>
          <p:cNvPr id="168" name="Google Shape;168;p35"/>
          <p:cNvPicPr preferRelativeResize="0"/>
          <p:nvPr/>
        </p:nvPicPr>
        <p:blipFill rotWithShape="1">
          <a:blip r:embed="rId3">
            <a:alphaModFix/>
          </a:blip>
          <a:srcRect b="0" l="0" r="0" t="0"/>
          <a:stretch/>
        </p:blipFill>
        <p:spPr>
          <a:xfrm>
            <a:off x="991280" y="3642268"/>
            <a:ext cx="1735143" cy="294300"/>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9" name="Shape 169"/>
        <p:cNvGrpSpPr/>
        <p:nvPr/>
      </p:nvGrpSpPr>
      <p:grpSpPr>
        <a:xfrm>
          <a:off x="0" y="0"/>
          <a:ext cx="0" cy="0"/>
          <a:chOff x="0" y="0"/>
          <a:chExt cx="0" cy="0"/>
        </a:xfrm>
      </p:grpSpPr>
      <p:sp>
        <p:nvSpPr>
          <p:cNvPr id="170" name="Google Shape;170;p36"/>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71" name="Google Shape;171;p36"/>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72" name="Google Shape;172;p36">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173" name="Shape 173"/>
        <p:cNvGrpSpPr/>
        <p:nvPr/>
      </p:nvGrpSpPr>
      <p:grpSpPr>
        <a:xfrm>
          <a:off x="0" y="0"/>
          <a:ext cx="0" cy="0"/>
          <a:chOff x="0" y="0"/>
          <a:chExt cx="0" cy="0"/>
        </a:xfrm>
      </p:grpSpPr>
      <p:sp>
        <p:nvSpPr>
          <p:cNvPr id="174" name="Google Shape;174;p37"/>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75" name="Google Shape;175;p37"/>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76" name="Google Shape;176;p37">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177" name="Shape 177"/>
        <p:cNvGrpSpPr/>
        <p:nvPr/>
      </p:nvGrpSpPr>
      <p:grpSpPr>
        <a:xfrm>
          <a:off x="0" y="0"/>
          <a:ext cx="0" cy="0"/>
          <a:chOff x="0" y="0"/>
          <a:chExt cx="0" cy="0"/>
        </a:xfrm>
      </p:grpSpPr>
      <p:sp>
        <p:nvSpPr>
          <p:cNvPr id="178" name="Google Shape;178;p38"/>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79" name="Google Shape;179;p38"/>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80" name="Google Shape;180;p38">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81" name="Shape 181"/>
        <p:cNvGrpSpPr/>
        <p:nvPr/>
      </p:nvGrpSpPr>
      <p:grpSpPr>
        <a:xfrm>
          <a:off x="0" y="0"/>
          <a:ext cx="0" cy="0"/>
          <a:chOff x="0" y="0"/>
          <a:chExt cx="0" cy="0"/>
        </a:xfrm>
      </p:grpSpPr>
      <p:sp>
        <p:nvSpPr>
          <p:cNvPr id="182" name="Google Shape;182;p39"/>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83" name="Google Shape;183;p39"/>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84" name="Google Shape;184;p39">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185" name="Shape 185"/>
        <p:cNvGrpSpPr/>
        <p:nvPr/>
      </p:nvGrpSpPr>
      <p:grpSpPr>
        <a:xfrm>
          <a:off x="0" y="0"/>
          <a:ext cx="0" cy="0"/>
          <a:chOff x="0" y="0"/>
          <a:chExt cx="0" cy="0"/>
        </a:xfrm>
      </p:grpSpPr>
      <p:sp>
        <p:nvSpPr>
          <p:cNvPr id="186" name="Google Shape;186;p40"/>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87" name="Google Shape;187;p40"/>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88" name="Google Shape;188;p40">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189" name="Shape 189"/>
        <p:cNvGrpSpPr/>
        <p:nvPr/>
      </p:nvGrpSpPr>
      <p:grpSpPr>
        <a:xfrm>
          <a:off x="0" y="0"/>
          <a:ext cx="0" cy="0"/>
          <a:chOff x="0" y="0"/>
          <a:chExt cx="0" cy="0"/>
        </a:xfrm>
      </p:grpSpPr>
      <p:sp>
        <p:nvSpPr>
          <p:cNvPr id="190" name="Google Shape;190;p41"/>
          <p:cNvSpPr/>
          <p:nvPr/>
        </p:nvSpPr>
        <p:spPr>
          <a:xfrm>
            <a:off x="0" y="0"/>
            <a:ext cx="9144000" cy="5143500"/>
          </a:xfrm>
          <a:prstGeom prst="rect">
            <a:avLst/>
          </a:prstGeom>
          <a:solidFill>
            <a:srgbClr val="E6E6E6"/>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191" name="Google Shape;191;p41"/>
          <p:cNvSpPr/>
          <p:nvPr/>
        </p:nvSpPr>
        <p:spPr>
          <a:xfrm>
            <a:off x="0" y="0"/>
            <a:ext cx="9144000" cy="5143500"/>
          </a:xfrm>
          <a:prstGeom prst="rect">
            <a:avLst/>
          </a:prstGeom>
          <a:solidFill>
            <a:srgbClr val="FFFFFF"/>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pic>
        <p:nvPicPr>
          <p:cNvPr descr="preencoded.png" id="192" name="Google Shape;192;p41">
            <a:hlinkClick r:id="rId2"/>
          </p:cNvPr>
          <p:cNvPicPr preferRelativeResize="0"/>
          <p:nvPr/>
        </p:nvPicPr>
        <p:blipFill rotWithShape="1">
          <a:blip r:embed="rId3">
            <a:alphaModFix/>
          </a:blip>
          <a:srcRect b="0" l="0" r="0" t="0"/>
          <a:stretch/>
        </p:blipFill>
        <p:spPr>
          <a:xfrm>
            <a:off x="8024509" y="4843463"/>
            <a:ext cx="1076628" cy="2571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2.xml"/><Relationship Id="rId22" Type="http://schemas.openxmlformats.org/officeDocument/2006/relationships/slideLayout" Target="../slideLayouts/slideLayout34.xml"/><Relationship Id="rId21" Type="http://schemas.openxmlformats.org/officeDocument/2006/relationships/slideLayout" Target="../slideLayouts/slideLayout33.xml"/><Relationship Id="rId24" Type="http://schemas.openxmlformats.org/officeDocument/2006/relationships/slideLayout" Target="../slideLayouts/slideLayout36.xml"/><Relationship Id="rId23" Type="http://schemas.openxmlformats.org/officeDocument/2006/relationships/slideLayout" Target="../slideLayouts/slideLayout35.xml"/><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9" Type="http://schemas.openxmlformats.org/officeDocument/2006/relationships/slideLayout" Target="../slideLayouts/slideLayout21.xml"/><Relationship Id="rId26" Type="http://schemas.openxmlformats.org/officeDocument/2006/relationships/slideLayout" Target="../slideLayouts/slideLayout38.xml"/><Relationship Id="rId25" Type="http://schemas.openxmlformats.org/officeDocument/2006/relationships/slideLayout" Target="../slideLayouts/slideLayout37.xml"/><Relationship Id="rId28" Type="http://schemas.openxmlformats.org/officeDocument/2006/relationships/theme" Target="../theme/theme1.xml"/><Relationship Id="rId27" Type="http://schemas.openxmlformats.org/officeDocument/2006/relationships/slideLayout" Target="../slideLayouts/slideLayout39.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3" Type="http://schemas.openxmlformats.org/officeDocument/2006/relationships/slideLayout" Target="../slideLayouts/slideLayout25.xml"/><Relationship Id="rId12" Type="http://schemas.openxmlformats.org/officeDocument/2006/relationships/slideLayout" Target="../slideLayouts/slideLayout24.xml"/><Relationship Id="rId15" Type="http://schemas.openxmlformats.org/officeDocument/2006/relationships/slideLayout" Target="../slideLayouts/slideLayout27.xml"/><Relationship Id="rId14" Type="http://schemas.openxmlformats.org/officeDocument/2006/relationships/slideLayout" Target="../slideLayouts/slideLayout26.xml"/><Relationship Id="rId17" Type="http://schemas.openxmlformats.org/officeDocument/2006/relationships/slideLayout" Target="../slideLayouts/slideLayout29.xml"/><Relationship Id="rId16" Type="http://schemas.openxmlformats.org/officeDocument/2006/relationships/slideLayout" Target="../slideLayouts/slideLayout28.xml"/><Relationship Id="rId19" Type="http://schemas.openxmlformats.org/officeDocument/2006/relationships/slideLayout" Target="../slideLayouts/slideLayout31.xml"/><Relationship Id="rId1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0"/>
              </a:spcBef>
              <a:spcAft>
                <a:spcPts val="0"/>
              </a:spcAft>
              <a:buClr>
                <a:schemeClr val="dk1"/>
              </a:buClr>
              <a:buSzPts val="3300"/>
              <a:buFont typeface="Century Gothic"/>
              <a:buNone/>
              <a:defRPr b="0" i="0" sz="3300" u="none" cap="none" strike="noStrike">
                <a:solidFill>
                  <a:schemeClr val="dk1"/>
                </a:solidFill>
                <a:latin typeface="Century Gothic"/>
                <a:ea typeface="Century Gothic"/>
                <a:cs typeface="Century Gothic"/>
                <a:sym typeface="Century Gothic"/>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5" name="Google Shape;55;p14"/>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6" name="Google Shape;56;p1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7" name="Google Shape;57;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8" name="Google Shape;58;p14"/>
          <p:cNvSpPr/>
          <p:nvPr/>
        </p:nvSpPr>
        <p:spPr>
          <a:xfrm>
            <a:off x="8943975" y="0"/>
            <a:ext cx="200100" cy="5143500"/>
          </a:xfrm>
          <a:prstGeom prst="rect">
            <a:avLst/>
          </a:prstGeom>
          <a:solidFill>
            <a:srgbClr val="99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cxnSp>
        <p:nvCxnSpPr>
          <p:cNvPr id="59" name="Google Shape;59;p14"/>
          <p:cNvCxnSpPr/>
          <p:nvPr/>
        </p:nvCxnSpPr>
        <p:spPr>
          <a:xfrm>
            <a:off x="454144" y="4904187"/>
            <a:ext cx="8391600" cy="0"/>
          </a:xfrm>
          <a:prstGeom prst="straightConnector1">
            <a:avLst/>
          </a:prstGeom>
          <a:noFill/>
          <a:ln cap="flat" cmpd="sng" w="9525">
            <a:solidFill>
              <a:srgbClr val="455262"/>
            </a:solidFill>
            <a:prstDash val="solid"/>
            <a:miter lim="800000"/>
            <a:headEnd len="sm" w="sm" type="none"/>
            <a:tailEnd len="sm" w="sm" type="none"/>
          </a:ln>
        </p:spPr>
      </p:cxnSp>
      <p:sp>
        <p:nvSpPr>
          <p:cNvPr id="60" name="Google Shape;60;p14"/>
          <p:cNvSpPr txBox="1"/>
          <p:nvPr>
            <p:ph idx="12" type="sldNum"/>
          </p:nvPr>
        </p:nvSpPr>
        <p:spPr>
          <a:xfrm>
            <a:off x="8094694" y="4778981"/>
            <a:ext cx="750900" cy="250500"/>
          </a:xfrm>
          <a:prstGeom prst="rect">
            <a:avLst/>
          </a:prstGeom>
          <a:solidFill>
            <a:srgbClr val="990000"/>
          </a:solidFill>
          <a:ln>
            <a:noFill/>
          </a:ln>
        </p:spPr>
        <p:txBody>
          <a:bodyPr anchorCtr="0" anchor="ctr" bIns="34275" lIns="68575" spcFirstLastPara="1" rIns="68575" wrap="square" tIns="34275">
            <a:noAutofit/>
          </a:bodyPr>
          <a:lstStyle>
            <a:lvl1pPr indent="0" lvl="0" marL="0" marR="0" algn="ctr">
              <a:spcBef>
                <a:spcPts val="0"/>
              </a:spcBef>
              <a:buNone/>
              <a:defRPr b="0" i="0" sz="900" u="none" cap="none" strike="noStrike">
                <a:solidFill>
                  <a:schemeClr val="lt1"/>
                </a:solidFill>
                <a:latin typeface="Calibri"/>
                <a:ea typeface="Calibri"/>
                <a:cs typeface="Calibri"/>
                <a:sym typeface="Calibri"/>
              </a:defRPr>
            </a:lvl1pPr>
            <a:lvl2pPr indent="0" lvl="1" marL="0" marR="0" algn="ctr">
              <a:spcBef>
                <a:spcPts val="0"/>
              </a:spcBef>
              <a:buNone/>
              <a:defRPr b="0" i="0" sz="900" u="none" cap="none" strike="noStrike">
                <a:solidFill>
                  <a:schemeClr val="lt1"/>
                </a:solidFill>
                <a:latin typeface="Calibri"/>
                <a:ea typeface="Calibri"/>
                <a:cs typeface="Calibri"/>
                <a:sym typeface="Calibri"/>
              </a:defRPr>
            </a:lvl2pPr>
            <a:lvl3pPr indent="0" lvl="2" marL="0" marR="0" algn="ctr">
              <a:spcBef>
                <a:spcPts val="0"/>
              </a:spcBef>
              <a:buNone/>
              <a:defRPr b="0" i="0" sz="900" u="none" cap="none" strike="noStrike">
                <a:solidFill>
                  <a:schemeClr val="lt1"/>
                </a:solidFill>
                <a:latin typeface="Calibri"/>
                <a:ea typeface="Calibri"/>
                <a:cs typeface="Calibri"/>
                <a:sym typeface="Calibri"/>
              </a:defRPr>
            </a:lvl3pPr>
            <a:lvl4pPr indent="0" lvl="3" marL="0" marR="0" algn="ctr">
              <a:spcBef>
                <a:spcPts val="0"/>
              </a:spcBef>
              <a:buNone/>
              <a:defRPr b="0" i="0" sz="900" u="none" cap="none" strike="noStrike">
                <a:solidFill>
                  <a:schemeClr val="lt1"/>
                </a:solidFill>
                <a:latin typeface="Calibri"/>
                <a:ea typeface="Calibri"/>
                <a:cs typeface="Calibri"/>
                <a:sym typeface="Calibri"/>
              </a:defRPr>
            </a:lvl4pPr>
            <a:lvl5pPr indent="0" lvl="4" marL="0" marR="0" algn="ctr">
              <a:spcBef>
                <a:spcPts val="0"/>
              </a:spcBef>
              <a:buNone/>
              <a:defRPr b="0" i="0" sz="900" u="none" cap="none" strike="noStrike">
                <a:solidFill>
                  <a:schemeClr val="lt1"/>
                </a:solidFill>
                <a:latin typeface="Calibri"/>
                <a:ea typeface="Calibri"/>
                <a:cs typeface="Calibri"/>
                <a:sym typeface="Calibri"/>
              </a:defRPr>
            </a:lvl5pPr>
            <a:lvl6pPr indent="0" lvl="5" marL="0" marR="0" algn="ctr">
              <a:spcBef>
                <a:spcPts val="0"/>
              </a:spcBef>
              <a:buNone/>
              <a:defRPr b="0" i="0" sz="900" u="none" cap="none" strike="noStrike">
                <a:solidFill>
                  <a:schemeClr val="lt1"/>
                </a:solidFill>
                <a:latin typeface="Calibri"/>
                <a:ea typeface="Calibri"/>
                <a:cs typeface="Calibri"/>
                <a:sym typeface="Calibri"/>
              </a:defRPr>
            </a:lvl6pPr>
            <a:lvl7pPr indent="0" lvl="6" marL="0" marR="0" algn="ctr">
              <a:spcBef>
                <a:spcPts val="0"/>
              </a:spcBef>
              <a:buNone/>
              <a:defRPr b="0" i="0" sz="900" u="none" cap="none" strike="noStrike">
                <a:solidFill>
                  <a:schemeClr val="lt1"/>
                </a:solidFill>
                <a:latin typeface="Calibri"/>
                <a:ea typeface="Calibri"/>
                <a:cs typeface="Calibri"/>
                <a:sym typeface="Calibri"/>
              </a:defRPr>
            </a:lvl7pPr>
            <a:lvl8pPr indent="0" lvl="7" marL="0" marR="0" algn="ctr">
              <a:spcBef>
                <a:spcPts val="0"/>
              </a:spcBef>
              <a:buNone/>
              <a:defRPr b="0" i="0" sz="900" u="none" cap="none" strike="noStrike">
                <a:solidFill>
                  <a:schemeClr val="lt1"/>
                </a:solidFill>
                <a:latin typeface="Calibri"/>
                <a:ea typeface="Calibri"/>
                <a:cs typeface="Calibri"/>
                <a:sym typeface="Calibri"/>
              </a:defRPr>
            </a:lvl8pPr>
            <a:lvl9pPr indent="0" lvl="8" marL="0" marR="0" algn="ctr">
              <a:spcBef>
                <a:spcPts val="0"/>
              </a:spcBef>
              <a:buNone/>
              <a:defRPr b="0" i="0" sz="900" u="none" cap="none" strike="noStrike">
                <a:solidFill>
                  <a:schemeClr val="lt1"/>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sp>
        <p:nvSpPr>
          <p:cNvPr id="61" name="Google Shape;61;p14"/>
          <p:cNvSpPr/>
          <p:nvPr/>
        </p:nvSpPr>
        <p:spPr>
          <a:xfrm>
            <a:off x="752475" y="5042467"/>
            <a:ext cx="750900" cy="1011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 id="2147483684" r:id="rId25"/>
    <p:sldLayoutId id="2147483685" r:id="rId26"/>
    <p:sldLayoutId id="2147483686"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41.png"/><Relationship Id="rId5"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8.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7.gif"/><Relationship Id="rId4" Type="http://schemas.openxmlformats.org/officeDocument/2006/relationships/image" Target="../media/image20.png"/><Relationship Id="rId5" Type="http://schemas.openxmlformats.org/officeDocument/2006/relationships/image" Target="../media/image103.png"/><Relationship Id="rId6" Type="http://schemas.openxmlformats.org/officeDocument/2006/relationships/image" Target="../media/image40.png"/><Relationship Id="rId7" Type="http://schemas.openxmlformats.org/officeDocument/2006/relationships/image" Target="../media/image9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4.png"/><Relationship Id="rId4" Type="http://schemas.openxmlformats.org/officeDocument/2006/relationships/hyperlink" Target="https://www.statista.com/statistics/1111204/machine-learning-use-case-frequency/#:~:text=Use%20case%20frequency%20of%20machine%20learning%20and%20artificial%20intelligence%202020%2D2021&amp;text=In%202021%2C%20with%2057%20percent,a%20variety%20of%20business%20processes." TargetMode="External"/><Relationship Id="rId9" Type="http://schemas.openxmlformats.org/officeDocument/2006/relationships/image" Target="../media/image39.png"/><Relationship Id="rId5" Type="http://schemas.openxmlformats.org/officeDocument/2006/relationships/image" Target="../media/image18.png"/><Relationship Id="rId6" Type="http://schemas.openxmlformats.org/officeDocument/2006/relationships/image" Target="../media/image33.png"/><Relationship Id="rId7" Type="http://schemas.openxmlformats.org/officeDocument/2006/relationships/image" Target="../media/image63.png"/><Relationship Id="rId8" Type="http://schemas.openxmlformats.org/officeDocument/2006/relationships/image" Target="../media/image34.png"/><Relationship Id="rId11" Type="http://schemas.openxmlformats.org/officeDocument/2006/relationships/image" Target="../media/image36.png"/><Relationship Id="rId10"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22.png"/><Relationship Id="rId4" Type="http://schemas.openxmlformats.org/officeDocument/2006/relationships/image" Target="../media/image27.png"/><Relationship Id="rId5" Type="http://schemas.openxmlformats.org/officeDocument/2006/relationships/image" Target="../media/image25.png"/><Relationship Id="rId6" Type="http://schemas.openxmlformats.org/officeDocument/2006/relationships/image" Target="../media/image29.png"/><Relationship Id="rId7" Type="http://schemas.openxmlformats.org/officeDocument/2006/relationships/hyperlink" Target="https://ai-service-demos.go-aws.com/comprehend" TargetMode="External"/><Relationship Id="rId8" Type="http://schemas.openxmlformats.org/officeDocument/2006/relationships/hyperlink" Target="https://ai-service-demos.go-aws.com/"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30.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hyperlink" Target="https://ai-service-demos.go-aws.com/rekognition" TargetMode="External"/><Relationship Id="rId4" Type="http://schemas.openxmlformats.org/officeDocument/2006/relationships/image" Target="../media/image45.png"/><Relationship Id="rId9" Type="http://schemas.openxmlformats.org/officeDocument/2006/relationships/hyperlink" Target="https://ai-service-demos.go-aws.com/comprehend" TargetMode="External"/><Relationship Id="rId5" Type="http://schemas.openxmlformats.org/officeDocument/2006/relationships/hyperlink" Target="https://ai-service-demos.go-aws.com/translate" TargetMode="External"/><Relationship Id="rId6" Type="http://schemas.openxmlformats.org/officeDocument/2006/relationships/image" Target="../media/image35.png"/><Relationship Id="rId7" Type="http://schemas.openxmlformats.org/officeDocument/2006/relationships/hyperlink" Target="https://ai-service-demos.go-aws.com/transcribe" TargetMode="External"/><Relationship Id="rId8" Type="http://schemas.openxmlformats.org/officeDocument/2006/relationships/image" Target="../media/image58.png"/><Relationship Id="rId11" Type="http://schemas.openxmlformats.org/officeDocument/2006/relationships/image" Target="../media/image104.png"/><Relationship Id="rId10" Type="http://schemas.openxmlformats.org/officeDocument/2006/relationships/hyperlink" Target="https://ai-service-demos.go-aws.com/poll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 Id="rId3" Type="http://schemas.openxmlformats.org/officeDocument/2006/relationships/image" Target="../media/image37.png"/><Relationship Id="rId4"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 Id="rId3"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 Id="rId3" Type="http://schemas.openxmlformats.org/officeDocument/2006/relationships/hyperlink" Target="https://www.statista.com/statistics/793840/worldwide-developer-survey-most-used-frameworks/" TargetMode="External"/><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 Id="rId3" Type="http://schemas.openxmlformats.org/officeDocument/2006/relationships/image" Target="../media/image10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 Id="rId3" Type="http://schemas.openxmlformats.org/officeDocument/2006/relationships/image" Target="../media/image5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 Id="rId3" Type="http://schemas.openxmlformats.org/officeDocument/2006/relationships/image" Target="../media/image14.png"/><Relationship Id="rId4" Type="http://schemas.openxmlformats.org/officeDocument/2006/relationships/image" Target="../media/image41.png"/><Relationship Id="rId5"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 Id="rId3" Type="http://schemas.openxmlformats.org/officeDocument/2006/relationships/image" Target="../media/image44.png"/><Relationship Id="rId4" Type="http://schemas.openxmlformats.org/officeDocument/2006/relationships/image" Target="../media/image54.png"/><Relationship Id="rId5" Type="http://schemas.openxmlformats.org/officeDocument/2006/relationships/image" Target="../media/image4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 Id="rId3"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Relationship Id="rId3" Type="http://schemas.openxmlformats.org/officeDocument/2006/relationships/image" Target="../media/image5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Relationship Id="rId3" Type="http://schemas.openxmlformats.org/officeDocument/2006/relationships/image" Target="../media/image4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 Id="rId3" Type="http://schemas.openxmlformats.org/officeDocument/2006/relationships/image" Target="../media/image46.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Relationship Id="rId3" Type="http://schemas.openxmlformats.org/officeDocument/2006/relationships/image" Target="../media/image51.png"/><Relationship Id="rId4" Type="http://schemas.openxmlformats.org/officeDocument/2006/relationships/image" Target="../media/image5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 Id="rId3" Type="http://schemas.openxmlformats.org/officeDocument/2006/relationships/image" Target="../media/image5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Relationship Id="rId3" Type="http://schemas.openxmlformats.org/officeDocument/2006/relationships/image" Target="../media/image5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 Id="rId3" Type="http://schemas.openxmlformats.org/officeDocument/2006/relationships/image" Target="../media/image57.png"/><Relationship Id="rId4" Type="http://schemas.openxmlformats.org/officeDocument/2006/relationships/image" Target="../media/image6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Relationship Id="rId3" Type="http://schemas.openxmlformats.org/officeDocument/2006/relationships/image" Target="../media/image65.png"/><Relationship Id="rId4" Type="http://schemas.openxmlformats.org/officeDocument/2006/relationships/image" Target="../media/image6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Relationship Id="rId3" Type="http://schemas.openxmlformats.org/officeDocument/2006/relationships/image" Target="../media/image66.png"/><Relationship Id="rId4" Type="http://schemas.openxmlformats.org/officeDocument/2006/relationships/image" Target="../media/image6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Relationship Id="rId3" Type="http://schemas.openxmlformats.org/officeDocument/2006/relationships/image" Target="../media/image62.png"/><Relationship Id="rId4" Type="http://schemas.openxmlformats.org/officeDocument/2006/relationships/image" Target="../media/image8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Relationship Id="rId3" Type="http://schemas.openxmlformats.org/officeDocument/2006/relationships/image" Target="../media/image67.png"/><Relationship Id="rId4" Type="http://schemas.openxmlformats.org/officeDocument/2006/relationships/image" Target="../media/image7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Relationship Id="rId3" Type="http://schemas.openxmlformats.org/officeDocument/2006/relationships/image" Target="../media/image71.png"/><Relationship Id="rId4" Type="http://schemas.openxmlformats.org/officeDocument/2006/relationships/image" Target="../media/image6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Relationship Id="rId3" Type="http://schemas.openxmlformats.org/officeDocument/2006/relationships/hyperlink" Target="https://www.geeksforgeeks.org/python/plotting-correlation-matrix-using-python/" TargetMode="External"/><Relationship Id="rId4" Type="http://schemas.openxmlformats.org/officeDocument/2006/relationships/image" Target="../media/image72.png"/><Relationship Id="rId5" Type="http://schemas.openxmlformats.org/officeDocument/2006/relationships/image" Target="../media/image6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Relationship Id="rId3" Type="http://schemas.openxmlformats.org/officeDocument/2006/relationships/image" Target="../media/image14.png"/><Relationship Id="rId4" Type="http://schemas.openxmlformats.org/officeDocument/2006/relationships/image" Target="../media/image41.png"/><Relationship Id="rId5"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Relationship Id="rId3" Type="http://schemas.openxmlformats.org/officeDocument/2006/relationships/image" Target="../media/image75.png"/><Relationship Id="rId4" Type="http://schemas.openxmlformats.org/officeDocument/2006/relationships/image" Target="../media/image7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Relationship Id="rId3" Type="http://schemas.openxmlformats.org/officeDocument/2006/relationships/hyperlink" Target="https://www.anaconda.com/distribution/" TargetMode="External"/><Relationship Id="rId4" Type="http://schemas.openxmlformats.org/officeDocument/2006/relationships/image" Target="../media/image7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Relationship Id="rId3" Type="http://schemas.openxmlformats.org/officeDocument/2006/relationships/image" Target="../media/image7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 Id="rId3" Type="http://schemas.openxmlformats.org/officeDocument/2006/relationships/image" Target="../media/image8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Relationship Id="rId3" Type="http://schemas.openxmlformats.org/officeDocument/2006/relationships/image" Target="../media/image7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Relationship Id="rId3" Type="http://schemas.openxmlformats.org/officeDocument/2006/relationships/image" Target="../media/image7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Relationship Id="rId3" Type="http://schemas.openxmlformats.org/officeDocument/2006/relationships/image" Target="../media/image8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Relationship Id="rId3" Type="http://schemas.openxmlformats.org/officeDocument/2006/relationships/image" Target="../media/image14.png"/><Relationship Id="rId4" Type="http://schemas.openxmlformats.org/officeDocument/2006/relationships/image" Target="../media/image41.png"/><Relationship Id="rId5" Type="http://schemas.openxmlformats.org/officeDocument/2006/relationships/image" Target="../media/image2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8.xml"/><Relationship Id="rId3" Type="http://schemas.openxmlformats.org/officeDocument/2006/relationships/image" Target="../media/image82.png"/><Relationship Id="rId4" Type="http://schemas.openxmlformats.org/officeDocument/2006/relationships/image" Target="../media/image80.png"/><Relationship Id="rId5" Type="http://schemas.openxmlformats.org/officeDocument/2006/relationships/image" Target="../media/image8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9.xml"/><Relationship Id="rId3" Type="http://schemas.openxmlformats.org/officeDocument/2006/relationships/image" Target="../media/image7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1.xml"/><Relationship Id="rId3" Type="http://schemas.openxmlformats.org/officeDocument/2006/relationships/image" Target="../media/image8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4.xml"/><Relationship Id="rId3" Type="http://schemas.openxmlformats.org/officeDocument/2006/relationships/image" Target="../media/image9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6.xml"/><Relationship Id="rId3" Type="http://schemas.openxmlformats.org/officeDocument/2006/relationships/image" Target="../media/image9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7.xml"/><Relationship Id="rId3" Type="http://schemas.openxmlformats.org/officeDocument/2006/relationships/image" Target="../media/image9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0.xml"/><Relationship Id="rId3"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2.xml"/><Relationship Id="rId3" Type="http://schemas.openxmlformats.org/officeDocument/2006/relationships/image" Target="../media/image101.png"/><Relationship Id="rId4" Type="http://schemas.openxmlformats.org/officeDocument/2006/relationships/image" Target="../media/image86.png"/><Relationship Id="rId5" Type="http://schemas.openxmlformats.org/officeDocument/2006/relationships/image" Target="../media/image8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3.xml"/><Relationship Id="rId3" Type="http://schemas.openxmlformats.org/officeDocument/2006/relationships/image" Target="../media/image92.png"/><Relationship Id="rId4" Type="http://schemas.openxmlformats.org/officeDocument/2006/relationships/image" Target="../media/image9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4.xml"/><Relationship Id="rId3" Type="http://schemas.openxmlformats.org/officeDocument/2006/relationships/image" Target="../media/image98.png"/><Relationship Id="rId4" Type="http://schemas.openxmlformats.org/officeDocument/2006/relationships/image" Target="../media/image99.png"/><Relationship Id="rId5" Type="http://schemas.openxmlformats.org/officeDocument/2006/relationships/image" Target="../media/image96.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6.xml"/><Relationship Id="rId3" Type="http://schemas.openxmlformats.org/officeDocument/2006/relationships/image" Target="../media/image100.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pic>
        <p:nvPicPr>
          <p:cNvPr id="198" name="Google Shape;198;p42"/>
          <p:cNvPicPr preferRelativeResize="0"/>
          <p:nvPr/>
        </p:nvPicPr>
        <p:blipFill rotWithShape="1">
          <a:blip r:embed="rId3">
            <a:alphaModFix/>
          </a:blip>
          <a:srcRect b="0" l="0" r="0" t="27347"/>
          <a:stretch/>
        </p:blipFill>
        <p:spPr>
          <a:xfrm>
            <a:off x="0" y="0"/>
            <a:ext cx="9365268" cy="5393794"/>
          </a:xfrm>
          <a:prstGeom prst="rect">
            <a:avLst/>
          </a:prstGeom>
          <a:noFill/>
          <a:ln>
            <a:noFill/>
          </a:ln>
        </p:spPr>
      </p:pic>
      <p:sp>
        <p:nvSpPr>
          <p:cNvPr id="199" name="Google Shape;199;p42"/>
          <p:cNvSpPr/>
          <p:nvPr/>
        </p:nvSpPr>
        <p:spPr>
          <a:xfrm>
            <a:off x="56" y="0"/>
            <a:ext cx="9365100" cy="5393700"/>
          </a:xfrm>
          <a:prstGeom prst="rect">
            <a:avLst/>
          </a:prstGeom>
          <a:solidFill>
            <a:srgbClr val="00070A">
              <a:alpha val="51959"/>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0" name="Google Shape;200;p42"/>
          <p:cNvSpPr/>
          <p:nvPr/>
        </p:nvSpPr>
        <p:spPr>
          <a:xfrm>
            <a:off x="1009650" y="1752600"/>
            <a:ext cx="8134500" cy="1752600"/>
          </a:xfrm>
          <a:prstGeom prst="rect">
            <a:avLst/>
          </a:prstGeom>
          <a:solidFill>
            <a:srgbClr val="000000">
              <a:alpha val="8000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1" name="Google Shape;201;p42"/>
          <p:cNvSpPr/>
          <p:nvPr/>
        </p:nvSpPr>
        <p:spPr>
          <a:xfrm>
            <a:off x="1143000" y="-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202" name="Google Shape;202;p42"/>
          <p:cNvSpPr/>
          <p:nvPr/>
        </p:nvSpPr>
        <p:spPr>
          <a:xfrm>
            <a:off x="5606143" y="3331028"/>
            <a:ext cx="750900" cy="500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203" name="Google Shape;203;p42"/>
          <p:cNvSpPr/>
          <p:nvPr/>
        </p:nvSpPr>
        <p:spPr>
          <a:xfrm>
            <a:off x="5606143" y="3902188"/>
            <a:ext cx="750900" cy="202200"/>
          </a:xfrm>
          <a:prstGeom prst="rect">
            <a:avLst/>
          </a:prstGeom>
          <a:solidFill>
            <a:schemeClr val="dk1"/>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204" name="Google Shape;204;p42"/>
          <p:cNvSpPr txBox="1"/>
          <p:nvPr/>
        </p:nvSpPr>
        <p:spPr>
          <a:xfrm>
            <a:off x="1535683" y="1985041"/>
            <a:ext cx="7533900" cy="554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 sz="4400">
                <a:solidFill>
                  <a:schemeClr val="lt1"/>
                </a:solidFill>
                <a:latin typeface="Century Gothic"/>
                <a:ea typeface="Century Gothic"/>
                <a:cs typeface="Century Gothic"/>
                <a:sym typeface="Century Gothic"/>
              </a:rPr>
              <a:t>Day:1 AI/ML for Beginners</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rtl="0" algn="l">
              <a:spcBef>
                <a:spcPts val="0"/>
              </a:spcBef>
              <a:spcAft>
                <a:spcPts val="0"/>
              </a:spcAft>
              <a:buClr>
                <a:schemeClr val="dk1"/>
              </a:buClr>
              <a:buSzPts val="1100"/>
              <a:buFont typeface="Arial"/>
              <a:buNone/>
            </a:pPr>
            <a:r>
              <a:t/>
            </a:r>
            <a:endParaRPr b="1" sz="4400">
              <a:solidFill>
                <a:schemeClr val="lt1"/>
              </a:solidFill>
              <a:latin typeface="Century Gothic"/>
              <a:ea typeface="Century Gothic"/>
              <a:cs typeface="Century Gothic"/>
              <a:sym typeface="Century Gothic"/>
            </a:endParaRPr>
          </a:p>
          <a:p>
            <a:pPr indent="0" lvl="0" marL="0" marR="0" rtl="0" algn="l">
              <a:spcBef>
                <a:spcPts val="0"/>
              </a:spcBef>
              <a:spcAft>
                <a:spcPts val="0"/>
              </a:spcAft>
              <a:buNone/>
            </a:pPr>
            <a:r>
              <a:t/>
            </a:r>
            <a:endParaRPr b="1" sz="4400">
              <a:solidFill>
                <a:schemeClr val="lt1"/>
              </a:solidFill>
              <a:latin typeface="Century Gothic"/>
              <a:ea typeface="Century Gothic"/>
              <a:cs typeface="Century Gothic"/>
              <a:sym typeface="Century Gothic"/>
            </a:endParaRPr>
          </a:p>
        </p:txBody>
      </p:sp>
      <p:sp>
        <p:nvSpPr>
          <p:cNvPr id="205" name="Google Shape;205;p42"/>
          <p:cNvSpPr txBox="1"/>
          <p:nvPr/>
        </p:nvSpPr>
        <p:spPr>
          <a:xfrm>
            <a:off x="1535675" y="2874397"/>
            <a:ext cx="7416900" cy="24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
                <a:solidFill>
                  <a:schemeClr val="lt1"/>
                </a:solidFill>
              </a:rPr>
              <a:t>Fundamentals of AI and ML with a hands-on approach using Python</a:t>
            </a:r>
            <a:endParaRPr>
              <a:solidFill>
                <a:schemeClr val="lt1"/>
              </a:solidFill>
            </a:endParaRPr>
          </a:p>
        </p:txBody>
      </p:sp>
      <p:cxnSp>
        <p:nvCxnSpPr>
          <p:cNvPr id="206" name="Google Shape;206;p42"/>
          <p:cNvCxnSpPr/>
          <p:nvPr/>
        </p:nvCxnSpPr>
        <p:spPr>
          <a:xfrm>
            <a:off x="1535677" y="3241731"/>
            <a:ext cx="756300" cy="0"/>
          </a:xfrm>
          <a:prstGeom prst="straightConnector1">
            <a:avLst/>
          </a:prstGeom>
          <a:noFill/>
          <a:ln cap="flat" cmpd="sng" w="38100">
            <a:solidFill>
              <a:schemeClr val="lt1"/>
            </a:solidFill>
            <a:prstDash val="solid"/>
            <a:miter lim="800000"/>
            <a:headEnd len="sm" w="sm" type="none"/>
            <a:tailEnd len="sm" w="sm" type="none"/>
          </a:ln>
        </p:spPr>
      </p:cxnSp>
      <p:pic>
        <p:nvPicPr>
          <p:cNvPr id="207" name="Google Shape;207;p42"/>
          <p:cNvPicPr preferRelativeResize="0"/>
          <p:nvPr/>
        </p:nvPicPr>
        <p:blipFill>
          <a:blip r:embed="rId4">
            <a:alphaModFix/>
          </a:blip>
          <a:stretch>
            <a:fillRect/>
          </a:stretch>
        </p:blipFill>
        <p:spPr>
          <a:xfrm>
            <a:off x="1183125" y="708525"/>
            <a:ext cx="1710530" cy="4846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1" name="Shape 211"/>
        <p:cNvGrpSpPr/>
        <p:nvPr/>
      </p:nvGrpSpPr>
      <p:grpSpPr>
        <a:xfrm>
          <a:off x="0" y="0"/>
          <a:ext cx="0" cy="0"/>
          <a:chOff x="0" y="0"/>
          <a:chExt cx="0" cy="0"/>
        </a:xfrm>
      </p:grpSpPr>
      <p:cxnSp>
        <p:nvCxnSpPr>
          <p:cNvPr id="212" name="Google Shape;212;p43"/>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213" name="Google Shape;213;p4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214" name="Google Shape;214;p43"/>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215" name="Google Shape;215;p43"/>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216" name="Google Shape;216;p43"/>
          <p:cNvSpPr/>
          <p:nvPr/>
        </p:nvSpPr>
        <p:spPr>
          <a:xfrm>
            <a:off x="2737850" y="822800"/>
            <a:ext cx="5551800" cy="26223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Introduction to AI &amp; Machine Learning Fundamentals</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Data, Preprocessing, and Exploratory Data Analysis (EDA)</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Python for Machine Learning</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80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 Regression – Simple Linear Regression</a:t>
            </a:r>
            <a:endParaRPr sz="1200">
              <a:solidFill>
                <a:srgbClr val="5D5D5D"/>
              </a:solidFill>
              <a:latin typeface="Trebuchet MS"/>
              <a:ea typeface="Trebuchet MS"/>
              <a:cs typeface="Trebuchet MS"/>
              <a:sym typeface="Trebuchet MS"/>
            </a:endParaRPr>
          </a:p>
        </p:txBody>
      </p:sp>
      <p:pic>
        <p:nvPicPr>
          <p:cNvPr id="217" name="Google Shape;217;p43"/>
          <p:cNvPicPr preferRelativeResize="0"/>
          <p:nvPr/>
        </p:nvPicPr>
        <p:blipFill>
          <a:blip r:embed="rId4">
            <a:alphaModFix/>
          </a:blip>
          <a:stretch>
            <a:fillRect/>
          </a:stretch>
        </p:blipFill>
        <p:spPr>
          <a:xfrm>
            <a:off x="2565731" y="1260631"/>
            <a:ext cx="172125" cy="172125"/>
          </a:xfrm>
          <a:prstGeom prst="rect">
            <a:avLst/>
          </a:prstGeom>
          <a:noFill/>
          <a:ln>
            <a:noFill/>
          </a:ln>
        </p:spPr>
      </p:pic>
      <p:pic>
        <p:nvPicPr>
          <p:cNvPr id="218" name="Google Shape;218;p43"/>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2" name="Shape 222"/>
        <p:cNvGrpSpPr/>
        <p:nvPr/>
      </p:nvGrpSpPr>
      <p:grpSpPr>
        <a:xfrm>
          <a:off x="0" y="0"/>
          <a:ext cx="0" cy="0"/>
          <a:chOff x="0" y="0"/>
          <a:chExt cx="0" cy="0"/>
        </a:xfrm>
      </p:grpSpPr>
      <p:sp>
        <p:nvSpPr>
          <p:cNvPr id="223" name="Google Shape;223;p44"/>
          <p:cNvSpPr/>
          <p:nvPr/>
        </p:nvSpPr>
        <p:spPr>
          <a:xfrm>
            <a:off x="752475" y="502200"/>
            <a:ext cx="48261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2000"/>
              <a:buNone/>
            </a:pPr>
            <a:r>
              <a:rPr lang="en" sz="2000">
                <a:solidFill>
                  <a:schemeClr val="dk1"/>
                </a:solidFill>
                <a:latin typeface="Century Gothic"/>
                <a:ea typeface="Century Gothic"/>
                <a:cs typeface="Century Gothic"/>
                <a:sym typeface="Century Gothic"/>
              </a:rPr>
              <a:t>Key Terms to Watch</a:t>
            </a:r>
            <a:endParaRPr sz="2300">
              <a:latin typeface="Trebuchet MS"/>
              <a:ea typeface="Trebuchet MS"/>
              <a:cs typeface="Trebuchet MS"/>
              <a:sym typeface="Trebuchet MS"/>
            </a:endParaRPr>
          </a:p>
        </p:txBody>
      </p:sp>
      <p:sp>
        <p:nvSpPr>
          <p:cNvPr id="224" name="Google Shape;224;p4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225" name="Google Shape;225;p44"/>
          <p:cNvSpPr txBox="1"/>
          <p:nvPr/>
        </p:nvSpPr>
        <p:spPr>
          <a:xfrm>
            <a:off x="719075" y="917700"/>
            <a:ext cx="8161500" cy="34017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Artificial Intelligence (AI):</a:t>
            </a:r>
            <a:r>
              <a:rPr lang="en" sz="1100">
                <a:solidFill>
                  <a:schemeClr val="dk1"/>
                </a:solidFill>
                <a:latin typeface="Century Gothic"/>
                <a:ea typeface="Century Gothic"/>
                <a:cs typeface="Century Gothic"/>
                <a:sym typeface="Century Gothic"/>
              </a:rPr>
              <a:t> The broad capability of machines to imitate intelligent human behavior.</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Features:</a:t>
            </a:r>
            <a:r>
              <a:rPr lang="en" sz="1100">
                <a:solidFill>
                  <a:schemeClr val="dk1"/>
                </a:solidFill>
                <a:latin typeface="Century Gothic"/>
                <a:ea typeface="Century Gothic"/>
                <a:cs typeface="Century Gothic"/>
                <a:sym typeface="Century Gothic"/>
              </a:rPr>
              <a:t> The independent variables or "inputs" used to make a prediction (e.g., square footage of a house).</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Labels (Target Variable):</a:t>
            </a:r>
            <a:r>
              <a:rPr lang="en" sz="1100">
                <a:solidFill>
                  <a:schemeClr val="dk1"/>
                </a:solidFill>
                <a:latin typeface="Century Gothic"/>
                <a:ea typeface="Century Gothic"/>
                <a:cs typeface="Century Gothic"/>
                <a:sym typeface="Century Gothic"/>
              </a:rPr>
              <a:t> The "output" or what the model is trying to predict (e.g., the price of a house).</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Supervised Learning:</a:t>
            </a:r>
            <a:r>
              <a:rPr lang="en" sz="1100">
                <a:solidFill>
                  <a:schemeClr val="dk1"/>
                </a:solidFill>
                <a:latin typeface="Century Gothic"/>
                <a:ea typeface="Century Gothic"/>
                <a:cs typeface="Century Gothic"/>
                <a:sym typeface="Century Gothic"/>
              </a:rPr>
              <a:t> Training a model where the "answer key" (labels) is provided.</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Unsupervised Learning:</a:t>
            </a:r>
            <a:r>
              <a:rPr lang="en" sz="1100">
                <a:solidFill>
                  <a:schemeClr val="dk1"/>
                </a:solidFill>
                <a:latin typeface="Century Gothic"/>
                <a:ea typeface="Century Gothic"/>
                <a:cs typeface="Century Gothic"/>
                <a:sym typeface="Century Gothic"/>
              </a:rPr>
              <a:t> Training a model on data without labels to find hidden patterns or groups.</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Regression:</a:t>
            </a:r>
            <a:r>
              <a:rPr lang="en" sz="1100">
                <a:solidFill>
                  <a:schemeClr val="dk1"/>
                </a:solidFill>
                <a:latin typeface="Century Gothic"/>
                <a:ea typeface="Century Gothic"/>
                <a:cs typeface="Century Gothic"/>
                <a:sym typeface="Century Gothic"/>
              </a:rPr>
              <a:t> A type of ML problem used for predicting continuous numerical values (e.g., stock prices).</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Classification:</a:t>
            </a:r>
            <a:r>
              <a:rPr lang="en" sz="1100">
                <a:solidFill>
                  <a:schemeClr val="dk1"/>
                </a:solidFill>
                <a:latin typeface="Century Gothic"/>
                <a:ea typeface="Century Gothic"/>
                <a:cs typeface="Century Gothic"/>
                <a:sym typeface="Century Gothic"/>
              </a:rPr>
              <a:t> A type of ML problem used for predicting categories (e.g., "Dog" vs. "Not-Dog").</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Overfitting:</a:t>
            </a:r>
            <a:r>
              <a:rPr lang="en" sz="1100">
                <a:solidFill>
                  <a:schemeClr val="dk1"/>
                </a:solidFill>
                <a:latin typeface="Century Gothic"/>
                <a:ea typeface="Century Gothic"/>
                <a:cs typeface="Century Gothic"/>
                <a:sym typeface="Century Gothic"/>
              </a:rPr>
              <a:t> When a model learns the training data too well, including the noise, and performs poorly on new data (Note: This is introduced in Module 6 but is helpful to mention early).</a:t>
            </a:r>
            <a:endParaRPr sz="1100">
              <a:solidFill>
                <a:schemeClr val="dk1"/>
              </a:solidFill>
              <a:latin typeface="Century Gothic"/>
              <a:ea typeface="Century Gothic"/>
              <a:cs typeface="Century Gothic"/>
              <a:sym typeface="Century Gothic"/>
            </a:endParaRPr>
          </a:p>
          <a:p>
            <a:pPr indent="0" lvl="0" marL="0" rtl="0" algn="l">
              <a:lnSpc>
                <a:spcPct val="200000"/>
              </a:lnSpc>
              <a:spcBef>
                <a:spcPts val="0"/>
              </a:spcBef>
              <a:spcAft>
                <a:spcPts val="0"/>
              </a:spcAft>
              <a:buNone/>
            </a:pPr>
            <a:r>
              <a:rPr b="1" lang="en" sz="1100">
                <a:solidFill>
                  <a:schemeClr val="dk1"/>
                </a:solidFill>
                <a:latin typeface="Century Gothic"/>
                <a:ea typeface="Century Gothic"/>
                <a:cs typeface="Century Gothic"/>
                <a:sym typeface="Century Gothic"/>
              </a:rPr>
              <a:t>Training/Test Split:</a:t>
            </a:r>
            <a:r>
              <a:rPr lang="en" sz="1100">
                <a:solidFill>
                  <a:schemeClr val="dk1"/>
                </a:solidFill>
                <a:latin typeface="Century Gothic"/>
                <a:ea typeface="Century Gothic"/>
                <a:cs typeface="Century Gothic"/>
                <a:sym typeface="Century Gothic"/>
              </a:rPr>
              <a:t> Dividing data into two sets—one to teach the model and one to see how well it learned</a:t>
            </a:r>
            <a:endParaRPr sz="1100">
              <a:solidFill>
                <a:schemeClr val="dk1"/>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9" name="Shape 229"/>
        <p:cNvGrpSpPr/>
        <p:nvPr/>
      </p:nvGrpSpPr>
      <p:grpSpPr>
        <a:xfrm>
          <a:off x="0" y="0"/>
          <a:ext cx="0" cy="0"/>
          <a:chOff x="0" y="0"/>
          <a:chExt cx="0" cy="0"/>
        </a:xfrm>
      </p:grpSpPr>
      <p:sp>
        <p:nvSpPr>
          <p:cNvPr id="230" name="Google Shape;230;p45"/>
          <p:cNvSpPr/>
          <p:nvPr/>
        </p:nvSpPr>
        <p:spPr>
          <a:xfrm>
            <a:off x="752475" y="502200"/>
            <a:ext cx="48261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2000"/>
              <a:buNone/>
            </a:pPr>
            <a:r>
              <a:rPr lang="en" sz="2000">
                <a:solidFill>
                  <a:schemeClr val="dk1"/>
                </a:solidFill>
                <a:latin typeface="Century Gothic"/>
                <a:ea typeface="Century Gothic"/>
                <a:cs typeface="Century Gothic"/>
                <a:sym typeface="Century Gothic"/>
              </a:rPr>
              <a:t>What is Machine Learning?</a:t>
            </a:r>
            <a:endParaRPr sz="2300">
              <a:latin typeface="Trebuchet MS"/>
              <a:ea typeface="Trebuchet MS"/>
              <a:cs typeface="Trebuchet MS"/>
              <a:sym typeface="Trebuchet MS"/>
            </a:endParaRPr>
          </a:p>
        </p:txBody>
      </p:sp>
      <p:sp>
        <p:nvSpPr>
          <p:cNvPr id="231" name="Google Shape;231;p45"/>
          <p:cNvSpPr/>
          <p:nvPr/>
        </p:nvSpPr>
        <p:spPr>
          <a:xfrm>
            <a:off x="563600" y="986550"/>
            <a:ext cx="3489600" cy="1205100"/>
          </a:xfrm>
          <a:prstGeom prst="roundRect">
            <a:avLst>
              <a:gd fmla="val 16667" name="adj"/>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45"/>
          <p:cNvSpPr txBox="1"/>
          <p:nvPr/>
        </p:nvSpPr>
        <p:spPr>
          <a:xfrm>
            <a:off x="582195" y="1144702"/>
            <a:ext cx="3452400" cy="954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1000"/>
              </a:spcBef>
              <a:spcAft>
                <a:spcPts val="1000"/>
              </a:spcAft>
              <a:buNone/>
            </a:pPr>
            <a:r>
              <a:rPr lang="en" sz="1000">
                <a:solidFill>
                  <a:srgbClr val="272727"/>
                </a:solidFill>
                <a:highlight>
                  <a:srgbClr val="FFFFFF"/>
                </a:highlight>
                <a:latin typeface="Calibri"/>
                <a:ea typeface="Calibri"/>
                <a:cs typeface="Calibri"/>
                <a:sym typeface="Calibri"/>
              </a:rPr>
              <a:t>Machine learning is a subfield of Artificial Intelligence, which is broadly defined as the capability of a machine to imitate intelligent human behavior</a:t>
            </a:r>
            <a:endParaRPr i="1" sz="1000">
              <a:solidFill>
                <a:srgbClr val="181818"/>
              </a:solidFill>
              <a:latin typeface="Calibri"/>
              <a:ea typeface="Calibri"/>
              <a:cs typeface="Calibri"/>
              <a:sym typeface="Calibri"/>
            </a:endParaRPr>
          </a:p>
        </p:txBody>
      </p:sp>
      <p:sp>
        <p:nvSpPr>
          <p:cNvPr id="233" name="Google Shape;233;p45"/>
          <p:cNvSpPr txBox="1"/>
          <p:nvPr/>
        </p:nvSpPr>
        <p:spPr>
          <a:xfrm>
            <a:off x="1138792" y="2412196"/>
            <a:ext cx="2339400" cy="369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solidFill>
                  <a:srgbClr val="181818"/>
                </a:solidFill>
                <a:latin typeface="Trebuchet MS"/>
                <a:ea typeface="Trebuchet MS"/>
                <a:cs typeface="Trebuchet MS"/>
                <a:sym typeface="Trebuchet MS"/>
              </a:rPr>
              <a:t>MIT</a:t>
            </a:r>
            <a:endParaRPr b="1" sz="1200">
              <a:solidFill>
                <a:srgbClr val="181818"/>
              </a:solidFill>
              <a:latin typeface="Trebuchet MS"/>
              <a:ea typeface="Trebuchet MS"/>
              <a:cs typeface="Trebuchet MS"/>
              <a:sym typeface="Trebuchet MS"/>
            </a:endParaRPr>
          </a:p>
        </p:txBody>
      </p:sp>
      <p:pic>
        <p:nvPicPr>
          <p:cNvPr id="234" name="Google Shape;234;p45"/>
          <p:cNvPicPr preferRelativeResize="0"/>
          <p:nvPr/>
        </p:nvPicPr>
        <p:blipFill>
          <a:blip r:embed="rId3">
            <a:alphaModFix/>
          </a:blip>
          <a:stretch>
            <a:fillRect/>
          </a:stretch>
        </p:blipFill>
        <p:spPr>
          <a:xfrm>
            <a:off x="2104501" y="2080479"/>
            <a:ext cx="407700" cy="378300"/>
          </a:xfrm>
          <a:prstGeom prst="ellipse">
            <a:avLst/>
          </a:prstGeom>
          <a:noFill/>
          <a:ln cap="flat" cmpd="sng" w="9525">
            <a:solidFill>
              <a:srgbClr val="181818"/>
            </a:solidFill>
            <a:prstDash val="solid"/>
            <a:round/>
            <a:headEnd len="sm" w="sm" type="none"/>
            <a:tailEnd len="sm" w="sm" type="none"/>
          </a:ln>
        </p:spPr>
      </p:pic>
      <p:sp>
        <p:nvSpPr>
          <p:cNvPr id="235" name="Google Shape;235;p45"/>
          <p:cNvSpPr/>
          <p:nvPr/>
        </p:nvSpPr>
        <p:spPr>
          <a:xfrm>
            <a:off x="4804762" y="986550"/>
            <a:ext cx="3726600" cy="1205100"/>
          </a:xfrm>
          <a:prstGeom prst="roundRect">
            <a:avLst>
              <a:gd fmla="val 16667" name="adj"/>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5"/>
          <p:cNvSpPr txBox="1"/>
          <p:nvPr/>
        </p:nvSpPr>
        <p:spPr>
          <a:xfrm>
            <a:off x="4786127" y="1144702"/>
            <a:ext cx="3726600" cy="954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1000"/>
              </a:spcBef>
              <a:spcAft>
                <a:spcPts val="1000"/>
              </a:spcAft>
              <a:buNone/>
            </a:pPr>
            <a:r>
              <a:rPr lang="en" sz="1000">
                <a:highlight>
                  <a:srgbClr val="FFFFFF"/>
                </a:highlight>
                <a:latin typeface="Calibri"/>
                <a:ea typeface="Calibri"/>
                <a:cs typeface="Calibri"/>
                <a:sym typeface="Calibri"/>
              </a:rPr>
              <a:t>Machine learning allows businesses to enable the data to teach the system how to solve the problem at hand with machine learning algorithms—and how to get better over time</a:t>
            </a:r>
            <a:endParaRPr i="1" sz="1000">
              <a:latin typeface="Calibri"/>
              <a:ea typeface="Calibri"/>
              <a:cs typeface="Calibri"/>
              <a:sym typeface="Calibri"/>
            </a:endParaRPr>
          </a:p>
        </p:txBody>
      </p:sp>
      <p:sp>
        <p:nvSpPr>
          <p:cNvPr id="237" name="Google Shape;237;p45"/>
          <p:cNvSpPr txBox="1"/>
          <p:nvPr/>
        </p:nvSpPr>
        <p:spPr>
          <a:xfrm>
            <a:off x="5617102" y="2412196"/>
            <a:ext cx="2339400" cy="369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solidFill>
                  <a:srgbClr val="181818"/>
                </a:solidFill>
                <a:latin typeface="Trebuchet MS"/>
                <a:ea typeface="Trebuchet MS"/>
                <a:cs typeface="Trebuchet MS"/>
                <a:sym typeface="Trebuchet MS"/>
              </a:rPr>
              <a:t>Google</a:t>
            </a:r>
            <a:endParaRPr b="1" sz="1200">
              <a:solidFill>
                <a:srgbClr val="181818"/>
              </a:solidFill>
              <a:latin typeface="Trebuchet MS"/>
              <a:ea typeface="Trebuchet MS"/>
              <a:cs typeface="Trebuchet MS"/>
              <a:sym typeface="Trebuchet MS"/>
            </a:endParaRPr>
          </a:p>
        </p:txBody>
      </p:sp>
      <p:pic>
        <p:nvPicPr>
          <p:cNvPr id="238" name="Google Shape;238;p45"/>
          <p:cNvPicPr preferRelativeResize="0"/>
          <p:nvPr/>
        </p:nvPicPr>
        <p:blipFill rotWithShape="1">
          <a:blip r:embed="rId4">
            <a:alphaModFix/>
          </a:blip>
          <a:srcRect b="0" l="6315" r="6096" t="0"/>
          <a:stretch/>
        </p:blipFill>
        <p:spPr>
          <a:xfrm>
            <a:off x="6581524" y="2080479"/>
            <a:ext cx="410100" cy="378300"/>
          </a:xfrm>
          <a:prstGeom prst="ellipse">
            <a:avLst/>
          </a:prstGeom>
          <a:noFill/>
          <a:ln cap="flat" cmpd="sng" w="9525">
            <a:solidFill>
              <a:srgbClr val="181818"/>
            </a:solidFill>
            <a:prstDash val="solid"/>
            <a:round/>
            <a:headEnd len="sm" w="sm" type="none"/>
            <a:tailEnd len="sm" w="sm" type="none"/>
          </a:ln>
        </p:spPr>
      </p:pic>
      <p:sp>
        <p:nvSpPr>
          <p:cNvPr id="239" name="Google Shape;239;p45"/>
          <p:cNvSpPr/>
          <p:nvPr/>
        </p:nvSpPr>
        <p:spPr>
          <a:xfrm>
            <a:off x="563600" y="2844664"/>
            <a:ext cx="3489600" cy="1205100"/>
          </a:xfrm>
          <a:prstGeom prst="roundRect">
            <a:avLst>
              <a:gd fmla="val 16667" name="adj"/>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5"/>
          <p:cNvSpPr txBox="1"/>
          <p:nvPr/>
        </p:nvSpPr>
        <p:spPr>
          <a:xfrm>
            <a:off x="582195" y="3002816"/>
            <a:ext cx="3452400" cy="954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000">
                <a:highlight>
                  <a:srgbClr val="FFFFFF"/>
                </a:highlight>
                <a:latin typeface="Calibri"/>
                <a:ea typeface="Calibri"/>
                <a:cs typeface="Calibri"/>
                <a:sym typeface="Calibri"/>
              </a:rPr>
              <a:t>Machine learning (ML) is the process of using mathematical models of data to help a computer learn without direct instruction</a:t>
            </a:r>
            <a:endParaRPr sz="1000">
              <a:highlight>
                <a:srgbClr val="FFFFFF"/>
              </a:highlight>
              <a:latin typeface="Calibri"/>
              <a:ea typeface="Calibri"/>
              <a:cs typeface="Calibri"/>
              <a:sym typeface="Calibri"/>
            </a:endParaRPr>
          </a:p>
        </p:txBody>
      </p:sp>
      <p:sp>
        <p:nvSpPr>
          <p:cNvPr id="241" name="Google Shape;241;p45"/>
          <p:cNvSpPr txBox="1"/>
          <p:nvPr/>
        </p:nvSpPr>
        <p:spPr>
          <a:xfrm>
            <a:off x="1138792" y="4270310"/>
            <a:ext cx="2339400" cy="369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solidFill>
                  <a:srgbClr val="181818"/>
                </a:solidFill>
                <a:latin typeface="Trebuchet MS"/>
                <a:ea typeface="Trebuchet MS"/>
                <a:cs typeface="Trebuchet MS"/>
                <a:sym typeface="Trebuchet MS"/>
              </a:rPr>
              <a:t>Microsoft</a:t>
            </a:r>
            <a:endParaRPr b="1" sz="1200">
              <a:solidFill>
                <a:srgbClr val="181818"/>
              </a:solidFill>
              <a:latin typeface="Trebuchet MS"/>
              <a:ea typeface="Trebuchet MS"/>
              <a:cs typeface="Trebuchet MS"/>
              <a:sym typeface="Trebuchet MS"/>
            </a:endParaRPr>
          </a:p>
        </p:txBody>
      </p:sp>
      <p:pic>
        <p:nvPicPr>
          <p:cNvPr id="242" name="Google Shape;242;p45"/>
          <p:cNvPicPr preferRelativeResize="0"/>
          <p:nvPr/>
        </p:nvPicPr>
        <p:blipFill rotWithShape="1">
          <a:blip r:embed="rId5">
            <a:alphaModFix/>
          </a:blip>
          <a:srcRect b="6655" l="13229" r="11820" t="0"/>
          <a:stretch/>
        </p:blipFill>
        <p:spPr>
          <a:xfrm>
            <a:off x="2104501" y="3919800"/>
            <a:ext cx="407700" cy="378300"/>
          </a:xfrm>
          <a:prstGeom prst="ellipse">
            <a:avLst/>
          </a:prstGeom>
          <a:noFill/>
          <a:ln cap="flat" cmpd="sng" w="9525">
            <a:solidFill>
              <a:srgbClr val="181818"/>
            </a:solidFill>
            <a:prstDash val="solid"/>
            <a:round/>
            <a:headEnd len="sm" w="sm" type="none"/>
            <a:tailEnd len="sm" w="sm" type="none"/>
          </a:ln>
        </p:spPr>
      </p:pic>
      <p:sp>
        <p:nvSpPr>
          <p:cNvPr id="243" name="Google Shape;243;p45"/>
          <p:cNvSpPr/>
          <p:nvPr/>
        </p:nvSpPr>
        <p:spPr>
          <a:xfrm>
            <a:off x="4873220" y="2817075"/>
            <a:ext cx="3726600" cy="1205100"/>
          </a:xfrm>
          <a:prstGeom prst="roundRect">
            <a:avLst>
              <a:gd fmla="val 16667" name="adj"/>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5"/>
          <p:cNvSpPr txBox="1"/>
          <p:nvPr/>
        </p:nvSpPr>
        <p:spPr>
          <a:xfrm>
            <a:off x="4854585" y="2975227"/>
            <a:ext cx="3726600" cy="9543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000">
                <a:highlight>
                  <a:srgbClr val="FFFFFF"/>
                </a:highlight>
                <a:latin typeface="Calibri"/>
                <a:ea typeface="Calibri"/>
                <a:cs typeface="Calibri"/>
                <a:sym typeface="Calibri"/>
              </a:rPr>
              <a:t>Machine learning is based on algorithms that can learn from data without relying on rules-based programming. It is considered as the sub-set of AI</a:t>
            </a:r>
            <a:endParaRPr sz="1000">
              <a:highlight>
                <a:srgbClr val="FFFFFF"/>
              </a:highlight>
              <a:latin typeface="Calibri"/>
              <a:ea typeface="Calibri"/>
              <a:cs typeface="Calibri"/>
              <a:sym typeface="Calibri"/>
            </a:endParaRPr>
          </a:p>
        </p:txBody>
      </p:sp>
      <p:sp>
        <p:nvSpPr>
          <p:cNvPr id="245" name="Google Shape;245;p45"/>
          <p:cNvSpPr txBox="1"/>
          <p:nvPr/>
        </p:nvSpPr>
        <p:spPr>
          <a:xfrm>
            <a:off x="5626146" y="4242721"/>
            <a:ext cx="2339400" cy="3693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1200">
                <a:solidFill>
                  <a:srgbClr val="181818"/>
                </a:solidFill>
                <a:latin typeface="Trebuchet MS"/>
                <a:ea typeface="Trebuchet MS"/>
                <a:cs typeface="Trebuchet MS"/>
                <a:sym typeface="Trebuchet MS"/>
              </a:rPr>
              <a:t>Mckinsey</a:t>
            </a:r>
            <a:endParaRPr b="1" sz="1200">
              <a:solidFill>
                <a:srgbClr val="181818"/>
              </a:solidFill>
              <a:latin typeface="Trebuchet MS"/>
              <a:ea typeface="Trebuchet MS"/>
              <a:cs typeface="Trebuchet MS"/>
              <a:sym typeface="Trebuchet MS"/>
            </a:endParaRPr>
          </a:p>
        </p:txBody>
      </p:sp>
      <p:pic>
        <p:nvPicPr>
          <p:cNvPr id="246" name="Google Shape;246;p45"/>
          <p:cNvPicPr preferRelativeResize="0"/>
          <p:nvPr/>
        </p:nvPicPr>
        <p:blipFill rotWithShape="1">
          <a:blip r:embed="rId6">
            <a:alphaModFix/>
          </a:blip>
          <a:srcRect b="17070" l="12576" r="16612" t="17123"/>
          <a:stretch/>
        </p:blipFill>
        <p:spPr>
          <a:xfrm>
            <a:off x="6591999" y="3919800"/>
            <a:ext cx="407700" cy="376800"/>
          </a:xfrm>
          <a:prstGeom prst="ellipse">
            <a:avLst/>
          </a:prstGeom>
          <a:noFill/>
          <a:ln>
            <a:noFill/>
          </a:ln>
        </p:spPr>
      </p:pic>
      <p:sp>
        <p:nvSpPr>
          <p:cNvPr id="247" name="Google Shape;247;p4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46"/>
          <p:cNvSpPr/>
          <p:nvPr/>
        </p:nvSpPr>
        <p:spPr>
          <a:xfrm>
            <a:off x="752475" y="502200"/>
            <a:ext cx="48261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What is Machine Learning?</a:t>
            </a:r>
            <a:endParaRPr sz="2000">
              <a:solidFill>
                <a:schemeClr val="dk1"/>
              </a:solidFill>
              <a:latin typeface="Century Gothic"/>
              <a:ea typeface="Century Gothic"/>
              <a:cs typeface="Century Gothic"/>
              <a:sym typeface="Century Gothic"/>
            </a:endParaRPr>
          </a:p>
        </p:txBody>
      </p:sp>
      <p:cxnSp>
        <p:nvCxnSpPr>
          <p:cNvPr id="253" name="Google Shape;253;p46"/>
          <p:cNvCxnSpPr>
            <a:stCxn id="254" idx="2"/>
            <a:endCxn id="255" idx="0"/>
          </p:cNvCxnSpPr>
          <p:nvPr/>
        </p:nvCxnSpPr>
        <p:spPr>
          <a:xfrm>
            <a:off x="1017678" y="1592510"/>
            <a:ext cx="0" cy="2211000"/>
          </a:xfrm>
          <a:prstGeom prst="straightConnector1">
            <a:avLst/>
          </a:prstGeom>
          <a:noFill/>
          <a:ln cap="flat" cmpd="sng" w="19050">
            <a:solidFill>
              <a:srgbClr val="666666"/>
            </a:solidFill>
            <a:prstDash val="dash"/>
            <a:round/>
            <a:headEnd len="med" w="med" type="none"/>
            <a:tailEnd len="med" w="med" type="none"/>
          </a:ln>
        </p:spPr>
      </p:cxnSp>
      <p:pic>
        <p:nvPicPr>
          <p:cNvPr id="256" name="Google Shape;256;p46"/>
          <p:cNvPicPr preferRelativeResize="0"/>
          <p:nvPr/>
        </p:nvPicPr>
        <p:blipFill rotWithShape="1">
          <a:blip r:embed="rId3">
            <a:alphaModFix/>
          </a:blip>
          <a:srcRect b="13766" l="19422" r="18066" t="16074"/>
          <a:stretch/>
        </p:blipFill>
        <p:spPr>
          <a:xfrm>
            <a:off x="6196463" y="1223581"/>
            <a:ext cx="2720637" cy="2946948"/>
          </a:xfrm>
          <a:prstGeom prst="rect">
            <a:avLst/>
          </a:prstGeom>
          <a:noFill/>
          <a:ln>
            <a:noFill/>
          </a:ln>
        </p:spPr>
      </p:pic>
      <p:sp>
        <p:nvSpPr>
          <p:cNvPr id="257" name="Google Shape;257;p46"/>
          <p:cNvSpPr/>
          <p:nvPr/>
        </p:nvSpPr>
        <p:spPr>
          <a:xfrm>
            <a:off x="663800" y="998175"/>
            <a:ext cx="708000" cy="6828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46"/>
          <p:cNvSpPr/>
          <p:nvPr/>
        </p:nvSpPr>
        <p:spPr>
          <a:xfrm>
            <a:off x="663800" y="1933241"/>
            <a:ext cx="708000" cy="6828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6"/>
          <p:cNvSpPr/>
          <p:nvPr/>
        </p:nvSpPr>
        <p:spPr>
          <a:xfrm>
            <a:off x="663800" y="2868308"/>
            <a:ext cx="708000" cy="6828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6"/>
          <p:cNvSpPr/>
          <p:nvPr/>
        </p:nvSpPr>
        <p:spPr>
          <a:xfrm>
            <a:off x="663800" y="3803374"/>
            <a:ext cx="708000" cy="682800"/>
          </a:xfrm>
          <a:prstGeom prst="ellipse">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46"/>
          <p:cNvPicPr preferRelativeResize="0"/>
          <p:nvPr/>
        </p:nvPicPr>
        <p:blipFill>
          <a:blip r:embed="rId4">
            <a:alphaModFix/>
          </a:blip>
          <a:stretch>
            <a:fillRect/>
          </a:stretch>
        </p:blipFill>
        <p:spPr>
          <a:xfrm>
            <a:off x="755733" y="1086900"/>
            <a:ext cx="523891" cy="505610"/>
          </a:xfrm>
          <a:prstGeom prst="rect">
            <a:avLst/>
          </a:prstGeom>
          <a:noFill/>
          <a:ln>
            <a:noFill/>
          </a:ln>
        </p:spPr>
      </p:pic>
      <p:pic>
        <p:nvPicPr>
          <p:cNvPr id="260" name="Google Shape;260;p46"/>
          <p:cNvPicPr preferRelativeResize="0"/>
          <p:nvPr/>
        </p:nvPicPr>
        <p:blipFill>
          <a:blip r:embed="rId5">
            <a:alphaModFix/>
          </a:blip>
          <a:stretch>
            <a:fillRect/>
          </a:stretch>
        </p:blipFill>
        <p:spPr>
          <a:xfrm>
            <a:off x="791440" y="2056426"/>
            <a:ext cx="452495" cy="436705"/>
          </a:xfrm>
          <a:prstGeom prst="rect">
            <a:avLst/>
          </a:prstGeom>
          <a:noFill/>
          <a:ln>
            <a:noFill/>
          </a:ln>
        </p:spPr>
      </p:pic>
      <p:pic>
        <p:nvPicPr>
          <p:cNvPr id="261" name="Google Shape;261;p46"/>
          <p:cNvPicPr preferRelativeResize="0"/>
          <p:nvPr/>
        </p:nvPicPr>
        <p:blipFill>
          <a:blip r:embed="rId6">
            <a:alphaModFix/>
          </a:blip>
          <a:stretch>
            <a:fillRect/>
          </a:stretch>
        </p:blipFill>
        <p:spPr>
          <a:xfrm>
            <a:off x="791427" y="3926560"/>
            <a:ext cx="452496" cy="436706"/>
          </a:xfrm>
          <a:prstGeom prst="rect">
            <a:avLst/>
          </a:prstGeom>
          <a:noFill/>
          <a:ln>
            <a:noFill/>
          </a:ln>
        </p:spPr>
      </p:pic>
      <p:sp>
        <p:nvSpPr>
          <p:cNvPr id="262" name="Google Shape;262;p46"/>
          <p:cNvSpPr txBox="1"/>
          <p:nvPr/>
        </p:nvSpPr>
        <p:spPr>
          <a:xfrm>
            <a:off x="1558136" y="1157753"/>
            <a:ext cx="454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Subset of Computer Science &amp; Artificial Intelligence</a:t>
            </a:r>
            <a:endParaRPr>
              <a:solidFill>
                <a:srgbClr val="434343"/>
              </a:solidFill>
            </a:endParaRPr>
          </a:p>
        </p:txBody>
      </p:sp>
      <p:sp>
        <p:nvSpPr>
          <p:cNvPr id="263" name="Google Shape;263;p46"/>
          <p:cNvSpPr txBox="1"/>
          <p:nvPr/>
        </p:nvSpPr>
        <p:spPr>
          <a:xfrm>
            <a:off x="1558136" y="2092839"/>
            <a:ext cx="454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Focuses on use of data driven solutions</a:t>
            </a:r>
            <a:endParaRPr>
              <a:solidFill>
                <a:srgbClr val="434343"/>
              </a:solidFill>
            </a:endParaRPr>
          </a:p>
        </p:txBody>
      </p:sp>
      <p:sp>
        <p:nvSpPr>
          <p:cNvPr id="264" name="Google Shape;264;p46"/>
          <p:cNvSpPr txBox="1"/>
          <p:nvPr/>
        </p:nvSpPr>
        <p:spPr>
          <a:xfrm>
            <a:off x="1558136" y="3027926"/>
            <a:ext cx="454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Imitates the way human learns</a:t>
            </a:r>
            <a:endParaRPr>
              <a:solidFill>
                <a:srgbClr val="434343"/>
              </a:solidFill>
            </a:endParaRPr>
          </a:p>
        </p:txBody>
      </p:sp>
      <p:sp>
        <p:nvSpPr>
          <p:cNvPr id="265" name="Google Shape;265;p46"/>
          <p:cNvSpPr txBox="1"/>
          <p:nvPr/>
        </p:nvSpPr>
        <p:spPr>
          <a:xfrm>
            <a:off x="1558136" y="3963012"/>
            <a:ext cx="4545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rgbClr val="434343"/>
                </a:solidFill>
              </a:rPr>
              <a:t>Gradually improves itself</a:t>
            </a:r>
            <a:endParaRPr>
              <a:solidFill>
                <a:srgbClr val="434343"/>
              </a:solidFill>
            </a:endParaRPr>
          </a:p>
        </p:txBody>
      </p:sp>
      <p:pic>
        <p:nvPicPr>
          <p:cNvPr id="266" name="Google Shape;266;p46"/>
          <p:cNvPicPr preferRelativeResize="0"/>
          <p:nvPr/>
        </p:nvPicPr>
        <p:blipFill>
          <a:blip r:embed="rId7">
            <a:alphaModFix/>
          </a:blip>
          <a:stretch>
            <a:fillRect/>
          </a:stretch>
        </p:blipFill>
        <p:spPr>
          <a:xfrm>
            <a:off x="899222" y="3052141"/>
            <a:ext cx="236928" cy="315411"/>
          </a:xfrm>
          <a:prstGeom prst="rect">
            <a:avLst/>
          </a:prstGeom>
          <a:noFill/>
          <a:ln>
            <a:noFill/>
          </a:ln>
        </p:spPr>
      </p:pic>
      <p:sp>
        <p:nvSpPr>
          <p:cNvPr id="267" name="Google Shape;267;p4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
        <p:nvSpPr>
          <p:cNvPr id="272" name="Google Shape;272;p47"/>
          <p:cNvSpPr/>
          <p:nvPr/>
        </p:nvSpPr>
        <p:spPr>
          <a:xfrm>
            <a:off x="752475" y="502200"/>
            <a:ext cx="48261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AI vs ML vs DS</a:t>
            </a:r>
            <a:endParaRPr sz="2000">
              <a:solidFill>
                <a:schemeClr val="dk1"/>
              </a:solidFill>
              <a:latin typeface="Century Gothic"/>
              <a:ea typeface="Century Gothic"/>
              <a:cs typeface="Century Gothic"/>
              <a:sym typeface="Century Gothic"/>
            </a:endParaRPr>
          </a:p>
        </p:txBody>
      </p:sp>
      <p:pic>
        <p:nvPicPr>
          <p:cNvPr id="273" name="Google Shape;273;p47"/>
          <p:cNvPicPr preferRelativeResize="0"/>
          <p:nvPr/>
        </p:nvPicPr>
        <p:blipFill>
          <a:blip r:embed="rId3">
            <a:alphaModFix/>
          </a:blip>
          <a:stretch>
            <a:fillRect/>
          </a:stretch>
        </p:blipFill>
        <p:spPr>
          <a:xfrm>
            <a:off x="872175" y="957575"/>
            <a:ext cx="7184375" cy="3724550"/>
          </a:xfrm>
          <a:prstGeom prst="rect">
            <a:avLst/>
          </a:prstGeom>
          <a:noFill/>
          <a:ln>
            <a:noFill/>
          </a:ln>
        </p:spPr>
      </p:pic>
      <p:sp>
        <p:nvSpPr>
          <p:cNvPr id="274" name="Google Shape;274;p4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8" name="Shape 278"/>
        <p:cNvGrpSpPr/>
        <p:nvPr/>
      </p:nvGrpSpPr>
      <p:grpSpPr>
        <a:xfrm>
          <a:off x="0" y="0"/>
          <a:ext cx="0" cy="0"/>
          <a:chOff x="0" y="0"/>
          <a:chExt cx="0" cy="0"/>
        </a:xfrm>
      </p:grpSpPr>
      <p:sp>
        <p:nvSpPr>
          <p:cNvPr id="279" name="Google Shape;279;p4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Traditional Systems vs Machine Learning Systems</a:t>
            </a:r>
            <a:endParaRPr sz="2000">
              <a:solidFill>
                <a:schemeClr val="dk1"/>
              </a:solidFill>
              <a:latin typeface="Century Gothic"/>
              <a:ea typeface="Century Gothic"/>
              <a:cs typeface="Century Gothic"/>
              <a:sym typeface="Century Gothic"/>
            </a:endParaRPr>
          </a:p>
        </p:txBody>
      </p:sp>
      <p:sp>
        <p:nvSpPr>
          <p:cNvPr id="280" name="Google Shape;280;p4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281" name="Google Shape;281;p48"/>
          <p:cNvPicPr preferRelativeResize="0"/>
          <p:nvPr/>
        </p:nvPicPr>
        <p:blipFill>
          <a:blip r:embed="rId3">
            <a:alphaModFix/>
          </a:blip>
          <a:stretch>
            <a:fillRect/>
          </a:stretch>
        </p:blipFill>
        <p:spPr>
          <a:xfrm>
            <a:off x="1169912" y="967850"/>
            <a:ext cx="6687275" cy="37160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85" name="Shape 285"/>
        <p:cNvGrpSpPr/>
        <p:nvPr/>
      </p:nvGrpSpPr>
      <p:grpSpPr>
        <a:xfrm>
          <a:off x="0" y="0"/>
          <a:ext cx="0" cy="0"/>
          <a:chOff x="0" y="0"/>
          <a:chExt cx="0" cy="0"/>
        </a:xfrm>
      </p:grpSpPr>
      <p:sp>
        <p:nvSpPr>
          <p:cNvPr id="286" name="Google Shape;286;p4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Learning Algorithms vs Models</a:t>
            </a:r>
            <a:endParaRPr sz="2000">
              <a:solidFill>
                <a:schemeClr val="dk1"/>
              </a:solidFill>
              <a:latin typeface="Century Gothic"/>
              <a:ea typeface="Century Gothic"/>
              <a:cs typeface="Century Gothic"/>
              <a:sym typeface="Century Gothic"/>
            </a:endParaRPr>
          </a:p>
        </p:txBody>
      </p:sp>
      <p:sp>
        <p:nvSpPr>
          <p:cNvPr id="287" name="Google Shape;287;p4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288" name="Google Shape;288;p49"/>
          <p:cNvSpPr/>
          <p:nvPr/>
        </p:nvSpPr>
        <p:spPr>
          <a:xfrm>
            <a:off x="752475" y="1092576"/>
            <a:ext cx="7697400" cy="1022700"/>
          </a:xfrm>
          <a:prstGeom prst="rect">
            <a:avLst/>
          </a:prstGeom>
          <a:noFill/>
          <a:ln cap="flat" cmpd="sng" w="8750">
            <a:solidFill>
              <a:srgbClr val="990028"/>
            </a:solidFill>
            <a:prstDash val="dot"/>
            <a:round/>
            <a:headEnd len="sm" w="sm" type="none"/>
            <a:tailEnd len="sm" w="sm" type="none"/>
          </a:ln>
        </p:spPr>
        <p:txBody>
          <a:bodyPr anchorCtr="0" anchor="ctr" bIns="84050" lIns="84050" spcFirstLastPara="1" rIns="84050" wrap="square" tIns="84050">
            <a:noAutofit/>
          </a:bodyPr>
          <a:lstStyle/>
          <a:p>
            <a:pPr indent="0" lvl="0" marL="0" rtl="0" algn="l">
              <a:spcBef>
                <a:spcPts val="0"/>
              </a:spcBef>
              <a:spcAft>
                <a:spcPts val="0"/>
              </a:spcAft>
              <a:buNone/>
            </a:pPr>
            <a:r>
              <a:t/>
            </a:r>
            <a:endParaRPr/>
          </a:p>
        </p:txBody>
      </p:sp>
      <p:sp>
        <p:nvSpPr>
          <p:cNvPr id="289" name="Google Shape;289;p49"/>
          <p:cNvSpPr txBox="1"/>
          <p:nvPr/>
        </p:nvSpPr>
        <p:spPr>
          <a:xfrm>
            <a:off x="842963" y="1266764"/>
            <a:ext cx="4059600" cy="721500"/>
          </a:xfrm>
          <a:prstGeom prst="rect">
            <a:avLst/>
          </a:prstGeom>
          <a:noFill/>
          <a:ln cap="flat" cmpd="sng" w="8750">
            <a:solidFill>
              <a:srgbClr val="990000"/>
            </a:solidFill>
            <a:prstDash val="dot"/>
            <a:round/>
            <a:headEnd len="sm" w="sm" type="none"/>
            <a:tailEnd len="sm" w="sm" type="none"/>
          </a:ln>
        </p:spPr>
        <p:txBody>
          <a:bodyPr anchorCtr="0" anchor="t" bIns="84050" lIns="84050" spcFirstLastPara="1" rIns="84050" wrap="square" tIns="84050">
            <a:spAutoFit/>
          </a:bodyPr>
          <a:lstStyle/>
          <a:p>
            <a:pPr indent="0" lvl="0" marL="0" rtl="0" algn="ctr">
              <a:lnSpc>
                <a:spcPct val="100000"/>
              </a:lnSpc>
              <a:spcBef>
                <a:spcPts val="0"/>
              </a:spcBef>
              <a:spcAft>
                <a:spcPts val="0"/>
              </a:spcAft>
              <a:buNone/>
            </a:pPr>
            <a:r>
              <a:t/>
            </a:r>
            <a:endParaRPr sz="1195"/>
          </a:p>
          <a:p>
            <a:pPr indent="0" lvl="0" marL="0" rtl="0" algn="ctr">
              <a:lnSpc>
                <a:spcPct val="100000"/>
              </a:lnSpc>
              <a:spcBef>
                <a:spcPts val="0"/>
              </a:spcBef>
              <a:spcAft>
                <a:spcPts val="0"/>
              </a:spcAft>
              <a:buNone/>
            </a:pPr>
            <a:r>
              <a:rPr lang="en" sz="1195"/>
              <a:t>Set of instructions that can learn pattern from Data</a:t>
            </a:r>
            <a:endParaRPr sz="1195"/>
          </a:p>
          <a:p>
            <a:pPr indent="0" lvl="0" marL="0" rtl="0" algn="ctr">
              <a:lnSpc>
                <a:spcPct val="100000"/>
              </a:lnSpc>
              <a:spcBef>
                <a:spcPts val="0"/>
              </a:spcBef>
              <a:spcAft>
                <a:spcPts val="0"/>
              </a:spcAft>
              <a:buNone/>
            </a:pPr>
            <a:r>
              <a:t/>
            </a:r>
            <a:endParaRPr sz="1195"/>
          </a:p>
        </p:txBody>
      </p:sp>
      <p:sp>
        <p:nvSpPr>
          <p:cNvPr id="290" name="Google Shape;290;p49"/>
          <p:cNvSpPr txBox="1"/>
          <p:nvPr/>
        </p:nvSpPr>
        <p:spPr>
          <a:xfrm>
            <a:off x="1830666" y="1167766"/>
            <a:ext cx="2084100" cy="367800"/>
          </a:xfrm>
          <a:prstGeom prst="rect">
            <a:avLst/>
          </a:prstGeom>
          <a:solidFill>
            <a:srgbClr val="980000"/>
          </a:solidFill>
          <a:ln cap="flat" cmpd="sng" w="9525">
            <a:solidFill>
              <a:srgbClr val="666666"/>
            </a:solidFill>
            <a:prstDash val="solid"/>
            <a:round/>
            <a:headEnd len="sm" w="sm" type="none"/>
            <a:tailEnd len="sm" w="sm" type="none"/>
          </a:ln>
        </p:spPr>
        <p:txBody>
          <a:bodyPr anchorCtr="0" anchor="t" bIns="84050" lIns="84050" spcFirstLastPara="1" rIns="84050" wrap="square" tIns="84050">
            <a:spAutoFit/>
          </a:bodyPr>
          <a:lstStyle/>
          <a:p>
            <a:pPr indent="0" lvl="0" marL="0" rtl="0" algn="ctr">
              <a:spcBef>
                <a:spcPts val="0"/>
              </a:spcBef>
              <a:spcAft>
                <a:spcPts val="0"/>
              </a:spcAft>
              <a:buNone/>
            </a:pPr>
            <a:r>
              <a:rPr b="1" lang="en" sz="1286">
                <a:solidFill>
                  <a:srgbClr val="FFFFFF"/>
                </a:solidFill>
                <a:latin typeface="Trebuchet MS"/>
                <a:ea typeface="Trebuchet MS"/>
                <a:cs typeface="Trebuchet MS"/>
                <a:sym typeface="Trebuchet MS"/>
              </a:rPr>
              <a:t>Learning Algorithm</a:t>
            </a:r>
            <a:endParaRPr sz="1286">
              <a:solidFill>
                <a:srgbClr val="FFFFFF"/>
              </a:solidFill>
            </a:endParaRPr>
          </a:p>
        </p:txBody>
      </p:sp>
      <p:sp>
        <p:nvSpPr>
          <p:cNvPr id="291" name="Google Shape;291;p49"/>
          <p:cNvSpPr txBox="1"/>
          <p:nvPr/>
        </p:nvSpPr>
        <p:spPr>
          <a:xfrm>
            <a:off x="2571351" y="3019623"/>
            <a:ext cx="4059600" cy="849000"/>
          </a:xfrm>
          <a:prstGeom prst="rect">
            <a:avLst/>
          </a:prstGeom>
          <a:noFill/>
          <a:ln cap="flat" cmpd="sng" w="8750">
            <a:solidFill>
              <a:srgbClr val="990028"/>
            </a:solidFill>
            <a:prstDash val="dot"/>
            <a:round/>
            <a:headEnd len="sm" w="sm" type="none"/>
            <a:tailEnd len="sm" w="sm" type="none"/>
          </a:ln>
        </p:spPr>
        <p:txBody>
          <a:bodyPr anchorCtr="0" anchor="t" bIns="84050" lIns="84050" spcFirstLastPara="1" rIns="84050" wrap="square" tIns="84050">
            <a:spAutoFit/>
          </a:bodyPr>
          <a:lstStyle/>
          <a:p>
            <a:pPr indent="0" lvl="0" marL="0" rtl="0" algn="ctr">
              <a:lnSpc>
                <a:spcPct val="150000"/>
              </a:lnSpc>
              <a:spcBef>
                <a:spcPts val="0"/>
              </a:spcBef>
              <a:spcAft>
                <a:spcPts val="0"/>
              </a:spcAft>
              <a:buNone/>
            </a:pPr>
            <a:r>
              <a:t/>
            </a:r>
            <a:endParaRPr sz="1103"/>
          </a:p>
          <a:p>
            <a:pPr indent="0" lvl="0" marL="0" rtl="0" algn="ctr">
              <a:lnSpc>
                <a:spcPct val="150000"/>
              </a:lnSpc>
              <a:spcBef>
                <a:spcPts val="0"/>
              </a:spcBef>
              <a:spcAft>
                <a:spcPts val="0"/>
              </a:spcAft>
              <a:buNone/>
            </a:pPr>
            <a:r>
              <a:rPr lang="en" sz="1103"/>
              <a:t>Approximation of the reality, built using a Learning Algorithm</a:t>
            </a:r>
            <a:endParaRPr sz="1103"/>
          </a:p>
          <a:p>
            <a:pPr indent="0" lvl="0" marL="0" rtl="0" algn="ctr">
              <a:lnSpc>
                <a:spcPct val="150000"/>
              </a:lnSpc>
              <a:spcBef>
                <a:spcPts val="0"/>
              </a:spcBef>
              <a:spcAft>
                <a:spcPts val="0"/>
              </a:spcAft>
              <a:buNone/>
            </a:pPr>
            <a:r>
              <a:t/>
            </a:r>
            <a:endParaRPr sz="1103"/>
          </a:p>
        </p:txBody>
      </p:sp>
      <p:sp>
        <p:nvSpPr>
          <p:cNvPr id="292" name="Google Shape;292;p49"/>
          <p:cNvSpPr txBox="1"/>
          <p:nvPr/>
        </p:nvSpPr>
        <p:spPr>
          <a:xfrm>
            <a:off x="3559054" y="2920619"/>
            <a:ext cx="2084100" cy="367800"/>
          </a:xfrm>
          <a:prstGeom prst="rect">
            <a:avLst/>
          </a:prstGeom>
          <a:solidFill>
            <a:srgbClr val="980000"/>
          </a:solidFill>
          <a:ln cap="flat" cmpd="sng" w="9525">
            <a:solidFill>
              <a:srgbClr val="666666"/>
            </a:solidFill>
            <a:prstDash val="solid"/>
            <a:round/>
            <a:headEnd len="sm" w="sm" type="none"/>
            <a:tailEnd len="sm" w="sm" type="none"/>
          </a:ln>
        </p:spPr>
        <p:txBody>
          <a:bodyPr anchorCtr="0" anchor="t" bIns="84050" lIns="84050" spcFirstLastPara="1" rIns="84050" wrap="square" tIns="84050">
            <a:spAutoFit/>
          </a:bodyPr>
          <a:lstStyle/>
          <a:p>
            <a:pPr indent="0" lvl="0" marL="0" rtl="0" algn="ctr">
              <a:spcBef>
                <a:spcPts val="0"/>
              </a:spcBef>
              <a:spcAft>
                <a:spcPts val="0"/>
              </a:spcAft>
              <a:buNone/>
            </a:pPr>
            <a:r>
              <a:rPr b="1" lang="en" sz="1286">
                <a:solidFill>
                  <a:srgbClr val="FFFFFF"/>
                </a:solidFill>
                <a:latin typeface="Trebuchet MS"/>
                <a:ea typeface="Trebuchet MS"/>
                <a:cs typeface="Trebuchet MS"/>
                <a:sym typeface="Trebuchet MS"/>
              </a:rPr>
              <a:t>Model</a:t>
            </a:r>
            <a:endParaRPr sz="1286">
              <a:solidFill>
                <a:srgbClr val="FFFFFF"/>
              </a:solidFill>
            </a:endParaRPr>
          </a:p>
        </p:txBody>
      </p:sp>
      <p:cxnSp>
        <p:nvCxnSpPr>
          <p:cNvPr id="293" name="Google Shape;293;p49"/>
          <p:cNvCxnSpPr>
            <a:stCxn id="289" idx="3"/>
            <a:endCxn id="294" idx="1"/>
          </p:cNvCxnSpPr>
          <p:nvPr/>
        </p:nvCxnSpPr>
        <p:spPr>
          <a:xfrm>
            <a:off x="4902563" y="1627514"/>
            <a:ext cx="2097000" cy="0"/>
          </a:xfrm>
          <a:prstGeom prst="straightConnector1">
            <a:avLst/>
          </a:prstGeom>
          <a:noFill/>
          <a:ln cap="flat" cmpd="sng" w="17500">
            <a:solidFill>
              <a:srgbClr val="2B2B2B"/>
            </a:solidFill>
            <a:prstDash val="solid"/>
            <a:round/>
            <a:headEnd len="med" w="med" type="none"/>
            <a:tailEnd len="med" w="med" type="triangle"/>
          </a:ln>
        </p:spPr>
      </p:cxnSp>
      <p:cxnSp>
        <p:nvCxnSpPr>
          <p:cNvPr id="295" name="Google Shape;295;p49"/>
          <p:cNvCxnSpPr>
            <a:stCxn id="288" idx="2"/>
            <a:endCxn id="292" idx="0"/>
          </p:cNvCxnSpPr>
          <p:nvPr/>
        </p:nvCxnSpPr>
        <p:spPr>
          <a:xfrm>
            <a:off x="4601175" y="2115276"/>
            <a:ext cx="0" cy="805200"/>
          </a:xfrm>
          <a:prstGeom prst="straightConnector1">
            <a:avLst/>
          </a:prstGeom>
          <a:noFill/>
          <a:ln cap="flat" cmpd="sng" w="17500">
            <a:solidFill>
              <a:srgbClr val="181818"/>
            </a:solidFill>
            <a:prstDash val="solid"/>
            <a:round/>
            <a:headEnd len="med" w="med" type="none"/>
            <a:tailEnd len="med" w="med" type="triangle"/>
          </a:ln>
        </p:spPr>
      </p:cxnSp>
      <p:sp>
        <p:nvSpPr>
          <p:cNvPr id="294" name="Google Shape;294;p49"/>
          <p:cNvSpPr txBox="1"/>
          <p:nvPr/>
        </p:nvSpPr>
        <p:spPr>
          <a:xfrm>
            <a:off x="6999610" y="1266744"/>
            <a:ext cx="1357500" cy="721500"/>
          </a:xfrm>
          <a:prstGeom prst="rect">
            <a:avLst/>
          </a:prstGeom>
          <a:noFill/>
          <a:ln cap="flat" cmpd="sng" w="8750">
            <a:solidFill>
              <a:srgbClr val="990028"/>
            </a:solidFill>
            <a:prstDash val="dot"/>
            <a:round/>
            <a:headEnd len="sm" w="sm" type="none"/>
            <a:tailEnd len="sm" w="sm" type="none"/>
          </a:ln>
        </p:spPr>
        <p:txBody>
          <a:bodyPr anchorCtr="0" anchor="t" bIns="84050" lIns="84050" spcFirstLastPara="1" rIns="84050" wrap="square" tIns="84050">
            <a:spAutoFit/>
          </a:bodyPr>
          <a:lstStyle/>
          <a:p>
            <a:pPr indent="0" lvl="0" marL="0" rtl="0" algn="ctr">
              <a:spcBef>
                <a:spcPts val="0"/>
              </a:spcBef>
              <a:spcAft>
                <a:spcPts val="0"/>
              </a:spcAft>
              <a:buNone/>
            </a:pPr>
            <a:r>
              <a:t/>
            </a:r>
            <a:endParaRPr b="1" sz="1195"/>
          </a:p>
          <a:p>
            <a:pPr indent="0" lvl="0" marL="0" rtl="0" algn="ctr">
              <a:spcBef>
                <a:spcPts val="0"/>
              </a:spcBef>
              <a:spcAft>
                <a:spcPts val="0"/>
              </a:spcAft>
              <a:buNone/>
            </a:pPr>
            <a:r>
              <a:rPr lang="en" sz="1195"/>
              <a:t>Refined Data</a:t>
            </a:r>
            <a:endParaRPr b="1" sz="1195"/>
          </a:p>
          <a:p>
            <a:pPr indent="0" lvl="0" marL="0" rtl="0" algn="ctr">
              <a:spcBef>
                <a:spcPts val="0"/>
              </a:spcBef>
              <a:spcAft>
                <a:spcPts val="0"/>
              </a:spcAft>
              <a:buNone/>
            </a:pPr>
            <a:r>
              <a:t/>
            </a:r>
            <a:endParaRPr b="1" sz="1195"/>
          </a:p>
        </p:txBody>
      </p:sp>
      <p:sp>
        <p:nvSpPr>
          <p:cNvPr id="296" name="Google Shape;296;p49"/>
          <p:cNvSpPr txBox="1"/>
          <p:nvPr/>
        </p:nvSpPr>
        <p:spPr>
          <a:xfrm>
            <a:off x="4983446" y="1297557"/>
            <a:ext cx="1935300" cy="367800"/>
          </a:xfrm>
          <a:prstGeom prst="rect">
            <a:avLst/>
          </a:prstGeom>
          <a:noFill/>
          <a:ln>
            <a:noFill/>
          </a:ln>
        </p:spPr>
        <p:txBody>
          <a:bodyPr anchorCtr="0" anchor="t" bIns="84050" lIns="84050" spcFirstLastPara="1" rIns="84050" wrap="square" tIns="84050">
            <a:spAutoFit/>
          </a:bodyPr>
          <a:lstStyle/>
          <a:p>
            <a:pPr indent="0" lvl="0" marL="0" rtl="0" algn="ctr">
              <a:spcBef>
                <a:spcPts val="0"/>
              </a:spcBef>
              <a:spcAft>
                <a:spcPts val="0"/>
              </a:spcAft>
              <a:buNone/>
            </a:pPr>
            <a:r>
              <a:rPr lang="en" sz="1286">
                <a:latin typeface="Trebuchet MS"/>
                <a:ea typeface="Trebuchet MS"/>
                <a:cs typeface="Trebuchet MS"/>
                <a:sym typeface="Trebuchet MS"/>
              </a:rPr>
              <a:t>Applied to</a:t>
            </a:r>
            <a:endParaRPr sz="1286">
              <a:latin typeface="Trebuchet MS"/>
              <a:ea typeface="Trebuchet MS"/>
              <a:cs typeface="Trebuchet MS"/>
              <a:sym typeface="Trebuchet MS"/>
            </a:endParaRPr>
          </a:p>
        </p:txBody>
      </p:sp>
      <p:sp>
        <p:nvSpPr>
          <p:cNvPr id="297" name="Google Shape;297;p49"/>
          <p:cNvSpPr txBox="1"/>
          <p:nvPr/>
        </p:nvSpPr>
        <p:spPr>
          <a:xfrm rot="5400000">
            <a:off x="4153036" y="2341089"/>
            <a:ext cx="1163700" cy="311400"/>
          </a:xfrm>
          <a:prstGeom prst="rect">
            <a:avLst/>
          </a:prstGeom>
          <a:noFill/>
          <a:ln>
            <a:noFill/>
          </a:ln>
        </p:spPr>
        <p:txBody>
          <a:bodyPr anchorCtr="0" anchor="t" bIns="84050" lIns="84050" spcFirstLastPara="1" rIns="84050" wrap="square" tIns="84050">
            <a:spAutoFit/>
          </a:bodyPr>
          <a:lstStyle/>
          <a:p>
            <a:pPr indent="0" lvl="0" marL="0" rtl="0" algn="ctr">
              <a:spcBef>
                <a:spcPts val="0"/>
              </a:spcBef>
              <a:spcAft>
                <a:spcPts val="0"/>
              </a:spcAft>
              <a:buNone/>
            </a:pPr>
            <a:r>
              <a:rPr b="1" lang="en" sz="919"/>
              <a:t>Produces</a:t>
            </a:r>
            <a:endParaRPr b="1" sz="919"/>
          </a:p>
        </p:txBody>
      </p:sp>
      <p:sp>
        <p:nvSpPr>
          <p:cNvPr id="298" name="Google Shape;298;p49"/>
          <p:cNvSpPr txBox="1"/>
          <p:nvPr/>
        </p:nvSpPr>
        <p:spPr>
          <a:xfrm>
            <a:off x="7285037" y="1167776"/>
            <a:ext cx="786600" cy="367800"/>
          </a:xfrm>
          <a:prstGeom prst="rect">
            <a:avLst/>
          </a:prstGeom>
          <a:solidFill>
            <a:srgbClr val="980000"/>
          </a:solidFill>
          <a:ln cap="flat" cmpd="sng" w="9525">
            <a:solidFill>
              <a:srgbClr val="666666"/>
            </a:solidFill>
            <a:prstDash val="solid"/>
            <a:round/>
            <a:headEnd len="sm" w="sm" type="none"/>
            <a:tailEnd len="sm" w="sm" type="none"/>
          </a:ln>
        </p:spPr>
        <p:txBody>
          <a:bodyPr anchorCtr="0" anchor="t" bIns="84050" lIns="84050" spcFirstLastPara="1" rIns="84050" wrap="square" tIns="84050">
            <a:spAutoFit/>
          </a:bodyPr>
          <a:lstStyle/>
          <a:p>
            <a:pPr indent="0" lvl="0" marL="0" rtl="0" algn="ctr">
              <a:spcBef>
                <a:spcPts val="0"/>
              </a:spcBef>
              <a:spcAft>
                <a:spcPts val="0"/>
              </a:spcAft>
              <a:buNone/>
            </a:pPr>
            <a:r>
              <a:rPr b="1" lang="en" sz="1286">
                <a:solidFill>
                  <a:srgbClr val="FFFFFF"/>
                </a:solidFill>
                <a:latin typeface="Trebuchet MS"/>
                <a:ea typeface="Trebuchet MS"/>
                <a:cs typeface="Trebuchet MS"/>
                <a:sym typeface="Trebuchet MS"/>
              </a:rPr>
              <a:t>Data</a:t>
            </a:r>
            <a:endParaRPr sz="1286">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2" name="Shape 302"/>
        <p:cNvGrpSpPr/>
        <p:nvPr/>
      </p:nvGrpSpPr>
      <p:grpSpPr>
        <a:xfrm>
          <a:off x="0" y="0"/>
          <a:ext cx="0" cy="0"/>
          <a:chOff x="0" y="0"/>
          <a:chExt cx="0" cy="0"/>
        </a:xfrm>
      </p:grpSpPr>
      <p:sp>
        <p:nvSpPr>
          <p:cNvPr id="303" name="Google Shape;303;p5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History of AI/ML System</a:t>
            </a:r>
            <a:endParaRPr sz="2000">
              <a:solidFill>
                <a:schemeClr val="dk1"/>
              </a:solidFill>
              <a:latin typeface="Century Gothic"/>
              <a:ea typeface="Century Gothic"/>
              <a:cs typeface="Century Gothic"/>
              <a:sym typeface="Century Gothic"/>
            </a:endParaRPr>
          </a:p>
        </p:txBody>
      </p:sp>
      <p:sp>
        <p:nvSpPr>
          <p:cNvPr id="304" name="Google Shape;304;p5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305" name="Google Shape;305;p50"/>
          <p:cNvPicPr preferRelativeResize="0"/>
          <p:nvPr/>
        </p:nvPicPr>
        <p:blipFill>
          <a:blip r:embed="rId3">
            <a:alphaModFix/>
          </a:blip>
          <a:stretch>
            <a:fillRect/>
          </a:stretch>
        </p:blipFill>
        <p:spPr>
          <a:xfrm>
            <a:off x="1436750" y="1017950"/>
            <a:ext cx="6347749" cy="3600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9" name="Shape 309"/>
        <p:cNvGrpSpPr/>
        <p:nvPr/>
      </p:nvGrpSpPr>
      <p:grpSpPr>
        <a:xfrm>
          <a:off x="0" y="0"/>
          <a:ext cx="0" cy="0"/>
          <a:chOff x="0" y="0"/>
          <a:chExt cx="0" cy="0"/>
        </a:xfrm>
      </p:grpSpPr>
      <p:sp>
        <p:nvSpPr>
          <p:cNvPr id="310" name="Google Shape;310;p5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Taxonomy of AI/ML System</a:t>
            </a:r>
            <a:endParaRPr sz="2000">
              <a:solidFill>
                <a:schemeClr val="dk1"/>
              </a:solidFill>
              <a:latin typeface="Century Gothic"/>
              <a:ea typeface="Century Gothic"/>
              <a:cs typeface="Century Gothic"/>
              <a:sym typeface="Century Gothic"/>
            </a:endParaRPr>
          </a:p>
        </p:txBody>
      </p:sp>
      <p:sp>
        <p:nvSpPr>
          <p:cNvPr id="311" name="Google Shape;311;p5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312" name="Google Shape;312;p51"/>
          <p:cNvPicPr preferRelativeResize="0"/>
          <p:nvPr/>
        </p:nvPicPr>
        <p:blipFill>
          <a:blip r:embed="rId3">
            <a:alphaModFix/>
          </a:blip>
          <a:stretch>
            <a:fillRect/>
          </a:stretch>
        </p:blipFill>
        <p:spPr>
          <a:xfrm>
            <a:off x="1635300" y="1001250"/>
            <a:ext cx="5966774" cy="3538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16" name="Shape 316"/>
        <p:cNvGrpSpPr/>
        <p:nvPr/>
      </p:nvGrpSpPr>
      <p:grpSpPr>
        <a:xfrm>
          <a:off x="0" y="0"/>
          <a:ext cx="0" cy="0"/>
          <a:chOff x="0" y="0"/>
          <a:chExt cx="0" cy="0"/>
        </a:xfrm>
      </p:grpSpPr>
      <p:sp>
        <p:nvSpPr>
          <p:cNvPr id="317" name="Google Shape;317;p5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Capabilities and Use Cases</a:t>
            </a:r>
            <a:endParaRPr sz="2000">
              <a:solidFill>
                <a:schemeClr val="dk1"/>
              </a:solidFill>
              <a:latin typeface="Century Gothic"/>
              <a:ea typeface="Century Gothic"/>
              <a:cs typeface="Century Gothic"/>
              <a:sym typeface="Century Gothic"/>
            </a:endParaRPr>
          </a:p>
        </p:txBody>
      </p:sp>
      <p:sp>
        <p:nvSpPr>
          <p:cNvPr id="318" name="Google Shape;318;p5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grpSp>
        <p:nvGrpSpPr>
          <p:cNvPr id="319" name="Google Shape;319;p52"/>
          <p:cNvGrpSpPr/>
          <p:nvPr/>
        </p:nvGrpSpPr>
        <p:grpSpPr>
          <a:xfrm>
            <a:off x="752463" y="1151975"/>
            <a:ext cx="4169225" cy="3401876"/>
            <a:chOff x="630000" y="1303200"/>
            <a:chExt cx="6504251" cy="5424775"/>
          </a:xfrm>
        </p:grpSpPr>
        <p:pic>
          <p:nvPicPr>
            <p:cNvPr id="320" name="Google Shape;320;p52"/>
            <p:cNvPicPr preferRelativeResize="0"/>
            <p:nvPr/>
          </p:nvPicPr>
          <p:blipFill>
            <a:blip r:embed="rId3">
              <a:alphaModFix/>
            </a:blip>
            <a:stretch>
              <a:fillRect/>
            </a:stretch>
          </p:blipFill>
          <p:spPr>
            <a:xfrm>
              <a:off x="630000" y="1303200"/>
              <a:ext cx="6504251" cy="5424775"/>
            </a:xfrm>
            <a:prstGeom prst="rect">
              <a:avLst/>
            </a:prstGeom>
            <a:noFill/>
            <a:ln>
              <a:noFill/>
            </a:ln>
          </p:spPr>
        </p:pic>
        <p:pic>
          <p:nvPicPr>
            <p:cNvPr id="321" name="Google Shape;321;p52">
              <a:hlinkClick r:id="rId4"/>
            </p:cNvPr>
            <p:cNvPicPr preferRelativeResize="0"/>
            <p:nvPr/>
          </p:nvPicPr>
          <p:blipFill>
            <a:blip r:embed="rId5">
              <a:alphaModFix/>
            </a:blip>
            <a:stretch>
              <a:fillRect/>
            </a:stretch>
          </p:blipFill>
          <p:spPr>
            <a:xfrm>
              <a:off x="6440350" y="6537719"/>
              <a:ext cx="693900" cy="130106"/>
            </a:xfrm>
            <a:prstGeom prst="rect">
              <a:avLst/>
            </a:prstGeom>
            <a:noFill/>
            <a:ln>
              <a:noFill/>
            </a:ln>
          </p:spPr>
        </p:pic>
      </p:grpSp>
      <p:sp>
        <p:nvSpPr>
          <p:cNvPr id="322" name="Google Shape;322;p52"/>
          <p:cNvSpPr/>
          <p:nvPr/>
        </p:nvSpPr>
        <p:spPr>
          <a:xfrm>
            <a:off x="5246140" y="783450"/>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3" name="Google Shape;323;p52"/>
          <p:cNvPicPr preferRelativeResize="0"/>
          <p:nvPr/>
        </p:nvPicPr>
        <p:blipFill>
          <a:blip r:embed="rId6">
            <a:alphaModFix/>
          </a:blip>
          <a:stretch>
            <a:fillRect/>
          </a:stretch>
        </p:blipFill>
        <p:spPr>
          <a:xfrm>
            <a:off x="5334019" y="873088"/>
            <a:ext cx="352255" cy="341563"/>
          </a:xfrm>
          <a:prstGeom prst="rect">
            <a:avLst/>
          </a:prstGeom>
          <a:noFill/>
          <a:ln>
            <a:noFill/>
          </a:ln>
        </p:spPr>
      </p:pic>
      <p:sp>
        <p:nvSpPr>
          <p:cNvPr id="324" name="Google Shape;324;p52"/>
          <p:cNvSpPr/>
          <p:nvPr/>
        </p:nvSpPr>
        <p:spPr>
          <a:xfrm>
            <a:off x="5246140" y="1463291"/>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5" name="Google Shape;325;p52"/>
          <p:cNvPicPr preferRelativeResize="0"/>
          <p:nvPr/>
        </p:nvPicPr>
        <p:blipFill>
          <a:blip r:embed="rId7">
            <a:alphaModFix/>
          </a:blip>
          <a:stretch>
            <a:fillRect/>
          </a:stretch>
        </p:blipFill>
        <p:spPr>
          <a:xfrm>
            <a:off x="5425871" y="1601083"/>
            <a:ext cx="168555" cy="245254"/>
          </a:xfrm>
          <a:prstGeom prst="rect">
            <a:avLst/>
          </a:prstGeom>
          <a:noFill/>
          <a:ln>
            <a:noFill/>
          </a:ln>
        </p:spPr>
      </p:pic>
      <p:sp>
        <p:nvSpPr>
          <p:cNvPr id="326" name="Google Shape;326;p52"/>
          <p:cNvSpPr/>
          <p:nvPr/>
        </p:nvSpPr>
        <p:spPr>
          <a:xfrm>
            <a:off x="5246140" y="2143133"/>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7" name="Google Shape;327;p52"/>
          <p:cNvPicPr preferRelativeResize="0"/>
          <p:nvPr/>
        </p:nvPicPr>
        <p:blipFill>
          <a:blip r:embed="rId8">
            <a:alphaModFix/>
          </a:blip>
          <a:stretch>
            <a:fillRect/>
          </a:stretch>
        </p:blipFill>
        <p:spPr>
          <a:xfrm>
            <a:off x="5362049" y="2259950"/>
            <a:ext cx="296193" cy="287202"/>
          </a:xfrm>
          <a:prstGeom prst="rect">
            <a:avLst/>
          </a:prstGeom>
          <a:noFill/>
          <a:ln>
            <a:noFill/>
          </a:ln>
        </p:spPr>
      </p:pic>
      <p:sp>
        <p:nvSpPr>
          <p:cNvPr id="328" name="Google Shape;328;p52"/>
          <p:cNvSpPr/>
          <p:nvPr/>
        </p:nvSpPr>
        <p:spPr>
          <a:xfrm>
            <a:off x="5246140" y="2822974"/>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29" name="Google Shape;329;p52"/>
          <p:cNvPicPr preferRelativeResize="0"/>
          <p:nvPr/>
        </p:nvPicPr>
        <p:blipFill>
          <a:blip r:embed="rId9">
            <a:alphaModFix/>
          </a:blip>
          <a:stretch>
            <a:fillRect/>
          </a:stretch>
        </p:blipFill>
        <p:spPr>
          <a:xfrm>
            <a:off x="5362049" y="2939792"/>
            <a:ext cx="296193" cy="287203"/>
          </a:xfrm>
          <a:prstGeom prst="rect">
            <a:avLst/>
          </a:prstGeom>
          <a:noFill/>
          <a:ln>
            <a:noFill/>
          </a:ln>
        </p:spPr>
      </p:pic>
      <p:sp>
        <p:nvSpPr>
          <p:cNvPr id="330" name="Google Shape;330;p52"/>
          <p:cNvSpPr/>
          <p:nvPr/>
        </p:nvSpPr>
        <p:spPr>
          <a:xfrm>
            <a:off x="5246140" y="3502815"/>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1" name="Google Shape;331;p52"/>
          <p:cNvPicPr preferRelativeResize="0"/>
          <p:nvPr/>
        </p:nvPicPr>
        <p:blipFill>
          <a:blip r:embed="rId10">
            <a:alphaModFix/>
          </a:blip>
          <a:stretch>
            <a:fillRect/>
          </a:stretch>
        </p:blipFill>
        <p:spPr>
          <a:xfrm>
            <a:off x="5334028" y="3619633"/>
            <a:ext cx="352236" cy="341543"/>
          </a:xfrm>
          <a:prstGeom prst="rect">
            <a:avLst/>
          </a:prstGeom>
          <a:noFill/>
          <a:ln>
            <a:noFill/>
          </a:ln>
        </p:spPr>
      </p:pic>
      <p:sp>
        <p:nvSpPr>
          <p:cNvPr id="332" name="Google Shape;332;p52"/>
          <p:cNvSpPr/>
          <p:nvPr/>
        </p:nvSpPr>
        <p:spPr>
          <a:xfrm>
            <a:off x="5246140" y="4182656"/>
            <a:ext cx="528000" cy="520800"/>
          </a:xfrm>
          <a:prstGeom prst="ellipse">
            <a:avLst/>
          </a:prstGeom>
          <a:solidFill>
            <a:srgbClr val="434343"/>
          </a:solidFill>
          <a:ln cap="flat" cmpd="sng" w="9525">
            <a:solidFill>
              <a:srgbClr val="43434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33" name="Google Shape;333;p52"/>
          <p:cNvPicPr preferRelativeResize="0"/>
          <p:nvPr/>
        </p:nvPicPr>
        <p:blipFill>
          <a:blip r:embed="rId11">
            <a:alphaModFix/>
          </a:blip>
          <a:stretch>
            <a:fillRect/>
          </a:stretch>
        </p:blipFill>
        <p:spPr>
          <a:xfrm>
            <a:off x="5362049" y="4299474"/>
            <a:ext cx="296193" cy="287203"/>
          </a:xfrm>
          <a:prstGeom prst="rect">
            <a:avLst/>
          </a:prstGeom>
          <a:noFill/>
          <a:ln>
            <a:noFill/>
          </a:ln>
        </p:spPr>
      </p:pic>
      <p:sp>
        <p:nvSpPr>
          <p:cNvPr id="334" name="Google Shape;334;p52"/>
          <p:cNvSpPr txBox="1"/>
          <p:nvPr/>
        </p:nvSpPr>
        <p:spPr>
          <a:xfrm>
            <a:off x="5860327" y="896228"/>
            <a:ext cx="18900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Object Detection</a:t>
            </a:r>
            <a:endParaRPr sz="1100"/>
          </a:p>
        </p:txBody>
      </p:sp>
      <p:sp>
        <p:nvSpPr>
          <p:cNvPr id="335" name="Google Shape;335;p52"/>
          <p:cNvSpPr txBox="1"/>
          <p:nvPr/>
        </p:nvSpPr>
        <p:spPr>
          <a:xfrm>
            <a:off x="5860327" y="1576069"/>
            <a:ext cx="275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Speech Recognition / Sound Recognition</a:t>
            </a:r>
            <a:endParaRPr sz="1100"/>
          </a:p>
        </p:txBody>
      </p:sp>
      <p:sp>
        <p:nvSpPr>
          <p:cNvPr id="336" name="Google Shape;336;p52"/>
          <p:cNvSpPr txBox="1"/>
          <p:nvPr/>
        </p:nvSpPr>
        <p:spPr>
          <a:xfrm>
            <a:off x="5860327" y="2255911"/>
            <a:ext cx="275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NLP / Sentiment Analysis</a:t>
            </a:r>
            <a:endParaRPr sz="1100"/>
          </a:p>
        </p:txBody>
      </p:sp>
      <p:sp>
        <p:nvSpPr>
          <p:cNvPr id="337" name="Google Shape;337;p52"/>
          <p:cNvSpPr txBox="1"/>
          <p:nvPr/>
        </p:nvSpPr>
        <p:spPr>
          <a:xfrm>
            <a:off x="5860327" y="2931712"/>
            <a:ext cx="275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Predictions</a:t>
            </a:r>
            <a:endParaRPr sz="1100"/>
          </a:p>
        </p:txBody>
      </p:sp>
      <p:sp>
        <p:nvSpPr>
          <p:cNvPr id="338" name="Google Shape;338;p52"/>
          <p:cNvSpPr txBox="1"/>
          <p:nvPr/>
        </p:nvSpPr>
        <p:spPr>
          <a:xfrm>
            <a:off x="5860327" y="3607514"/>
            <a:ext cx="275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Translation between Languages</a:t>
            </a:r>
            <a:endParaRPr sz="1100"/>
          </a:p>
        </p:txBody>
      </p:sp>
      <p:sp>
        <p:nvSpPr>
          <p:cNvPr id="339" name="Google Shape;339;p52"/>
          <p:cNvSpPr txBox="1"/>
          <p:nvPr/>
        </p:nvSpPr>
        <p:spPr>
          <a:xfrm>
            <a:off x="5860327" y="4283316"/>
            <a:ext cx="2753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Restoration &amp; Transformation</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3" name="Shape 343"/>
        <p:cNvGrpSpPr/>
        <p:nvPr/>
      </p:nvGrpSpPr>
      <p:grpSpPr>
        <a:xfrm>
          <a:off x="0" y="0"/>
          <a:ext cx="0" cy="0"/>
          <a:chOff x="0" y="0"/>
          <a:chExt cx="0" cy="0"/>
        </a:xfrm>
      </p:grpSpPr>
      <p:sp>
        <p:nvSpPr>
          <p:cNvPr id="344" name="Google Shape;344;p5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Capabilities and Use Cases</a:t>
            </a:r>
            <a:endParaRPr sz="2000">
              <a:solidFill>
                <a:schemeClr val="dk1"/>
              </a:solidFill>
              <a:latin typeface="Century Gothic"/>
              <a:ea typeface="Century Gothic"/>
              <a:cs typeface="Century Gothic"/>
              <a:sym typeface="Century Gothic"/>
            </a:endParaRPr>
          </a:p>
        </p:txBody>
      </p:sp>
      <p:sp>
        <p:nvSpPr>
          <p:cNvPr id="345" name="Google Shape;345;p5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346" name="Google Shape;346;p53"/>
          <p:cNvSpPr/>
          <p:nvPr/>
        </p:nvSpPr>
        <p:spPr>
          <a:xfrm>
            <a:off x="1823168" y="1106250"/>
            <a:ext cx="6351900" cy="2093700"/>
          </a:xfrm>
          <a:prstGeom prst="rect">
            <a:avLst/>
          </a:prstGeom>
          <a:noFill/>
          <a:ln cap="flat" cmpd="sng" w="19050">
            <a:solidFill>
              <a:srgbClr val="18181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53"/>
          <p:cNvSpPr txBox="1"/>
          <p:nvPr/>
        </p:nvSpPr>
        <p:spPr>
          <a:xfrm>
            <a:off x="2027574" y="1181619"/>
            <a:ext cx="5943000" cy="338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i="1" lang="en" sz="1000">
                <a:solidFill>
                  <a:srgbClr val="03522D"/>
                </a:solidFill>
              </a:rPr>
              <a:t>100,000+</a:t>
            </a:r>
            <a:r>
              <a:rPr i="1" lang="en" sz="1000">
                <a:solidFill>
                  <a:srgbClr val="181818"/>
                </a:solidFill>
              </a:rPr>
              <a:t> </a:t>
            </a:r>
            <a:r>
              <a:rPr lang="en" sz="1000">
                <a:solidFill>
                  <a:srgbClr val="181818"/>
                </a:solidFill>
              </a:rPr>
              <a:t>customers have chosen AWS for AI to improve the quality of healthcare, and more.</a:t>
            </a:r>
            <a:endParaRPr i="1" sz="1000">
              <a:solidFill>
                <a:srgbClr val="181818"/>
              </a:solidFill>
            </a:endParaRPr>
          </a:p>
        </p:txBody>
      </p:sp>
      <p:sp>
        <p:nvSpPr>
          <p:cNvPr id="348" name="Google Shape;348;p53"/>
          <p:cNvSpPr txBox="1"/>
          <p:nvPr/>
        </p:nvSpPr>
        <p:spPr>
          <a:xfrm>
            <a:off x="2641014" y="2757242"/>
            <a:ext cx="161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rgbClr val="181818"/>
                </a:solidFill>
              </a:rPr>
              <a:t>Increase in Team Productivity</a:t>
            </a:r>
            <a:endParaRPr i="1" sz="800">
              <a:solidFill>
                <a:srgbClr val="181818"/>
              </a:solidFill>
            </a:endParaRPr>
          </a:p>
        </p:txBody>
      </p:sp>
      <p:sp>
        <p:nvSpPr>
          <p:cNvPr id="349" name="Google Shape;349;p53"/>
          <p:cNvSpPr txBox="1"/>
          <p:nvPr/>
        </p:nvSpPr>
        <p:spPr>
          <a:xfrm>
            <a:off x="2641023" y="1554621"/>
            <a:ext cx="5329500" cy="8619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100"/>
              <a:t>AWS’ pre-trained AI Services offer ready-made intelligence for your applications and workflows. Get started by powering your applications in minutes: </a:t>
            </a:r>
            <a:r>
              <a:rPr i="1" lang="en" sz="1100"/>
              <a:t>no machine learning knowledge required</a:t>
            </a:r>
            <a:r>
              <a:rPr lang="en" sz="1100"/>
              <a:t>.</a:t>
            </a:r>
            <a:endParaRPr b="1" sz="1100"/>
          </a:p>
        </p:txBody>
      </p:sp>
      <p:pic>
        <p:nvPicPr>
          <p:cNvPr id="350" name="Google Shape;350;p53"/>
          <p:cNvPicPr preferRelativeResize="0"/>
          <p:nvPr/>
        </p:nvPicPr>
        <p:blipFill rotWithShape="1">
          <a:blip r:embed="rId3">
            <a:alphaModFix/>
          </a:blip>
          <a:srcRect b="0" l="13650" r="20121" t="0"/>
          <a:stretch/>
        </p:blipFill>
        <p:spPr>
          <a:xfrm>
            <a:off x="1064025" y="1429800"/>
            <a:ext cx="1479900" cy="1446600"/>
          </a:xfrm>
          <a:prstGeom prst="ellipse">
            <a:avLst/>
          </a:prstGeom>
          <a:noFill/>
          <a:ln>
            <a:noFill/>
          </a:ln>
        </p:spPr>
      </p:pic>
      <p:pic>
        <p:nvPicPr>
          <p:cNvPr id="351" name="Google Shape;351;p53"/>
          <p:cNvPicPr preferRelativeResize="0"/>
          <p:nvPr/>
        </p:nvPicPr>
        <p:blipFill>
          <a:blip r:embed="rId4">
            <a:alphaModFix/>
          </a:blip>
          <a:stretch>
            <a:fillRect/>
          </a:stretch>
        </p:blipFill>
        <p:spPr>
          <a:xfrm>
            <a:off x="3012407" y="2492136"/>
            <a:ext cx="874852" cy="284890"/>
          </a:xfrm>
          <a:prstGeom prst="rect">
            <a:avLst/>
          </a:prstGeom>
          <a:noFill/>
          <a:ln>
            <a:noFill/>
          </a:ln>
        </p:spPr>
      </p:pic>
      <p:sp>
        <p:nvSpPr>
          <p:cNvPr id="352" name="Google Shape;352;p53"/>
          <p:cNvSpPr txBox="1"/>
          <p:nvPr/>
        </p:nvSpPr>
        <p:spPr>
          <a:xfrm>
            <a:off x="4524488" y="2757242"/>
            <a:ext cx="161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rgbClr val="181818"/>
                </a:solidFill>
              </a:rPr>
              <a:t>Reduction in Processing Time</a:t>
            </a:r>
            <a:endParaRPr i="1" sz="800">
              <a:solidFill>
                <a:srgbClr val="181818"/>
              </a:solidFill>
            </a:endParaRPr>
          </a:p>
        </p:txBody>
      </p:sp>
      <p:sp>
        <p:nvSpPr>
          <p:cNvPr id="353" name="Google Shape;353;p53"/>
          <p:cNvSpPr txBox="1"/>
          <p:nvPr/>
        </p:nvSpPr>
        <p:spPr>
          <a:xfrm>
            <a:off x="6352998" y="2757242"/>
            <a:ext cx="16176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i="1" lang="en" sz="800">
                <a:solidFill>
                  <a:srgbClr val="181818"/>
                </a:solidFill>
              </a:rPr>
              <a:t>Deep Learning projects have better prediction rates</a:t>
            </a:r>
            <a:endParaRPr i="1" sz="800">
              <a:solidFill>
                <a:srgbClr val="181818"/>
              </a:solidFill>
            </a:endParaRPr>
          </a:p>
        </p:txBody>
      </p:sp>
      <p:pic>
        <p:nvPicPr>
          <p:cNvPr id="354" name="Google Shape;354;p53"/>
          <p:cNvPicPr preferRelativeResize="0"/>
          <p:nvPr/>
        </p:nvPicPr>
        <p:blipFill>
          <a:blip r:embed="rId5">
            <a:alphaModFix/>
          </a:blip>
          <a:stretch>
            <a:fillRect/>
          </a:stretch>
        </p:blipFill>
        <p:spPr>
          <a:xfrm>
            <a:off x="4856947" y="2508883"/>
            <a:ext cx="897748" cy="284891"/>
          </a:xfrm>
          <a:prstGeom prst="rect">
            <a:avLst/>
          </a:prstGeom>
          <a:noFill/>
          <a:ln>
            <a:noFill/>
          </a:ln>
        </p:spPr>
      </p:pic>
      <p:pic>
        <p:nvPicPr>
          <p:cNvPr id="355" name="Google Shape;355;p53"/>
          <p:cNvPicPr preferRelativeResize="0"/>
          <p:nvPr/>
        </p:nvPicPr>
        <p:blipFill>
          <a:blip r:embed="rId6">
            <a:alphaModFix/>
          </a:blip>
          <a:stretch>
            <a:fillRect/>
          </a:stretch>
        </p:blipFill>
        <p:spPr>
          <a:xfrm>
            <a:off x="6661905" y="2492136"/>
            <a:ext cx="999831" cy="284890"/>
          </a:xfrm>
          <a:prstGeom prst="rect">
            <a:avLst/>
          </a:prstGeom>
          <a:noFill/>
          <a:ln>
            <a:noFill/>
          </a:ln>
        </p:spPr>
      </p:pic>
      <p:sp>
        <p:nvSpPr>
          <p:cNvPr id="356" name="Google Shape;356;p53"/>
          <p:cNvSpPr/>
          <p:nvPr/>
        </p:nvSpPr>
        <p:spPr>
          <a:xfrm>
            <a:off x="968850" y="3450150"/>
            <a:ext cx="7206300" cy="549300"/>
          </a:xfrm>
          <a:prstGeom prst="rect">
            <a:avLst/>
          </a:prstGeom>
          <a:noFill/>
          <a:ln cap="flat" cmpd="sng" w="19050">
            <a:solidFill>
              <a:srgbClr val="18181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53"/>
          <p:cNvSpPr txBox="1"/>
          <p:nvPr/>
        </p:nvSpPr>
        <p:spPr>
          <a:xfrm>
            <a:off x="1182526" y="3557355"/>
            <a:ext cx="1242900" cy="323100"/>
          </a:xfrm>
          <a:prstGeom prst="rect">
            <a:avLst/>
          </a:prstGeom>
          <a:noFill/>
          <a:ln cap="flat" cmpd="sng" w="9525">
            <a:solidFill>
              <a:srgbClr val="03522D"/>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900">
                <a:solidFill>
                  <a:srgbClr val="181818"/>
                </a:solidFill>
              </a:rPr>
              <a:t>Amazon Transcribe</a:t>
            </a:r>
            <a:endParaRPr sz="900">
              <a:solidFill>
                <a:srgbClr val="181818"/>
              </a:solidFill>
            </a:endParaRPr>
          </a:p>
        </p:txBody>
      </p:sp>
      <p:sp>
        <p:nvSpPr>
          <p:cNvPr id="358" name="Google Shape;358;p53"/>
          <p:cNvSpPr txBox="1"/>
          <p:nvPr/>
        </p:nvSpPr>
        <p:spPr>
          <a:xfrm>
            <a:off x="2527040" y="3557355"/>
            <a:ext cx="1043400" cy="323100"/>
          </a:xfrm>
          <a:prstGeom prst="rect">
            <a:avLst/>
          </a:prstGeom>
          <a:noFill/>
          <a:ln cap="flat" cmpd="sng" w="9525">
            <a:solidFill>
              <a:srgbClr val="03522D"/>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900">
                <a:solidFill>
                  <a:srgbClr val="181818"/>
                </a:solidFill>
              </a:rPr>
              <a:t>Amazon Polly</a:t>
            </a:r>
            <a:endParaRPr sz="900">
              <a:solidFill>
                <a:srgbClr val="181818"/>
              </a:solidFill>
            </a:endParaRPr>
          </a:p>
        </p:txBody>
      </p:sp>
      <p:sp>
        <p:nvSpPr>
          <p:cNvPr id="359" name="Google Shape;359;p53"/>
          <p:cNvSpPr txBox="1"/>
          <p:nvPr/>
        </p:nvSpPr>
        <p:spPr>
          <a:xfrm>
            <a:off x="3672014" y="3557355"/>
            <a:ext cx="1479900" cy="323100"/>
          </a:xfrm>
          <a:prstGeom prst="rect">
            <a:avLst/>
          </a:prstGeom>
          <a:solidFill>
            <a:srgbClr val="F3F3F3"/>
          </a:solidFill>
          <a:ln cap="flat" cmpd="sng" w="9525">
            <a:solidFill>
              <a:srgbClr val="03522D"/>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900">
                <a:solidFill>
                  <a:srgbClr val="0B5394"/>
                </a:solidFill>
                <a:uFill>
                  <a:noFill/>
                </a:uFill>
                <a:hlinkClick r:id="rId7">
                  <a:extLst>
                    <a:ext uri="{A12FA001-AC4F-418D-AE19-62706E023703}">
                      <ahyp:hlinkClr val="tx"/>
                    </a:ext>
                  </a:extLst>
                </a:hlinkClick>
              </a:rPr>
              <a:t>Amazon Comprehend</a:t>
            </a:r>
            <a:endParaRPr sz="900">
              <a:solidFill>
                <a:srgbClr val="0B5394"/>
              </a:solidFill>
            </a:endParaRPr>
          </a:p>
        </p:txBody>
      </p:sp>
      <p:sp>
        <p:nvSpPr>
          <p:cNvPr id="360" name="Google Shape;360;p53"/>
          <p:cNvSpPr txBox="1"/>
          <p:nvPr/>
        </p:nvSpPr>
        <p:spPr>
          <a:xfrm>
            <a:off x="5253379" y="3557355"/>
            <a:ext cx="1362000" cy="323100"/>
          </a:xfrm>
          <a:prstGeom prst="rect">
            <a:avLst/>
          </a:prstGeom>
          <a:noFill/>
          <a:ln cap="flat" cmpd="sng" w="9525">
            <a:solidFill>
              <a:srgbClr val="03522D"/>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900">
                <a:solidFill>
                  <a:srgbClr val="181818"/>
                </a:solidFill>
              </a:rPr>
              <a:t>Amazon Rekognition</a:t>
            </a:r>
            <a:endParaRPr sz="900">
              <a:solidFill>
                <a:srgbClr val="181818"/>
              </a:solidFill>
            </a:endParaRPr>
          </a:p>
        </p:txBody>
      </p:sp>
      <p:sp>
        <p:nvSpPr>
          <p:cNvPr id="361" name="Google Shape;361;p53"/>
          <p:cNvSpPr txBox="1"/>
          <p:nvPr/>
        </p:nvSpPr>
        <p:spPr>
          <a:xfrm>
            <a:off x="6717014" y="3557355"/>
            <a:ext cx="1244400" cy="323100"/>
          </a:xfrm>
          <a:prstGeom prst="rect">
            <a:avLst/>
          </a:prstGeom>
          <a:noFill/>
          <a:ln cap="flat" cmpd="sng" w="9525">
            <a:solidFill>
              <a:srgbClr val="03522D"/>
            </a:solidFill>
            <a:prstDash val="dot"/>
            <a:round/>
            <a:headEnd len="sm" w="sm" type="none"/>
            <a:tailEnd len="sm" w="sm" type="none"/>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sz="900">
                <a:solidFill>
                  <a:srgbClr val="181818"/>
                </a:solidFill>
              </a:rPr>
              <a:t>Amazon Translate</a:t>
            </a:r>
            <a:endParaRPr sz="900">
              <a:solidFill>
                <a:srgbClr val="181818"/>
              </a:solidFill>
            </a:endParaRPr>
          </a:p>
        </p:txBody>
      </p:sp>
      <p:sp>
        <p:nvSpPr>
          <p:cNvPr id="362" name="Google Shape;362;p53"/>
          <p:cNvSpPr txBox="1"/>
          <p:nvPr/>
        </p:nvSpPr>
        <p:spPr>
          <a:xfrm>
            <a:off x="2865727" y="4603425"/>
            <a:ext cx="3552900" cy="323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900" u="sng">
                <a:solidFill>
                  <a:schemeClr val="accent2"/>
                </a:solidFill>
                <a:hlinkClick r:id="rId8">
                  <a:extLst>
                    <a:ext uri="{A12FA001-AC4F-418D-AE19-62706E023703}">
                      <ahyp:hlinkClr val="tx"/>
                    </a:ext>
                  </a:extLst>
                </a:hlinkClick>
              </a:rPr>
              <a:t>https://ai-service-demos.go-aws.com/</a:t>
            </a:r>
            <a:endParaRPr sz="900">
              <a:solidFill>
                <a:schemeClr val="accent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6" name="Shape 366"/>
        <p:cNvGrpSpPr/>
        <p:nvPr/>
      </p:nvGrpSpPr>
      <p:grpSpPr>
        <a:xfrm>
          <a:off x="0" y="0"/>
          <a:ext cx="0" cy="0"/>
          <a:chOff x="0" y="0"/>
          <a:chExt cx="0" cy="0"/>
        </a:xfrm>
      </p:grpSpPr>
      <p:sp>
        <p:nvSpPr>
          <p:cNvPr id="367" name="Google Shape;367;p5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Capabilities and Use Cases</a:t>
            </a:r>
            <a:endParaRPr sz="2000">
              <a:solidFill>
                <a:schemeClr val="dk1"/>
              </a:solidFill>
              <a:latin typeface="Century Gothic"/>
              <a:ea typeface="Century Gothic"/>
              <a:cs typeface="Century Gothic"/>
              <a:sym typeface="Century Gothic"/>
            </a:endParaRPr>
          </a:p>
        </p:txBody>
      </p:sp>
      <p:sp>
        <p:nvSpPr>
          <p:cNvPr id="368" name="Google Shape;368;p5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369" name="Google Shape;369;p54"/>
          <p:cNvSpPr txBox="1"/>
          <p:nvPr/>
        </p:nvSpPr>
        <p:spPr>
          <a:xfrm>
            <a:off x="2865727" y="4603425"/>
            <a:ext cx="35529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i="1" lang="en" sz="900">
                <a:solidFill>
                  <a:schemeClr val="accent2"/>
                </a:solidFill>
              </a:rPr>
              <a:t>https://ham-or-spam.herokuapp.com/</a:t>
            </a:r>
            <a:endParaRPr i="1" sz="900">
              <a:solidFill>
                <a:schemeClr val="accent2"/>
              </a:solidFill>
            </a:endParaRPr>
          </a:p>
          <a:p>
            <a:pPr indent="0" lvl="0" marL="0" rtl="0" algn="ctr">
              <a:spcBef>
                <a:spcPts val="0"/>
              </a:spcBef>
              <a:spcAft>
                <a:spcPts val="0"/>
              </a:spcAft>
              <a:buClr>
                <a:schemeClr val="dk1"/>
              </a:buClr>
              <a:buSzPts val="1100"/>
              <a:buFont typeface="Arial"/>
              <a:buNone/>
            </a:pPr>
            <a:r>
              <a:t/>
            </a:r>
            <a:endParaRPr i="1" sz="900">
              <a:solidFill>
                <a:schemeClr val="accent2"/>
              </a:solidFill>
            </a:endParaRPr>
          </a:p>
          <a:p>
            <a:pPr indent="0" lvl="0" marL="0" rtl="0" algn="ctr">
              <a:spcBef>
                <a:spcPts val="0"/>
              </a:spcBef>
              <a:spcAft>
                <a:spcPts val="0"/>
              </a:spcAft>
              <a:buNone/>
            </a:pPr>
            <a:r>
              <a:t/>
            </a:r>
            <a:endParaRPr i="1" sz="900">
              <a:solidFill>
                <a:schemeClr val="accent2"/>
              </a:solidFill>
            </a:endParaRPr>
          </a:p>
        </p:txBody>
      </p:sp>
      <p:sp>
        <p:nvSpPr>
          <p:cNvPr id="370" name="Google Shape;370;p54"/>
          <p:cNvSpPr/>
          <p:nvPr/>
        </p:nvSpPr>
        <p:spPr>
          <a:xfrm>
            <a:off x="1823168" y="1106250"/>
            <a:ext cx="6351900" cy="2093700"/>
          </a:xfrm>
          <a:prstGeom prst="rect">
            <a:avLst/>
          </a:prstGeom>
          <a:noFill/>
          <a:ln cap="flat" cmpd="sng" w="19050">
            <a:solidFill>
              <a:srgbClr val="18181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4"/>
          <p:cNvSpPr txBox="1"/>
          <p:nvPr/>
        </p:nvSpPr>
        <p:spPr>
          <a:xfrm>
            <a:off x="2027574" y="1181619"/>
            <a:ext cx="5943000" cy="354000"/>
          </a:xfrm>
          <a:prstGeom prst="rect">
            <a:avLst/>
          </a:prstGeom>
          <a:noFill/>
          <a:ln>
            <a:noFill/>
          </a:ln>
        </p:spPr>
        <p:txBody>
          <a:bodyPr anchorCtr="0" anchor="t" bIns="91425" lIns="91425" spcFirstLastPara="1" rIns="91425" wrap="square" tIns="91425">
            <a:spAutoFit/>
          </a:bodyPr>
          <a:lstStyle/>
          <a:p>
            <a:pPr indent="0" lvl="0" marL="0" rtl="0" algn="ctr">
              <a:lnSpc>
                <a:spcPct val="183333"/>
              </a:lnSpc>
              <a:spcBef>
                <a:spcPts val="2400"/>
              </a:spcBef>
              <a:spcAft>
                <a:spcPts val="600"/>
              </a:spcAft>
              <a:buNone/>
            </a:pPr>
            <a:r>
              <a:rPr b="1" lang="en" sz="1100">
                <a:solidFill>
                  <a:srgbClr val="181818"/>
                </a:solidFill>
                <a:highlight>
                  <a:schemeClr val="lt1"/>
                </a:highlight>
              </a:rPr>
              <a:t>Ham-or-Spam - </a:t>
            </a:r>
            <a:r>
              <a:rPr i="1" lang="en" sz="1100">
                <a:solidFill>
                  <a:srgbClr val="181818"/>
                </a:solidFill>
                <a:highlight>
                  <a:schemeClr val="lt1"/>
                </a:highlight>
              </a:rPr>
              <a:t>An Intelligent spam filtering System</a:t>
            </a:r>
            <a:endParaRPr b="1" i="1" sz="1100">
              <a:solidFill>
                <a:srgbClr val="03522D"/>
              </a:solidFill>
            </a:endParaRPr>
          </a:p>
        </p:txBody>
      </p:sp>
      <p:sp>
        <p:nvSpPr>
          <p:cNvPr id="372" name="Google Shape;372;p54"/>
          <p:cNvSpPr txBox="1"/>
          <p:nvPr/>
        </p:nvSpPr>
        <p:spPr>
          <a:xfrm>
            <a:off x="2641023" y="1707021"/>
            <a:ext cx="5329500" cy="6081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lang="en" sz="1100">
                <a:solidFill>
                  <a:srgbClr val="181818"/>
                </a:solidFill>
              </a:rPr>
              <a:t>Ham-or-Spam is system which is used to classify the mails or messages or texts in two classes i.e. Ham or Spam. </a:t>
            </a:r>
            <a:endParaRPr sz="1100"/>
          </a:p>
        </p:txBody>
      </p:sp>
      <p:pic>
        <p:nvPicPr>
          <p:cNvPr id="373" name="Google Shape;373;p54"/>
          <p:cNvPicPr preferRelativeResize="0"/>
          <p:nvPr/>
        </p:nvPicPr>
        <p:blipFill>
          <a:blip r:embed="rId3">
            <a:alphaModFix/>
          </a:blip>
          <a:stretch>
            <a:fillRect/>
          </a:stretch>
        </p:blipFill>
        <p:spPr>
          <a:xfrm>
            <a:off x="1005425" y="1391100"/>
            <a:ext cx="1559400" cy="1524000"/>
          </a:xfrm>
          <a:prstGeom prst="ellipse">
            <a:avLst/>
          </a:prstGeom>
          <a:noFill/>
          <a:ln cap="flat" cmpd="sng" w="9525">
            <a:solidFill>
              <a:srgbClr val="181818"/>
            </a:solidFill>
            <a:prstDash val="solid"/>
            <a:round/>
            <a:headEnd len="sm" w="sm" type="none"/>
            <a:tailEnd len="sm" w="sm" type="none"/>
          </a:ln>
        </p:spPr>
      </p:pic>
      <p:sp>
        <p:nvSpPr>
          <p:cNvPr id="374" name="Google Shape;374;p54"/>
          <p:cNvSpPr txBox="1"/>
          <p:nvPr/>
        </p:nvSpPr>
        <p:spPr>
          <a:xfrm>
            <a:off x="2292525" y="2690688"/>
            <a:ext cx="54132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 sz="1000">
                <a:solidFill>
                  <a:srgbClr val="202122"/>
                </a:solidFill>
                <a:highlight>
                  <a:schemeClr val="lt1"/>
                </a:highlight>
              </a:rPr>
              <a:t>According to Statista, globally </a:t>
            </a:r>
            <a:r>
              <a:rPr b="1" i="1" lang="en" sz="1000">
                <a:solidFill>
                  <a:srgbClr val="202122"/>
                </a:solidFill>
                <a:highlight>
                  <a:schemeClr val="lt1"/>
                </a:highlight>
              </a:rPr>
              <a:t>45.1%</a:t>
            </a:r>
            <a:r>
              <a:rPr i="1" lang="en" sz="1000">
                <a:solidFill>
                  <a:srgbClr val="202122"/>
                </a:solidFill>
                <a:highlight>
                  <a:schemeClr val="lt1"/>
                </a:highlight>
              </a:rPr>
              <a:t> percentage of total email traffic were spam in 2021</a:t>
            </a:r>
            <a:endParaRPr i="1"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p5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Capabilities and Use Cases</a:t>
            </a:r>
            <a:endParaRPr sz="2000">
              <a:solidFill>
                <a:schemeClr val="dk1"/>
              </a:solidFill>
              <a:latin typeface="Century Gothic"/>
              <a:ea typeface="Century Gothic"/>
              <a:cs typeface="Century Gothic"/>
              <a:sym typeface="Century Gothic"/>
            </a:endParaRPr>
          </a:p>
        </p:txBody>
      </p:sp>
      <p:sp>
        <p:nvSpPr>
          <p:cNvPr id="380" name="Google Shape;380;p5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381" name="Google Shape;381;p55"/>
          <p:cNvPicPr preferRelativeResize="0"/>
          <p:nvPr/>
        </p:nvPicPr>
        <p:blipFill rotWithShape="1">
          <a:blip r:embed="rId3">
            <a:alphaModFix/>
          </a:blip>
          <a:srcRect b="0" l="57301" r="5237" t="0"/>
          <a:stretch/>
        </p:blipFill>
        <p:spPr>
          <a:xfrm>
            <a:off x="5411316" y="1757287"/>
            <a:ext cx="3205185" cy="2560901"/>
          </a:xfrm>
          <a:prstGeom prst="rect">
            <a:avLst/>
          </a:prstGeom>
          <a:noFill/>
          <a:ln>
            <a:noFill/>
          </a:ln>
        </p:spPr>
      </p:pic>
      <p:sp>
        <p:nvSpPr>
          <p:cNvPr id="382" name="Google Shape;382;p55"/>
          <p:cNvSpPr txBox="1"/>
          <p:nvPr/>
        </p:nvSpPr>
        <p:spPr>
          <a:xfrm>
            <a:off x="638750" y="978312"/>
            <a:ext cx="72018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rgbClr val="202124"/>
                </a:solidFill>
                <a:highlight>
                  <a:srgbClr val="FFFFFF"/>
                </a:highlight>
              </a:rPr>
              <a:t>Artificial Intelligence can improve the process of Hiring/Recruiting significantly</a:t>
            </a:r>
            <a:endParaRPr b="1" sz="1100"/>
          </a:p>
        </p:txBody>
      </p:sp>
      <p:cxnSp>
        <p:nvCxnSpPr>
          <p:cNvPr id="383" name="Google Shape;383;p55"/>
          <p:cNvCxnSpPr/>
          <p:nvPr/>
        </p:nvCxnSpPr>
        <p:spPr>
          <a:xfrm flipH="1" rot="10800000">
            <a:off x="693596" y="1272785"/>
            <a:ext cx="5307600" cy="23700"/>
          </a:xfrm>
          <a:prstGeom prst="straightConnector1">
            <a:avLst/>
          </a:prstGeom>
          <a:noFill/>
          <a:ln cap="flat" cmpd="sng" w="19050">
            <a:solidFill>
              <a:srgbClr val="666666"/>
            </a:solidFill>
            <a:prstDash val="solid"/>
            <a:round/>
            <a:headEnd len="med" w="med" type="none"/>
            <a:tailEnd len="med" w="med" type="none"/>
          </a:ln>
        </p:spPr>
      </p:cxnSp>
      <p:sp>
        <p:nvSpPr>
          <p:cNvPr id="384" name="Google Shape;384;p55"/>
          <p:cNvSpPr txBox="1"/>
          <p:nvPr/>
        </p:nvSpPr>
        <p:spPr>
          <a:xfrm>
            <a:off x="638751" y="1553250"/>
            <a:ext cx="4075800" cy="2893800"/>
          </a:xfrm>
          <a:prstGeom prst="rect">
            <a:avLst/>
          </a:prstGeom>
          <a:noFill/>
          <a:ln>
            <a:noFill/>
          </a:ln>
        </p:spPr>
        <p:txBody>
          <a:bodyPr anchorCtr="0" anchor="t" bIns="91425" lIns="91425" spcFirstLastPara="1" rIns="91425" wrap="square" tIns="91425">
            <a:spAutoFit/>
          </a:bodyPr>
          <a:lstStyle/>
          <a:p>
            <a:pPr indent="-330200" lvl="0" marL="457200" rtl="0" algn="l">
              <a:lnSpc>
                <a:spcPct val="250000"/>
              </a:lnSpc>
              <a:spcBef>
                <a:spcPts val="0"/>
              </a:spcBef>
              <a:spcAft>
                <a:spcPts val="0"/>
              </a:spcAft>
              <a:buClr>
                <a:srgbClr val="990028"/>
              </a:buClr>
              <a:buSzPts val="1600"/>
              <a:buChar char="●"/>
            </a:pPr>
            <a:r>
              <a:rPr b="1" lang="en" sz="1200">
                <a:solidFill>
                  <a:srgbClr val="181818"/>
                </a:solidFill>
              </a:rPr>
              <a:t>Establishing a fair recruitment process</a:t>
            </a:r>
            <a:endParaRPr b="1" sz="1200">
              <a:solidFill>
                <a:srgbClr val="181818"/>
              </a:solidFill>
            </a:endParaRPr>
          </a:p>
          <a:p>
            <a:pPr indent="-330200" lvl="0" marL="457200" rtl="0" algn="l">
              <a:lnSpc>
                <a:spcPct val="250000"/>
              </a:lnSpc>
              <a:spcBef>
                <a:spcPts val="0"/>
              </a:spcBef>
              <a:spcAft>
                <a:spcPts val="0"/>
              </a:spcAft>
              <a:buClr>
                <a:srgbClr val="990028"/>
              </a:buClr>
              <a:buSzPts val="1600"/>
              <a:buChar char="●"/>
            </a:pPr>
            <a:r>
              <a:rPr b="1" lang="en" sz="1200">
                <a:solidFill>
                  <a:srgbClr val="181818"/>
                </a:solidFill>
              </a:rPr>
              <a:t>Reducing errors in recruitment Process</a:t>
            </a:r>
            <a:endParaRPr b="1" sz="1200">
              <a:solidFill>
                <a:srgbClr val="181818"/>
              </a:solidFill>
            </a:endParaRPr>
          </a:p>
          <a:p>
            <a:pPr indent="-330200" lvl="0" marL="457200" rtl="0" algn="l">
              <a:lnSpc>
                <a:spcPct val="250000"/>
              </a:lnSpc>
              <a:spcBef>
                <a:spcPts val="0"/>
              </a:spcBef>
              <a:spcAft>
                <a:spcPts val="0"/>
              </a:spcAft>
              <a:buClr>
                <a:srgbClr val="990028"/>
              </a:buClr>
              <a:buSzPts val="1600"/>
              <a:buChar char="●"/>
            </a:pPr>
            <a:r>
              <a:rPr b="1" lang="en" sz="1200">
                <a:solidFill>
                  <a:srgbClr val="181818"/>
                </a:solidFill>
              </a:rPr>
              <a:t>Enabling better assessments</a:t>
            </a:r>
            <a:endParaRPr b="1" sz="1200">
              <a:solidFill>
                <a:srgbClr val="181818"/>
              </a:solidFill>
            </a:endParaRPr>
          </a:p>
          <a:p>
            <a:pPr indent="-330200" lvl="0" marL="457200" rtl="0" algn="l">
              <a:lnSpc>
                <a:spcPct val="250000"/>
              </a:lnSpc>
              <a:spcBef>
                <a:spcPts val="0"/>
              </a:spcBef>
              <a:spcAft>
                <a:spcPts val="0"/>
              </a:spcAft>
              <a:buClr>
                <a:srgbClr val="990028"/>
              </a:buClr>
              <a:buSzPts val="1600"/>
              <a:buChar char="●"/>
            </a:pPr>
            <a:r>
              <a:rPr b="1" lang="en" sz="1200">
                <a:solidFill>
                  <a:srgbClr val="181818"/>
                </a:solidFill>
              </a:rPr>
              <a:t>Increasing the use of analytics and metrics</a:t>
            </a:r>
            <a:endParaRPr b="1" sz="1200">
              <a:solidFill>
                <a:srgbClr val="181818"/>
              </a:solidFill>
            </a:endParaRPr>
          </a:p>
          <a:p>
            <a:pPr indent="-330200" lvl="0" marL="457200" rtl="0" algn="l">
              <a:lnSpc>
                <a:spcPct val="250000"/>
              </a:lnSpc>
              <a:spcBef>
                <a:spcPts val="0"/>
              </a:spcBef>
              <a:spcAft>
                <a:spcPts val="0"/>
              </a:spcAft>
              <a:buClr>
                <a:srgbClr val="990028"/>
              </a:buClr>
              <a:buSzPts val="1600"/>
              <a:buChar char="●"/>
            </a:pPr>
            <a:r>
              <a:rPr b="1" lang="en" sz="1200">
                <a:solidFill>
                  <a:srgbClr val="181818"/>
                </a:solidFill>
              </a:rPr>
              <a:t>Making the process faster and more efficient</a:t>
            </a:r>
            <a:endParaRPr b="1" sz="1200">
              <a:solidFill>
                <a:srgbClr val="181818"/>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8" name="Shape 388"/>
        <p:cNvGrpSpPr/>
        <p:nvPr/>
      </p:nvGrpSpPr>
      <p:grpSpPr>
        <a:xfrm>
          <a:off x="0" y="0"/>
          <a:ext cx="0" cy="0"/>
          <a:chOff x="0" y="0"/>
          <a:chExt cx="0" cy="0"/>
        </a:xfrm>
      </p:grpSpPr>
      <p:sp>
        <p:nvSpPr>
          <p:cNvPr id="389" name="Google Shape;389;p5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 Machine Learning</a:t>
            </a:r>
            <a:endParaRPr sz="2000">
              <a:solidFill>
                <a:schemeClr val="dk1"/>
              </a:solidFill>
              <a:latin typeface="Century Gothic"/>
              <a:ea typeface="Century Gothic"/>
              <a:cs typeface="Century Gothic"/>
              <a:sym typeface="Century Gothic"/>
            </a:endParaRPr>
          </a:p>
        </p:txBody>
      </p:sp>
      <p:sp>
        <p:nvSpPr>
          <p:cNvPr id="390" name="Google Shape;390;p5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391" name="Google Shape;391;p56"/>
          <p:cNvSpPr/>
          <p:nvPr/>
        </p:nvSpPr>
        <p:spPr>
          <a:xfrm>
            <a:off x="1098984" y="2419690"/>
            <a:ext cx="6503100" cy="2126100"/>
          </a:xfrm>
          <a:prstGeom prst="rect">
            <a:avLst/>
          </a:prstGeom>
          <a:noFill/>
          <a:ln cap="flat" cmpd="sng" w="22550">
            <a:solidFill>
              <a:srgbClr val="990028"/>
            </a:solidFill>
            <a:prstDash val="dot"/>
            <a:round/>
            <a:headEnd len="sm" w="sm" type="none"/>
            <a:tailEnd len="sm" w="sm" type="none"/>
          </a:ln>
        </p:spPr>
        <p:txBody>
          <a:bodyPr anchorCtr="0" anchor="ctr" bIns="108250" lIns="108250" spcFirstLastPara="1" rIns="108250" wrap="square" tIns="108250">
            <a:noAutofit/>
          </a:bodyPr>
          <a:lstStyle/>
          <a:p>
            <a:pPr indent="0" lvl="0" marL="0" rtl="0" algn="l">
              <a:spcBef>
                <a:spcPts val="0"/>
              </a:spcBef>
              <a:spcAft>
                <a:spcPts val="0"/>
              </a:spcAft>
              <a:buNone/>
            </a:pPr>
            <a:r>
              <a:t/>
            </a:r>
            <a:endParaRPr/>
          </a:p>
        </p:txBody>
      </p:sp>
      <p:sp>
        <p:nvSpPr>
          <p:cNvPr id="392" name="Google Shape;392;p56"/>
          <p:cNvSpPr/>
          <p:nvPr/>
        </p:nvSpPr>
        <p:spPr>
          <a:xfrm>
            <a:off x="4157346" y="1031425"/>
            <a:ext cx="2223900" cy="501000"/>
          </a:xfrm>
          <a:prstGeom prst="roundRect">
            <a:avLst>
              <a:gd fmla="val 16667" name="adj"/>
            </a:avLst>
          </a:prstGeom>
          <a:solidFill>
            <a:srgbClr val="980000"/>
          </a:solidFill>
          <a:ln cap="flat" cmpd="sng" w="11275">
            <a:solidFill>
              <a:schemeClr val="accent2"/>
            </a:solidFill>
            <a:prstDash val="solid"/>
            <a:round/>
            <a:headEnd len="sm" w="sm" type="none"/>
            <a:tailEnd len="sm" w="sm" type="none"/>
          </a:ln>
        </p:spPr>
        <p:txBody>
          <a:bodyPr anchorCtr="0" anchor="ctr" bIns="108250" lIns="108250" spcFirstLastPara="1" rIns="108250" wrap="square" tIns="108250">
            <a:noAutofit/>
          </a:bodyPr>
          <a:lstStyle/>
          <a:p>
            <a:pPr indent="0" lvl="0" marL="0" rtl="0" algn="ctr">
              <a:spcBef>
                <a:spcPts val="0"/>
              </a:spcBef>
              <a:spcAft>
                <a:spcPts val="0"/>
              </a:spcAft>
              <a:buNone/>
            </a:pPr>
            <a:r>
              <a:rPr b="1" lang="en" sz="1657">
                <a:solidFill>
                  <a:srgbClr val="FFFFFF"/>
                </a:solidFill>
                <a:latin typeface="Trebuchet MS"/>
                <a:ea typeface="Trebuchet MS"/>
                <a:cs typeface="Trebuchet MS"/>
                <a:sym typeface="Trebuchet MS"/>
              </a:rPr>
              <a:t>Machine Learning</a:t>
            </a:r>
            <a:endParaRPr b="1" sz="1657">
              <a:solidFill>
                <a:srgbClr val="FFFFFF"/>
              </a:solidFill>
              <a:latin typeface="Trebuchet MS"/>
              <a:ea typeface="Trebuchet MS"/>
              <a:cs typeface="Trebuchet MS"/>
              <a:sym typeface="Trebuchet MS"/>
            </a:endParaRPr>
          </a:p>
        </p:txBody>
      </p:sp>
      <p:cxnSp>
        <p:nvCxnSpPr>
          <p:cNvPr id="393" name="Google Shape;393;p56"/>
          <p:cNvCxnSpPr/>
          <p:nvPr/>
        </p:nvCxnSpPr>
        <p:spPr>
          <a:xfrm flipH="1" rot="10800000">
            <a:off x="1634238" y="1732621"/>
            <a:ext cx="3654600" cy="14100"/>
          </a:xfrm>
          <a:prstGeom prst="straightConnector1">
            <a:avLst/>
          </a:prstGeom>
          <a:noFill/>
          <a:ln cap="flat" cmpd="sng" w="22550">
            <a:solidFill>
              <a:srgbClr val="575757"/>
            </a:solidFill>
            <a:prstDash val="dot"/>
            <a:round/>
            <a:headEnd len="med" w="med" type="none"/>
            <a:tailEnd len="med" w="med" type="none"/>
          </a:ln>
        </p:spPr>
      </p:cxnSp>
      <p:cxnSp>
        <p:nvCxnSpPr>
          <p:cNvPr id="394" name="Google Shape;394;p56"/>
          <p:cNvCxnSpPr/>
          <p:nvPr/>
        </p:nvCxnSpPr>
        <p:spPr>
          <a:xfrm>
            <a:off x="5269376" y="1532399"/>
            <a:ext cx="8100" cy="235200"/>
          </a:xfrm>
          <a:prstGeom prst="straightConnector1">
            <a:avLst/>
          </a:prstGeom>
          <a:noFill/>
          <a:ln cap="flat" cmpd="sng" w="22550">
            <a:solidFill>
              <a:srgbClr val="575757"/>
            </a:solidFill>
            <a:prstDash val="dot"/>
            <a:round/>
            <a:headEnd len="med" w="med" type="none"/>
            <a:tailEnd len="med" w="med" type="none"/>
          </a:ln>
        </p:spPr>
      </p:cxnSp>
      <p:cxnSp>
        <p:nvCxnSpPr>
          <p:cNvPr id="395" name="Google Shape;395;p56"/>
          <p:cNvCxnSpPr/>
          <p:nvPr/>
        </p:nvCxnSpPr>
        <p:spPr>
          <a:xfrm flipH="1">
            <a:off x="1632438" y="1737186"/>
            <a:ext cx="1800" cy="445800"/>
          </a:xfrm>
          <a:prstGeom prst="straightConnector1">
            <a:avLst/>
          </a:prstGeom>
          <a:noFill/>
          <a:ln cap="flat" cmpd="sng" w="22550">
            <a:solidFill>
              <a:srgbClr val="575757"/>
            </a:solidFill>
            <a:prstDash val="dot"/>
            <a:round/>
            <a:headEnd len="med" w="med" type="none"/>
            <a:tailEnd len="med" w="med" type="none"/>
          </a:ln>
        </p:spPr>
      </p:cxnSp>
      <p:sp>
        <p:nvSpPr>
          <p:cNvPr id="396" name="Google Shape;396;p56"/>
          <p:cNvSpPr/>
          <p:nvPr/>
        </p:nvSpPr>
        <p:spPr>
          <a:xfrm>
            <a:off x="752460" y="2183012"/>
            <a:ext cx="1761600" cy="501000"/>
          </a:xfrm>
          <a:prstGeom prst="roundRect">
            <a:avLst>
              <a:gd fmla="val 16667" name="adj"/>
            </a:avLst>
          </a:prstGeom>
          <a:solidFill>
            <a:schemeClr val="accent1"/>
          </a:solidFill>
          <a:ln cap="flat" cmpd="sng" w="11275">
            <a:solidFill>
              <a:schemeClr val="accent1"/>
            </a:solidFill>
            <a:prstDash val="solid"/>
            <a:round/>
            <a:headEnd len="sm" w="sm" type="none"/>
            <a:tailEnd len="sm" w="sm" type="none"/>
          </a:ln>
        </p:spPr>
        <p:txBody>
          <a:bodyPr anchorCtr="0" anchor="ctr" bIns="108250" lIns="108250" spcFirstLastPara="1" rIns="108250" wrap="square" tIns="108250">
            <a:noAutofit/>
          </a:bodyPr>
          <a:lstStyle/>
          <a:p>
            <a:pPr indent="0" lvl="0" marL="0" rtl="0" algn="ctr">
              <a:spcBef>
                <a:spcPts val="0"/>
              </a:spcBef>
              <a:spcAft>
                <a:spcPts val="0"/>
              </a:spcAft>
              <a:buNone/>
            </a:pPr>
            <a:r>
              <a:rPr b="1" lang="en" sz="1657">
                <a:solidFill>
                  <a:srgbClr val="FFFFFF"/>
                </a:solidFill>
                <a:latin typeface="Trebuchet MS"/>
                <a:ea typeface="Trebuchet MS"/>
                <a:cs typeface="Trebuchet MS"/>
                <a:sym typeface="Trebuchet MS"/>
              </a:rPr>
              <a:t>Supervised</a:t>
            </a:r>
            <a:endParaRPr b="1" sz="1657">
              <a:solidFill>
                <a:srgbClr val="FFFFFF"/>
              </a:solidFill>
              <a:latin typeface="Trebuchet MS"/>
              <a:ea typeface="Trebuchet MS"/>
              <a:cs typeface="Trebuchet MS"/>
              <a:sym typeface="Trebuchet MS"/>
            </a:endParaRPr>
          </a:p>
        </p:txBody>
      </p:sp>
      <p:cxnSp>
        <p:nvCxnSpPr>
          <p:cNvPr id="397" name="Google Shape;397;p56"/>
          <p:cNvCxnSpPr/>
          <p:nvPr/>
        </p:nvCxnSpPr>
        <p:spPr>
          <a:xfrm flipH="1">
            <a:off x="4347013" y="2429805"/>
            <a:ext cx="600" cy="2118900"/>
          </a:xfrm>
          <a:prstGeom prst="straightConnector1">
            <a:avLst/>
          </a:prstGeom>
          <a:noFill/>
          <a:ln cap="flat" cmpd="sng" w="22550">
            <a:solidFill>
              <a:srgbClr val="990028"/>
            </a:solidFill>
            <a:prstDash val="dot"/>
            <a:round/>
            <a:headEnd len="med" w="med" type="none"/>
            <a:tailEnd len="med" w="med" type="none"/>
          </a:ln>
        </p:spPr>
      </p:cxnSp>
      <p:grpSp>
        <p:nvGrpSpPr>
          <p:cNvPr id="398" name="Google Shape;398;p56"/>
          <p:cNvGrpSpPr/>
          <p:nvPr/>
        </p:nvGrpSpPr>
        <p:grpSpPr>
          <a:xfrm>
            <a:off x="3481966" y="3132810"/>
            <a:ext cx="780559" cy="669350"/>
            <a:chOff x="3423125" y="2940300"/>
            <a:chExt cx="987050" cy="873825"/>
          </a:xfrm>
        </p:grpSpPr>
        <p:sp>
          <p:nvSpPr>
            <p:cNvPr id="399" name="Google Shape;399;p56"/>
            <p:cNvSpPr/>
            <p:nvPr/>
          </p:nvSpPr>
          <p:spPr>
            <a:xfrm>
              <a:off x="3423125" y="3093750"/>
              <a:ext cx="282300" cy="273900"/>
            </a:xfrm>
            <a:prstGeom prst="ellipse">
              <a:avLst/>
            </a:prstGeom>
            <a:noFill/>
            <a:ln cap="flat" cmpd="sng" w="11275">
              <a:solidFill>
                <a:srgbClr val="29BA74"/>
              </a:solidFill>
              <a:prstDash val="solid"/>
              <a:round/>
              <a:headEnd len="sm" w="sm" type="none"/>
              <a:tailEnd len="sm" w="sm" type="none"/>
            </a:ln>
          </p:spPr>
          <p:txBody>
            <a:bodyPr anchorCtr="0" anchor="ctr" bIns="108250" lIns="108250" spcFirstLastPara="1" rIns="108250" wrap="square" tIns="108250">
              <a:noAutofit/>
            </a:bodyPr>
            <a:lstStyle/>
            <a:p>
              <a:pPr indent="0" lvl="0" marL="0" rtl="0" algn="l">
                <a:spcBef>
                  <a:spcPts val="0"/>
                </a:spcBef>
                <a:spcAft>
                  <a:spcPts val="0"/>
                </a:spcAft>
                <a:buNone/>
              </a:pPr>
              <a:r>
                <a:t/>
              </a:r>
              <a:endParaRPr/>
            </a:p>
          </p:txBody>
        </p:sp>
        <p:sp>
          <p:nvSpPr>
            <p:cNvPr id="400" name="Google Shape;400;p56"/>
            <p:cNvSpPr/>
            <p:nvPr/>
          </p:nvSpPr>
          <p:spPr>
            <a:xfrm>
              <a:off x="3775500" y="2940300"/>
              <a:ext cx="282300" cy="273900"/>
            </a:xfrm>
            <a:prstGeom prst="ellipse">
              <a:avLst/>
            </a:prstGeom>
            <a:noFill/>
            <a:ln cap="flat" cmpd="sng" w="11275">
              <a:solidFill>
                <a:srgbClr val="29BA74"/>
              </a:solidFill>
              <a:prstDash val="solid"/>
              <a:round/>
              <a:headEnd len="sm" w="sm" type="none"/>
              <a:tailEnd len="sm" w="sm" type="none"/>
            </a:ln>
          </p:spPr>
          <p:txBody>
            <a:bodyPr anchorCtr="0" anchor="ctr" bIns="108250" lIns="108250" spcFirstLastPara="1" rIns="108250" wrap="square" tIns="108250">
              <a:noAutofit/>
            </a:bodyPr>
            <a:lstStyle/>
            <a:p>
              <a:pPr indent="0" lvl="0" marL="0" rtl="0" algn="l">
                <a:spcBef>
                  <a:spcPts val="0"/>
                </a:spcBef>
                <a:spcAft>
                  <a:spcPts val="0"/>
                </a:spcAft>
                <a:buNone/>
              </a:pPr>
              <a:r>
                <a:t/>
              </a:r>
              <a:endParaRPr/>
            </a:p>
          </p:txBody>
        </p:sp>
        <p:sp>
          <p:nvSpPr>
            <p:cNvPr id="401" name="Google Shape;401;p56"/>
            <p:cNvSpPr/>
            <p:nvPr/>
          </p:nvSpPr>
          <p:spPr>
            <a:xfrm>
              <a:off x="4127875" y="3093750"/>
              <a:ext cx="282300" cy="273900"/>
            </a:xfrm>
            <a:prstGeom prst="ellipse">
              <a:avLst/>
            </a:prstGeom>
            <a:noFill/>
            <a:ln cap="flat" cmpd="sng" w="11275">
              <a:solidFill>
                <a:srgbClr val="29BA74"/>
              </a:solidFill>
              <a:prstDash val="solid"/>
              <a:round/>
              <a:headEnd len="sm" w="sm" type="none"/>
              <a:tailEnd len="sm" w="sm" type="none"/>
            </a:ln>
          </p:spPr>
          <p:txBody>
            <a:bodyPr anchorCtr="0" anchor="ctr" bIns="108250" lIns="108250" spcFirstLastPara="1" rIns="108250" wrap="square" tIns="108250">
              <a:noAutofit/>
            </a:bodyPr>
            <a:lstStyle/>
            <a:p>
              <a:pPr indent="0" lvl="0" marL="0" rtl="0" algn="l">
                <a:spcBef>
                  <a:spcPts val="0"/>
                </a:spcBef>
                <a:spcAft>
                  <a:spcPts val="0"/>
                </a:spcAft>
                <a:buNone/>
              </a:pPr>
              <a:r>
                <a:t/>
              </a:r>
              <a:endParaRPr/>
            </a:p>
          </p:txBody>
        </p:sp>
        <p:sp>
          <p:nvSpPr>
            <p:cNvPr id="402" name="Google Shape;402;p56"/>
            <p:cNvSpPr/>
            <p:nvPr/>
          </p:nvSpPr>
          <p:spPr>
            <a:xfrm>
              <a:off x="3775500" y="3540225"/>
              <a:ext cx="282300" cy="273900"/>
            </a:xfrm>
            <a:prstGeom prst="ellipse">
              <a:avLst/>
            </a:prstGeom>
            <a:noFill/>
            <a:ln cap="flat" cmpd="sng" w="11275">
              <a:solidFill>
                <a:srgbClr val="03522D"/>
              </a:solidFill>
              <a:prstDash val="solid"/>
              <a:round/>
              <a:headEnd len="sm" w="sm" type="none"/>
              <a:tailEnd len="sm" w="sm" type="none"/>
            </a:ln>
          </p:spPr>
          <p:txBody>
            <a:bodyPr anchorCtr="0" anchor="ctr" bIns="108250" lIns="108250" spcFirstLastPara="1" rIns="108250" wrap="square" tIns="108250">
              <a:noAutofit/>
            </a:bodyPr>
            <a:lstStyle/>
            <a:p>
              <a:pPr indent="0" lvl="0" marL="0" rtl="0" algn="l">
                <a:spcBef>
                  <a:spcPts val="0"/>
                </a:spcBef>
                <a:spcAft>
                  <a:spcPts val="0"/>
                </a:spcAft>
                <a:buNone/>
              </a:pPr>
              <a:r>
                <a:t/>
              </a:r>
              <a:endParaRPr/>
            </a:p>
          </p:txBody>
        </p:sp>
        <p:cxnSp>
          <p:nvCxnSpPr>
            <p:cNvPr id="403" name="Google Shape;403;p56"/>
            <p:cNvCxnSpPr>
              <a:stCxn id="401" idx="3"/>
              <a:endCxn id="402" idx="7"/>
            </p:cNvCxnSpPr>
            <p:nvPr/>
          </p:nvCxnSpPr>
          <p:spPr>
            <a:xfrm flipH="1">
              <a:off x="4016517" y="3327538"/>
              <a:ext cx="152700" cy="252900"/>
            </a:xfrm>
            <a:prstGeom prst="straightConnector1">
              <a:avLst/>
            </a:prstGeom>
            <a:noFill/>
            <a:ln cap="flat" cmpd="sng" w="11275">
              <a:solidFill>
                <a:srgbClr val="575757"/>
              </a:solidFill>
              <a:prstDash val="solid"/>
              <a:round/>
              <a:headEnd len="med" w="med" type="none"/>
              <a:tailEnd len="med" w="med" type="triangle"/>
            </a:ln>
          </p:spPr>
        </p:cxnSp>
        <p:cxnSp>
          <p:nvCxnSpPr>
            <p:cNvPr id="404" name="Google Shape;404;p56"/>
            <p:cNvCxnSpPr>
              <a:stCxn id="399" idx="5"/>
              <a:endCxn id="402" idx="1"/>
            </p:cNvCxnSpPr>
            <p:nvPr/>
          </p:nvCxnSpPr>
          <p:spPr>
            <a:xfrm>
              <a:off x="3664083" y="3327538"/>
              <a:ext cx="152700" cy="252900"/>
            </a:xfrm>
            <a:prstGeom prst="straightConnector1">
              <a:avLst/>
            </a:prstGeom>
            <a:noFill/>
            <a:ln cap="flat" cmpd="sng" w="11275">
              <a:solidFill>
                <a:srgbClr val="575757"/>
              </a:solidFill>
              <a:prstDash val="solid"/>
              <a:round/>
              <a:headEnd len="med" w="med" type="none"/>
              <a:tailEnd len="med" w="med" type="triangle"/>
            </a:ln>
          </p:spPr>
        </p:cxnSp>
        <p:cxnSp>
          <p:nvCxnSpPr>
            <p:cNvPr id="405" name="Google Shape;405;p56"/>
            <p:cNvCxnSpPr>
              <a:stCxn id="400" idx="4"/>
              <a:endCxn id="402" idx="0"/>
            </p:cNvCxnSpPr>
            <p:nvPr/>
          </p:nvCxnSpPr>
          <p:spPr>
            <a:xfrm>
              <a:off x="3916650" y="3214200"/>
              <a:ext cx="0" cy="326100"/>
            </a:xfrm>
            <a:prstGeom prst="straightConnector1">
              <a:avLst/>
            </a:prstGeom>
            <a:noFill/>
            <a:ln cap="flat" cmpd="sng" w="11275">
              <a:solidFill>
                <a:srgbClr val="575757"/>
              </a:solidFill>
              <a:prstDash val="solid"/>
              <a:round/>
              <a:headEnd len="med" w="med" type="none"/>
              <a:tailEnd len="med" w="med" type="triangle"/>
            </a:ln>
          </p:spPr>
        </p:cxnSp>
      </p:grpSp>
      <p:sp>
        <p:nvSpPr>
          <p:cNvPr id="406" name="Google Shape;406;p56"/>
          <p:cNvSpPr txBox="1"/>
          <p:nvPr/>
        </p:nvSpPr>
        <p:spPr>
          <a:xfrm>
            <a:off x="1173344" y="3067296"/>
            <a:ext cx="2223900" cy="1239300"/>
          </a:xfrm>
          <a:prstGeom prst="rect">
            <a:avLst/>
          </a:prstGeom>
          <a:noFill/>
          <a:ln>
            <a:noFill/>
          </a:ln>
        </p:spPr>
        <p:txBody>
          <a:bodyPr anchorCtr="0" anchor="t" bIns="108250" lIns="108250" spcFirstLastPara="1" rIns="108250" wrap="square" tIns="108250">
            <a:spAutoFit/>
          </a:bodyPr>
          <a:lstStyle/>
          <a:p>
            <a:pPr indent="0" lvl="0" marL="0" rtl="0" algn="just">
              <a:lnSpc>
                <a:spcPct val="200000"/>
              </a:lnSpc>
              <a:spcBef>
                <a:spcPts val="0"/>
              </a:spcBef>
              <a:spcAft>
                <a:spcPts val="0"/>
              </a:spcAft>
              <a:buNone/>
            </a:pPr>
            <a:r>
              <a:rPr i="1" lang="en" sz="947">
                <a:solidFill>
                  <a:srgbClr val="575757"/>
                </a:solidFill>
                <a:latin typeface="Trebuchet MS"/>
                <a:ea typeface="Trebuchet MS"/>
                <a:cs typeface="Trebuchet MS"/>
                <a:sym typeface="Trebuchet MS"/>
              </a:rPr>
              <a:t>An algorithm uses training data and feedback from human users to learn the relationship between given inputs and a given output</a:t>
            </a:r>
            <a:endParaRPr i="1" sz="947">
              <a:solidFill>
                <a:srgbClr val="575757"/>
              </a:solidFill>
              <a:latin typeface="Trebuchet MS"/>
              <a:ea typeface="Trebuchet MS"/>
              <a:cs typeface="Trebuchet MS"/>
              <a:sym typeface="Trebuchet MS"/>
            </a:endParaRPr>
          </a:p>
        </p:txBody>
      </p:sp>
      <p:sp>
        <p:nvSpPr>
          <p:cNvPr id="407" name="Google Shape;407;p56"/>
          <p:cNvSpPr txBox="1"/>
          <p:nvPr/>
        </p:nvSpPr>
        <p:spPr>
          <a:xfrm>
            <a:off x="1104582" y="2828655"/>
            <a:ext cx="2531400" cy="400800"/>
          </a:xfrm>
          <a:prstGeom prst="rect">
            <a:avLst/>
          </a:prstGeom>
          <a:noFill/>
          <a:ln>
            <a:noFill/>
          </a:ln>
        </p:spPr>
        <p:txBody>
          <a:bodyPr anchorCtr="0" anchor="t" bIns="108250" lIns="108250" spcFirstLastPara="1" rIns="108250" wrap="square" tIns="108250">
            <a:spAutoFit/>
          </a:bodyPr>
          <a:lstStyle/>
          <a:p>
            <a:pPr indent="0" lvl="0" marL="0" rtl="0" algn="l">
              <a:lnSpc>
                <a:spcPct val="150000"/>
              </a:lnSpc>
              <a:spcBef>
                <a:spcPts val="0"/>
              </a:spcBef>
              <a:spcAft>
                <a:spcPts val="0"/>
              </a:spcAft>
              <a:buNone/>
            </a:pPr>
            <a:r>
              <a:rPr b="1" lang="en" sz="1184">
                <a:solidFill>
                  <a:srgbClr val="575757"/>
                </a:solidFill>
                <a:latin typeface="Trebuchet MS"/>
                <a:ea typeface="Trebuchet MS"/>
                <a:cs typeface="Trebuchet MS"/>
                <a:sym typeface="Trebuchet MS"/>
              </a:rPr>
              <a:t>What is Supervised Learning?</a:t>
            </a:r>
            <a:endParaRPr b="1" sz="1184">
              <a:solidFill>
                <a:srgbClr val="575757"/>
              </a:solidFill>
              <a:latin typeface="Trebuchet MS"/>
              <a:ea typeface="Trebuchet MS"/>
              <a:cs typeface="Trebuchet MS"/>
              <a:sym typeface="Trebuchet MS"/>
            </a:endParaRPr>
          </a:p>
        </p:txBody>
      </p:sp>
      <p:sp>
        <p:nvSpPr>
          <p:cNvPr id="408" name="Google Shape;408;p56"/>
          <p:cNvSpPr txBox="1"/>
          <p:nvPr/>
        </p:nvSpPr>
        <p:spPr>
          <a:xfrm>
            <a:off x="4413580" y="2668287"/>
            <a:ext cx="3020700" cy="1822500"/>
          </a:xfrm>
          <a:prstGeom prst="rect">
            <a:avLst/>
          </a:prstGeom>
          <a:noFill/>
          <a:ln>
            <a:noFill/>
          </a:ln>
        </p:spPr>
        <p:txBody>
          <a:bodyPr anchorCtr="0" anchor="t" bIns="108250" lIns="108250" spcFirstLastPara="1" rIns="108250" wrap="square" tIns="108250">
            <a:spAutoFit/>
          </a:bodyPr>
          <a:lstStyle/>
          <a:p>
            <a:pPr indent="0" lvl="0" marL="0" rtl="0" algn="just">
              <a:lnSpc>
                <a:spcPct val="200000"/>
              </a:lnSpc>
              <a:spcBef>
                <a:spcPts val="0"/>
              </a:spcBef>
              <a:spcAft>
                <a:spcPts val="0"/>
              </a:spcAft>
              <a:buNone/>
            </a:pPr>
            <a:r>
              <a:rPr b="1" i="1" lang="en" sz="947">
                <a:solidFill>
                  <a:srgbClr val="575757"/>
                </a:solidFill>
                <a:latin typeface="Trebuchet MS"/>
                <a:ea typeface="Trebuchet MS"/>
                <a:cs typeface="Trebuchet MS"/>
                <a:sym typeface="Trebuchet MS"/>
              </a:rPr>
              <a:t>Step 1.</a:t>
            </a:r>
            <a:r>
              <a:rPr i="1" lang="en" sz="947">
                <a:solidFill>
                  <a:srgbClr val="575757"/>
                </a:solidFill>
                <a:latin typeface="Trebuchet MS"/>
                <a:ea typeface="Trebuchet MS"/>
                <a:cs typeface="Trebuchet MS"/>
                <a:sym typeface="Trebuchet MS"/>
              </a:rPr>
              <a:t> Label input data that defines output variables.</a:t>
            </a:r>
            <a:endParaRPr i="1" sz="947">
              <a:solidFill>
                <a:srgbClr val="575757"/>
              </a:solidFill>
              <a:latin typeface="Trebuchet MS"/>
              <a:ea typeface="Trebuchet MS"/>
              <a:cs typeface="Trebuchet MS"/>
              <a:sym typeface="Trebuchet MS"/>
            </a:endParaRPr>
          </a:p>
          <a:p>
            <a:pPr indent="0" lvl="0" marL="0" rtl="0" algn="just">
              <a:lnSpc>
                <a:spcPct val="200000"/>
              </a:lnSpc>
              <a:spcBef>
                <a:spcPts val="0"/>
              </a:spcBef>
              <a:spcAft>
                <a:spcPts val="0"/>
              </a:spcAft>
              <a:buNone/>
            </a:pPr>
            <a:r>
              <a:rPr b="1" i="1" lang="en" sz="947">
                <a:solidFill>
                  <a:srgbClr val="575757"/>
                </a:solidFill>
                <a:latin typeface="Trebuchet MS"/>
                <a:ea typeface="Trebuchet MS"/>
                <a:cs typeface="Trebuchet MS"/>
                <a:sym typeface="Trebuchet MS"/>
              </a:rPr>
              <a:t>Step 2.</a:t>
            </a:r>
            <a:r>
              <a:rPr i="1" lang="en" sz="947">
                <a:solidFill>
                  <a:srgbClr val="575757"/>
                </a:solidFill>
                <a:latin typeface="Trebuchet MS"/>
                <a:ea typeface="Trebuchet MS"/>
                <a:cs typeface="Trebuchet MS"/>
                <a:sym typeface="Trebuchet MS"/>
              </a:rPr>
              <a:t> Train the algorithm on the data to find the connection between input variables and output.</a:t>
            </a:r>
            <a:endParaRPr i="1" sz="947">
              <a:solidFill>
                <a:srgbClr val="575757"/>
              </a:solidFill>
              <a:latin typeface="Trebuchet MS"/>
              <a:ea typeface="Trebuchet MS"/>
              <a:cs typeface="Trebuchet MS"/>
              <a:sym typeface="Trebuchet MS"/>
            </a:endParaRPr>
          </a:p>
          <a:p>
            <a:pPr indent="0" lvl="0" marL="0" rtl="0" algn="just">
              <a:lnSpc>
                <a:spcPct val="200000"/>
              </a:lnSpc>
              <a:spcBef>
                <a:spcPts val="0"/>
              </a:spcBef>
              <a:spcAft>
                <a:spcPts val="0"/>
              </a:spcAft>
              <a:buNone/>
            </a:pPr>
            <a:r>
              <a:rPr b="1" i="1" lang="en" sz="947">
                <a:solidFill>
                  <a:srgbClr val="575757"/>
                </a:solidFill>
                <a:latin typeface="Trebuchet MS"/>
                <a:ea typeface="Trebuchet MS"/>
                <a:cs typeface="Trebuchet MS"/>
                <a:sym typeface="Trebuchet MS"/>
              </a:rPr>
              <a:t>Step 3.</a:t>
            </a:r>
            <a:r>
              <a:rPr i="1" lang="en" sz="947">
                <a:solidFill>
                  <a:srgbClr val="575757"/>
                </a:solidFill>
                <a:latin typeface="Trebuchet MS"/>
                <a:ea typeface="Trebuchet MS"/>
                <a:cs typeface="Trebuchet MS"/>
                <a:sym typeface="Trebuchet MS"/>
              </a:rPr>
              <a:t> Once training is complete, apply the algorithm to new data.</a:t>
            </a:r>
            <a:endParaRPr i="1" sz="947">
              <a:solidFill>
                <a:srgbClr val="575757"/>
              </a:solidFill>
              <a:latin typeface="Trebuchet MS"/>
              <a:ea typeface="Trebuchet MS"/>
              <a:cs typeface="Trebuchet MS"/>
              <a:sym typeface="Trebuchet MS"/>
            </a:endParaRPr>
          </a:p>
        </p:txBody>
      </p:sp>
      <p:sp>
        <p:nvSpPr>
          <p:cNvPr id="409" name="Google Shape;409;p56"/>
          <p:cNvSpPr txBox="1"/>
          <p:nvPr/>
        </p:nvSpPr>
        <p:spPr>
          <a:xfrm>
            <a:off x="4344807" y="2429655"/>
            <a:ext cx="2531400" cy="400800"/>
          </a:xfrm>
          <a:prstGeom prst="rect">
            <a:avLst/>
          </a:prstGeom>
          <a:noFill/>
          <a:ln>
            <a:noFill/>
          </a:ln>
        </p:spPr>
        <p:txBody>
          <a:bodyPr anchorCtr="0" anchor="t" bIns="108250" lIns="108250" spcFirstLastPara="1" rIns="108250" wrap="square" tIns="108250">
            <a:spAutoFit/>
          </a:bodyPr>
          <a:lstStyle/>
          <a:p>
            <a:pPr indent="0" lvl="0" marL="0" rtl="0" algn="just">
              <a:lnSpc>
                <a:spcPct val="150000"/>
              </a:lnSpc>
              <a:spcBef>
                <a:spcPts val="0"/>
              </a:spcBef>
              <a:spcAft>
                <a:spcPts val="0"/>
              </a:spcAft>
              <a:buNone/>
            </a:pPr>
            <a:r>
              <a:rPr b="1" lang="en" sz="1184">
                <a:solidFill>
                  <a:srgbClr val="575757"/>
                </a:solidFill>
                <a:latin typeface="Trebuchet MS"/>
                <a:ea typeface="Trebuchet MS"/>
                <a:cs typeface="Trebuchet MS"/>
                <a:sym typeface="Trebuchet MS"/>
              </a:rPr>
              <a:t>How it works?</a:t>
            </a:r>
            <a:endParaRPr b="1" sz="1184">
              <a:solidFill>
                <a:srgbClr val="575757"/>
              </a:solidFill>
              <a:latin typeface="Trebuchet MS"/>
              <a:ea typeface="Trebuchet MS"/>
              <a:cs typeface="Trebuchet MS"/>
              <a:sym typeface="Trebuchet M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3" name="Shape 413"/>
        <p:cNvGrpSpPr/>
        <p:nvPr/>
      </p:nvGrpSpPr>
      <p:grpSpPr>
        <a:xfrm>
          <a:off x="0" y="0"/>
          <a:ext cx="0" cy="0"/>
          <a:chOff x="0" y="0"/>
          <a:chExt cx="0" cy="0"/>
        </a:xfrm>
      </p:grpSpPr>
      <p:sp>
        <p:nvSpPr>
          <p:cNvPr id="414" name="Google Shape;414;p5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 Machine Learning</a:t>
            </a:r>
            <a:endParaRPr sz="2000">
              <a:solidFill>
                <a:schemeClr val="dk1"/>
              </a:solidFill>
              <a:latin typeface="Century Gothic"/>
              <a:ea typeface="Century Gothic"/>
              <a:cs typeface="Century Gothic"/>
              <a:sym typeface="Century Gothic"/>
            </a:endParaRPr>
          </a:p>
        </p:txBody>
      </p:sp>
      <p:sp>
        <p:nvSpPr>
          <p:cNvPr id="415" name="Google Shape;415;p5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16" name="Google Shape;416;p57"/>
          <p:cNvSpPr/>
          <p:nvPr/>
        </p:nvSpPr>
        <p:spPr>
          <a:xfrm>
            <a:off x="2415996" y="2317539"/>
            <a:ext cx="6167100" cy="1902900"/>
          </a:xfrm>
          <a:prstGeom prst="rect">
            <a:avLst/>
          </a:prstGeom>
          <a:noFill/>
          <a:ln cap="flat" cmpd="sng" w="20175">
            <a:solidFill>
              <a:srgbClr val="990028"/>
            </a:solidFill>
            <a:prstDash val="dot"/>
            <a:round/>
            <a:headEnd len="sm" w="sm" type="none"/>
            <a:tailEnd len="sm" w="sm" type="none"/>
          </a:ln>
        </p:spPr>
        <p:txBody>
          <a:bodyPr anchorCtr="0" anchor="ctr" bIns="96925" lIns="96925" spcFirstLastPara="1" rIns="96925" wrap="square" tIns="96925">
            <a:noAutofit/>
          </a:bodyPr>
          <a:lstStyle/>
          <a:p>
            <a:pPr indent="0" lvl="0" marL="0" rtl="0" algn="l">
              <a:spcBef>
                <a:spcPts val="0"/>
              </a:spcBef>
              <a:spcAft>
                <a:spcPts val="0"/>
              </a:spcAft>
              <a:buNone/>
            </a:pPr>
            <a:r>
              <a:t/>
            </a:r>
            <a:endParaRPr/>
          </a:p>
        </p:txBody>
      </p:sp>
      <p:sp>
        <p:nvSpPr>
          <p:cNvPr id="417" name="Google Shape;417;p57"/>
          <p:cNvSpPr/>
          <p:nvPr/>
        </p:nvSpPr>
        <p:spPr>
          <a:xfrm>
            <a:off x="3703126" y="1047500"/>
            <a:ext cx="1990800" cy="448500"/>
          </a:xfrm>
          <a:prstGeom prst="roundRect">
            <a:avLst>
              <a:gd fmla="val 16667" name="adj"/>
            </a:avLst>
          </a:prstGeom>
          <a:solidFill>
            <a:srgbClr val="980000"/>
          </a:solidFill>
          <a:ln cap="flat" cmpd="sng" w="10100">
            <a:solidFill>
              <a:schemeClr val="accent2"/>
            </a:solidFill>
            <a:prstDash val="solid"/>
            <a:round/>
            <a:headEnd len="sm" w="sm" type="none"/>
            <a:tailEnd len="sm" w="sm" type="none"/>
          </a:ln>
        </p:spPr>
        <p:txBody>
          <a:bodyPr anchorCtr="0" anchor="ctr" bIns="96925" lIns="96925" spcFirstLastPara="1" rIns="96925" wrap="square" tIns="96925">
            <a:noAutofit/>
          </a:bodyPr>
          <a:lstStyle/>
          <a:p>
            <a:pPr indent="0" lvl="0" marL="0" rtl="0" algn="ctr">
              <a:spcBef>
                <a:spcPts val="0"/>
              </a:spcBef>
              <a:spcAft>
                <a:spcPts val="0"/>
              </a:spcAft>
              <a:buNone/>
            </a:pPr>
            <a:r>
              <a:rPr b="1" lang="en" sz="1484">
                <a:solidFill>
                  <a:srgbClr val="FFFFFF"/>
                </a:solidFill>
                <a:latin typeface="Trebuchet MS"/>
                <a:ea typeface="Trebuchet MS"/>
                <a:cs typeface="Trebuchet MS"/>
                <a:sym typeface="Trebuchet MS"/>
              </a:rPr>
              <a:t>Machine Learning</a:t>
            </a:r>
            <a:endParaRPr b="1" sz="1484">
              <a:solidFill>
                <a:srgbClr val="FFFFFF"/>
              </a:solidFill>
              <a:latin typeface="Trebuchet MS"/>
              <a:ea typeface="Trebuchet MS"/>
              <a:cs typeface="Trebuchet MS"/>
              <a:sym typeface="Trebuchet MS"/>
            </a:endParaRPr>
          </a:p>
        </p:txBody>
      </p:sp>
      <p:cxnSp>
        <p:nvCxnSpPr>
          <p:cNvPr id="418" name="Google Shape;418;p57"/>
          <p:cNvCxnSpPr/>
          <p:nvPr/>
        </p:nvCxnSpPr>
        <p:spPr>
          <a:xfrm flipH="1" rot="10800000">
            <a:off x="1444423" y="1675234"/>
            <a:ext cx="3271800" cy="12600"/>
          </a:xfrm>
          <a:prstGeom prst="straightConnector1">
            <a:avLst/>
          </a:prstGeom>
          <a:noFill/>
          <a:ln cap="flat" cmpd="sng" w="20175">
            <a:solidFill>
              <a:srgbClr val="575757"/>
            </a:solidFill>
            <a:prstDash val="dot"/>
            <a:round/>
            <a:headEnd len="med" w="med" type="none"/>
            <a:tailEnd len="med" w="med" type="none"/>
          </a:ln>
        </p:spPr>
      </p:cxnSp>
      <p:cxnSp>
        <p:nvCxnSpPr>
          <p:cNvPr id="419" name="Google Shape;419;p57"/>
          <p:cNvCxnSpPr/>
          <p:nvPr/>
        </p:nvCxnSpPr>
        <p:spPr>
          <a:xfrm>
            <a:off x="4698622" y="1495972"/>
            <a:ext cx="7500" cy="210600"/>
          </a:xfrm>
          <a:prstGeom prst="straightConnector1">
            <a:avLst/>
          </a:prstGeom>
          <a:noFill/>
          <a:ln cap="flat" cmpd="sng" w="20175">
            <a:solidFill>
              <a:srgbClr val="575757"/>
            </a:solidFill>
            <a:prstDash val="dot"/>
            <a:round/>
            <a:headEnd len="med" w="med" type="none"/>
            <a:tailEnd len="med" w="med" type="none"/>
          </a:ln>
        </p:spPr>
      </p:cxnSp>
      <p:cxnSp>
        <p:nvCxnSpPr>
          <p:cNvPr id="420" name="Google Shape;420;p57"/>
          <p:cNvCxnSpPr/>
          <p:nvPr/>
        </p:nvCxnSpPr>
        <p:spPr>
          <a:xfrm flipH="1">
            <a:off x="1442923" y="1679298"/>
            <a:ext cx="1500" cy="399000"/>
          </a:xfrm>
          <a:prstGeom prst="straightConnector1">
            <a:avLst/>
          </a:prstGeom>
          <a:noFill/>
          <a:ln cap="flat" cmpd="sng" w="20175">
            <a:solidFill>
              <a:srgbClr val="575757"/>
            </a:solidFill>
            <a:prstDash val="dot"/>
            <a:round/>
            <a:headEnd len="med" w="med" type="none"/>
            <a:tailEnd len="med" w="med" type="none"/>
          </a:ln>
        </p:spPr>
      </p:cxnSp>
      <p:sp>
        <p:nvSpPr>
          <p:cNvPr id="421" name="Google Shape;421;p57"/>
          <p:cNvSpPr/>
          <p:nvPr/>
        </p:nvSpPr>
        <p:spPr>
          <a:xfrm>
            <a:off x="655050" y="2078402"/>
            <a:ext cx="1577100" cy="448500"/>
          </a:xfrm>
          <a:prstGeom prst="roundRect">
            <a:avLst>
              <a:gd fmla="val 16667" name="adj"/>
            </a:avLst>
          </a:prstGeom>
          <a:solidFill>
            <a:srgbClr val="999999"/>
          </a:solidFill>
          <a:ln cap="flat" cmpd="sng" w="10100">
            <a:solidFill>
              <a:srgbClr val="999999"/>
            </a:solidFill>
            <a:prstDash val="solid"/>
            <a:round/>
            <a:headEnd len="sm" w="sm" type="none"/>
            <a:tailEnd len="sm" w="sm" type="none"/>
          </a:ln>
        </p:spPr>
        <p:txBody>
          <a:bodyPr anchorCtr="0" anchor="ctr" bIns="96925" lIns="96925" spcFirstLastPara="1" rIns="96925" wrap="square" tIns="96925">
            <a:noAutofit/>
          </a:bodyPr>
          <a:lstStyle/>
          <a:p>
            <a:pPr indent="0" lvl="0" marL="0" rtl="0" algn="ctr">
              <a:spcBef>
                <a:spcPts val="0"/>
              </a:spcBef>
              <a:spcAft>
                <a:spcPts val="0"/>
              </a:spcAft>
              <a:buNone/>
            </a:pPr>
            <a:r>
              <a:rPr b="1" lang="en" sz="1484">
                <a:solidFill>
                  <a:srgbClr val="D9D9D9"/>
                </a:solidFill>
                <a:latin typeface="Trebuchet MS"/>
                <a:ea typeface="Trebuchet MS"/>
                <a:cs typeface="Trebuchet MS"/>
                <a:sym typeface="Trebuchet MS"/>
              </a:rPr>
              <a:t>Supervised</a:t>
            </a:r>
            <a:endParaRPr b="1" sz="1484">
              <a:solidFill>
                <a:srgbClr val="D9D9D9"/>
              </a:solidFill>
              <a:latin typeface="Trebuchet MS"/>
              <a:ea typeface="Trebuchet MS"/>
              <a:cs typeface="Trebuchet MS"/>
              <a:sym typeface="Trebuchet MS"/>
            </a:endParaRPr>
          </a:p>
        </p:txBody>
      </p:sp>
      <p:sp>
        <p:nvSpPr>
          <p:cNvPr id="422" name="Google Shape;422;p57"/>
          <p:cNvSpPr/>
          <p:nvPr/>
        </p:nvSpPr>
        <p:spPr>
          <a:xfrm>
            <a:off x="3913770" y="2078393"/>
            <a:ext cx="1577100" cy="448500"/>
          </a:xfrm>
          <a:prstGeom prst="roundRect">
            <a:avLst>
              <a:gd fmla="val 16667" name="adj"/>
            </a:avLst>
          </a:prstGeom>
          <a:solidFill>
            <a:schemeClr val="accent1"/>
          </a:solidFill>
          <a:ln cap="flat" cmpd="sng" w="10100">
            <a:solidFill>
              <a:schemeClr val="accent1"/>
            </a:solidFill>
            <a:prstDash val="solid"/>
            <a:round/>
            <a:headEnd len="sm" w="sm" type="none"/>
            <a:tailEnd len="sm" w="sm" type="none"/>
          </a:ln>
        </p:spPr>
        <p:txBody>
          <a:bodyPr anchorCtr="0" anchor="ctr" bIns="96925" lIns="96925" spcFirstLastPara="1" rIns="96925" wrap="square" tIns="96925">
            <a:noAutofit/>
          </a:bodyPr>
          <a:lstStyle/>
          <a:p>
            <a:pPr indent="0" lvl="0" marL="0" rtl="0" algn="ctr">
              <a:spcBef>
                <a:spcPts val="0"/>
              </a:spcBef>
              <a:spcAft>
                <a:spcPts val="0"/>
              </a:spcAft>
              <a:buNone/>
            </a:pPr>
            <a:r>
              <a:rPr b="1" lang="en" sz="1484">
                <a:solidFill>
                  <a:srgbClr val="FFFFFF"/>
                </a:solidFill>
                <a:latin typeface="Trebuchet MS"/>
                <a:ea typeface="Trebuchet MS"/>
                <a:cs typeface="Trebuchet MS"/>
                <a:sym typeface="Trebuchet MS"/>
              </a:rPr>
              <a:t>Unsupervised</a:t>
            </a:r>
            <a:endParaRPr b="1" sz="1484">
              <a:solidFill>
                <a:srgbClr val="FFFFFF"/>
              </a:solidFill>
              <a:latin typeface="Trebuchet MS"/>
              <a:ea typeface="Trebuchet MS"/>
              <a:cs typeface="Trebuchet MS"/>
              <a:sym typeface="Trebuchet MS"/>
            </a:endParaRPr>
          </a:p>
        </p:txBody>
      </p:sp>
      <p:cxnSp>
        <p:nvCxnSpPr>
          <p:cNvPr id="423" name="Google Shape;423;p57"/>
          <p:cNvCxnSpPr/>
          <p:nvPr/>
        </p:nvCxnSpPr>
        <p:spPr>
          <a:xfrm flipH="1">
            <a:off x="4697814" y="1675138"/>
            <a:ext cx="1500" cy="399000"/>
          </a:xfrm>
          <a:prstGeom prst="straightConnector1">
            <a:avLst/>
          </a:prstGeom>
          <a:noFill/>
          <a:ln cap="flat" cmpd="sng" w="20175">
            <a:solidFill>
              <a:srgbClr val="575757"/>
            </a:solidFill>
            <a:prstDash val="dot"/>
            <a:round/>
            <a:headEnd len="med" w="med" type="none"/>
            <a:tailEnd len="med" w="med" type="none"/>
          </a:ln>
        </p:spPr>
      </p:cxnSp>
      <p:cxnSp>
        <p:nvCxnSpPr>
          <p:cNvPr id="424" name="Google Shape;424;p57"/>
          <p:cNvCxnSpPr/>
          <p:nvPr/>
        </p:nvCxnSpPr>
        <p:spPr>
          <a:xfrm flipH="1">
            <a:off x="5766058" y="2309429"/>
            <a:ext cx="12000" cy="1922400"/>
          </a:xfrm>
          <a:prstGeom prst="straightConnector1">
            <a:avLst/>
          </a:prstGeom>
          <a:noFill/>
          <a:ln cap="flat" cmpd="sng" w="20175">
            <a:solidFill>
              <a:srgbClr val="990028"/>
            </a:solidFill>
            <a:prstDash val="dot"/>
            <a:round/>
            <a:headEnd len="med" w="med" type="none"/>
            <a:tailEnd len="med" w="med" type="none"/>
          </a:ln>
        </p:spPr>
      </p:cxnSp>
      <p:sp>
        <p:nvSpPr>
          <p:cNvPr id="425" name="Google Shape;425;p57"/>
          <p:cNvSpPr txBox="1"/>
          <p:nvPr/>
        </p:nvSpPr>
        <p:spPr>
          <a:xfrm>
            <a:off x="2431234" y="2611727"/>
            <a:ext cx="2662200" cy="359100"/>
          </a:xfrm>
          <a:prstGeom prst="rect">
            <a:avLst/>
          </a:prstGeom>
          <a:noFill/>
          <a:ln>
            <a:noFill/>
          </a:ln>
        </p:spPr>
        <p:txBody>
          <a:bodyPr anchorCtr="0" anchor="t" bIns="96925" lIns="96925" spcFirstLastPara="1" rIns="96925" wrap="square" tIns="96925">
            <a:spAutoFit/>
          </a:bodyPr>
          <a:lstStyle/>
          <a:p>
            <a:pPr indent="0" lvl="0" marL="0" rtl="0" algn="just">
              <a:lnSpc>
                <a:spcPct val="150000"/>
              </a:lnSpc>
              <a:spcBef>
                <a:spcPts val="0"/>
              </a:spcBef>
              <a:spcAft>
                <a:spcPts val="0"/>
              </a:spcAft>
              <a:buNone/>
            </a:pPr>
            <a:r>
              <a:rPr b="1" lang="en" sz="1060">
                <a:solidFill>
                  <a:srgbClr val="575757"/>
                </a:solidFill>
                <a:latin typeface="Trebuchet MS"/>
                <a:ea typeface="Trebuchet MS"/>
                <a:cs typeface="Trebuchet MS"/>
                <a:sym typeface="Trebuchet MS"/>
              </a:rPr>
              <a:t>What is Unsupervised Learning?</a:t>
            </a:r>
            <a:endParaRPr b="1" sz="1060">
              <a:solidFill>
                <a:srgbClr val="575757"/>
              </a:solidFill>
              <a:latin typeface="Trebuchet MS"/>
              <a:ea typeface="Trebuchet MS"/>
              <a:cs typeface="Trebuchet MS"/>
              <a:sym typeface="Trebuchet MS"/>
            </a:endParaRPr>
          </a:p>
        </p:txBody>
      </p:sp>
      <p:sp>
        <p:nvSpPr>
          <p:cNvPr id="426" name="Google Shape;426;p57"/>
          <p:cNvSpPr txBox="1"/>
          <p:nvPr/>
        </p:nvSpPr>
        <p:spPr>
          <a:xfrm>
            <a:off x="2505941" y="2906207"/>
            <a:ext cx="2129700" cy="1109400"/>
          </a:xfrm>
          <a:prstGeom prst="rect">
            <a:avLst/>
          </a:prstGeom>
          <a:noFill/>
          <a:ln>
            <a:noFill/>
          </a:ln>
        </p:spPr>
        <p:txBody>
          <a:bodyPr anchorCtr="0" anchor="t" bIns="96925" lIns="96925" spcFirstLastPara="1" rIns="96925" wrap="square" tIns="96925">
            <a:spAutoFit/>
          </a:bodyPr>
          <a:lstStyle/>
          <a:p>
            <a:pPr indent="0" lvl="0" marL="0" rtl="0" algn="just">
              <a:lnSpc>
                <a:spcPct val="200000"/>
              </a:lnSpc>
              <a:spcBef>
                <a:spcPts val="0"/>
              </a:spcBef>
              <a:spcAft>
                <a:spcPts val="0"/>
              </a:spcAft>
              <a:buNone/>
            </a:pPr>
            <a:r>
              <a:rPr i="1" lang="en" sz="848">
                <a:solidFill>
                  <a:srgbClr val="575757"/>
                </a:solidFill>
                <a:latin typeface="Trebuchet MS"/>
                <a:ea typeface="Trebuchet MS"/>
                <a:cs typeface="Trebuchet MS"/>
                <a:sym typeface="Trebuchet MS"/>
              </a:rPr>
              <a:t>It is more exploratory in nature. An algorithm explores relationships in input data without being provided an explicit output variable.</a:t>
            </a:r>
            <a:endParaRPr i="1" sz="848">
              <a:solidFill>
                <a:srgbClr val="575757"/>
              </a:solidFill>
              <a:latin typeface="Trebuchet MS"/>
              <a:ea typeface="Trebuchet MS"/>
              <a:cs typeface="Trebuchet MS"/>
              <a:sym typeface="Trebuchet MS"/>
            </a:endParaRPr>
          </a:p>
        </p:txBody>
      </p:sp>
      <p:pic>
        <p:nvPicPr>
          <p:cNvPr id="427" name="Google Shape;427;p57"/>
          <p:cNvPicPr preferRelativeResize="0"/>
          <p:nvPr/>
        </p:nvPicPr>
        <p:blipFill>
          <a:blip r:embed="rId3">
            <a:alphaModFix/>
          </a:blip>
          <a:stretch>
            <a:fillRect/>
          </a:stretch>
        </p:blipFill>
        <p:spPr>
          <a:xfrm>
            <a:off x="4635372" y="2928931"/>
            <a:ext cx="983509" cy="847677"/>
          </a:xfrm>
          <a:prstGeom prst="rect">
            <a:avLst/>
          </a:prstGeom>
          <a:noFill/>
          <a:ln>
            <a:noFill/>
          </a:ln>
        </p:spPr>
      </p:pic>
      <p:sp>
        <p:nvSpPr>
          <p:cNvPr id="428" name="Google Shape;428;p57"/>
          <p:cNvSpPr txBox="1"/>
          <p:nvPr/>
        </p:nvSpPr>
        <p:spPr>
          <a:xfrm>
            <a:off x="5903648" y="2828268"/>
            <a:ext cx="2602500" cy="1109400"/>
          </a:xfrm>
          <a:prstGeom prst="rect">
            <a:avLst/>
          </a:prstGeom>
          <a:noFill/>
          <a:ln>
            <a:noFill/>
          </a:ln>
        </p:spPr>
        <p:txBody>
          <a:bodyPr anchorCtr="0" anchor="t" bIns="96925" lIns="96925" spcFirstLastPara="1" rIns="96925" wrap="square" tIns="96925">
            <a:spAutoFit/>
          </a:bodyPr>
          <a:lstStyle/>
          <a:p>
            <a:pPr indent="0" lvl="0" marL="0" rtl="0" algn="just">
              <a:lnSpc>
                <a:spcPct val="200000"/>
              </a:lnSpc>
              <a:spcBef>
                <a:spcPts val="0"/>
              </a:spcBef>
              <a:spcAft>
                <a:spcPts val="0"/>
              </a:spcAft>
              <a:buNone/>
            </a:pPr>
            <a:r>
              <a:rPr b="1" i="1" lang="en" sz="848">
                <a:solidFill>
                  <a:srgbClr val="575757"/>
                </a:solidFill>
                <a:latin typeface="Trebuchet MS"/>
                <a:ea typeface="Trebuchet MS"/>
                <a:cs typeface="Trebuchet MS"/>
                <a:sym typeface="Trebuchet MS"/>
              </a:rPr>
              <a:t>Step 1.</a:t>
            </a:r>
            <a:r>
              <a:rPr i="1" lang="en" sz="848">
                <a:solidFill>
                  <a:srgbClr val="575757"/>
                </a:solidFill>
                <a:latin typeface="Trebuchet MS"/>
                <a:ea typeface="Trebuchet MS"/>
                <a:cs typeface="Trebuchet MS"/>
                <a:sym typeface="Trebuchet MS"/>
              </a:rPr>
              <a:t> Algorithm receives unlabeled data.</a:t>
            </a:r>
            <a:endParaRPr i="1" sz="848">
              <a:solidFill>
                <a:srgbClr val="575757"/>
              </a:solidFill>
              <a:latin typeface="Trebuchet MS"/>
              <a:ea typeface="Trebuchet MS"/>
              <a:cs typeface="Trebuchet MS"/>
              <a:sym typeface="Trebuchet MS"/>
            </a:endParaRPr>
          </a:p>
          <a:p>
            <a:pPr indent="0" lvl="0" marL="0" rtl="0" algn="just">
              <a:lnSpc>
                <a:spcPct val="200000"/>
              </a:lnSpc>
              <a:spcBef>
                <a:spcPts val="0"/>
              </a:spcBef>
              <a:spcAft>
                <a:spcPts val="0"/>
              </a:spcAft>
              <a:buNone/>
            </a:pPr>
            <a:r>
              <a:rPr b="1" i="1" lang="en" sz="848">
                <a:solidFill>
                  <a:srgbClr val="575757"/>
                </a:solidFill>
                <a:latin typeface="Trebuchet MS"/>
                <a:ea typeface="Trebuchet MS"/>
                <a:cs typeface="Trebuchet MS"/>
                <a:sym typeface="Trebuchet MS"/>
              </a:rPr>
              <a:t>Step 2.</a:t>
            </a:r>
            <a:r>
              <a:rPr i="1" lang="en" sz="848">
                <a:solidFill>
                  <a:srgbClr val="575757"/>
                </a:solidFill>
                <a:latin typeface="Trebuchet MS"/>
                <a:ea typeface="Trebuchet MS"/>
                <a:cs typeface="Trebuchet MS"/>
                <a:sym typeface="Trebuchet MS"/>
              </a:rPr>
              <a:t> It infers the schema from the data.</a:t>
            </a:r>
            <a:endParaRPr i="1" sz="848">
              <a:solidFill>
                <a:srgbClr val="575757"/>
              </a:solidFill>
              <a:latin typeface="Trebuchet MS"/>
              <a:ea typeface="Trebuchet MS"/>
              <a:cs typeface="Trebuchet MS"/>
              <a:sym typeface="Trebuchet MS"/>
            </a:endParaRPr>
          </a:p>
          <a:p>
            <a:pPr indent="0" lvl="0" marL="0" rtl="0" algn="l">
              <a:lnSpc>
                <a:spcPct val="200000"/>
              </a:lnSpc>
              <a:spcBef>
                <a:spcPts val="0"/>
              </a:spcBef>
              <a:spcAft>
                <a:spcPts val="0"/>
              </a:spcAft>
              <a:buNone/>
            </a:pPr>
            <a:r>
              <a:rPr b="1" i="1" lang="en" sz="848">
                <a:solidFill>
                  <a:srgbClr val="575757"/>
                </a:solidFill>
                <a:latin typeface="Trebuchet MS"/>
                <a:ea typeface="Trebuchet MS"/>
                <a:cs typeface="Trebuchet MS"/>
                <a:sym typeface="Trebuchet MS"/>
              </a:rPr>
              <a:t>Step 3.</a:t>
            </a:r>
            <a:r>
              <a:rPr i="1" lang="en" sz="848">
                <a:solidFill>
                  <a:srgbClr val="575757"/>
                </a:solidFill>
                <a:latin typeface="Trebuchet MS"/>
                <a:ea typeface="Trebuchet MS"/>
                <a:cs typeface="Trebuchet MS"/>
                <a:sym typeface="Trebuchet MS"/>
              </a:rPr>
              <a:t> The algorithm identifies groups of data that exhibit similar behavior.</a:t>
            </a:r>
            <a:endParaRPr i="1" sz="848">
              <a:solidFill>
                <a:srgbClr val="575757"/>
              </a:solidFill>
              <a:latin typeface="Trebuchet MS"/>
              <a:ea typeface="Trebuchet MS"/>
              <a:cs typeface="Trebuchet MS"/>
              <a:sym typeface="Trebuchet MS"/>
            </a:endParaRPr>
          </a:p>
        </p:txBody>
      </p:sp>
      <p:sp>
        <p:nvSpPr>
          <p:cNvPr id="429" name="Google Shape;429;p57"/>
          <p:cNvSpPr txBox="1"/>
          <p:nvPr/>
        </p:nvSpPr>
        <p:spPr>
          <a:xfrm>
            <a:off x="5828940" y="2533788"/>
            <a:ext cx="2952600" cy="359100"/>
          </a:xfrm>
          <a:prstGeom prst="rect">
            <a:avLst/>
          </a:prstGeom>
          <a:noFill/>
          <a:ln>
            <a:noFill/>
          </a:ln>
        </p:spPr>
        <p:txBody>
          <a:bodyPr anchorCtr="0" anchor="t" bIns="96925" lIns="96925" spcFirstLastPara="1" rIns="96925" wrap="square" tIns="96925">
            <a:spAutoFit/>
          </a:bodyPr>
          <a:lstStyle/>
          <a:p>
            <a:pPr indent="0" lvl="0" marL="0" rtl="0" algn="just">
              <a:lnSpc>
                <a:spcPct val="150000"/>
              </a:lnSpc>
              <a:spcBef>
                <a:spcPts val="0"/>
              </a:spcBef>
              <a:spcAft>
                <a:spcPts val="0"/>
              </a:spcAft>
              <a:buNone/>
            </a:pPr>
            <a:r>
              <a:rPr b="1" lang="en" sz="1060">
                <a:solidFill>
                  <a:srgbClr val="575757"/>
                </a:solidFill>
                <a:latin typeface="Trebuchet MS"/>
                <a:ea typeface="Trebuchet MS"/>
                <a:cs typeface="Trebuchet MS"/>
                <a:sym typeface="Trebuchet MS"/>
              </a:rPr>
              <a:t>How it works?</a:t>
            </a:r>
            <a:endParaRPr b="1" sz="1060">
              <a:solidFill>
                <a:srgbClr val="575757"/>
              </a:solidFill>
              <a:latin typeface="Trebuchet MS"/>
              <a:ea typeface="Trebuchet MS"/>
              <a:cs typeface="Trebuchet MS"/>
              <a:sym typeface="Trebuchet M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3" name="Shape 433"/>
        <p:cNvGrpSpPr/>
        <p:nvPr/>
      </p:nvGrpSpPr>
      <p:grpSpPr>
        <a:xfrm>
          <a:off x="0" y="0"/>
          <a:ext cx="0" cy="0"/>
          <a:chOff x="0" y="0"/>
          <a:chExt cx="0" cy="0"/>
        </a:xfrm>
      </p:grpSpPr>
      <p:sp>
        <p:nvSpPr>
          <p:cNvPr id="434" name="Google Shape;434;p5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Types of Machine Learning</a:t>
            </a:r>
            <a:endParaRPr sz="2000">
              <a:solidFill>
                <a:schemeClr val="dk1"/>
              </a:solidFill>
              <a:latin typeface="Century Gothic"/>
              <a:ea typeface="Century Gothic"/>
              <a:cs typeface="Century Gothic"/>
              <a:sym typeface="Century Gothic"/>
            </a:endParaRPr>
          </a:p>
        </p:txBody>
      </p:sp>
      <p:sp>
        <p:nvSpPr>
          <p:cNvPr id="435" name="Google Shape;435;p5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36" name="Google Shape;436;p58"/>
          <p:cNvSpPr/>
          <p:nvPr/>
        </p:nvSpPr>
        <p:spPr>
          <a:xfrm>
            <a:off x="6083375" y="2209800"/>
            <a:ext cx="2579100" cy="2456100"/>
          </a:xfrm>
          <a:prstGeom prst="rect">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8"/>
          <p:cNvSpPr/>
          <p:nvPr/>
        </p:nvSpPr>
        <p:spPr>
          <a:xfrm>
            <a:off x="3589963" y="1030775"/>
            <a:ext cx="1878000" cy="423000"/>
          </a:xfrm>
          <a:prstGeom prst="roundRect">
            <a:avLst>
              <a:gd fmla="val 16667" name="adj"/>
            </a:avLst>
          </a:prstGeom>
          <a:solidFill>
            <a:srgbClr val="980000"/>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Trebuchet MS"/>
                <a:ea typeface="Trebuchet MS"/>
                <a:cs typeface="Trebuchet MS"/>
                <a:sym typeface="Trebuchet MS"/>
              </a:rPr>
              <a:t>Machine Learning</a:t>
            </a:r>
            <a:endParaRPr b="1">
              <a:solidFill>
                <a:srgbClr val="FFFFFF"/>
              </a:solidFill>
              <a:latin typeface="Trebuchet MS"/>
              <a:ea typeface="Trebuchet MS"/>
              <a:cs typeface="Trebuchet MS"/>
              <a:sym typeface="Trebuchet MS"/>
            </a:endParaRPr>
          </a:p>
        </p:txBody>
      </p:sp>
      <p:cxnSp>
        <p:nvCxnSpPr>
          <p:cNvPr id="438" name="Google Shape;438;p58"/>
          <p:cNvCxnSpPr/>
          <p:nvPr/>
        </p:nvCxnSpPr>
        <p:spPr>
          <a:xfrm flipH="1" rot="10800000">
            <a:off x="1459217" y="1622839"/>
            <a:ext cx="3086400" cy="12000"/>
          </a:xfrm>
          <a:prstGeom prst="straightConnector1">
            <a:avLst/>
          </a:prstGeom>
          <a:noFill/>
          <a:ln cap="flat" cmpd="sng" w="19050">
            <a:solidFill>
              <a:srgbClr val="575757"/>
            </a:solidFill>
            <a:prstDash val="dot"/>
            <a:round/>
            <a:headEnd len="med" w="med" type="none"/>
            <a:tailEnd len="med" w="med" type="none"/>
          </a:ln>
        </p:spPr>
      </p:cxnSp>
      <p:cxnSp>
        <p:nvCxnSpPr>
          <p:cNvPr id="439" name="Google Shape;439;p58"/>
          <p:cNvCxnSpPr/>
          <p:nvPr/>
        </p:nvCxnSpPr>
        <p:spPr>
          <a:xfrm>
            <a:off x="4529064" y="1453844"/>
            <a:ext cx="6900" cy="198600"/>
          </a:xfrm>
          <a:prstGeom prst="straightConnector1">
            <a:avLst/>
          </a:prstGeom>
          <a:noFill/>
          <a:ln cap="flat" cmpd="sng" w="19050">
            <a:solidFill>
              <a:srgbClr val="575757"/>
            </a:solidFill>
            <a:prstDash val="dot"/>
            <a:round/>
            <a:headEnd len="med" w="med" type="none"/>
            <a:tailEnd len="med" w="med" type="none"/>
          </a:ln>
        </p:spPr>
      </p:cxnSp>
      <p:cxnSp>
        <p:nvCxnSpPr>
          <p:cNvPr id="440" name="Google Shape;440;p58"/>
          <p:cNvCxnSpPr/>
          <p:nvPr/>
        </p:nvCxnSpPr>
        <p:spPr>
          <a:xfrm flipH="1">
            <a:off x="1457717" y="1626786"/>
            <a:ext cx="1500" cy="376500"/>
          </a:xfrm>
          <a:prstGeom prst="straightConnector1">
            <a:avLst/>
          </a:prstGeom>
          <a:noFill/>
          <a:ln cap="flat" cmpd="sng" w="19050">
            <a:solidFill>
              <a:srgbClr val="575757"/>
            </a:solidFill>
            <a:prstDash val="dot"/>
            <a:round/>
            <a:headEnd len="med" w="med" type="none"/>
            <a:tailEnd len="med" w="med" type="none"/>
          </a:ln>
        </p:spPr>
      </p:cxnSp>
      <p:sp>
        <p:nvSpPr>
          <p:cNvPr id="441" name="Google Shape;441;p58"/>
          <p:cNvSpPr/>
          <p:nvPr/>
        </p:nvSpPr>
        <p:spPr>
          <a:xfrm>
            <a:off x="714562" y="2003283"/>
            <a:ext cx="1487700" cy="423000"/>
          </a:xfrm>
          <a:prstGeom prst="roundRect">
            <a:avLst>
              <a:gd fmla="val 16667"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D9D9D9"/>
                </a:solidFill>
                <a:latin typeface="Trebuchet MS"/>
                <a:ea typeface="Trebuchet MS"/>
                <a:cs typeface="Trebuchet MS"/>
                <a:sym typeface="Trebuchet MS"/>
              </a:rPr>
              <a:t>Supervised</a:t>
            </a:r>
            <a:endParaRPr b="1">
              <a:solidFill>
                <a:srgbClr val="D9D9D9"/>
              </a:solidFill>
              <a:latin typeface="Trebuchet MS"/>
              <a:ea typeface="Trebuchet MS"/>
              <a:cs typeface="Trebuchet MS"/>
              <a:sym typeface="Trebuchet MS"/>
            </a:endParaRPr>
          </a:p>
        </p:txBody>
      </p:sp>
      <p:sp>
        <p:nvSpPr>
          <p:cNvPr id="442" name="Google Shape;442;p58"/>
          <p:cNvSpPr/>
          <p:nvPr/>
        </p:nvSpPr>
        <p:spPr>
          <a:xfrm>
            <a:off x="3788675" y="2003275"/>
            <a:ext cx="1487700" cy="423000"/>
          </a:xfrm>
          <a:prstGeom prst="roundRect">
            <a:avLst>
              <a:gd fmla="val 16667" name="adj"/>
            </a:avLst>
          </a:prstGeom>
          <a:solidFill>
            <a:srgbClr val="999999"/>
          </a:solidFill>
          <a:ln cap="flat" cmpd="sng" w="9525">
            <a:solidFill>
              <a:srgbClr val="99999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rPr b="1" lang="en">
                <a:solidFill>
                  <a:srgbClr val="D9D9D9"/>
                </a:solidFill>
                <a:latin typeface="Trebuchet MS"/>
                <a:ea typeface="Trebuchet MS"/>
                <a:cs typeface="Trebuchet MS"/>
                <a:sym typeface="Trebuchet MS"/>
              </a:rPr>
              <a:t>Unsupervised</a:t>
            </a:r>
            <a:endParaRPr b="1">
              <a:solidFill>
                <a:srgbClr val="D9D9D9"/>
              </a:solidFill>
              <a:latin typeface="Trebuchet MS"/>
              <a:ea typeface="Trebuchet MS"/>
              <a:cs typeface="Trebuchet MS"/>
              <a:sym typeface="Trebuchet MS"/>
            </a:endParaRPr>
          </a:p>
        </p:txBody>
      </p:sp>
      <p:cxnSp>
        <p:nvCxnSpPr>
          <p:cNvPr id="443" name="Google Shape;443;p58"/>
          <p:cNvCxnSpPr/>
          <p:nvPr/>
        </p:nvCxnSpPr>
        <p:spPr>
          <a:xfrm flipH="1">
            <a:off x="4528217" y="1622861"/>
            <a:ext cx="1500" cy="376500"/>
          </a:xfrm>
          <a:prstGeom prst="straightConnector1">
            <a:avLst/>
          </a:prstGeom>
          <a:noFill/>
          <a:ln cap="flat" cmpd="sng" w="19050">
            <a:solidFill>
              <a:srgbClr val="575757"/>
            </a:solidFill>
            <a:prstDash val="dot"/>
            <a:round/>
            <a:headEnd len="med" w="med" type="none"/>
            <a:tailEnd len="med" w="med" type="none"/>
          </a:ln>
        </p:spPr>
      </p:cxnSp>
      <p:cxnSp>
        <p:nvCxnSpPr>
          <p:cNvPr id="444" name="Google Shape;444;p58"/>
          <p:cNvCxnSpPr/>
          <p:nvPr/>
        </p:nvCxnSpPr>
        <p:spPr>
          <a:xfrm flipH="1" rot="10800000">
            <a:off x="4528217" y="1607114"/>
            <a:ext cx="3086400" cy="12000"/>
          </a:xfrm>
          <a:prstGeom prst="straightConnector1">
            <a:avLst/>
          </a:prstGeom>
          <a:noFill/>
          <a:ln cap="flat" cmpd="sng" w="19050">
            <a:solidFill>
              <a:srgbClr val="575757"/>
            </a:solidFill>
            <a:prstDash val="dot"/>
            <a:round/>
            <a:headEnd len="med" w="med" type="none"/>
            <a:tailEnd len="med" w="med" type="none"/>
          </a:ln>
        </p:spPr>
      </p:cxnSp>
      <p:cxnSp>
        <p:nvCxnSpPr>
          <p:cNvPr id="445" name="Google Shape;445;p58"/>
          <p:cNvCxnSpPr/>
          <p:nvPr/>
        </p:nvCxnSpPr>
        <p:spPr>
          <a:xfrm flipH="1">
            <a:off x="7605817" y="1622861"/>
            <a:ext cx="1500" cy="376500"/>
          </a:xfrm>
          <a:prstGeom prst="straightConnector1">
            <a:avLst/>
          </a:prstGeom>
          <a:noFill/>
          <a:ln cap="flat" cmpd="sng" w="19050">
            <a:solidFill>
              <a:srgbClr val="575757"/>
            </a:solidFill>
            <a:prstDash val="dot"/>
            <a:round/>
            <a:headEnd len="med" w="med" type="none"/>
            <a:tailEnd len="med" w="med" type="none"/>
          </a:ln>
        </p:spPr>
      </p:cxnSp>
      <p:sp>
        <p:nvSpPr>
          <p:cNvPr id="446" name="Google Shape;446;p58"/>
          <p:cNvSpPr/>
          <p:nvPr/>
        </p:nvSpPr>
        <p:spPr>
          <a:xfrm>
            <a:off x="6862800" y="2017975"/>
            <a:ext cx="1487700" cy="3936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latin typeface="Trebuchet MS"/>
                <a:ea typeface="Trebuchet MS"/>
                <a:cs typeface="Trebuchet MS"/>
                <a:sym typeface="Trebuchet MS"/>
              </a:rPr>
              <a:t>Reinforcement</a:t>
            </a:r>
            <a:endParaRPr b="1">
              <a:solidFill>
                <a:srgbClr val="FFFFFF"/>
              </a:solidFill>
              <a:latin typeface="Trebuchet MS"/>
              <a:ea typeface="Trebuchet MS"/>
              <a:cs typeface="Trebuchet MS"/>
              <a:sym typeface="Trebuchet MS"/>
            </a:endParaRPr>
          </a:p>
        </p:txBody>
      </p:sp>
      <p:sp>
        <p:nvSpPr>
          <p:cNvPr id="447" name="Google Shape;447;p58"/>
          <p:cNvSpPr/>
          <p:nvPr/>
        </p:nvSpPr>
        <p:spPr>
          <a:xfrm>
            <a:off x="3504275" y="2608975"/>
            <a:ext cx="2579100" cy="2056800"/>
          </a:xfrm>
          <a:prstGeom prst="rect">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58"/>
          <p:cNvSpPr txBox="1"/>
          <p:nvPr/>
        </p:nvSpPr>
        <p:spPr>
          <a:xfrm>
            <a:off x="6161725" y="2718050"/>
            <a:ext cx="2308800" cy="800400"/>
          </a:xfrm>
          <a:prstGeom prst="rect">
            <a:avLst/>
          </a:prstGeom>
          <a:noFill/>
          <a:ln>
            <a:noFill/>
          </a:ln>
        </p:spPr>
        <p:txBody>
          <a:bodyPr anchorCtr="0" anchor="t" bIns="91425" lIns="91425" spcFirstLastPara="1" rIns="91425" wrap="square" tIns="91425">
            <a:spAutoFit/>
          </a:bodyPr>
          <a:lstStyle/>
          <a:p>
            <a:pPr indent="0" lvl="0" marL="0" rtl="0" algn="just">
              <a:lnSpc>
                <a:spcPct val="200000"/>
              </a:lnSpc>
              <a:spcBef>
                <a:spcPts val="0"/>
              </a:spcBef>
              <a:spcAft>
                <a:spcPts val="0"/>
              </a:spcAft>
              <a:buNone/>
            </a:pPr>
            <a:r>
              <a:rPr i="1" lang="en" sz="800">
                <a:solidFill>
                  <a:srgbClr val="575757"/>
                </a:solidFill>
                <a:latin typeface="Trebuchet MS"/>
                <a:ea typeface="Trebuchet MS"/>
                <a:cs typeface="Trebuchet MS"/>
                <a:sym typeface="Trebuchet MS"/>
              </a:rPr>
              <a:t>An algorithm learns to perform a task simply by trying to maximize the rewards it would receive for its actions.</a:t>
            </a:r>
            <a:endParaRPr i="1" sz="800">
              <a:solidFill>
                <a:srgbClr val="575757"/>
              </a:solidFill>
              <a:latin typeface="Trebuchet MS"/>
              <a:ea typeface="Trebuchet MS"/>
              <a:cs typeface="Trebuchet MS"/>
              <a:sym typeface="Trebuchet MS"/>
            </a:endParaRPr>
          </a:p>
        </p:txBody>
      </p:sp>
      <p:sp>
        <p:nvSpPr>
          <p:cNvPr id="449" name="Google Shape;449;p58"/>
          <p:cNvSpPr txBox="1"/>
          <p:nvPr/>
        </p:nvSpPr>
        <p:spPr>
          <a:xfrm>
            <a:off x="6167450" y="2440250"/>
            <a:ext cx="2511300" cy="338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000">
                <a:solidFill>
                  <a:srgbClr val="575757"/>
                </a:solidFill>
                <a:latin typeface="Trebuchet MS"/>
                <a:ea typeface="Trebuchet MS"/>
                <a:cs typeface="Trebuchet MS"/>
                <a:sym typeface="Trebuchet MS"/>
              </a:rPr>
              <a:t>What is Reinforcement Learning?</a:t>
            </a:r>
            <a:endParaRPr b="1" sz="1000">
              <a:solidFill>
                <a:srgbClr val="575757"/>
              </a:solidFill>
              <a:latin typeface="Trebuchet MS"/>
              <a:ea typeface="Trebuchet MS"/>
              <a:cs typeface="Trebuchet MS"/>
              <a:sym typeface="Trebuchet MS"/>
            </a:endParaRPr>
          </a:p>
        </p:txBody>
      </p:sp>
      <p:sp>
        <p:nvSpPr>
          <p:cNvPr id="450" name="Google Shape;450;p58"/>
          <p:cNvSpPr txBox="1"/>
          <p:nvPr/>
        </p:nvSpPr>
        <p:spPr>
          <a:xfrm>
            <a:off x="3538173" y="2880175"/>
            <a:ext cx="2511300" cy="1785600"/>
          </a:xfrm>
          <a:prstGeom prst="rect">
            <a:avLst/>
          </a:prstGeom>
          <a:noFill/>
          <a:ln>
            <a:noFill/>
          </a:ln>
        </p:spPr>
        <p:txBody>
          <a:bodyPr anchorCtr="0" anchor="t" bIns="91425" lIns="91425" spcFirstLastPara="1" rIns="91425" wrap="square" tIns="91425">
            <a:spAutoFit/>
          </a:bodyPr>
          <a:lstStyle/>
          <a:p>
            <a:pPr indent="0" lvl="0" marL="0" rtl="0" algn="just">
              <a:lnSpc>
                <a:spcPct val="200000"/>
              </a:lnSpc>
              <a:spcBef>
                <a:spcPts val="0"/>
              </a:spcBef>
              <a:spcAft>
                <a:spcPts val="0"/>
              </a:spcAft>
              <a:buNone/>
            </a:pPr>
            <a:r>
              <a:rPr b="1" i="1" lang="en" sz="800">
                <a:solidFill>
                  <a:srgbClr val="575757"/>
                </a:solidFill>
                <a:latin typeface="Trebuchet MS"/>
                <a:ea typeface="Trebuchet MS"/>
                <a:cs typeface="Trebuchet MS"/>
                <a:sym typeface="Trebuchet MS"/>
              </a:rPr>
              <a:t>Step 1.</a:t>
            </a:r>
            <a:r>
              <a:rPr i="1" lang="en" sz="800">
                <a:solidFill>
                  <a:srgbClr val="575757"/>
                </a:solidFill>
                <a:latin typeface="Trebuchet MS"/>
                <a:ea typeface="Trebuchet MS"/>
                <a:cs typeface="Trebuchet MS"/>
                <a:sym typeface="Trebuchet MS"/>
              </a:rPr>
              <a:t> Algorithm takes an action affecting the environment.</a:t>
            </a:r>
            <a:endParaRPr i="1" sz="800">
              <a:solidFill>
                <a:srgbClr val="575757"/>
              </a:solidFill>
              <a:latin typeface="Trebuchet MS"/>
              <a:ea typeface="Trebuchet MS"/>
              <a:cs typeface="Trebuchet MS"/>
              <a:sym typeface="Trebuchet MS"/>
            </a:endParaRPr>
          </a:p>
          <a:p>
            <a:pPr indent="0" lvl="0" marL="0" rtl="0" algn="just">
              <a:lnSpc>
                <a:spcPct val="200000"/>
              </a:lnSpc>
              <a:spcBef>
                <a:spcPts val="0"/>
              </a:spcBef>
              <a:spcAft>
                <a:spcPts val="0"/>
              </a:spcAft>
              <a:buNone/>
            </a:pPr>
            <a:r>
              <a:rPr b="1" i="1" lang="en" sz="800">
                <a:solidFill>
                  <a:srgbClr val="575757"/>
                </a:solidFill>
                <a:latin typeface="Trebuchet MS"/>
                <a:ea typeface="Trebuchet MS"/>
                <a:cs typeface="Trebuchet MS"/>
                <a:sym typeface="Trebuchet MS"/>
              </a:rPr>
              <a:t>Step 2.</a:t>
            </a:r>
            <a:r>
              <a:rPr i="1" lang="en" sz="800">
                <a:solidFill>
                  <a:srgbClr val="575757"/>
                </a:solidFill>
                <a:latin typeface="Trebuchet MS"/>
                <a:ea typeface="Trebuchet MS"/>
                <a:cs typeface="Trebuchet MS"/>
                <a:sym typeface="Trebuchet MS"/>
              </a:rPr>
              <a:t> It receives a reward if the action brings the </a:t>
            </a:r>
            <a:r>
              <a:rPr i="1" lang="en" sz="800">
                <a:solidFill>
                  <a:srgbClr val="575757"/>
                </a:solidFill>
                <a:latin typeface="Trebuchet MS"/>
                <a:ea typeface="Trebuchet MS"/>
                <a:cs typeface="Trebuchet MS"/>
                <a:sym typeface="Trebuchet MS"/>
              </a:rPr>
              <a:t>m</a:t>
            </a:r>
            <a:r>
              <a:rPr i="1" lang="en" sz="800">
                <a:solidFill>
                  <a:srgbClr val="575757"/>
                </a:solidFill>
                <a:latin typeface="Trebuchet MS"/>
                <a:ea typeface="Trebuchet MS"/>
                <a:cs typeface="Trebuchet MS"/>
                <a:sym typeface="Trebuchet MS"/>
              </a:rPr>
              <a:t>achine a step closer to max. available reward. </a:t>
            </a:r>
            <a:endParaRPr i="1" sz="800">
              <a:solidFill>
                <a:srgbClr val="575757"/>
              </a:solidFill>
              <a:latin typeface="Trebuchet MS"/>
              <a:ea typeface="Trebuchet MS"/>
              <a:cs typeface="Trebuchet MS"/>
              <a:sym typeface="Trebuchet MS"/>
            </a:endParaRPr>
          </a:p>
          <a:p>
            <a:pPr indent="0" lvl="0" marL="0" rtl="0" algn="just">
              <a:lnSpc>
                <a:spcPct val="200000"/>
              </a:lnSpc>
              <a:spcBef>
                <a:spcPts val="0"/>
              </a:spcBef>
              <a:spcAft>
                <a:spcPts val="0"/>
              </a:spcAft>
              <a:buNone/>
            </a:pPr>
            <a:r>
              <a:rPr b="1" i="1" lang="en" sz="800">
                <a:solidFill>
                  <a:srgbClr val="575757"/>
                </a:solidFill>
                <a:latin typeface="Trebuchet MS"/>
                <a:ea typeface="Trebuchet MS"/>
                <a:cs typeface="Trebuchet MS"/>
                <a:sym typeface="Trebuchet MS"/>
              </a:rPr>
              <a:t>Step 3.</a:t>
            </a:r>
            <a:r>
              <a:rPr i="1" lang="en" sz="800">
                <a:solidFill>
                  <a:srgbClr val="575757"/>
                </a:solidFill>
                <a:latin typeface="Trebuchet MS"/>
                <a:ea typeface="Trebuchet MS"/>
                <a:cs typeface="Trebuchet MS"/>
                <a:sym typeface="Trebuchet MS"/>
              </a:rPr>
              <a:t> The algorithm optimizes for the best series of actions by correcting itself over time. </a:t>
            </a:r>
            <a:endParaRPr i="1" sz="800">
              <a:solidFill>
                <a:srgbClr val="575757"/>
              </a:solidFill>
              <a:latin typeface="Trebuchet MS"/>
              <a:ea typeface="Trebuchet MS"/>
              <a:cs typeface="Trebuchet MS"/>
              <a:sym typeface="Trebuchet MS"/>
            </a:endParaRPr>
          </a:p>
        </p:txBody>
      </p:sp>
      <p:sp>
        <p:nvSpPr>
          <p:cNvPr id="451" name="Google Shape;451;p58"/>
          <p:cNvSpPr txBox="1"/>
          <p:nvPr/>
        </p:nvSpPr>
        <p:spPr>
          <a:xfrm>
            <a:off x="3513763" y="2580888"/>
            <a:ext cx="2823300" cy="3387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None/>
            </a:pPr>
            <a:r>
              <a:rPr b="1" lang="en" sz="1000">
                <a:solidFill>
                  <a:srgbClr val="575757"/>
                </a:solidFill>
                <a:latin typeface="Trebuchet MS"/>
                <a:ea typeface="Trebuchet MS"/>
                <a:cs typeface="Trebuchet MS"/>
                <a:sym typeface="Trebuchet MS"/>
              </a:rPr>
              <a:t>How it Works?</a:t>
            </a:r>
            <a:endParaRPr b="1" sz="1000">
              <a:solidFill>
                <a:srgbClr val="575757"/>
              </a:solidFill>
              <a:latin typeface="Trebuchet MS"/>
              <a:ea typeface="Trebuchet MS"/>
              <a:cs typeface="Trebuchet MS"/>
              <a:sym typeface="Trebuchet MS"/>
            </a:endParaRPr>
          </a:p>
        </p:txBody>
      </p:sp>
      <p:grpSp>
        <p:nvGrpSpPr>
          <p:cNvPr id="452" name="Google Shape;452;p58"/>
          <p:cNvGrpSpPr/>
          <p:nvPr/>
        </p:nvGrpSpPr>
        <p:grpSpPr>
          <a:xfrm>
            <a:off x="6341300" y="3600063"/>
            <a:ext cx="2120850" cy="930639"/>
            <a:chOff x="558006" y="3393163"/>
            <a:chExt cx="2371785" cy="1061525"/>
          </a:xfrm>
        </p:grpSpPr>
        <p:cxnSp>
          <p:nvCxnSpPr>
            <p:cNvPr id="453" name="Google Shape;453;p58"/>
            <p:cNvCxnSpPr>
              <a:endCxn id="454" idx="1"/>
            </p:cNvCxnSpPr>
            <p:nvPr/>
          </p:nvCxnSpPr>
          <p:spPr>
            <a:xfrm flipH="1" rot="10800000">
              <a:off x="990950" y="3530113"/>
              <a:ext cx="188400" cy="4200"/>
            </a:xfrm>
            <a:prstGeom prst="straightConnector1">
              <a:avLst/>
            </a:prstGeom>
            <a:noFill/>
            <a:ln cap="flat" cmpd="sng" w="9525">
              <a:solidFill>
                <a:srgbClr val="29BA74"/>
              </a:solidFill>
              <a:prstDash val="solid"/>
              <a:round/>
              <a:headEnd len="med" w="med" type="none"/>
              <a:tailEnd len="med" w="med" type="triangle"/>
            </a:ln>
          </p:spPr>
        </p:cxnSp>
        <p:sp>
          <p:nvSpPr>
            <p:cNvPr id="454" name="Google Shape;454;p58"/>
            <p:cNvSpPr/>
            <p:nvPr/>
          </p:nvSpPr>
          <p:spPr>
            <a:xfrm>
              <a:off x="1179350" y="3393163"/>
              <a:ext cx="1140900" cy="273900"/>
            </a:xfrm>
            <a:prstGeom prst="rect">
              <a:avLst/>
            </a:prstGeom>
            <a:solidFill>
              <a:srgbClr val="F2F2F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Trebuchet MS"/>
                  <a:ea typeface="Trebuchet MS"/>
                  <a:cs typeface="Trebuchet MS"/>
                  <a:sym typeface="Trebuchet MS"/>
                </a:rPr>
                <a:t>Algorithms</a:t>
              </a:r>
              <a:endParaRPr b="1" sz="1000">
                <a:latin typeface="Trebuchet MS"/>
                <a:ea typeface="Trebuchet MS"/>
                <a:cs typeface="Trebuchet MS"/>
                <a:sym typeface="Trebuchet MS"/>
              </a:endParaRPr>
            </a:p>
          </p:txBody>
        </p:sp>
        <p:sp>
          <p:nvSpPr>
            <p:cNvPr id="455" name="Google Shape;455;p58"/>
            <p:cNvSpPr/>
            <p:nvPr/>
          </p:nvSpPr>
          <p:spPr>
            <a:xfrm>
              <a:off x="1179350" y="4180788"/>
              <a:ext cx="1140900" cy="273900"/>
            </a:xfrm>
            <a:prstGeom prst="rect">
              <a:avLst/>
            </a:prstGeom>
            <a:solidFill>
              <a:srgbClr val="F2F2F2"/>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latin typeface="Trebuchet MS"/>
                  <a:ea typeface="Trebuchet MS"/>
                  <a:cs typeface="Trebuchet MS"/>
                  <a:sym typeface="Trebuchet MS"/>
                </a:rPr>
                <a:t>Environment</a:t>
              </a:r>
              <a:endParaRPr b="1" sz="1000">
                <a:latin typeface="Trebuchet MS"/>
                <a:ea typeface="Trebuchet MS"/>
                <a:cs typeface="Trebuchet MS"/>
                <a:sym typeface="Trebuchet MS"/>
              </a:endParaRPr>
            </a:p>
          </p:txBody>
        </p:sp>
        <p:cxnSp>
          <p:nvCxnSpPr>
            <p:cNvPr id="456" name="Google Shape;456;p58"/>
            <p:cNvCxnSpPr>
              <a:stCxn id="455" idx="1"/>
              <a:endCxn id="454" idx="1"/>
            </p:cNvCxnSpPr>
            <p:nvPr/>
          </p:nvCxnSpPr>
          <p:spPr>
            <a:xfrm flipH="1" rot="10800000">
              <a:off x="1179350" y="3530238"/>
              <a:ext cx="600" cy="787500"/>
            </a:xfrm>
            <a:prstGeom prst="bentConnector3">
              <a:avLst>
                <a:gd fmla="val -44383248" name="adj1"/>
              </a:avLst>
            </a:prstGeom>
            <a:noFill/>
            <a:ln cap="flat" cmpd="sng" w="9525">
              <a:solidFill>
                <a:srgbClr val="990028"/>
              </a:solidFill>
              <a:prstDash val="solid"/>
              <a:round/>
              <a:headEnd len="med" w="med" type="none"/>
              <a:tailEnd len="med" w="med" type="triangle"/>
            </a:ln>
          </p:spPr>
        </p:cxnSp>
        <p:cxnSp>
          <p:nvCxnSpPr>
            <p:cNvPr id="457" name="Google Shape;457;p58"/>
            <p:cNvCxnSpPr>
              <a:stCxn id="455" idx="1"/>
            </p:cNvCxnSpPr>
            <p:nvPr/>
          </p:nvCxnSpPr>
          <p:spPr>
            <a:xfrm rot="10800000">
              <a:off x="826250" y="3440238"/>
              <a:ext cx="353100" cy="877500"/>
            </a:xfrm>
            <a:prstGeom prst="bentConnector2">
              <a:avLst/>
            </a:prstGeom>
            <a:noFill/>
            <a:ln cap="flat" cmpd="sng" w="9525">
              <a:solidFill>
                <a:srgbClr val="990028"/>
              </a:solidFill>
              <a:prstDash val="solid"/>
              <a:round/>
              <a:headEnd len="med" w="med" type="none"/>
              <a:tailEnd len="med" w="med" type="none"/>
            </a:ln>
          </p:spPr>
        </p:cxnSp>
        <p:cxnSp>
          <p:nvCxnSpPr>
            <p:cNvPr id="458" name="Google Shape;458;p58"/>
            <p:cNvCxnSpPr/>
            <p:nvPr/>
          </p:nvCxnSpPr>
          <p:spPr>
            <a:xfrm>
              <a:off x="814550" y="3434413"/>
              <a:ext cx="317700" cy="0"/>
            </a:xfrm>
            <a:prstGeom prst="straightConnector1">
              <a:avLst/>
            </a:prstGeom>
            <a:noFill/>
            <a:ln cap="flat" cmpd="sng" w="9525">
              <a:solidFill>
                <a:srgbClr val="990028"/>
              </a:solidFill>
              <a:prstDash val="solid"/>
              <a:round/>
              <a:headEnd len="med" w="med" type="none"/>
              <a:tailEnd len="med" w="med" type="triangle"/>
            </a:ln>
          </p:spPr>
        </p:cxnSp>
        <p:sp>
          <p:nvSpPr>
            <p:cNvPr id="459" name="Google Shape;459;p58"/>
            <p:cNvSpPr txBox="1"/>
            <p:nvPr/>
          </p:nvSpPr>
          <p:spPr>
            <a:xfrm rot="5400000">
              <a:off x="2416641" y="3751943"/>
              <a:ext cx="682200" cy="34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Trebuchet MS"/>
                  <a:ea typeface="Trebuchet MS"/>
                  <a:cs typeface="Trebuchet MS"/>
                  <a:sym typeface="Trebuchet MS"/>
                </a:rPr>
                <a:t>ACTION</a:t>
              </a:r>
              <a:endParaRPr b="1" sz="800">
                <a:latin typeface="Trebuchet MS"/>
                <a:ea typeface="Trebuchet MS"/>
                <a:cs typeface="Trebuchet MS"/>
                <a:sym typeface="Trebuchet MS"/>
              </a:endParaRPr>
            </a:p>
          </p:txBody>
        </p:sp>
        <p:sp>
          <p:nvSpPr>
            <p:cNvPr id="460" name="Google Shape;460;p58"/>
            <p:cNvSpPr txBox="1"/>
            <p:nvPr/>
          </p:nvSpPr>
          <p:spPr>
            <a:xfrm rot="5400000">
              <a:off x="701325" y="3799063"/>
              <a:ext cx="682200" cy="34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Trebuchet MS"/>
                  <a:ea typeface="Trebuchet MS"/>
                  <a:cs typeface="Trebuchet MS"/>
                  <a:sym typeface="Trebuchet MS"/>
                </a:rPr>
                <a:t>REWARD</a:t>
              </a:r>
              <a:endParaRPr b="1" sz="800">
                <a:latin typeface="Trebuchet MS"/>
                <a:ea typeface="Trebuchet MS"/>
                <a:cs typeface="Trebuchet MS"/>
                <a:sym typeface="Trebuchet MS"/>
              </a:endParaRPr>
            </a:p>
          </p:txBody>
        </p:sp>
        <p:sp>
          <p:nvSpPr>
            <p:cNvPr id="461" name="Google Shape;461;p58"/>
            <p:cNvSpPr txBox="1"/>
            <p:nvPr/>
          </p:nvSpPr>
          <p:spPr>
            <a:xfrm rot="-5400000">
              <a:off x="388956" y="3742522"/>
              <a:ext cx="682200" cy="34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800">
                  <a:latin typeface="Trebuchet MS"/>
                  <a:ea typeface="Trebuchet MS"/>
                  <a:cs typeface="Trebuchet MS"/>
                  <a:sym typeface="Trebuchet MS"/>
                </a:rPr>
                <a:t>STATE</a:t>
              </a:r>
              <a:endParaRPr b="1" sz="800">
                <a:latin typeface="Trebuchet MS"/>
                <a:ea typeface="Trebuchet MS"/>
                <a:cs typeface="Trebuchet MS"/>
                <a:sym typeface="Trebuchet MS"/>
              </a:endParaRPr>
            </a:p>
          </p:txBody>
        </p:sp>
        <p:cxnSp>
          <p:nvCxnSpPr>
            <p:cNvPr id="462" name="Google Shape;462;p58"/>
            <p:cNvCxnSpPr>
              <a:stCxn id="454" idx="3"/>
              <a:endCxn id="455" idx="3"/>
            </p:cNvCxnSpPr>
            <p:nvPr/>
          </p:nvCxnSpPr>
          <p:spPr>
            <a:xfrm>
              <a:off x="2320250" y="3530113"/>
              <a:ext cx="600" cy="787500"/>
            </a:xfrm>
            <a:prstGeom prst="bentConnector3">
              <a:avLst>
                <a:gd fmla="val 44383248" name="adj1"/>
              </a:avLst>
            </a:prstGeom>
            <a:noFill/>
            <a:ln cap="flat" cmpd="sng" w="9525">
              <a:solidFill>
                <a:srgbClr val="990028"/>
              </a:solidFill>
              <a:prstDash val="solid"/>
              <a:round/>
              <a:headEnd len="med" w="med" type="none"/>
              <a:tailEnd len="med" w="med" type="triangle"/>
            </a:ln>
          </p:spPr>
        </p:cxn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6" name="Shape 466"/>
        <p:cNvGrpSpPr/>
        <p:nvPr/>
      </p:nvGrpSpPr>
      <p:grpSpPr>
        <a:xfrm>
          <a:off x="0" y="0"/>
          <a:ext cx="0" cy="0"/>
          <a:chOff x="0" y="0"/>
          <a:chExt cx="0" cy="0"/>
        </a:xfrm>
      </p:grpSpPr>
      <p:sp>
        <p:nvSpPr>
          <p:cNvPr id="467" name="Google Shape;467;p5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Ways to perform Machine Learning</a:t>
            </a:r>
            <a:endParaRPr sz="2000">
              <a:solidFill>
                <a:schemeClr val="dk1"/>
              </a:solidFill>
              <a:latin typeface="Century Gothic"/>
              <a:ea typeface="Century Gothic"/>
              <a:cs typeface="Century Gothic"/>
              <a:sym typeface="Century Gothic"/>
            </a:endParaRPr>
          </a:p>
        </p:txBody>
      </p:sp>
      <p:sp>
        <p:nvSpPr>
          <p:cNvPr id="468" name="Google Shape;468;p5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69" name="Google Shape;469;p59"/>
          <p:cNvSpPr/>
          <p:nvPr/>
        </p:nvSpPr>
        <p:spPr>
          <a:xfrm>
            <a:off x="524825" y="1934803"/>
            <a:ext cx="7920900" cy="841500"/>
          </a:xfrm>
          <a:prstGeom prst="leftRightArrow">
            <a:avLst>
              <a:gd fmla="val 50000" name="adj1"/>
              <a:gd fmla="val 50000" name="adj2"/>
            </a:avLst>
          </a:prstGeom>
          <a:gradFill>
            <a:gsLst>
              <a:gs pos="0">
                <a:srgbClr val="980000"/>
              </a:gs>
              <a:gs pos="100000">
                <a:srgbClr val="D96868"/>
              </a:gs>
            </a:gsLst>
            <a:path path="circle">
              <a:fillToRect b="0%" l="0%" r="100%" t="100%"/>
            </a:path>
            <a:tileRect b="-100%" l="-100%" r="0%" t="0%"/>
          </a:gradFill>
          <a:ln cap="flat" cmpd="sng" w="8625">
            <a:solidFill>
              <a:schemeClr val="lt1"/>
            </a:solidFill>
            <a:prstDash val="solid"/>
            <a:round/>
            <a:headEnd len="sm" w="sm" type="none"/>
            <a:tailEnd len="sm" w="sm" type="none"/>
          </a:ln>
        </p:spPr>
        <p:txBody>
          <a:bodyPr anchorCtr="0" anchor="ctr" bIns="82775" lIns="82775" spcFirstLastPara="1" rIns="82775" wrap="square" tIns="82775">
            <a:noAutofit/>
          </a:bodyPr>
          <a:lstStyle/>
          <a:p>
            <a:pPr indent="0" lvl="0" marL="0" rtl="0" algn="l">
              <a:spcBef>
                <a:spcPts val="0"/>
              </a:spcBef>
              <a:spcAft>
                <a:spcPts val="0"/>
              </a:spcAft>
              <a:buNone/>
            </a:pPr>
            <a:r>
              <a:t/>
            </a:r>
            <a:endParaRPr/>
          </a:p>
        </p:txBody>
      </p:sp>
      <p:sp>
        <p:nvSpPr>
          <p:cNvPr id="470" name="Google Shape;470;p59"/>
          <p:cNvSpPr txBox="1"/>
          <p:nvPr/>
        </p:nvSpPr>
        <p:spPr>
          <a:xfrm>
            <a:off x="524825" y="1584866"/>
            <a:ext cx="2115900" cy="334500"/>
          </a:xfrm>
          <a:prstGeom prst="rect">
            <a:avLst/>
          </a:prstGeom>
          <a:noFill/>
          <a:ln>
            <a:noFill/>
          </a:ln>
        </p:spPr>
        <p:txBody>
          <a:bodyPr anchorCtr="0" anchor="t" bIns="82775" lIns="82775" spcFirstLastPara="1" rIns="82775" wrap="square" tIns="82775">
            <a:spAutoFit/>
          </a:bodyPr>
          <a:lstStyle/>
          <a:p>
            <a:pPr indent="0" lvl="0" marL="0" rtl="0" algn="l">
              <a:lnSpc>
                <a:spcPct val="150000"/>
              </a:lnSpc>
              <a:spcBef>
                <a:spcPts val="0"/>
              </a:spcBef>
              <a:spcAft>
                <a:spcPts val="0"/>
              </a:spcAft>
              <a:buNone/>
            </a:pPr>
            <a:r>
              <a:rPr b="1" i="1" lang="en" sz="1086"/>
              <a:t>Less Flexible</a:t>
            </a:r>
            <a:endParaRPr b="1" i="1" sz="1086"/>
          </a:p>
        </p:txBody>
      </p:sp>
      <p:sp>
        <p:nvSpPr>
          <p:cNvPr id="471" name="Google Shape;471;p59"/>
          <p:cNvSpPr txBox="1"/>
          <p:nvPr/>
        </p:nvSpPr>
        <p:spPr>
          <a:xfrm>
            <a:off x="6024204" y="1584866"/>
            <a:ext cx="2422200" cy="334500"/>
          </a:xfrm>
          <a:prstGeom prst="rect">
            <a:avLst/>
          </a:prstGeom>
          <a:noFill/>
          <a:ln>
            <a:noFill/>
          </a:ln>
        </p:spPr>
        <p:txBody>
          <a:bodyPr anchorCtr="0" anchor="t" bIns="82775" lIns="82775" spcFirstLastPara="1" rIns="82775" wrap="square" tIns="82775">
            <a:spAutoFit/>
          </a:bodyPr>
          <a:lstStyle/>
          <a:p>
            <a:pPr indent="0" lvl="0" marL="0" rtl="0" algn="r">
              <a:lnSpc>
                <a:spcPct val="150000"/>
              </a:lnSpc>
              <a:spcBef>
                <a:spcPts val="0"/>
              </a:spcBef>
              <a:spcAft>
                <a:spcPts val="0"/>
              </a:spcAft>
              <a:buNone/>
            </a:pPr>
            <a:r>
              <a:rPr b="1" i="1" lang="en" sz="1086"/>
              <a:t>More Flexible</a:t>
            </a:r>
            <a:endParaRPr b="1" i="1" sz="1086"/>
          </a:p>
        </p:txBody>
      </p:sp>
      <p:sp>
        <p:nvSpPr>
          <p:cNvPr id="472" name="Google Shape;472;p59"/>
          <p:cNvSpPr/>
          <p:nvPr/>
        </p:nvSpPr>
        <p:spPr>
          <a:xfrm>
            <a:off x="618087" y="3301134"/>
            <a:ext cx="1382400" cy="795900"/>
          </a:xfrm>
          <a:prstGeom prst="roundRect">
            <a:avLst>
              <a:gd fmla="val 16667" name="adj"/>
            </a:avLst>
          </a:prstGeom>
          <a:solidFill>
            <a:srgbClr val="F3F3F3"/>
          </a:solidFill>
          <a:ln cap="flat" cmpd="sng" w="8625">
            <a:solidFill>
              <a:srgbClr val="F3F3F3"/>
            </a:solidFill>
            <a:prstDash val="solid"/>
            <a:round/>
            <a:headEnd len="sm" w="sm" type="none"/>
            <a:tailEnd len="sm" w="sm" type="none"/>
          </a:ln>
        </p:spPr>
        <p:txBody>
          <a:bodyPr anchorCtr="0" anchor="ctr" bIns="82775" lIns="82775" spcFirstLastPara="1" rIns="82775" wrap="square" tIns="82775">
            <a:noAutofit/>
          </a:bodyPr>
          <a:lstStyle/>
          <a:p>
            <a:pPr indent="0" lvl="0" marL="0" marR="0" rtl="0" algn="ctr">
              <a:lnSpc>
                <a:spcPct val="100000"/>
              </a:lnSpc>
              <a:spcBef>
                <a:spcPts val="0"/>
              </a:spcBef>
              <a:spcAft>
                <a:spcPts val="0"/>
              </a:spcAft>
              <a:buNone/>
            </a:pPr>
            <a:r>
              <a:rPr b="1" lang="en" sz="1086"/>
              <a:t>Cognitive API</a:t>
            </a:r>
            <a:endParaRPr b="1" sz="1086"/>
          </a:p>
        </p:txBody>
      </p:sp>
      <p:sp>
        <p:nvSpPr>
          <p:cNvPr id="473" name="Google Shape;473;p59"/>
          <p:cNvSpPr/>
          <p:nvPr/>
        </p:nvSpPr>
        <p:spPr>
          <a:xfrm>
            <a:off x="2735630" y="3301134"/>
            <a:ext cx="1382400" cy="795900"/>
          </a:xfrm>
          <a:prstGeom prst="roundRect">
            <a:avLst>
              <a:gd fmla="val 16667" name="adj"/>
            </a:avLst>
          </a:prstGeom>
          <a:solidFill>
            <a:srgbClr val="F3F3F3"/>
          </a:solidFill>
          <a:ln cap="flat" cmpd="sng" w="8625">
            <a:solidFill>
              <a:srgbClr val="F3F3F3"/>
            </a:solidFill>
            <a:prstDash val="solid"/>
            <a:round/>
            <a:headEnd len="sm" w="sm" type="none"/>
            <a:tailEnd len="sm" w="sm" type="none"/>
          </a:ln>
        </p:spPr>
        <p:txBody>
          <a:bodyPr anchorCtr="0" anchor="ctr" bIns="82775" lIns="82775" spcFirstLastPara="1" rIns="82775" wrap="square" tIns="82775">
            <a:noAutofit/>
          </a:bodyPr>
          <a:lstStyle/>
          <a:p>
            <a:pPr indent="0" lvl="0" marL="0" marR="0" rtl="0" algn="ctr">
              <a:lnSpc>
                <a:spcPct val="100000"/>
              </a:lnSpc>
              <a:spcBef>
                <a:spcPts val="0"/>
              </a:spcBef>
              <a:spcAft>
                <a:spcPts val="0"/>
              </a:spcAft>
              <a:buNone/>
            </a:pPr>
            <a:r>
              <a:rPr b="1" lang="en" sz="1086"/>
              <a:t>Auto ML</a:t>
            </a:r>
            <a:endParaRPr b="1" sz="1086"/>
          </a:p>
        </p:txBody>
      </p:sp>
      <p:sp>
        <p:nvSpPr>
          <p:cNvPr id="474" name="Google Shape;474;p59"/>
          <p:cNvSpPr/>
          <p:nvPr/>
        </p:nvSpPr>
        <p:spPr>
          <a:xfrm>
            <a:off x="4853173" y="3301134"/>
            <a:ext cx="1382400" cy="795900"/>
          </a:xfrm>
          <a:prstGeom prst="roundRect">
            <a:avLst>
              <a:gd fmla="val 16667" name="adj"/>
            </a:avLst>
          </a:prstGeom>
          <a:solidFill>
            <a:srgbClr val="F3F3F3"/>
          </a:solidFill>
          <a:ln cap="flat" cmpd="sng" w="8625">
            <a:solidFill>
              <a:srgbClr val="F3F3F3"/>
            </a:solidFill>
            <a:prstDash val="solid"/>
            <a:round/>
            <a:headEnd len="sm" w="sm" type="none"/>
            <a:tailEnd len="sm" w="sm" type="none"/>
          </a:ln>
        </p:spPr>
        <p:txBody>
          <a:bodyPr anchorCtr="0" anchor="ctr" bIns="82775" lIns="82775" spcFirstLastPara="1" rIns="82775" wrap="square" tIns="82775">
            <a:noAutofit/>
          </a:bodyPr>
          <a:lstStyle/>
          <a:p>
            <a:pPr indent="0" lvl="0" marL="0" marR="0" rtl="0" algn="ctr">
              <a:lnSpc>
                <a:spcPct val="100000"/>
              </a:lnSpc>
              <a:spcBef>
                <a:spcPts val="0"/>
              </a:spcBef>
              <a:spcAft>
                <a:spcPts val="0"/>
              </a:spcAft>
              <a:buNone/>
            </a:pPr>
            <a:r>
              <a:rPr b="1" lang="en" sz="1086"/>
              <a:t>Transfer Learning</a:t>
            </a:r>
            <a:endParaRPr b="1" sz="1086"/>
          </a:p>
        </p:txBody>
      </p:sp>
      <p:sp>
        <p:nvSpPr>
          <p:cNvPr id="475" name="Google Shape;475;p59"/>
          <p:cNvSpPr/>
          <p:nvPr/>
        </p:nvSpPr>
        <p:spPr>
          <a:xfrm>
            <a:off x="6970717" y="3301134"/>
            <a:ext cx="1382400" cy="795900"/>
          </a:xfrm>
          <a:prstGeom prst="roundRect">
            <a:avLst>
              <a:gd fmla="val 16667" name="adj"/>
            </a:avLst>
          </a:prstGeom>
          <a:solidFill>
            <a:srgbClr val="F3F3F3"/>
          </a:solidFill>
          <a:ln cap="flat" cmpd="sng" w="8625">
            <a:solidFill>
              <a:srgbClr val="F3F3F3"/>
            </a:solidFill>
            <a:prstDash val="solid"/>
            <a:round/>
            <a:headEnd len="sm" w="sm" type="none"/>
            <a:tailEnd len="sm" w="sm" type="none"/>
          </a:ln>
        </p:spPr>
        <p:txBody>
          <a:bodyPr anchorCtr="0" anchor="ctr" bIns="82775" lIns="82775" spcFirstLastPara="1" rIns="82775" wrap="square" tIns="82775">
            <a:noAutofit/>
          </a:bodyPr>
          <a:lstStyle/>
          <a:p>
            <a:pPr indent="0" lvl="0" marL="0" rtl="0" algn="ctr">
              <a:lnSpc>
                <a:spcPct val="150000"/>
              </a:lnSpc>
              <a:spcBef>
                <a:spcPts val="0"/>
              </a:spcBef>
              <a:spcAft>
                <a:spcPts val="0"/>
              </a:spcAft>
              <a:buNone/>
            </a:pPr>
            <a:r>
              <a:rPr b="1" lang="en" sz="1086"/>
              <a:t>Build your own Model (BYOM)</a:t>
            </a:r>
            <a:endParaRPr b="1" sz="1086"/>
          </a:p>
        </p:txBody>
      </p:sp>
      <p:sp>
        <p:nvSpPr>
          <p:cNvPr id="476" name="Google Shape;476;p59"/>
          <p:cNvSpPr txBox="1"/>
          <p:nvPr/>
        </p:nvSpPr>
        <p:spPr>
          <a:xfrm>
            <a:off x="524825" y="2816093"/>
            <a:ext cx="2115900" cy="334500"/>
          </a:xfrm>
          <a:prstGeom prst="rect">
            <a:avLst/>
          </a:prstGeom>
          <a:noFill/>
          <a:ln>
            <a:noFill/>
          </a:ln>
        </p:spPr>
        <p:txBody>
          <a:bodyPr anchorCtr="0" anchor="t" bIns="82775" lIns="82775" spcFirstLastPara="1" rIns="82775" wrap="square" tIns="82775">
            <a:spAutoFit/>
          </a:bodyPr>
          <a:lstStyle/>
          <a:p>
            <a:pPr indent="0" lvl="0" marL="0" rtl="0" algn="l">
              <a:lnSpc>
                <a:spcPct val="150000"/>
              </a:lnSpc>
              <a:spcBef>
                <a:spcPts val="0"/>
              </a:spcBef>
              <a:spcAft>
                <a:spcPts val="0"/>
              </a:spcAft>
              <a:buNone/>
            </a:pPr>
            <a:r>
              <a:rPr b="1" i="1" lang="en" sz="1086"/>
              <a:t>Easiest Approach</a:t>
            </a:r>
            <a:endParaRPr b="1" i="1" sz="1086"/>
          </a:p>
        </p:txBody>
      </p:sp>
      <p:sp>
        <p:nvSpPr>
          <p:cNvPr id="477" name="Google Shape;477;p59"/>
          <p:cNvSpPr txBox="1"/>
          <p:nvPr/>
        </p:nvSpPr>
        <p:spPr>
          <a:xfrm>
            <a:off x="6024204" y="2816093"/>
            <a:ext cx="2422200" cy="334500"/>
          </a:xfrm>
          <a:prstGeom prst="rect">
            <a:avLst/>
          </a:prstGeom>
          <a:noFill/>
          <a:ln>
            <a:noFill/>
          </a:ln>
        </p:spPr>
        <p:txBody>
          <a:bodyPr anchorCtr="0" anchor="t" bIns="82775" lIns="82775" spcFirstLastPara="1" rIns="82775" wrap="square" tIns="82775">
            <a:spAutoFit/>
          </a:bodyPr>
          <a:lstStyle/>
          <a:p>
            <a:pPr indent="0" lvl="0" marL="0" rtl="0" algn="r">
              <a:lnSpc>
                <a:spcPct val="150000"/>
              </a:lnSpc>
              <a:spcBef>
                <a:spcPts val="0"/>
              </a:spcBef>
              <a:spcAft>
                <a:spcPts val="0"/>
              </a:spcAft>
              <a:buNone/>
            </a:pPr>
            <a:r>
              <a:rPr b="1" i="1" lang="en" sz="1086"/>
              <a:t>Most complex Approach</a:t>
            </a:r>
            <a:endParaRPr b="1" i="1" sz="1086"/>
          </a:p>
        </p:txBody>
      </p:sp>
      <p:sp>
        <p:nvSpPr>
          <p:cNvPr id="478" name="Google Shape;478;p59"/>
          <p:cNvSpPr txBox="1"/>
          <p:nvPr/>
        </p:nvSpPr>
        <p:spPr>
          <a:xfrm>
            <a:off x="752467" y="1046464"/>
            <a:ext cx="5566500" cy="320400"/>
          </a:xfrm>
          <a:prstGeom prst="rect">
            <a:avLst/>
          </a:prstGeom>
          <a:noFill/>
          <a:ln>
            <a:noFill/>
          </a:ln>
        </p:spPr>
        <p:txBody>
          <a:bodyPr anchorCtr="0" anchor="t" bIns="82775" lIns="82775" spcFirstLastPara="1" rIns="82775" wrap="square" tIns="82775">
            <a:spAutoFit/>
          </a:bodyPr>
          <a:lstStyle/>
          <a:p>
            <a:pPr indent="0" lvl="0" marL="0" rtl="0" algn="l">
              <a:spcBef>
                <a:spcPts val="0"/>
              </a:spcBef>
              <a:spcAft>
                <a:spcPts val="0"/>
              </a:spcAft>
              <a:buNone/>
            </a:pPr>
            <a:r>
              <a:rPr b="1" lang="en" sz="996"/>
              <a:t>Requirements, Skillset, Compute, &amp; Availability of Data influence the choice of approach</a:t>
            </a:r>
            <a:endParaRPr b="1" sz="996"/>
          </a:p>
        </p:txBody>
      </p:sp>
      <p:cxnSp>
        <p:nvCxnSpPr>
          <p:cNvPr id="479" name="Google Shape;479;p59"/>
          <p:cNvCxnSpPr/>
          <p:nvPr/>
        </p:nvCxnSpPr>
        <p:spPr>
          <a:xfrm flipH="1" rot="10800000">
            <a:off x="810715" y="1325491"/>
            <a:ext cx="5304600" cy="3600"/>
          </a:xfrm>
          <a:prstGeom prst="straightConnector1">
            <a:avLst/>
          </a:prstGeom>
          <a:noFill/>
          <a:ln cap="flat" cmpd="sng" w="17250">
            <a:solidFill>
              <a:srgbClr val="666666"/>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3" name="Shape 483"/>
        <p:cNvGrpSpPr/>
        <p:nvPr/>
      </p:nvGrpSpPr>
      <p:grpSpPr>
        <a:xfrm>
          <a:off x="0" y="0"/>
          <a:ext cx="0" cy="0"/>
          <a:chOff x="0" y="0"/>
          <a:chExt cx="0" cy="0"/>
        </a:xfrm>
      </p:grpSpPr>
      <p:sp>
        <p:nvSpPr>
          <p:cNvPr id="484" name="Google Shape;484;p6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Ways to perform Machine Learning</a:t>
            </a:r>
            <a:endParaRPr sz="2000">
              <a:solidFill>
                <a:schemeClr val="dk1"/>
              </a:solidFill>
              <a:latin typeface="Century Gothic"/>
              <a:ea typeface="Century Gothic"/>
              <a:cs typeface="Century Gothic"/>
              <a:sym typeface="Century Gothic"/>
            </a:endParaRPr>
          </a:p>
        </p:txBody>
      </p:sp>
      <p:sp>
        <p:nvSpPr>
          <p:cNvPr id="485" name="Google Shape;485;p6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486" name="Google Shape;486;p60"/>
          <p:cNvSpPr txBox="1"/>
          <p:nvPr/>
        </p:nvSpPr>
        <p:spPr>
          <a:xfrm>
            <a:off x="1228384" y="1760814"/>
            <a:ext cx="3547800" cy="1848300"/>
          </a:xfrm>
          <a:prstGeom prst="rect">
            <a:avLst/>
          </a:prstGeom>
          <a:noFill/>
          <a:ln cap="flat" cmpd="sng" w="17200">
            <a:solidFill>
              <a:srgbClr val="990028"/>
            </a:solidFill>
            <a:prstDash val="dot"/>
            <a:round/>
            <a:headEnd len="sm" w="sm" type="none"/>
            <a:tailEnd len="sm" w="sm" type="none"/>
          </a:ln>
        </p:spPr>
        <p:txBody>
          <a:bodyPr anchorCtr="0" anchor="t" bIns="82550" lIns="82550" spcFirstLastPara="1" rIns="82550" wrap="square" tIns="82550">
            <a:spAutoFit/>
          </a:bodyPr>
          <a:lstStyle/>
          <a:p>
            <a:pPr indent="0" lvl="0" marL="0" rtl="0" algn="l">
              <a:lnSpc>
                <a:spcPct val="100000"/>
              </a:lnSpc>
              <a:spcBef>
                <a:spcPts val="903"/>
              </a:spcBef>
              <a:spcAft>
                <a:spcPts val="0"/>
              </a:spcAft>
              <a:buNone/>
            </a:pPr>
            <a:r>
              <a:t/>
            </a:r>
            <a:endParaRPr sz="1083">
              <a:solidFill>
                <a:srgbClr val="353535"/>
              </a:solidFill>
            </a:endParaRPr>
          </a:p>
          <a:p>
            <a:pPr indent="-275182" lvl="0" marL="412774" rtl="0" algn="l">
              <a:lnSpc>
                <a:spcPct val="200000"/>
              </a:lnSpc>
              <a:spcBef>
                <a:spcPts val="0"/>
              </a:spcBef>
              <a:spcAft>
                <a:spcPts val="0"/>
              </a:spcAft>
              <a:buClr>
                <a:srgbClr val="353535"/>
              </a:buClr>
              <a:buSzPts val="1083"/>
              <a:buFont typeface="Arial"/>
              <a:buChar char="●"/>
            </a:pPr>
            <a:r>
              <a:rPr lang="en" sz="1083">
                <a:solidFill>
                  <a:srgbClr val="353535"/>
                </a:solidFill>
              </a:rPr>
              <a:t>Useful when you want to use pre-built models</a:t>
            </a:r>
            <a:endParaRPr sz="1083">
              <a:solidFill>
                <a:srgbClr val="353535"/>
              </a:solidFill>
            </a:endParaRPr>
          </a:p>
          <a:p>
            <a:pPr indent="-275182" lvl="0" marL="412774" rtl="0" algn="l">
              <a:lnSpc>
                <a:spcPct val="200000"/>
              </a:lnSpc>
              <a:spcBef>
                <a:spcPts val="903"/>
              </a:spcBef>
              <a:spcAft>
                <a:spcPts val="0"/>
              </a:spcAft>
              <a:buClr>
                <a:srgbClr val="353535"/>
              </a:buClr>
              <a:buSzPts val="1083"/>
              <a:buFont typeface="Arial"/>
              <a:buChar char="●"/>
            </a:pPr>
            <a:r>
              <a:rPr lang="en" sz="1083">
                <a:solidFill>
                  <a:srgbClr val="353535"/>
                </a:solidFill>
              </a:rPr>
              <a:t>Make a REST-based API call to invoke it</a:t>
            </a:r>
            <a:endParaRPr sz="1083">
              <a:solidFill>
                <a:srgbClr val="353535"/>
              </a:solidFill>
            </a:endParaRPr>
          </a:p>
          <a:p>
            <a:pPr indent="-275182" lvl="0" marL="412774" rtl="0" algn="l">
              <a:lnSpc>
                <a:spcPct val="200000"/>
              </a:lnSpc>
              <a:spcBef>
                <a:spcPts val="903"/>
              </a:spcBef>
              <a:spcAft>
                <a:spcPts val="0"/>
              </a:spcAft>
              <a:buClr>
                <a:srgbClr val="353535"/>
              </a:buClr>
              <a:buSzPts val="1083"/>
              <a:buFont typeface="Arial"/>
              <a:buChar char="●"/>
            </a:pPr>
            <a:r>
              <a:rPr lang="en" sz="1083">
                <a:solidFill>
                  <a:srgbClr val="353535"/>
                </a:solidFill>
              </a:rPr>
              <a:t>No Machine Learning skills required</a:t>
            </a:r>
            <a:endParaRPr sz="1083">
              <a:solidFill>
                <a:srgbClr val="353535"/>
              </a:solidFill>
            </a:endParaRPr>
          </a:p>
          <a:p>
            <a:pPr indent="-275182" lvl="0" marL="412774" rtl="0" algn="l">
              <a:lnSpc>
                <a:spcPct val="200000"/>
              </a:lnSpc>
              <a:spcBef>
                <a:spcPts val="903"/>
              </a:spcBef>
              <a:spcAft>
                <a:spcPts val="0"/>
              </a:spcAft>
              <a:buClr>
                <a:srgbClr val="353535"/>
              </a:buClr>
              <a:buSzPts val="1083"/>
              <a:buFont typeface="Arial"/>
              <a:buChar char="●"/>
            </a:pPr>
            <a:r>
              <a:rPr lang="en" sz="1083">
                <a:solidFill>
                  <a:srgbClr val="353535"/>
                </a:solidFill>
              </a:rPr>
              <a:t>Least flexible option</a:t>
            </a:r>
            <a:endParaRPr sz="1083">
              <a:solidFill>
                <a:srgbClr val="353535"/>
              </a:solidFill>
            </a:endParaRPr>
          </a:p>
        </p:txBody>
      </p:sp>
      <p:sp>
        <p:nvSpPr>
          <p:cNvPr id="487" name="Google Shape;487;p60"/>
          <p:cNvSpPr/>
          <p:nvPr/>
        </p:nvSpPr>
        <p:spPr>
          <a:xfrm>
            <a:off x="821271" y="1318114"/>
            <a:ext cx="7361400" cy="187500"/>
          </a:xfrm>
          <a:prstGeom prst="leftRightArrow">
            <a:avLst>
              <a:gd fmla="val 50000" name="adj1"/>
              <a:gd fmla="val 50000" name="adj2"/>
            </a:avLst>
          </a:prstGeom>
          <a:gradFill>
            <a:gsLst>
              <a:gs pos="0">
                <a:schemeClr val="accent1"/>
              </a:gs>
              <a:gs pos="100000">
                <a:schemeClr val="accent2"/>
              </a:gs>
            </a:gsLst>
            <a:lin ang="0" scaled="0"/>
          </a:gradFill>
          <a:ln cap="flat" cmpd="sng" w="8600">
            <a:solidFill>
              <a:srgbClr val="FFFFFF"/>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a:p>
        </p:txBody>
      </p:sp>
      <p:sp>
        <p:nvSpPr>
          <p:cNvPr id="488" name="Google Shape;488;p60"/>
          <p:cNvSpPr txBox="1"/>
          <p:nvPr/>
        </p:nvSpPr>
        <p:spPr>
          <a:xfrm>
            <a:off x="752475" y="1041025"/>
            <a:ext cx="1966500" cy="305700"/>
          </a:xfrm>
          <a:prstGeom prst="rect">
            <a:avLst/>
          </a:prstGeom>
          <a:noFill/>
          <a:ln>
            <a:noFill/>
          </a:ln>
        </p:spPr>
        <p:txBody>
          <a:bodyPr anchorCtr="0" anchor="t" bIns="82550" lIns="82550" spcFirstLastPara="1" rIns="82550" wrap="square" tIns="82550">
            <a:spAutoFit/>
          </a:bodyPr>
          <a:lstStyle/>
          <a:p>
            <a:pPr indent="0" lvl="0" marL="0" rtl="0" algn="l">
              <a:spcBef>
                <a:spcPts val="0"/>
              </a:spcBef>
              <a:spcAft>
                <a:spcPts val="0"/>
              </a:spcAft>
              <a:buNone/>
            </a:pPr>
            <a:r>
              <a:rPr b="1" i="1" lang="en" sz="902"/>
              <a:t>Less Flexible / Easiest Approach</a:t>
            </a:r>
            <a:endParaRPr b="1" i="1" sz="902"/>
          </a:p>
        </p:txBody>
      </p:sp>
      <p:sp>
        <p:nvSpPr>
          <p:cNvPr id="489" name="Google Shape;489;p60"/>
          <p:cNvSpPr txBox="1"/>
          <p:nvPr/>
        </p:nvSpPr>
        <p:spPr>
          <a:xfrm>
            <a:off x="5648980" y="1041025"/>
            <a:ext cx="2602200" cy="305700"/>
          </a:xfrm>
          <a:prstGeom prst="rect">
            <a:avLst/>
          </a:prstGeom>
          <a:noFill/>
          <a:ln>
            <a:noFill/>
          </a:ln>
        </p:spPr>
        <p:txBody>
          <a:bodyPr anchorCtr="0" anchor="t" bIns="82550" lIns="82550" spcFirstLastPara="1" rIns="82550" wrap="square" tIns="82550">
            <a:spAutoFit/>
          </a:bodyPr>
          <a:lstStyle/>
          <a:p>
            <a:pPr indent="0" lvl="0" marL="0" rtl="0" algn="r">
              <a:spcBef>
                <a:spcPts val="0"/>
              </a:spcBef>
              <a:spcAft>
                <a:spcPts val="0"/>
              </a:spcAft>
              <a:buNone/>
            </a:pPr>
            <a:r>
              <a:rPr b="1" i="1" lang="en" sz="902"/>
              <a:t>More Flexible / Most complex Approach</a:t>
            </a:r>
            <a:endParaRPr b="1" i="1" sz="902"/>
          </a:p>
        </p:txBody>
      </p:sp>
      <p:sp>
        <p:nvSpPr>
          <p:cNvPr id="490" name="Google Shape;490;p60"/>
          <p:cNvSpPr/>
          <p:nvPr/>
        </p:nvSpPr>
        <p:spPr>
          <a:xfrm>
            <a:off x="907922" y="1622812"/>
            <a:ext cx="1284600" cy="285300"/>
          </a:xfrm>
          <a:prstGeom prst="roundRect">
            <a:avLst>
              <a:gd fmla="val 16667" name="adj"/>
            </a:avLst>
          </a:prstGeom>
          <a:solidFill>
            <a:srgbClr val="F3F3F3"/>
          </a:solidFill>
          <a:ln cap="flat" cmpd="sng" w="8600">
            <a:solidFill>
              <a:srgbClr val="F3F3F3"/>
            </a:solidFill>
            <a:prstDash val="solid"/>
            <a:round/>
            <a:headEnd len="sm" w="sm" type="none"/>
            <a:tailEnd len="sm" w="sm" type="none"/>
          </a:ln>
        </p:spPr>
        <p:txBody>
          <a:bodyPr anchorCtr="0" anchor="ctr" bIns="82550" lIns="82550" spcFirstLastPara="1" rIns="82550" wrap="square" tIns="82550">
            <a:noAutofit/>
          </a:bodyPr>
          <a:lstStyle/>
          <a:p>
            <a:pPr indent="0" lvl="0" marL="0" rtl="0" algn="ctr">
              <a:spcBef>
                <a:spcPts val="0"/>
              </a:spcBef>
              <a:spcAft>
                <a:spcPts val="0"/>
              </a:spcAft>
              <a:buNone/>
            </a:pPr>
            <a:r>
              <a:rPr b="1" lang="en" sz="902">
                <a:latin typeface="Trebuchet MS"/>
                <a:ea typeface="Trebuchet MS"/>
                <a:cs typeface="Trebuchet MS"/>
                <a:sym typeface="Trebuchet MS"/>
              </a:rPr>
              <a:t>Cognitive API</a:t>
            </a:r>
            <a:endParaRPr b="1" sz="902">
              <a:latin typeface="Trebuchet MS"/>
              <a:ea typeface="Trebuchet MS"/>
              <a:cs typeface="Trebuchet MS"/>
              <a:sym typeface="Trebuchet MS"/>
            </a:endParaRPr>
          </a:p>
        </p:txBody>
      </p:sp>
      <p:sp>
        <p:nvSpPr>
          <p:cNvPr id="491" name="Google Shape;491;p60"/>
          <p:cNvSpPr/>
          <p:nvPr/>
        </p:nvSpPr>
        <p:spPr>
          <a:xfrm>
            <a:off x="1557951" y="3686609"/>
            <a:ext cx="517200" cy="450300"/>
          </a:xfrm>
          <a:prstGeom prst="ellipse">
            <a:avLst/>
          </a:prstGeom>
          <a:solidFill>
            <a:srgbClr val="434343"/>
          </a:solidFill>
          <a:ln cap="flat" cmpd="sng" w="8600">
            <a:solidFill>
              <a:srgbClr val="434343"/>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a:p>
        </p:txBody>
      </p:sp>
      <p:pic>
        <p:nvPicPr>
          <p:cNvPr id="492" name="Google Shape;492;p60">
            <a:hlinkClick r:id="rId3"/>
          </p:cNvPr>
          <p:cNvPicPr preferRelativeResize="0"/>
          <p:nvPr/>
        </p:nvPicPr>
        <p:blipFill>
          <a:blip r:embed="rId4">
            <a:alphaModFix/>
          </a:blip>
          <a:stretch>
            <a:fillRect/>
          </a:stretch>
        </p:blipFill>
        <p:spPr>
          <a:xfrm>
            <a:off x="1615066" y="3819887"/>
            <a:ext cx="402955" cy="183521"/>
          </a:xfrm>
          <a:prstGeom prst="rect">
            <a:avLst/>
          </a:prstGeom>
          <a:noFill/>
          <a:ln cap="flat" cmpd="sng" w="8600">
            <a:solidFill>
              <a:srgbClr val="434343"/>
            </a:solidFill>
            <a:prstDash val="solid"/>
            <a:round/>
            <a:headEnd len="sm" w="sm" type="none"/>
            <a:tailEnd len="sm" w="sm" type="none"/>
          </a:ln>
        </p:spPr>
      </p:pic>
      <p:sp>
        <p:nvSpPr>
          <p:cNvPr id="493" name="Google Shape;493;p60"/>
          <p:cNvSpPr/>
          <p:nvPr/>
        </p:nvSpPr>
        <p:spPr>
          <a:xfrm>
            <a:off x="3197263" y="3686609"/>
            <a:ext cx="517200" cy="450300"/>
          </a:xfrm>
          <a:prstGeom prst="ellipse">
            <a:avLst/>
          </a:prstGeom>
          <a:solidFill>
            <a:srgbClr val="434343"/>
          </a:solidFill>
          <a:ln cap="flat" cmpd="sng" w="8600">
            <a:solidFill>
              <a:srgbClr val="434343"/>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a:p>
        </p:txBody>
      </p:sp>
      <p:pic>
        <p:nvPicPr>
          <p:cNvPr id="494" name="Google Shape;494;p60">
            <a:hlinkClick r:id="rId5"/>
          </p:cNvPr>
          <p:cNvPicPr preferRelativeResize="0"/>
          <p:nvPr/>
        </p:nvPicPr>
        <p:blipFill>
          <a:blip r:embed="rId6">
            <a:alphaModFix/>
          </a:blip>
          <a:stretch>
            <a:fillRect/>
          </a:stretch>
        </p:blipFill>
        <p:spPr>
          <a:xfrm>
            <a:off x="3296652" y="3785972"/>
            <a:ext cx="318412" cy="251354"/>
          </a:xfrm>
          <a:prstGeom prst="rect">
            <a:avLst/>
          </a:prstGeom>
          <a:noFill/>
          <a:ln>
            <a:noFill/>
          </a:ln>
        </p:spPr>
      </p:pic>
      <p:sp>
        <p:nvSpPr>
          <p:cNvPr id="495" name="Google Shape;495;p60"/>
          <p:cNvSpPr/>
          <p:nvPr/>
        </p:nvSpPr>
        <p:spPr>
          <a:xfrm>
            <a:off x="4893697" y="3686609"/>
            <a:ext cx="517200" cy="450300"/>
          </a:xfrm>
          <a:prstGeom prst="ellipse">
            <a:avLst/>
          </a:prstGeom>
          <a:solidFill>
            <a:srgbClr val="434343"/>
          </a:solidFill>
          <a:ln cap="flat" cmpd="sng" w="8600">
            <a:solidFill>
              <a:srgbClr val="434343"/>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a:p>
        </p:txBody>
      </p:sp>
      <p:pic>
        <p:nvPicPr>
          <p:cNvPr id="496" name="Google Shape;496;p60">
            <a:hlinkClick r:id="rId7"/>
          </p:cNvPr>
          <p:cNvPicPr preferRelativeResize="0"/>
          <p:nvPr/>
        </p:nvPicPr>
        <p:blipFill>
          <a:blip r:embed="rId8">
            <a:alphaModFix/>
          </a:blip>
          <a:stretch>
            <a:fillRect/>
          </a:stretch>
        </p:blipFill>
        <p:spPr>
          <a:xfrm>
            <a:off x="5024698" y="3799179"/>
            <a:ext cx="255182" cy="224942"/>
          </a:xfrm>
          <a:prstGeom prst="rect">
            <a:avLst/>
          </a:prstGeom>
          <a:noFill/>
          <a:ln>
            <a:noFill/>
          </a:ln>
        </p:spPr>
      </p:pic>
      <p:sp>
        <p:nvSpPr>
          <p:cNvPr id="497" name="Google Shape;497;p60">
            <a:hlinkClick r:id="rId9"/>
          </p:cNvPr>
          <p:cNvSpPr/>
          <p:nvPr/>
        </p:nvSpPr>
        <p:spPr>
          <a:xfrm>
            <a:off x="6590131" y="3686609"/>
            <a:ext cx="517200" cy="450300"/>
          </a:xfrm>
          <a:prstGeom prst="ellipse">
            <a:avLst/>
          </a:prstGeom>
          <a:solidFill>
            <a:srgbClr val="434343"/>
          </a:solidFill>
          <a:ln cap="flat" cmpd="sng" w="8600">
            <a:solidFill>
              <a:srgbClr val="434343"/>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b="1" sz="722">
              <a:solidFill>
                <a:srgbClr val="FFFFFF"/>
              </a:solidFill>
            </a:endParaRPr>
          </a:p>
        </p:txBody>
      </p:sp>
      <p:sp>
        <p:nvSpPr>
          <p:cNvPr id="498" name="Google Shape;498;p60"/>
          <p:cNvSpPr/>
          <p:nvPr/>
        </p:nvSpPr>
        <p:spPr>
          <a:xfrm>
            <a:off x="6590221" y="2461044"/>
            <a:ext cx="517200" cy="450300"/>
          </a:xfrm>
          <a:prstGeom prst="ellipse">
            <a:avLst/>
          </a:prstGeom>
          <a:solidFill>
            <a:srgbClr val="434343"/>
          </a:solidFill>
          <a:ln cap="flat" cmpd="sng" w="8600">
            <a:solidFill>
              <a:srgbClr val="434343"/>
            </a:solidFill>
            <a:prstDash val="solid"/>
            <a:round/>
            <a:headEnd len="sm" w="sm" type="none"/>
            <a:tailEnd len="sm" w="sm" type="none"/>
          </a:ln>
        </p:spPr>
        <p:txBody>
          <a:bodyPr anchorCtr="0" anchor="ctr" bIns="82550" lIns="82550" spcFirstLastPara="1" rIns="82550" wrap="square" tIns="82550">
            <a:noAutofit/>
          </a:bodyPr>
          <a:lstStyle/>
          <a:p>
            <a:pPr indent="0" lvl="0" marL="0" rtl="0" algn="l">
              <a:spcBef>
                <a:spcPts val="0"/>
              </a:spcBef>
              <a:spcAft>
                <a:spcPts val="0"/>
              </a:spcAft>
              <a:buNone/>
            </a:pPr>
            <a:r>
              <a:t/>
            </a:r>
            <a:endParaRPr/>
          </a:p>
        </p:txBody>
      </p:sp>
      <p:pic>
        <p:nvPicPr>
          <p:cNvPr id="499" name="Google Shape;499;p60">
            <a:hlinkClick r:id="rId10"/>
          </p:cNvPr>
          <p:cNvPicPr preferRelativeResize="0"/>
          <p:nvPr/>
        </p:nvPicPr>
        <p:blipFill>
          <a:blip r:embed="rId11">
            <a:alphaModFix/>
          </a:blip>
          <a:stretch>
            <a:fillRect/>
          </a:stretch>
        </p:blipFill>
        <p:spPr>
          <a:xfrm>
            <a:off x="6706346" y="2545077"/>
            <a:ext cx="284932" cy="282020"/>
          </a:xfrm>
          <a:prstGeom prst="rect">
            <a:avLst/>
          </a:prstGeom>
          <a:noFill/>
          <a:ln>
            <a:noFill/>
          </a:ln>
        </p:spPr>
      </p:pic>
      <p:sp>
        <p:nvSpPr>
          <p:cNvPr id="500" name="Google Shape;500;p60"/>
          <p:cNvSpPr txBox="1"/>
          <p:nvPr/>
        </p:nvSpPr>
        <p:spPr>
          <a:xfrm>
            <a:off x="1106317" y="4187913"/>
            <a:ext cx="1420200" cy="549000"/>
          </a:xfrm>
          <a:prstGeom prst="rect">
            <a:avLst/>
          </a:prstGeom>
          <a:noFill/>
          <a:ln>
            <a:noFill/>
          </a:ln>
        </p:spPr>
        <p:txBody>
          <a:bodyPr anchorCtr="0" anchor="t" bIns="82550" lIns="82550" spcFirstLastPara="1" rIns="82550" wrap="square" tIns="82550">
            <a:spAutoFit/>
          </a:bodyPr>
          <a:lstStyle/>
          <a:p>
            <a:pPr indent="0" lvl="0" marL="0" rtl="0" algn="ctr">
              <a:lnSpc>
                <a:spcPct val="150000"/>
              </a:lnSpc>
              <a:spcBef>
                <a:spcPts val="0"/>
              </a:spcBef>
              <a:spcAft>
                <a:spcPts val="0"/>
              </a:spcAft>
              <a:buNone/>
            </a:pPr>
            <a:r>
              <a:rPr b="1" lang="en" sz="993"/>
              <a:t>Amazon Rekognition</a:t>
            </a:r>
            <a:endParaRPr b="1" sz="993"/>
          </a:p>
          <a:p>
            <a:pPr indent="0" lvl="0" marL="0" rtl="0" algn="ctr">
              <a:lnSpc>
                <a:spcPct val="150000"/>
              </a:lnSpc>
              <a:spcBef>
                <a:spcPts val="0"/>
              </a:spcBef>
              <a:spcAft>
                <a:spcPts val="0"/>
              </a:spcAft>
              <a:buNone/>
            </a:pPr>
            <a:r>
              <a:rPr i="1" lang="en" sz="993"/>
              <a:t>Vision API</a:t>
            </a:r>
            <a:endParaRPr i="1" sz="993"/>
          </a:p>
        </p:txBody>
      </p:sp>
      <p:sp>
        <p:nvSpPr>
          <p:cNvPr id="501" name="Google Shape;501;p60"/>
          <p:cNvSpPr txBox="1"/>
          <p:nvPr/>
        </p:nvSpPr>
        <p:spPr>
          <a:xfrm>
            <a:off x="2745630" y="4187913"/>
            <a:ext cx="1420200" cy="549000"/>
          </a:xfrm>
          <a:prstGeom prst="rect">
            <a:avLst/>
          </a:prstGeom>
          <a:noFill/>
          <a:ln>
            <a:noFill/>
          </a:ln>
        </p:spPr>
        <p:txBody>
          <a:bodyPr anchorCtr="0" anchor="t" bIns="82550" lIns="82550" spcFirstLastPara="1" rIns="82550" wrap="square" tIns="82550">
            <a:spAutoFit/>
          </a:bodyPr>
          <a:lstStyle/>
          <a:p>
            <a:pPr indent="0" lvl="0" marL="0" rtl="0" algn="ctr">
              <a:lnSpc>
                <a:spcPct val="150000"/>
              </a:lnSpc>
              <a:spcBef>
                <a:spcPts val="0"/>
              </a:spcBef>
              <a:spcAft>
                <a:spcPts val="0"/>
              </a:spcAft>
              <a:buNone/>
            </a:pPr>
            <a:r>
              <a:rPr b="1" lang="en" sz="993"/>
              <a:t>Amazon Translate</a:t>
            </a:r>
            <a:endParaRPr b="1" sz="993"/>
          </a:p>
          <a:p>
            <a:pPr indent="0" lvl="0" marL="0" rtl="0" algn="ctr">
              <a:lnSpc>
                <a:spcPct val="150000"/>
              </a:lnSpc>
              <a:spcBef>
                <a:spcPts val="0"/>
              </a:spcBef>
              <a:spcAft>
                <a:spcPts val="0"/>
              </a:spcAft>
              <a:buNone/>
            </a:pPr>
            <a:r>
              <a:rPr i="1" lang="en" sz="993"/>
              <a:t>Translation API</a:t>
            </a:r>
            <a:endParaRPr i="1" sz="993"/>
          </a:p>
        </p:txBody>
      </p:sp>
      <p:sp>
        <p:nvSpPr>
          <p:cNvPr id="502" name="Google Shape;502;p60"/>
          <p:cNvSpPr txBox="1"/>
          <p:nvPr/>
        </p:nvSpPr>
        <p:spPr>
          <a:xfrm>
            <a:off x="4347669" y="4187913"/>
            <a:ext cx="1609200" cy="549000"/>
          </a:xfrm>
          <a:prstGeom prst="rect">
            <a:avLst/>
          </a:prstGeom>
          <a:noFill/>
          <a:ln>
            <a:noFill/>
          </a:ln>
        </p:spPr>
        <p:txBody>
          <a:bodyPr anchorCtr="0" anchor="t" bIns="82550" lIns="82550" spcFirstLastPara="1" rIns="82550" wrap="square" tIns="82550">
            <a:spAutoFit/>
          </a:bodyPr>
          <a:lstStyle/>
          <a:p>
            <a:pPr indent="0" lvl="0" marL="0" rtl="0" algn="ctr">
              <a:lnSpc>
                <a:spcPct val="150000"/>
              </a:lnSpc>
              <a:spcBef>
                <a:spcPts val="0"/>
              </a:spcBef>
              <a:spcAft>
                <a:spcPts val="0"/>
              </a:spcAft>
              <a:buNone/>
            </a:pPr>
            <a:r>
              <a:rPr b="1" lang="en" sz="993"/>
              <a:t>Amazon Transcribe</a:t>
            </a:r>
            <a:endParaRPr b="1" sz="993"/>
          </a:p>
          <a:p>
            <a:pPr indent="0" lvl="0" marL="0" rtl="0" algn="ctr">
              <a:lnSpc>
                <a:spcPct val="150000"/>
              </a:lnSpc>
              <a:spcBef>
                <a:spcPts val="0"/>
              </a:spcBef>
              <a:spcAft>
                <a:spcPts val="0"/>
              </a:spcAft>
              <a:buNone/>
            </a:pPr>
            <a:r>
              <a:rPr i="1" lang="en" sz="993"/>
              <a:t>Speech-to-Text API</a:t>
            </a:r>
            <a:endParaRPr i="1" sz="993"/>
          </a:p>
        </p:txBody>
      </p:sp>
      <p:sp>
        <p:nvSpPr>
          <p:cNvPr id="503" name="Google Shape;503;p60"/>
          <p:cNvSpPr txBox="1"/>
          <p:nvPr/>
        </p:nvSpPr>
        <p:spPr>
          <a:xfrm>
            <a:off x="5979125" y="4187913"/>
            <a:ext cx="1739400" cy="549000"/>
          </a:xfrm>
          <a:prstGeom prst="rect">
            <a:avLst/>
          </a:prstGeom>
          <a:noFill/>
          <a:ln>
            <a:noFill/>
          </a:ln>
        </p:spPr>
        <p:txBody>
          <a:bodyPr anchorCtr="0" anchor="t" bIns="82550" lIns="82550" spcFirstLastPara="1" rIns="82550" wrap="square" tIns="82550">
            <a:spAutoFit/>
          </a:bodyPr>
          <a:lstStyle/>
          <a:p>
            <a:pPr indent="0" lvl="0" marL="0" rtl="0" algn="ctr">
              <a:lnSpc>
                <a:spcPct val="150000"/>
              </a:lnSpc>
              <a:spcBef>
                <a:spcPts val="0"/>
              </a:spcBef>
              <a:spcAft>
                <a:spcPts val="0"/>
              </a:spcAft>
              <a:buNone/>
            </a:pPr>
            <a:r>
              <a:rPr b="1" lang="en" sz="993"/>
              <a:t>Amazon Comprehend</a:t>
            </a:r>
            <a:endParaRPr b="1" sz="993"/>
          </a:p>
          <a:p>
            <a:pPr indent="0" lvl="0" marL="0" rtl="0" algn="ctr">
              <a:lnSpc>
                <a:spcPct val="150000"/>
              </a:lnSpc>
              <a:spcBef>
                <a:spcPts val="0"/>
              </a:spcBef>
              <a:spcAft>
                <a:spcPts val="0"/>
              </a:spcAft>
              <a:buNone/>
            </a:pPr>
            <a:r>
              <a:rPr i="1" lang="en" sz="993"/>
              <a:t>NLP API</a:t>
            </a:r>
            <a:endParaRPr i="1" sz="993"/>
          </a:p>
        </p:txBody>
      </p:sp>
      <p:sp>
        <p:nvSpPr>
          <p:cNvPr id="504" name="Google Shape;504;p60"/>
          <p:cNvSpPr txBox="1"/>
          <p:nvPr/>
        </p:nvSpPr>
        <p:spPr>
          <a:xfrm>
            <a:off x="6173660" y="2906817"/>
            <a:ext cx="1350300" cy="549000"/>
          </a:xfrm>
          <a:prstGeom prst="rect">
            <a:avLst/>
          </a:prstGeom>
          <a:noFill/>
          <a:ln>
            <a:noFill/>
          </a:ln>
        </p:spPr>
        <p:txBody>
          <a:bodyPr anchorCtr="0" anchor="t" bIns="82550" lIns="82550" spcFirstLastPara="1" rIns="82550" wrap="square" tIns="82550">
            <a:spAutoFit/>
          </a:bodyPr>
          <a:lstStyle/>
          <a:p>
            <a:pPr indent="0" lvl="0" marL="0" rtl="0" algn="ctr">
              <a:lnSpc>
                <a:spcPct val="150000"/>
              </a:lnSpc>
              <a:spcBef>
                <a:spcPts val="0"/>
              </a:spcBef>
              <a:spcAft>
                <a:spcPts val="0"/>
              </a:spcAft>
              <a:buNone/>
            </a:pPr>
            <a:r>
              <a:rPr b="1" lang="en" sz="993"/>
              <a:t>Amazon Polly</a:t>
            </a:r>
            <a:endParaRPr b="1" sz="993"/>
          </a:p>
          <a:p>
            <a:pPr indent="0" lvl="0" marL="0" rtl="0" algn="ctr">
              <a:lnSpc>
                <a:spcPct val="150000"/>
              </a:lnSpc>
              <a:spcBef>
                <a:spcPts val="0"/>
              </a:spcBef>
              <a:spcAft>
                <a:spcPts val="0"/>
              </a:spcAft>
              <a:buNone/>
            </a:pPr>
            <a:r>
              <a:rPr i="1" lang="en" sz="993"/>
              <a:t>Text-to-Speech API</a:t>
            </a:r>
            <a:endParaRPr i="1" sz="993"/>
          </a:p>
        </p:txBody>
      </p:sp>
      <p:sp>
        <p:nvSpPr>
          <p:cNvPr id="505" name="Google Shape;505;p60"/>
          <p:cNvSpPr txBox="1"/>
          <p:nvPr/>
        </p:nvSpPr>
        <p:spPr>
          <a:xfrm>
            <a:off x="6550050" y="3744983"/>
            <a:ext cx="597300" cy="333600"/>
          </a:xfrm>
          <a:prstGeom prst="rect">
            <a:avLst/>
          </a:prstGeom>
          <a:noFill/>
          <a:ln>
            <a:noFill/>
          </a:ln>
        </p:spPr>
        <p:txBody>
          <a:bodyPr anchorCtr="0" anchor="t" bIns="82550" lIns="82550" spcFirstLastPara="1" rIns="82550" wrap="square" tIns="82550">
            <a:spAutoFit/>
          </a:bodyPr>
          <a:lstStyle/>
          <a:p>
            <a:pPr indent="0" lvl="0" marL="0" rtl="0" algn="ctr">
              <a:spcBef>
                <a:spcPts val="0"/>
              </a:spcBef>
              <a:spcAft>
                <a:spcPts val="0"/>
              </a:spcAft>
              <a:buNone/>
            </a:pPr>
            <a:r>
              <a:rPr b="1" lang="en" sz="1083">
                <a:solidFill>
                  <a:srgbClr val="FFFFFF"/>
                </a:solidFill>
              </a:rPr>
              <a:t>NLP</a:t>
            </a:r>
            <a:endParaRPr b="1" sz="1083">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9" name="Shape 509"/>
        <p:cNvGrpSpPr/>
        <p:nvPr/>
      </p:nvGrpSpPr>
      <p:grpSpPr>
        <a:xfrm>
          <a:off x="0" y="0"/>
          <a:ext cx="0" cy="0"/>
          <a:chOff x="0" y="0"/>
          <a:chExt cx="0" cy="0"/>
        </a:xfrm>
      </p:grpSpPr>
      <p:sp>
        <p:nvSpPr>
          <p:cNvPr id="510" name="Google Shape;510;p6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Ways to perform Machine Learning</a:t>
            </a:r>
            <a:endParaRPr sz="2000">
              <a:solidFill>
                <a:schemeClr val="dk1"/>
              </a:solidFill>
              <a:latin typeface="Century Gothic"/>
              <a:ea typeface="Century Gothic"/>
              <a:cs typeface="Century Gothic"/>
              <a:sym typeface="Century Gothic"/>
            </a:endParaRPr>
          </a:p>
        </p:txBody>
      </p:sp>
      <p:sp>
        <p:nvSpPr>
          <p:cNvPr id="511" name="Google Shape;511;p6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12" name="Google Shape;512;p61"/>
          <p:cNvPicPr preferRelativeResize="0"/>
          <p:nvPr/>
        </p:nvPicPr>
        <p:blipFill rotWithShape="1">
          <a:blip r:embed="rId3">
            <a:alphaModFix/>
          </a:blip>
          <a:srcRect b="0" l="41305" r="7713" t="0"/>
          <a:stretch/>
        </p:blipFill>
        <p:spPr>
          <a:xfrm>
            <a:off x="-350675" y="2247976"/>
            <a:ext cx="1052955" cy="2206124"/>
          </a:xfrm>
          <a:prstGeom prst="rect">
            <a:avLst/>
          </a:prstGeom>
          <a:noFill/>
          <a:ln>
            <a:noFill/>
          </a:ln>
        </p:spPr>
      </p:pic>
      <p:sp>
        <p:nvSpPr>
          <p:cNvPr id="513" name="Google Shape;513;p61"/>
          <p:cNvSpPr txBox="1"/>
          <p:nvPr/>
        </p:nvSpPr>
        <p:spPr>
          <a:xfrm>
            <a:off x="2930075" y="1672079"/>
            <a:ext cx="5803800" cy="2246400"/>
          </a:xfrm>
          <a:prstGeom prst="rect">
            <a:avLst/>
          </a:prstGeom>
          <a:noFill/>
          <a:ln cap="flat" cmpd="sng" w="17825">
            <a:solidFill>
              <a:srgbClr val="990028"/>
            </a:solidFill>
            <a:prstDash val="dot"/>
            <a:round/>
            <a:headEnd len="sm" w="sm" type="none"/>
            <a:tailEnd len="sm" w="sm" type="none"/>
          </a:ln>
        </p:spPr>
        <p:txBody>
          <a:bodyPr anchorCtr="0" anchor="t" bIns="85525" lIns="85525" spcFirstLastPara="1" rIns="85525" wrap="square" tIns="85525">
            <a:spAutoFit/>
          </a:bodyPr>
          <a:lstStyle/>
          <a:p>
            <a:pPr indent="0" lvl="0" marL="0" rtl="0" algn="l">
              <a:lnSpc>
                <a:spcPct val="100000"/>
              </a:lnSpc>
              <a:spcBef>
                <a:spcPts val="0"/>
              </a:spcBef>
              <a:spcAft>
                <a:spcPts val="0"/>
              </a:spcAft>
              <a:buNone/>
            </a:pPr>
            <a:r>
              <a:t/>
            </a:r>
            <a:endParaRPr sz="1122">
              <a:solidFill>
                <a:srgbClr val="353535"/>
              </a:solidFill>
            </a:endParaRPr>
          </a:p>
          <a:p>
            <a:pPr indent="-285145" lvl="0" marL="427718" rtl="0" algn="l">
              <a:lnSpc>
                <a:spcPct val="200000"/>
              </a:lnSpc>
              <a:spcBef>
                <a:spcPts val="0"/>
              </a:spcBef>
              <a:spcAft>
                <a:spcPts val="0"/>
              </a:spcAft>
              <a:buClr>
                <a:srgbClr val="353535"/>
              </a:buClr>
              <a:buSzPts val="1123"/>
              <a:buChar char="●"/>
            </a:pPr>
            <a:r>
              <a:rPr lang="en" sz="1122">
                <a:solidFill>
                  <a:srgbClr val="353535"/>
                </a:solidFill>
              </a:rPr>
              <a:t>An approach to automate Data Scientist’s work</a:t>
            </a:r>
            <a:endParaRPr sz="1122">
              <a:solidFill>
                <a:srgbClr val="353535"/>
              </a:solidFill>
            </a:endParaRPr>
          </a:p>
          <a:p>
            <a:pPr indent="-285145" lvl="0" marL="427718" rtl="0" algn="l">
              <a:lnSpc>
                <a:spcPct val="200000"/>
              </a:lnSpc>
              <a:spcBef>
                <a:spcPts val="0"/>
              </a:spcBef>
              <a:spcAft>
                <a:spcPts val="0"/>
              </a:spcAft>
              <a:buClr>
                <a:srgbClr val="353535"/>
              </a:buClr>
              <a:buSzPts val="1123"/>
              <a:buChar char="●"/>
            </a:pPr>
            <a:r>
              <a:rPr lang="en" sz="1122">
                <a:solidFill>
                  <a:srgbClr val="353535"/>
                </a:solidFill>
              </a:rPr>
              <a:t>Based on the concept “Using AI to Build AI”</a:t>
            </a:r>
            <a:endParaRPr sz="1122">
              <a:solidFill>
                <a:srgbClr val="353535"/>
              </a:solidFill>
            </a:endParaRPr>
          </a:p>
          <a:p>
            <a:pPr indent="-285145" lvl="0" marL="427718" rtl="0" algn="l">
              <a:lnSpc>
                <a:spcPct val="200000"/>
              </a:lnSpc>
              <a:spcBef>
                <a:spcPts val="0"/>
              </a:spcBef>
              <a:spcAft>
                <a:spcPts val="0"/>
              </a:spcAft>
              <a:buClr>
                <a:srgbClr val="353535"/>
              </a:buClr>
              <a:buSzPts val="1123"/>
              <a:buChar char="●"/>
            </a:pPr>
            <a:r>
              <a:rPr lang="en" sz="1122">
                <a:solidFill>
                  <a:srgbClr val="353535"/>
                </a:solidFill>
              </a:rPr>
              <a:t>No ML expertise required but correct data labeling necessary</a:t>
            </a:r>
            <a:endParaRPr sz="1122">
              <a:solidFill>
                <a:srgbClr val="353535"/>
              </a:solidFill>
            </a:endParaRPr>
          </a:p>
          <a:p>
            <a:pPr indent="-285145" lvl="0" marL="427718" rtl="0" algn="l">
              <a:lnSpc>
                <a:spcPct val="200000"/>
              </a:lnSpc>
              <a:spcBef>
                <a:spcPts val="0"/>
              </a:spcBef>
              <a:spcAft>
                <a:spcPts val="0"/>
              </a:spcAft>
              <a:buClr>
                <a:srgbClr val="353535"/>
              </a:buClr>
              <a:buSzPts val="1123"/>
              <a:buChar char="●"/>
            </a:pPr>
            <a:r>
              <a:rPr lang="en" sz="1122">
                <a:solidFill>
                  <a:srgbClr val="353535"/>
                </a:solidFill>
              </a:rPr>
              <a:t>Not much flexibility in terms of customization</a:t>
            </a:r>
            <a:endParaRPr sz="1122">
              <a:solidFill>
                <a:srgbClr val="353535"/>
              </a:solidFill>
            </a:endParaRPr>
          </a:p>
          <a:p>
            <a:pPr indent="-285145" lvl="0" marL="427718" rtl="0" algn="l">
              <a:lnSpc>
                <a:spcPct val="200000"/>
              </a:lnSpc>
              <a:spcBef>
                <a:spcPts val="0"/>
              </a:spcBef>
              <a:spcAft>
                <a:spcPts val="0"/>
              </a:spcAft>
              <a:buClr>
                <a:srgbClr val="353535"/>
              </a:buClr>
              <a:buSzPts val="1123"/>
              <a:buChar char="●"/>
            </a:pPr>
            <a:r>
              <a:rPr lang="en" sz="1122">
                <a:solidFill>
                  <a:srgbClr val="353535"/>
                </a:solidFill>
              </a:rPr>
              <a:t>Good for problems where you have an abundance of clean data and limited bandwidth of AI teams</a:t>
            </a:r>
            <a:endParaRPr sz="1122">
              <a:solidFill>
                <a:srgbClr val="353535"/>
              </a:solidFill>
            </a:endParaRPr>
          </a:p>
        </p:txBody>
      </p:sp>
      <p:sp>
        <p:nvSpPr>
          <p:cNvPr id="514" name="Google Shape;514;p61"/>
          <p:cNvSpPr/>
          <p:nvPr/>
        </p:nvSpPr>
        <p:spPr>
          <a:xfrm>
            <a:off x="879561" y="1204821"/>
            <a:ext cx="7627800" cy="194100"/>
          </a:xfrm>
          <a:prstGeom prst="leftRightArrow">
            <a:avLst>
              <a:gd fmla="val 50000" name="adj1"/>
              <a:gd fmla="val 50000" name="adj2"/>
            </a:avLst>
          </a:prstGeom>
          <a:gradFill>
            <a:gsLst>
              <a:gs pos="0">
                <a:schemeClr val="accent1"/>
              </a:gs>
              <a:gs pos="100000">
                <a:schemeClr val="accent2"/>
              </a:gs>
            </a:gsLst>
            <a:lin ang="0" scaled="0"/>
          </a:gradFill>
          <a:ln cap="flat" cmpd="sng" w="8900">
            <a:solidFill>
              <a:srgbClr val="FFFFFF"/>
            </a:solidFill>
            <a:prstDash val="solid"/>
            <a:round/>
            <a:headEnd len="sm" w="sm" type="none"/>
            <a:tailEnd len="sm" w="sm" type="none"/>
          </a:ln>
        </p:spPr>
        <p:txBody>
          <a:bodyPr anchorCtr="0" anchor="ctr" bIns="85525" lIns="85525" spcFirstLastPara="1" rIns="85525" wrap="square" tIns="85525">
            <a:noAutofit/>
          </a:bodyPr>
          <a:lstStyle/>
          <a:p>
            <a:pPr indent="0" lvl="0" marL="0" marR="0" rtl="0" algn="l">
              <a:lnSpc>
                <a:spcPct val="100000"/>
              </a:lnSpc>
              <a:spcBef>
                <a:spcPts val="0"/>
              </a:spcBef>
              <a:spcAft>
                <a:spcPts val="0"/>
              </a:spcAft>
              <a:buNone/>
            </a:pPr>
            <a:r>
              <a:t/>
            </a:r>
            <a:endParaRPr sz="1309"/>
          </a:p>
        </p:txBody>
      </p:sp>
      <p:sp>
        <p:nvSpPr>
          <p:cNvPr id="515" name="Google Shape;515;p61"/>
          <p:cNvSpPr txBox="1"/>
          <p:nvPr/>
        </p:nvSpPr>
        <p:spPr>
          <a:xfrm>
            <a:off x="808275" y="917700"/>
            <a:ext cx="2037600" cy="316800"/>
          </a:xfrm>
          <a:prstGeom prst="rect">
            <a:avLst/>
          </a:prstGeom>
          <a:noFill/>
          <a:ln>
            <a:noFill/>
          </a:ln>
        </p:spPr>
        <p:txBody>
          <a:bodyPr anchorCtr="0" anchor="t" bIns="85525" lIns="85525" spcFirstLastPara="1" rIns="85525" wrap="square" tIns="85525">
            <a:spAutoFit/>
          </a:bodyPr>
          <a:lstStyle/>
          <a:p>
            <a:pPr indent="0" lvl="0" marL="0" rtl="0" algn="l">
              <a:spcBef>
                <a:spcPts val="0"/>
              </a:spcBef>
              <a:spcAft>
                <a:spcPts val="0"/>
              </a:spcAft>
              <a:buNone/>
            </a:pPr>
            <a:r>
              <a:rPr b="1" i="1" lang="en" sz="935"/>
              <a:t>Less Flexible / Easiest Approach</a:t>
            </a:r>
            <a:endParaRPr b="1" i="1" sz="935"/>
          </a:p>
        </p:txBody>
      </p:sp>
      <p:sp>
        <p:nvSpPr>
          <p:cNvPr id="516" name="Google Shape;516;p61"/>
          <p:cNvSpPr txBox="1"/>
          <p:nvPr/>
        </p:nvSpPr>
        <p:spPr>
          <a:xfrm>
            <a:off x="5882053" y="917700"/>
            <a:ext cx="2696400" cy="316800"/>
          </a:xfrm>
          <a:prstGeom prst="rect">
            <a:avLst/>
          </a:prstGeom>
          <a:noFill/>
          <a:ln>
            <a:noFill/>
          </a:ln>
        </p:spPr>
        <p:txBody>
          <a:bodyPr anchorCtr="0" anchor="t" bIns="85525" lIns="85525" spcFirstLastPara="1" rIns="85525" wrap="square" tIns="85525">
            <a:spAutoFit/>
          </a:bodyPr>
          <a:lstStyle/>
          <a:p>
            <a:pPr indent="0" lvl="0" marL="0" rtl="0" algn="r">
              <a:spcBef>
                <a:spcPts val="0"/>
              </a:spcBef>
              <a:spcAft>
                <a:spcPts val="0"/>
              </a:spcAft>
              <a:buNone/>
            </a:pPr>
            <a:r>
              <a:rPr b="1" i="1" lang="en" sz="935"/>
              <a:t>More Flexible / Most complex Approach</a:t>
            </a:r>
            <a:endParaRPr b="1" i="1" sz="935"/>
          </a:p>
        </p:txBody>
      </p:sp>
      <p:sp>
        <p:nvSpPr>
          <p:cNvPr id="517" name="Google Shape;517;p61"/>
          <p:cNvSpPr/>
          <p:nvPr/>
        </p:nvSpPr>
        <p:spPr>
          <a:xfrm>
            <a:off x="969349" y="1520551"/>
            <a:ext cx="1331100" cy="295500"/>
          </a:xfrm>
          <a:prstGeom prst="roundRect">
            <a:avLst>
              <a:gd fmla="val 16667" name="adj"/>
            </a:avLst>
          </a:prstGeom>
          <a:solidFill>
            <a:srgbClr val="666666"/>
          </a:solidFill>
          <a:ln cap="flat" cmpd="sng" w="8900">
            <a:solidFill>
              <a:srgbClr val="666666"/>
            </a:solidFill>
            <a:prstDash val="solid"/>
            <a:round/>
            <a:headEnd len="sm" w="sm" type="none"/>
            <a:tailEnd len="sm" w="sm" type="none"/>
          </a:ln>
        </p:spPr>
        <p:txBody>
          <a:bodyPr anchorCtr="0" anchor="ctr" bIns="85525" lIns="85525" spcFirstLastPara="1" rIns="85525" wrap="square" tIns="85525">
            <a:noAutofit/>
          </a:bodyPr>
          <a:lstStyle/>
          <a:p>
            <a:pPr indent="0" lvl="0" marL="0" rtl="0" algn="ctr">
              <a:spcBef>
                <a:spcPts val="0"/>
              </a:spcBef>
              <a:spcAft>
                <a:spcPts val="0"/>
              </a:spcAft>
              <a:buNone/>
            </a:pPr>
            <a:r>
              <a:rPr b="1" lang="en" sz="935">
                <a:solidFill>
                  <a:schemeClr val="lt1"/>
                </a:solidFill>
                <a:latin typeface="Trebuchet MS"/>
                <a:ea typeface="Trebuchet MS"/>
                <a:cs typeface="Trebuchet MS"/>
                <a:sym typeface="Trebuchet MS"/>
              </a:rPr>
              <a:t>Cognitive API</a:t>
            </a:r>
            <a:endParaRPr b="1" sz="935">
              <a:solidFill>
                <a:schemeClr val="lt1"/>
              </a:solidFill>
              <a:latin typeface="Trebuchet MS"/>
              <a:ea typeface="Trebuchet MS"/>
              <a:cs typeface="Trebuchet MS"/>
              <a:sym typeface="Trebuchet MS"/>
            </a:endParaRPr>
          </a:p>
        </p:txBody>
      </p:sp>
      <p:sp>
        <p:nvSpPr>
          <p:cNvPr id="518" name="Google Shape;518;p61"/>
          <p:cNvSpPr/>
          <p:nvPr/>
        </p:nvSpPr>
        <p:spPr>
          <a:xfrm>
            <a:off x="3042478" y="1520548"/>
            <a:ext cx="1331100" cy="295500"/>
          </a:xfrm>
          <a:prstGeom prst="roundRect">
            <a:avLst>
              <a:gd fmla="val 16667" name="adj"/>
            </a:avLst>
          </a:prstGeom>
          <a:solidFill>
            <a:srgbClr val="F3F3F3"/>
          </a:solidFill>
          <a:ln cap="flat" cmpd="sng" w="8900">
            <a:solidFill>
              <a:srgbClr val="F3F3F3"/>
            </a:solidFill>
            <a:prstDash val="solid"/>
            <a:round/>
            <a:headEnd len="sm" w="sm" type="none"/>
            <a:tailEnd len="sm" w="sm" type="none"/>
          </a:ln>
        </p:spPr>
        <p:txBody>
          <a:bodyPr anchorCtr="0" anchor="ctr" bIns="85525" lIns="85525" spcFirstLastPara="1" rIns="85525" wrap="square" tIns="85525">
            <a:noAutofit/>
          </a:bodyPr>
          <a:lstStyle/>
          <a:p>
            <a:pPr indent="0" lvl="0" marL="0" rtl="0" algn="ctr">
              <a:spcBef>
                <a:spcPts val="0"/>
              </a:spcBef>
              <a:spcAft>
                <a:spcPts val="0"/>
              </a:spcAft>
              <a:buNone/>
            </a:pPr>
            <a:r>
              <a:rPr b="1" lang="en" sz="935">
                <a:latin typeface="Trebuchet MS"/>
                <a:ea typeface="Trebuchet MS"/>
                <a:cs typeface="Trebuchet MS"/>
                <a:sym typeface="Trebuchet MS"/>
              </a:rPr>
              <a:t>Auto ML</a:t>
            </a:r>
            <a:endParaRPr b="1" sz="935">
              <a:latin typeface="Trebuchet MS"/>
              <a:ea typeface="Trebuchet MS"/>
              <a:cs typeface="Trebuchet MS"/>
              <a:sym typeface="Trebuchet MS"/>
            </a:endParaRPr>
          </a:p>
        </p:txBody>
      </p:sp>
      <p:sp>
        <p:nvSpPr>
          <p:cNvPr id="519" name="Google Shape;519;p61"/>
          <p:cNvSpPr txBox="1"/>
          <p:nvPr/>
        </p:nvSpPr>
        <p:spPr>
          <a:xfrm>
            <a:off x="1225650" y="2225882"/>
            <a:ext cx="630000" cy="460800"/>
          </a:xfrm>
          <a:prstGeom prst="rect">
            <a:avLst/>
          </a:prstGeom>
          <a:noFill/>
          <a:ln>
            <a:noFill/>
          </a:ln>
        </p:spPr>
        <p:txBody>
          <a:bodyPr anchorCtr="0" anchor="t" bIns="85525" lIns="85525" spcFirstLastPara="1" rIns="85525" wrap="square" tIns="85525">
            <a:spAutoFit/>
          </a:bodyPr>
          <a:lstStyle/>
          <a:p>
            <a:pPr indent="0" lvl="0" marL="0" rtl="0" algn="l">
              <a:spcBef>
                <a:spcPts val="0"/>
              </a:spcBef>
              <a:spcAft>
                <a:spcPts val="0"/>
              </a:spcAft>
              <a:buNone/>
            </a:pPr>
            <a:r>
              <a:rPr b="1" lang="en" sz="1871"/>
              <a:t>10x</a:t>
            </a:r>
            <a:endParaRPr b="1" sz="1871"/>
          </a:p>
        </p:txBody>
      </p:sp>
      <p:sp>
        <p:nvSpPr>
          <p:cNvPr id="520" name="Google Shape;520;p61"/>
          <p:cNvSpPr txBox="1"/>
          <p:nvPr/>
        </p:nvSpPr>
        <p:spPr>
          <a:xfrm>
            <a:off x="1290442" y="2564353"/>
            <a:ext cx="1555500" cy="532800"/>
          </a:xfrm>
          <a:prstGeom prst="rect">
            <a:avLst/>
          </a:prstGeom>
          <a:noFill/>
          <a:ln>
            <a:noFill/>
          </a:ln>
        </p:spPr>
        <p:txBody>
          <a:bodyPr anchorCtr="0" anchor="t" bIns="85525" lIns="85525" spcFirstLastPara="1" rIns="85525" wrap="square" tIns="85525">
            <a:spAutoFit/>
          </a:bodyPr>
          <a:lstStyle/>
          <a:p>
            <a:pPr indent="0" lvl="0" marL="0" rtl="0" algn="l">
              <a:lnSpc>
                <a:spcPct val="150000"/>
              </a:lnSpc>
              <a:spcBef>
                <a:spcPts val="0"/>
              </a:spcBef>
              <a:spcAft>
                <a:spcPts val="0"/>
              </a:spcAft>
              <a:buNone/>
            </a:pPr>
            <a:r>
              <a:rPr i="1" lang="en" sz="935"/>
              <a:t>Increase in Data Science Team Productivity</a:t>
            </a:r>
            <a:endParaRPr i="1" sz="935"/>
          </a:p>
        </p:txBody>
      </p:sp>
      <p:sp>
        <p:nvSpPr>
          <p:cNvPr id="521" name="Google Shape;521;p61"/>
          <p:cNvSpPr txBox="1"/>
          <p:nvPr/>
        </p:nvSpPr>
        <p:spPr>
          <a:xfrm>
            <a:off x="1290446" y="3362310"/>
            <a:ext cx="715500" cy="460800"/>
          </a:xfrm>
          <a:prstGeom prst="rect">
            <a:avLst/>
          </a:prstGeom>
          <a:noFill/>
          <a:ln>
            <a:noFill/>
          </a:ln>
        </p:spPr>
        <p:txBody>
          <a:bodyPr anchorCtr="0" anchor="t" bIns="85525" lIns="85525" spcFirstLastPara="1" rIns="85525" wrap="square" tIns="85525">
            <a:spAutoFit/>
          </a:bodyPr>
          <a:lstStyle/>
          <a:p>
            <a:pPr indent="0" lvl="0" marL="0" rtl="0" algn="l">
              <a:spcBef>
                <a:spcPts val="0"/>
              </a:spcBef>
              <a:spcAft>
                <a:spcPts val="0"/>
              </a:spcAft>
              <a:buNone/>
            </a:pPr>
            <a:r>
              <a:rPr b="1" lang="en" sz="1871"/>
              <a:t>54%</a:t>
            </a:r>
            <a:endParaRPr b="1" sz="1871"/>
          </a:p>
        </p:txBody>
      </p:sp>
      <p:sp>
        <p:nvSpPr>
          <p:cNvPr id="522" name="Google Shape;522;p61"/>
          <p:cNvSpPr txBox="1"/>
          <p:nvPr/>
        </p:nvSpPr>
        <p:spPr>
          <a:xfrm>
            <a:off x="1290442" y="3708515"/>
            <a:ext cx="1555500" cy="532800"/>
          </a:xfrm>
          <a:prstGeom prst="rect">
            <a:avLst/>
          </a:prstGeom>
          <a:noFill/>
          <a:ln>
            <a:noFill/>
          </a:ln>
        </p:spPr>
        <p:txBody>
          <a:bodyPr anchorCtr="0" anchor="t" bIns="85525" lIns="85525" spcFirstLastPara="1" rIns="85525" wrap="square" tIns="85525">
            <a:spAutoFit/>
          </a:bodyPr>
          <a:lstStyle/>
          <a:p>
            <a:pPr indent="0" lvl="0" marL="0" rtl="0" algn="l">
              <a:lnSpc>
                <a:spcPct val="150000"/>
              </a:lnSpc>
              <a:spcBef>
                <a:spcPts val="0"/>
              </a:spcBef>
              <a:spcAft>
                <a:spcPts val="0"/>
              </a:spcAft>
              <a:buNone/>
            </a:pPr>
            <a:r>
              <a:rPr i="1" lang="en" sz="935"/>
              <a:t>Less TCO compared to other clouds</a:t>
            </a:r>
            <a:endParaRPr i="1" sz="935"/>
          </a:p>
        </p:txBody>
      </p:sp>
      <p:sp>
        <p:nvSpPr>
          <p:cNvPr id="523" name="Google Shape;523;p61"/>
          <p:cNvSpPr txBox="1"/>
          <p:nvPr/>
        </p:nvSpPr>
        <p:spPr>
          <a:xfrm>
            <a:off x="4479121" y="4403465"/>
            <a:ext cx="1425900" cy="302400"/>
          </a:xfrm>
          <a:prstGeom prst="rect">
            <a:avLst/>
          </a:prstGeom>
          <a:noFill/>
          <a:ln>
            <a:noFill/>
          </a:ln>
        </p:spPr>
        <p:txBody>
          <a:bodyPr anchorCtr="0" anchor="t" bIns="85525" lIns="85525" spcFirstLastPara="1" rIns="85525" wrap="square" tIns="85525">
            <a:spAutoFit/>
          </a:bodyPr>
          <a:lstStyle/>
          <a:p>
            <a:pPr indent="0" lvl="0" marL="0" rtl="0" algn="ctr">
              <a:lnSpc>
                <a:spcPct val="150000"/>
              </a:lnSpc>
              <a:spcBef>
                <a:spcPts val="0"/>
              </a:spcBef>
              <a:spcAft>
                <a:spcPts val="0"/>
              </a:spcAft>
              <a:buNone/>
            </a:pPr>
            <a:r>
              <a:rPr i="1" lang="en" sz="841"/>
              <a:t>AutoML for all</a:t>
            </a:r>
            <a:endParaRPr i="1" sz="841"/>
          </a:p>
        </p:txBody>
      </p:sp>
      <p:sp>
        <p:nvSpPr>
          <p:cNvPr id="524" name="Google Shape;524;p61"/>
          <p:cNvSpPr txBox="1"/>
          <p:nvPr/>
        </p:nvSpPr>
        <p:spPr>
          <a:xfrm>
            <a:off x="3325998" y="4403465"/>
            <a:ext cx="1425900" cy="496800"/>
          </a:xfrm>
          <a:prstGeom prst="rect">
            <a:avLst/>
          </a:prstGeom>
          <a:noFill/>
          <a:ln>
            <a:noFill/>
          </a:ln>
        </p:spPr>
        <p:txBody>
          <a:bodyPr anchorCtr="0" anchor="t" bIns="85525" lIns="85525" spcFirstLastPara="1" rIns="85525" wrap="square" tIns="85525">
            <a:spAutoFit/>
          </a:bodyPr>
          <a:lstStyle/>
          <a:p>
            <a:pPr indent="0" lvl="0" marL="0" rtl="0" algn="ctr">
              <a:lnSpc>
                <a:spcPct val="150000"/>
              </a:lnSpc>
              <a:spcBef>
                <a:spcPts val="0"/>
              </a:spcBef>
              <a:spcAft>
                <a:spcPts val="0"/>
              </a:spcAft>
              <a:buNone/>
            </a:pPr>
            <a:r>
              <a:rPr i="1" lang="en" sz="841"/>
              <a:t>Spend Time on What matters to you</a:t>
            </a:r>
            <a:endParaRPr i="1" sz="841"/>
          </a:p>
        </p:txBody>
      </p:sp>
      <p:sp>
        <p:nvSpPr>
          <p:cNvPr id="525" name="Google Shape;525;p61"/>
          <p:cNvSpPr txBox="1"/>
          <p:nvPr/>
        </p:nvSpPr>
        <p:spPr>
          <a:xfrm>
            <a:off x="5603519" y="4403465"/>
            <a:ext cx="1425900" cy="302400"/>
          </a:xfrm>
          <a:prstGeom prst="rect">
            <a:avLst/>
          </a:prstGeom>
          <a:noFill/>
          <a:ln>
            <a:noFill/>
          </a:ln>
        </p:spPr>
        <p:txBody>
          <a:bodyPr anchorCtr="0" anchor="t" bIns="85525" lIns="85525" spcFirstLastPara="1" rIns="85525" wrap="square" tIns="85525">
            <a:spAutoFit/>
          </a:bodyPr>
          <a:lstStyle/>
          <a:p>
            <a:pPr indent="0" lvl="0" marL="0" rtl="0" algn="ctr">
              <a:lnSpc>
                <a:spcPct val="150000"/>
              </a:lnSpc>
              <a:spcBef>
                <a:spcPts val="0"/>
              </a:spcBef>
              <a:spcAft>
                <a:spcPts val="0"/>
              </a:spcAft>
              <a:buNone/>
            </a:pPr>
            <a:r>
              <a:rPr i="1" lang="en" sz="841"/>
              <a:t>Full Transparency</a:t>
            </a:r>
            <a:endParaRPr i="1" sz="841"/>
          </a:p>
        </p:txBody>
      </p:sp>
      <p:sp>
        <p:nvSpPr>
          <p:cNvPr id="526" name="Google Shape;526;p61"/>
          <p:cNvSpPr txBox="1"/>
          <p:nvPr/>
        </p:nvSpPr>
        <p:spPr>
          <a:xfrm>
            <a:off x="6912090" y="4403465"/>
            <a:ext cx="1425900" cy="302400"/>
          </a:xfrm>
          <a:prstGeom prst="rect">
            <a:avLst/>
          </a:prstGeom>
          <a:noFill/>
          <a:ln>
            <a:noFill/>
          </a:ln>
        </p:spPr>
        <p:txBody>
          <a:bodyPr anchorCtr="0" anchor="t" bIns="85525" lIns="85525" spcFirstLastPara="1" rIns="85525" wrap="square" tIns="85525">
            <a:spAutoFit/>
          </a:bodyPr>
          <a:lstStyle/>
          <a:p>
            <a:pPr indent="0" lvl="0" marL="0" rtl="0" algn="ctr">
              <a:lnSpc>
                <a:spcPct val="150000"/>
              </a:lnSpc>
              <a:spcBef>
                <a:spcPts val="0"/>
              </a:spcBef>
              <a:spcAft>
                <a:spcPts val="0"/>
              </a:spcAft>
              <a:buNone/>
            </a:pPr>
            <a:r>
              <a:rPr i="1" lang="en" sz="841"/>
              <a:t>End-to-End Solutions</a:t>
            </a:r>
            <a:endParaRPr i="1" sz="841"/>
          </a:p>
        </p:txBody>
      </p:sp>
      <p:pic>
        <p:nvPicPr>
          <p:cNvPr id="527" name="Google Shape;527;p61"/>
          <p:cNvPicPr preferRelativeResize="0"/>
          <p:nvPr/>
        </p:nvPicPr>
        <p:blipFill rotWithShape="1">
          <a:blip r:embed="rId4">
            <a:alphaModFix/>
          </a:blip>
          <a:srcRect b="0" l="0" r="84059" t="0"/>
          <a:stretch/>
        </p:blipFill>
        <p:spPr>
          <a:xfrm>
            <a:off x="3808533" y="3964730"/>
            <a:ext cx="461035" cy="438734"/>
          </a:xfrm>
          <a:prstGeom prst="rect">
            <a:avLst/>
          </a:prstGeom>
          <a:noFill/>
          <a:ln>
            <a:noFill/>
          </a:ln>
        </p:spPr>
      </p:pic>
      <p:pic>
        <p:nvPicPr>
          <p:cNvPr id="528" name="Google Shape;528;p61"/>
          <p:cNvPicPr preferRelativeResize="0"/>
          <p:nvPr/>
        </p:nvPicPr>
        <p:blipFill rotWithShape="1">
          <a:blip r:embed="rId4">
            <a:alphaModFix/>
          </a:blip>
          <a:srcRect b="0" l="27625" r="53361" t="0"/>
          <a:stretch/>
        </p:blipFill>
        <p:spPr>
          <a:xfrm>
            <a:off x="4917222" y="3964730"/>
            <a:ext cx="549903" cy="438734"/>
          </a:xfrm>
          <a:prstGeom prst="rect">
            <a:avLst/>
          </a:prstGeom>
          <a:noFill/>
          <a:ln>
            <a:noFill/>
          </a:ln>
        </p:spPr>
      </p:pic>
      <p:pic>
        <p:nvPicPr>
          <p:cNvPr id="529" name="Google Shape;529;p61"/>
          <p:cNvPicPr preferRelativeResize="0"/>
          <p:nvPr/>
        </p:nvPicPr>
        <p:blipFill rotWithShape="1">
          <a:blip r:embed="rId4">
            <a:alphaModFix/>
          </a:blip>
          <a:srcRect b="0" l="54038" r="26948" t="0"/>
          <a:stretch/>
        </p:blipFill>
        <p:spPr>
          <a:xfrm>
            <a:off x="6041620" y="3964730"/>
            <a:ext cx="549903" cy="438734"/>
          </a:xfrm>
          <a:prstGeom prst="rect">
            <a:avLst/>
          </a:prstGeom>
          <a:noFill/>
          <a:ln>
            <a:noFill/>
          </a:ln>
        </p:spPr>
      </p:pic>
      <p:pic>
        <p:nvPicPr>
          <p:cNvPr id="530" name="Google Shape;530;p61"/>
          <p:cNvPicPr preferRelativeResize="0"/>
          <p:nvPr/>
        </p:nvPicPr>
        <p:blipFill rotWithShape="1">
          <a:blip r:embed="rId4">
            <a:alphaModFix/>
          </a:blip>
          <a:srcRect b="0" l="80986" r="0" t="0"/>
          <a:stretch/>
        </p:blipFill>
        <p:spPr>
          <a:xfrm>
            <a:off x="7289849" y="3964730"/>
            <a:ext cx="549903" cy="43873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4" name="Shape 534"/>
        <p:cNvGrpSpPr/>
        <p:nvPr/>
      </p:nvGrpSpPr>
      <p:grpSpPr>
        <a:xfrm>
          <a:off x="0" y="0"/>
          <a:ext cx="0" cy="0"/>
          <a:chOff x="0" y="0"/>
          <a:chExt cx="0" cy="0"/>
        </a:xfrm>
      </p:grpSpPr>
      <p:sp>
        <p:nvSpPr>
          <p:cNvPr id="535" name="Google Shape;535;p6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Ways to perform Machine Learning</a:t>
            </a:r>
            <a:endParaRPr sz="2000">
              <a:solidFill>
                <a:schemeClr val="dk1"/>
              </a:solidFill>
              <a:latin typeface="Century Gothic"/>
              <a:ea typeface="Century Gothic"/>
              <a:cs typeface="Century Gothic"/>
              <a:sym typeface="Century Gothic"/>
            </a:endParaRPr>
          </a:p>
        </p:txBody>
      </p:sp>
      <p:sp>
        <p:nvSpPr>
          <p:cNvPr id="536" name="Google Shape;536;p6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537" name="Google Shape;537;p62"/>
          <p:cNvSpPr/>
          <p:nvPr/>
        </p:nvSpPr>
        <p:spPr>
          <a:xfrm>
            <a:off x="879561" y="1204821"/>
            <a:ext cx="7627800" cy="194100"/>
          </a:xfrm>
          <a:prstGeom prst="leftRightArrow">
            <a:avLst>
              <a:gd fmla="val 50000" name="adj1"/>
              <a:gd fmla="val 50000" name="adj2"/>
            </a:avLst>
          </a:prstGeom>
          <a:gradFill>
            <a:gsLst>
              <a:gs pos="0">
                <a:schemeClr val="accent1"/>
              </a:gs>
              <a:gs pos="100000">
                <a:schemeClr val="accent2"/>
              </a:gs>
            </a:gsLst>
            <a:lin ang="0" scaled="0"/>
          </a:gradFill>
          <a:ln cap="flat" cmpd="sng" w="8900">
            <a:solidFill>
              <a:srgbClr val="FFFFFF"/>
            </a:solidFill>
            <a:prstDash val="solid"/>
            <a:round/>
            <a:headEnd len="sm" w="sm" type="none"/>
            <a:tailEnd len="sm" w="sm" type="none"/>
          </a:ln>
        </p:spPr>
        <p:txBody>
          <a:bodyPr anchorCtr="0" anchor="ctr" bIns="85525" lIns="85525" spcFirstLastPara="1" rIns="85525" wrap="square" tIns="85525">
            <a:noAutofit/>
          </a:bodyPr>
          <a:lstStyle/>
          <a:p>
            <a:pPr indent="0" lvl="0" marL="0" marR="0" rtl="0" algn="l">
              <a:lnSpc>
                <a:spcPct val="100000"/>
              </a:lnSpc>
              <a:spcBef>
                <a:spcPts val="0"/>
              </a:spcBef>
              <a:spcAft>
                <a:spcPts val="0"/>
              </a:spcAft>
              <a:buNone/>
            </a:pPr>
            <a:r>
              <a:t/>
            </a:r>
            <a:endParaRPr sz="1309"/>
          </a:p>
        </p:txBody>
      </p:sp>
      <p:sp>
        <p:nvSpPr>
          <p:cNvPr id="538" name="Google Shape;538;p62"/>
          <p:cNvSpPr txBox="1"/>
          <p:nvPr/>
        </p:nvSpPr>
        <p:spPr>
          <a:xfrm>
            <a:off x="808275" y="917700"/>
            <a:ext cx="2037600" cy="316800"/>
          </a:xfrm>
          <a:prstGeom prst="rect">
            <a:avLst/>
          </a:prstGeom>
          <a:noFill/>
          <a:ln>
            <a:noFill/>
          </a:ln>
        </p:spPr>
        <p:txBody>
          <a:bodyPr anchorCtr="0" anchor="t" bIns="85525" lIns="85525" spcFirstLastPara="1" rIns="85525" wrap="square" tIns="85525">
            <a:spAutoFit/>
          </a:bodyPr>
          <a:lstStyle/>
          <a:p>
            <a:pPr indent="0" lvl="0" marL="0" rtl="0" algn="l">
              <a:spcBef>
                <a:spcPts val="0"/>
              </a:spcBef>
              <a:spcAft>
                <a:spcPts val="0"/>
              </a:spcAft>
              <a:buNone/>
            </a:pPr>
            <a:r>
              <a:rPr b="1" i="1" lang="en" sz="935"/>
              <a:t>Less Flexible / Easiest Approach</a:t>
            </a:r>
            <a:endParaRPr b="1" i="1" sz="935"/>
          </a:p>
        </p:txBody>
      </p:sp>
      <p:sp>
        <p:nvSpPr>
          <p:cNvPr id="539" name="Google Shape;539;p62"/>
          <p:cNvSpPr txBox="1"/>
          <p:nvPr/>
        </p:nvSpPr>
        <p:spPr>
          <a:xfrm>
            <a:off x="5882053" y="917700"/>
            <a:ext cx="2696400" cy="316800"/>
          </a:xfrm>
          <a:prstGeom prst="rect">
            <a:avLst/>
          </a:prstGeom>
          <a:noFill/>
          <a:ln>
            <a:noFill/>
          </a:ln>
        </p:spPr>
        <p:txBody>
          <a:bodyPr anchorCtr="0" anchor="t" bIns="85525" lIns="85525" spcFirstLastPara="1" rIns="85525" wrap="square" tIns="85525">
            <a:spAutoFit/>
          </a:bodyPr>
          <a:lstStyle/>
          <a:p>
            <a:pPr indent="0" lvl="0" marL="0" rtl="0" algn="r">
              <a:spcBef>
                <a:spcPts val="0"/>
              </a:spcBef>
              <a:spcAft>
                <a:spcPts val="0"/>
              </a:spcAft>
              <a:buNone/>
            </a:pPr>
            <a:r>
              <a:rPr b="1" i="1" lang="en" sz="935"/>
              <a:t>More Flexible / Most complex Approach</a:t>
            </a:r>
            <a:endParaRPr b="1" i="1" sz="935"/>
          </a:p>
        </p:txBody>
      </p:sp>
      <p:sp>
        <p:nvSpPr>
          <p:cNvPr id="540" name="Google Shape;540;p62"/>
          <p:cNvSpPr/>
          <p:nvPr/>
        </p:nvSpPr>
        <p:spPr>
          <a:xfrm>
            <a:off x="1515226" y="1552353"/>
            <a:ext cx="1240800" cy="275700"/>
          </a:xfrm>
          <a:prstGeom prst="roundRect">
            <a:avLst>
              <a:gd fmla="val 16667" name="adj"/>
            </a:avLst>
          </a:prstGeom>
          <a:solidFill>
            <a:srgbClr val="666666"/>
          </a:solidFill>
          <a:ln cap="flat" cmpd="sng" w="8325">
            <a:solidFill>
              <a:srgbClr val="666666"/>
            </a:solidFill>
            <a:prstDash val="solid"/>
            <a:round/>
            <a:headEnd len="sm" w="sm" type="none"/>
            <a:tailEnd len="sm" w="sm" type="none"/>
          </a:ln>
        </p:spPr>
        <p:txBody>
          <a:bodyPr anchorCtr="0" anchor="ctr" bIns="79750" lIns="79750" spcFirstLastPara="1" rIns="79750" wrap="square" tIns="79750">
            <a:noAutofit/>
          </a:bodyPr>
          <a:lstStyle/>
          <a:p>
            <a:pPr indent="0" lvl="0" marL="0" marR="0" rtl="0" algn="ctr">
              <a:lnSpc>
                <a:spcPct val="100000"/>
              </a:lnSpc>
              <a:spcBef>
                <a:spcPts val="0"/>
              </a:spcBef>
              <a:spcAft>
                <a:spcPts val="0"/>
              </a:spcAft>
              <a:buNone/>
            </a:pPr>
            <a:r>
              <a:rPr b="1" lang="en" sz="872">
                <a:solidFill>
                  <a:schemeClr val="lt1"/>
                </a:solidFill>
                <a:latin typeface="Trebuchet MS"/>
                <a:ea typeface="Trebuchet MS"/>
                <a:cs typeface="Trebuchet MS"/>
                <a:sym typeface="Trebuchet MS"/>
              </a:rPr>
              <a:t>Cognitive API</a:t>
            </a:r>
            <a:endParaRPr b="1" sz="872">
              <a:solidFill>
                <a:schemeClr val="lt1"/>
              </a:solidFill>
              <a:latin typeface="Trebuchet MS"/>
              <a:ea typeface="Trebuchet MS"/>
              <a:cs typeface="Trebuchet MS"/>
              <a:sym typeface="Trebuchet MS"/>
            </a:endParaRPr>
          </a:p>
        </p:txBody>
      </p:sp>
      <p:sp>
        <p:nvSpPr>
          <p:cNvPr id="541" name="Google Shape;541;p62"/>
          <p:cNvSpPr/>
          <p:nvPr/>
        </p:nvSpPr>
        <p:spPr>
          <a:xfrm>
            <a:off x="3447955" y="1552350"/>
            <a:ext cx="1240800" cy="275700"/>
          </a:xfrm>
          <a:prstGeom prst="roundRect">
            <a:avLst>
              <a:gd fmla="val 16667" name="adj"/>
            </a:avLst>
          </a:prstGeom>
          <a:solidFill>
            <a:srgbClr val="666666"/>
          </a:solidFill>
          <a:ln cap="flat" cmpd="sng" w="8325">
            <a:solidFill>
              <a:srgbClr val="666666"/>
            </a:solidFill>
            <a:prstDash val="solid"/>
            <a:round/>
            <a:headEnd len="sm" w="sm" type="none"/>
            <a:tailEnd len="sm" w="sm" type="none"/>
          </a:ln>
        </p:spPr>
        <p:txBody>
          <a:bodyPr anchorCtr="0" anchor="ctr" bIns="79750" lIns="79750" spcFirstLastPara="1" rIns="79750" wrap="square" tIns="79750">
            <a:noAutofit/>
          </a:bodyPr>
          <a:lstStyle/>
          <a:p>
            <a:pPr indent="0" lvl="0" marL="0" marR="0" rtl="0" algn="ctr">
              <a:lnSpc>
                <a:spcPct val="100000"/>
              </a:lnSpc>
              <a:spcBef>
                <a:spcPts val="0"/>
              </a:spcBef>
              <a:spcAft>
                <a:spcPts val="0"/>
              </a:spcAft>
              <a:buNone/>
            </a:pPr>
            <a:r>
              <a:rPr b="1" lang="en" sz="872">
                <a:solidFill>
                  <a:schemeClr val="lt1"/>
                </a:solidFill>
                <a:latin typeface="Trebuchet MS"/>
                <a:ea typeface="Trebuchet MS"/>
                <a:cs typeface="Trebuchet MS"/>
                <a:sym typeface="Trebuchet MS"/>
              </a:rPr>
              <a:t>Auto ML</a:t>
            </a:r>
            <a:endParaRPr b="1" sz="872">
              <a:solidFill>
                <a:schemeClr val="lt1"/>
              </a:solidFill>
              <a:latin typeface="Trebuchet MS"/>
              <a:ea typeface="Trebuchet MS"/>
              <a:cs typeface="Trebuchet MS"/>
              <a:sym typeface="Trebuchet MS"/>
            </a:endParaRPr>
          </a:p>
        </p:txBody>
      </p:sp>
      <p:sp>
        <p:nvSpPr>
          <p:cNvPr id="542" name="Google Shape;542;p62"/>
          <p:cNvSpPr txBox="1"/>
          <p:nvPr/>
        </p:nvSpPr>
        <p:spPr>
          <a:xfrm>
            <a:off x="4815351" y="1683043"/>
            <a:ext cx="3918900" cy="2658000"/>
          </a:xfrm>
          <a:prstGeom prst="rect">
            <a:avLst/>
          </a:prstGeom>
          <a:noFill/>
          <a:ln cap="flat" cmpd="sng" w="16600">
            <a:solidFill>
              <a:srgbClr val="990028"/>
            </a:solidFill>
            <a:prstDash val="dot"/>
            <a:round/>
            <a:headEnd len="sm" w="sm" type="none"/>
            <a:tailEnd len="sm" w="sm" type="none"/>
          </a:ln>
        </p:spPr>
        <p:txBody>
          <a:bodyPr anchorCtr="0" anchor="t" bIns="79750" lIns="79750" spcFirstLastPara="1" rIns="79750" wrap="square" tIns="79750">
            <a:spAutoFit/>
          </a:bodyPr>
          <a:lstStyle/>
          <a:p>
            <a:pPr indent="0" lvl="0" marL="0" rtl="0" algn="l">
              <a:lnSpc>
                <a:spcPct val="100000"/>
              </a:lnSpc>
              <a:spcBef>
                <a:spcPts val="314"/>
              </a:spcBef>
              <a:spcAft>
                <a:spcPts val="0"/>
              </a:spcAft>
              <a:buNone/>
            </a:pPr>
            <a:r>
              <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Reuse experts’ knowledge</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Requires Machine Learning expertise</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Saves a lot of time and computational expense in model training</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Provides some flexibility to fine-tune models</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Requires relatively less data</a:t>
            </a:r>
            <a:endParaRPr sz="1046">
              <a:solidFill>
                <a:srgbClr val="353535"/>
              </a:solidFill>
            </a:endParaRPr>
          </a:p>
          <a:p>
            <a:pPr indent="-265834" lvl="0" marL="398752" rtl="0" algn="l">
              <a:lnSpc>
                <a:spcPct val="200000"/>
              </a:lnSpc>
              <a:spcBef>
                <a:spcPts val="314"/>
              </a:spcBef>
              <a:spcAft>
                <a:spcPts val="0"/>
              </a:spcAft>
              <a:buClr>
                <a:srgbClr val="353535"/>
              </a:buClr>
              <a:buSzPts val="1047"/>
              <a:buFont typeface="Arial"/>
              <a:buChar char="●"/>
            </a:pPr>
            <a:r>
              <a:rPr lang="en" sz="1046">
                <a:solidFill>
                  <a:srgbClr val="353535"/>
                </a:solidFill>
              </a:rPr>
              <a:t>TensorFlow Hub has many pre-built models</a:t>
            </a:r>
            <a:endParaRPr sz="1046">
              <a:solidFill>
                <a:srgbClr val="353535"/>
              </a:solidFill>
            </a:endParaRPr>
          </a:p>
        </p:txBody>
      </p:sp>
      <p:pic>
        <p:nvPicPr>
          <p:cNvPr id="543" name="Google Shape;543;p62"/>
          <p:cNvPicPr preferRelativeResize="0"/>
          <p:nvPr/>
        </p:nvPicPr>
        <p:blipFill>
          <a:blip r:embed="rId3">
            <a:alphaModFix/>
          </a:blip>
          <a:stretch>
            <a:fillRect/>
          </a:stretch>
        </p:blipFill>
        <p:spPr>
          <a:xfrm>
            <a:off x="841325" y="1962204"/>
            <a:ext cx="3918898" cy="1975646"/>
          </a:xfrm>
          <a:prstGeom prst="rect">
            <a:avLst/>
          </a:prstGeom>
          <a:noFill/>
          <a:ln>
            <a:noFill/>
          </a:ln>
        </p:spPr>
      </p:pic>
      <p:sp>
        <p:nvSpPr>
          <p:cNvPr id="544" name="Google Shape;544;p62"/>
          <p:cNvSpPr/>
          <p:nvPr/>
        </p:nvSpPr>
        <p:spPr>
          <a:xfrm>
            <a:off x="5380685" y="1552350"/>
            <a:ext cx="1240800" cy="275700"/>
          </a:xfrm>
          <a:prstGeom prst="roundRect">
            <a:avLst>
              <a:gd fmla="val 16667" name="adj"/>
            </a:avLst>
          </a:prstGeom>
          <a:solidFill>
            <a:srgbClr val="F3F3F3"/>
          </a:solidFill>
          <a:ln cap="flat" cmpd="sng" w="8325">
            <a:solidFill>
              <a:srgbClr val="F3F3F3"/>
            </a:solidFill>
            <a:prstDash val="solid"/>
            <a:round/>
            <a:headEnd len="sm" w="sm" type="none"/>
            <a:tailEnd len="sm" w="sm" type="none"/>
          </a:ln>
        </p:spPr>
        <p:txBody>
          <a:bodyPr anchorCtr="0" anchor="ctr" bIns="79750" lIns="79750" spcFirstLastPara="1" rIns="79750" wrap="square" tIns="79750">
            <a:noAutofit/>
          </a:bodyPr>
          <a:lstStyle/>
          <a:p>
            <a:pPr indent="0" lvl="0" marL="0" rtl="0" algn="ctr">
              <a:spcBef>
                <a:spcPts val="0"/>
              </a:spcBef>
              <a:spcAft>
                <a:spcPts val="0"/>
              </a:spcAft>
              <a:buNone/>
            </a:pPr>
            <a:r>
              <a:rPr b="1" lang="en" sz="872">
                <a:latin typeface="Trebuchet MS"/>
                <a:ea typeface="Trebuchet MS"/>
                <a:cs typeface="Trebuchet MS"/>
                <a:sym typeface="Trebuchet MS"/>
              </a:rPr>
              <a:t>Transfer Learning</a:t>
            </a:r>
            <a:endParaRPr b="1" sz="872">
              <a:latin typeface="Trebuchet MS"/>
              <a:ea typeface="Trebuchet MS"/>
              <a:cs typeface="Trebuchet MS"/>
              <a:sym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8" name="Shape 548"/>
        <p:cNvGrpSpPr/>
        <p:nvPr/>
      </p:nvGrpSpPr>
      <p:grpSpPr>
        <a:xfrm>
          <a:off x="0" y="0"/>
          <a:ext cx="0" cy="0"/>
          <a:chOff x="0" y="0"/>
          <a:chExt cx="0" cy="0"/>
        </a:xfrm>
      </p:grpSpPr>
      <p:sp>
        <p:nvSpPr>
          <p:cNvPr id="549" name="Google Shape;549;p6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Ways to perform Machine Learning</a:t>
            </a:r>
            <a:endParaRPr sz="2000">
              <a:solidFill>
                <a:schemeClr val="dk1"/>
              </a:solidFill>
              <a:latin typeface="Century Gothic"/>
              <a:ea typeface="Century Gothic"/>
              <a:cs typeface="Century Gothic"/>
              <a:sym typeface="Century Gothic"/>
            </a:endParaRPr>
          </a:p>
        </p:txBody>
      </p:sp>
      <p:sp>
        <p:nvSpPr>
          <p:cNvPr id="550" name="Google Shape;550;p6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551" name="Google Shape;551;p63"/>
          <p:cNvSpPr/>
          <p:nvPr/>
        </p:nvSpPr>
        <p:spPr>
          <a:xfrm>
            <a:off x="879561" y="1204821"/>
            <a:ext cx="7627800" cy="194100"/>
          </a:xfrm>
          <a:prstGeom prst="leftRightArrow">
            <a:avLst>
              <a:gd fmla="val 50000" name="adj1"/>
              <a:gd fmla="val 50000" name="adj2"/>
            </a:avLst>
          </a:prstGeom>
          <a:gradFill>
            <a:gsLst>
              <a:gs pos="0">
                <a:schemeClr val="accent1"/>
              </a:gs>
              <a:gs pos="100000">
                <a:schemeClr val="accent2"/>
              </a:gs>
            </a:gsLst>
            <a:lin ang="0" scaled="0"/>
          </a:gradFill>
          <a:ln cap="flat" cmpd="sng" w="8900">
            <a:solidFill>
              <a:srgbClr val="FFFFFF"/>
            </a:solidFill>
            <a:prstDash val="solid"/>
            <a:round/>
            <a:headEnd len="sm" w="sm" type="none"/>
            <a:tailEnd len="sm" w="sm" type="none"/>
          </a:ln>
        </p:spPr>
        <p:txBody>
          <a:bodyPr anchorCtr="0" anchor="ctr" bIns="85525" lIns="85525" spcFirstLastPara="1" rIns="85525" wrap="square" tIns="85525">
            <a:noAutofit/>
          </a:bodyPr>
          <a:lstStyle/>
          <a:p>
            <a:pPr indent="0" lvl="0" marL="0" marR="0" rtl="0" algn="l">
              <a:lnSpc>
                <a:spcPct val="100000"/>
              </a:lnSpc>
              <a:spcBef>
                <a:spcPts val="0"/>
              </a:spcBef>
              <a:spcAft>
                <a:spcPts val="0"/>
              </a:spcAft>
              <a:buNone/>
            </a:pPr>
            <a:r>
              <a:t/>
            </a:r>
            <a:endParaRPr sz="1309"/>
          </a:p>
        </p:txBody>
      </p:sp>
      <p:sp>
        <p:nvSpPr>
          <p:cNvPr id="552" name="Google Shape;552;p63"/>
          <p:cNvSpPr txBox="1"/>
          <p:nvPr/>
        </p:nvSpPr>
        <p:spPr>
          <a:xfrm>
            <a:off x="808275" y="917700"/>
            <a:ext cx="2037600" cy="316800"/>
          </a:xfrm>
          <a:prstGeom prst="rect">
            <a:avLst/>
          </a:prstGeom>
          <a:noFill/>
          <a:ln>
            <a:noFill/>
          </a:ln>
        </p:spPr>
        <p:txBody>
          <a:bodyPr anchorCtr="0" anchor="t" bIns="85525" lIns="85525" spcFirstLastPara="1" rIns="85525" wrap="square" tIns="85525">
            <a:spAutoFit/>
          </a:bodyPr>
          <a:lstStyle/>
          <a:p>
            <a:pPr indent="0" lvl="0" marL="0" rtl="0" algn="l">
              <a:spcBef>
                <a:spcPts val="0"/>
              </a:spcBef>
              <a:spcAft>
                <a:spcPts val="0"/>
              </a:spcAft>
              <a:buNone/>
            </a:pPr>
            <a:r>
              <a:rPr b="1" i="1" lang="en" sz="935"/>
              <a:t>Less Flexible / Easiest Approach</a:t>
            </a:r>
            <a:endParaRPr b="1" i="1" sz="935"/>
          </a:p>
        </p:txBody>
      </p:sp>
      <p:sp>
        <p:nvSpPr>
          <p:cNvPr id="553" name="Google Shape;553;p63"/>
          <p:cNvSpPr txBox="1"/>
          <p:nvPr/>
        </p:nvSpPr>
        <p:spPr>
          <a:xfrm>
            <a:off x="5882053" y="917700"/>
            <a:ext cx="2696400" cy="316800"/>
          </a:xfrm>
          <a:prstGeom prst="rect">
            <a:avLst/>
          </a:prstGeom>
          <a:noFill/>
          <a:ln>
            <a:noFill/>
          </a:ln>
        </p:spPr>
        <p:txBody>
          <a:bodyPr anchorCtr="0" anchor="t" bIns="85525" lIns="85525" spcFirstLastPara="1" rIns="85525" wrap="square" tIns="85525">
            <a:spAutoFit/>
          </a:bodyPr>
          <a:lstStyle/>
          <a:p>
            <a:pPr indent="0" lvl="0" marL="0" rtl="0" algn="r">
              <a:spcBef>
                <a:spcPts val="0"/>
              </a:spcBef>
              <a:spcAft>
                <a:spcPts val="0"/>
              </a:spcAft>
              <a:buNone/>
            </a:pPr>
            <a:r>
              <a:rPr b="1" i="1" lang="en" sz="935"/>
              <a:t>More Flexible / Most complex Approach</a:t>
            </a:r>
            <a:endParaRPr b="1" i="1" sz="935"/>
          </a:p>
        </p:txBody>
      </p:sp>
      <p:sp>
        <p:nvSpPr>
          <p:cNvPr id="554" name="Google Shape;554;p63"/>
          <p:cNvSpPr txBox="1"/>
          <p:nvPr/>
        </p:nvSpPr>
        <p:spPr>
          <a:xfrm>
            <a:off x="6388261" y="1670931"/>
            <a:ext cx="2331600" cy="2239800"/>
          </a:xfrm>
          <a:prstGeom prst="rect">
            <a:avLst/>
          </a:prstGeom>
          <a:noFill/>
          <a:ln cap="flat" cmpd="sng" w="18125">
            <a:solidFill>
              <a:srgbClr val="990028"/>
            </a:solidFill>
            <a:prstDash val="dot"/>
            <a:round/>
            <a:headEnd len="sm" w="sm" type="none"/>
            <a:tailEnd len="sm" w="sm" type="none"/>
          </a:ln>
        </p:spPr>
        <p:txBody>
          <a:bodyPr anchorCtr="0" anchor="t" bIns="86950" lIns="86950" spcFirstLastPara="1" rIns="86950" wrap="square" tIns="86950">
            <a:spAutoFit/>
          </a:bodyPr>
          <a:lstStyle/>
          <a:p>
            <a:pPr indent="0" lvl="0" marL="0" rtl="0" algn="l">
              <a:lnSpc>
                <a:spcPct val="100000"/>
              </a:lnSpc>
              <a:spcBef>
                <a:spcPts val="342"/>
              </a:spcBef>
              <a:spcAft>
                <a:spcPts val="0"/>
              </a:spcAft>
              <a:buNone/>
            </a:pPr>
            <a:r>
              <a:t/>
            </a:r>
            <a:endParaRPr sz="1046">
              <a:solidFill>
                <a:srgbClr val="353535"/>
              </a:solidFill>
            </a:endParaRPr>
          </a:p>
          <a:p>
            <a:pPr indent="-283867" lvl="0" marL="434859" rtl="0" algn="l">
              <a:lnSpc>
                <a:spcPct val="200000"/>
              </a:lnSpc>
              <a:spcBef>
                <a:spcPts val="342"/>
              </a:spcBef>
              <a:spcAft>
                <a:spcPts val="0"/>
              </a:spcAft>
              <a:buClr>
                <a:srgbClr val="353535"/>
              </a:buClr>
              <a:buSzPts val="1046"/>
              <a:buFont typeface="Arial"/>
              <a:buChar char="●"/>
            </a:pPr>
            <a:r>
              <a:rPr lang="en" sz="1046">
                <a:solidFill>
                  <a:srgbClr val="353535"/>
                </a:solidFill>
              </a:rPr>
              <a:t>Most Flexible Approach</a:t>
            </a:r>
            <a:endParaRPr sz="1046">
              <a:solidFill>
                <a:srgbClr val="353535"/>
              </a:solidFill>
            </a:endParaRPr>
          </a:p>
          <a:p>
            <a:pPr indent="-283867" lvl="0" marL="434859" rtl="0" algn="l">
              <a:lnSpc>
                <a:spcPct val="200000"/>
              </a:lnSpc>
              <a:spcBef>
                <a:spcPts val="342"/>
              </a:spcBef>
              <a:spcAft>
                <a:spcPts val="0"/>
              </a:spcAft>
              <a:buClr>
                <a:srgbClr val="353535"/>
              </a:buClr>
              <a:buSzPts val="1046"/>
              <a:buFont typeface="Arial"/>
              <a:buChar char="●"/>
            </a:pPr>
            <a:r>
              <a:rPr lang="en" sz="1046">
                <a:solidFill>
                  <a:srgbClr val="353535"/>
                </a:solidFill>
              </a:rPr>
              <a:t>Requires Machine Learning Expertise</a:t>
            </a:r>
            <a:endParaRPr sz="1046">
              <a:solidFill>
                <a:srgbClr val="353535"/>
              </a:solidFill>
            </a:endParaRPr>
          </a:p>
          <a:p>
            <a:pPr indent="-283867" lvl="0" marL="434859" rtl="0" algn="l">
              <a:lnSpc>
                <a:spcPct val="200000"/>
              </a:lnSpc>
              <a:spcBef>
                <a:spcPts val="342"/>
              </a:spcBef>
              <a:spcAft>
                <a:spcPts val="0"/>
              </a:spcAft>
              <a:buClr>
                <a:srgbClr val="353535"/>
              </a:buClr>
              <a:buSzPts val="1046"/>
              <a:buFont typeface="Arial"/>
              <a:buChar char="●"/>
            </a:pPr>
            <a:r>
              <a:rPr lang="en" sz="1046">
                <a:solidFill>
                  <a:srgbClr val="353535"/>
                </a:solidFill>
              </a:rPr>
              <a:t>TensorFlow, Keras, PyTorch, etc., are the most commonly used libraries</a:t>
            </a:r>
            <a:endParaRPr sz="1046">
              <a:solidFill>
                <a:srgbClr val="353535"/>
              </a:solidFill>
            </a:endParaRPr>
          </a:p>
        </p:txBody>
      </p:sp>
      <p:sp>
        <p:nvSpPr>
          <p:cNvPr id="555" name="Google Shape;555;p63"/>
          <p:cNvSpPr/>
          <p:nvPr/>
        </p:nvSpPr>
        <p:spPr>
          <a:xfrm>
            <a:off x="1024505" y="1496519"/>
            <a:ext cx="1353300" cy="300600"/>
          </a:xfrm>
          <a:prstGeom prst="roundRect">
            <a:avLst>
              <a:gd fmla="val 16667" name="adj"/>
            </a:avLst>
          </a:prstGeom>
          <a:solidFill>
            <a:srgbClr val="666666"/>
          </a:solidFill>
          <a:ln cap="flat" cmpd="sng" w="9050">
            <a:solidFill>
              <a:srgbClr val="666666"/>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ctr">
              <a:lnSpc>
                <a:spcPct val="100000"/>
              </a:lnSpc>
              <a:spcBef>
                <a:spcPts val="0"/>
              </a:spcBef>
              <a:spcAft>
                <a:spcPts val="0"/>
              </a:spcAft>
              <a:buNone/>
            </a:pPr>
            <a:r>
              <a:rPr b="1" lang="en" sz="951">
                <a:solidFill>
                  <a:schemeClr val="lt1"/>
                </a:solidFill>
                <a:latin typeface="Trebuchet MS"/>
                <a:ea typeface="Trebuchet MS"/>
                <a:cs typeface="Trebuchet MS"/>
                <a:sym typeface="Trebuchet MS"/>
              </a:rPr>
              <a:t>Cognitive API</a:t>
            </a:r>
            <a:endParaRPr b="1" sz="951">
              <a:solidFill>
                <a:schemeClr val="lt1"/>
              </a:solidFill>
              <a:latin typeface="Trebuchet MS"/>
              <a:ea typeface="Trebuchet MS"/>
              <a:cs typeface="Trebuchet MS"/>
              <a:sym typeface="Trebuchet MS"/>
            </a:endParaRPr>
          </a:p>
        </p:txBody>
      </p:sp>
      <p:sp>
        <p:nvSpPr>
          <p:cNvPr id="556" name="Google Shape;556;p63"/>
          <p:cNvSpPr/>
          <p:nvPr/>
        </p:nvSpPr>
        <p:spPr>
          <a:xfrm>
            <a:off x="2981927" y="1496516"/>
            <a:ext cx="1353300" cy="300600"/>
          </a:xfrm>
          <a:prstGeom prst="roundRect">
            <a:avLst>
              <a:gd fmla="val 16667" name="adj"/>
            </a:avLst>
          </a:prstGeom>
          <a:solidFill>
            <a:srgbClr val="666666"/>
          </a:solidFill>
          <a:ln cap="flat" cmpd="sng" w="9050">
            <a:solidFill>
              <a:srgbClr val="666666"/>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ctr">
              <a:lnSpc>
                <a:spcPct val="100000"/>
              </a:lnSpc>
              <a:spcBef>
                <a:spcPts val="0"/>
              </a:spcBef>
              <a:spcAft>
                <a:spcPts val="0"/>
              </a:spcAft>
              <a:buNone/>
            </a:pPr>
            <a:r>
              <a:rPr b="1" lang="en" sz="951">
                <a:solidFill>
                  <a:schemeClr val="lt1"/>
                </a:solidFill>
                <a:latin typeface="Trebuchet MS"/>
                <a:ea typeface="Trebuchet MS"/>
                <a:cs typeface="Trebuchet MS"/>
                <a:sym typeface="Trebuchet MS"/>
              </a:rPr>
              <a:t>Auto ML</a:t>
            </a:r>
            <a:endParaRPr b="1" sz="951">
              <a:solidFill>
                <a:schemeClr val="lt1"/>
              </a:solidFill>
              <a:latin typeface="Trebuchet MS"/>
              <a:ea typeface="Trebuchet MS"/>
              <a:cs typeface="Trebuchet MS"/>
              <a:sym typeface="Trebuchet MS"/>
            </a:endParaRPr>
          </a:p>
        </p:txBody>
      </p:sp>
      <p:sp>
        <p:nvSpPr>
          <p:cNvPr id="557" name="Google Shape;557;p63"/>
          <p:cNvSpPr/>
          <p:nvPr/>
        </p:nvSpPr>
        <p:spPr>
          <a:xfrm>
            <a:off x="4939375" y="1496516"/>
            <a:ext cx="1353300" cy="300600"/>
          </a:xfrm>
          <a:prstGeom prst="roundRect">
            <a:avLst>
              <a:gd fmla="val 16667" name="adj"/>
            </a:avLst>
          </a:prstGeom>
          <a:solidFill>
            <a:srgbClr val="666666"/>
          </a:solidFill>
          <a:ln cap="flat" cmpd="sng" w="9050">
            <a:solidFill>
              <a:srgbClr val="666666"/>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ctr">
              <a:lnSpc>
                <a:spcPct val="100000"/>
              </a:lnSpc>
              <a:spcBef>
                <a:spcPts val="0"/>
              </a:spcBef>
              <a:spcAft>
                <a:spcPts val="0"/>
              </a:spcAft>
              <a:buNone/>
            </a:pPr>
            <a:r>
              <a:rPr b="1" lang="en" sz="951">
                <a:solidFill>
                  <a:schemeClr val="lt1"/>
                </a:solidFill>
                <a:latin typeface="Trebuchet MS"/>
                <a:ea typeface="Trebuchet MS"/>
                <a:cs typeface="Trebuchet MS"/>
                <a:sym typeface="Trebuchet MS"/>
              </a:rPr>
              <a:t>Transfer Learning</a:t>
            </a:r>
            <a:endParaRPr b="1" sz="951">
              <a:solidFill>
                <a:schemeClr val="lt1"/>
              </a:solidFill>
              <a:latin typeface="Trebuchet MS"/>
              <a:ea typeface="Trebuchet MS"/>
              <a:cs typeface="Trebuchet MS"/>
              <a:sym typeface="Trebuchet MS"/>
            </a:endParaRPr>
          </a:p>
        </p:txBody>
      </p:sp>
      <p:sp>
        <p:nvSpPr>
          <p:cNvPr id="558" name="Google Shape;558;p63"/>
          <p:cNvSpPr/>
          <p:nvPr/>
        </p:nvSpPr>
        <p:spPr>
          <a:xfrm>
            <a:off x="7089365" y="1496516"/>
            <a:ext cx="1462200" cy="300600"/>
          </a:xfrm>
          <a:prstGeom prst="roundRect">
            <a:avLst>
              <a:gd fmla="val 16667" name="adj"/>
            </a:avLst>
          </a:prstGeom>
          <a:solidFill>
            <a:srgbClr val="F3F3F3"/>
          </a:solidFill>
          <a:ln cap="flat" cmpd="sng" w="9050">
            <a:solidFill>
              <a:srgbClr val="F3F3F3"/>
            </a:solidFill>
            <a:prstDash val="solid"/>
            <a:round/>
            <a:headEnd len="sm" w="sm" type="none"/>
            <a:tailEnd len="sm" w="sm" type="none"/>
          </a:ln>
        </p:spPr>
        <p:txBody>
          <a:bodyPr anchorCtr="0" anchor="ctr" bIns="86950" lIns="86950" spcFirstLastPara="1" rIns="86950" wrap="square" tIns="86950">
            <a:noAutofit/>
          </a:bodyPr>
          <a:lstStyle/>
          <a:p>
            <a:pPr indent="0" lvl="0" marL="0" rtl="0" algn="ctr">
              <a:spcBef>
                <a:spcPts val="0"/>
              </a:spcBef>
              <a:spcAft>
                <a:spcPts val="0"/>
              </a:spcAft>
              <a:buNone/>
            </a:pPr>
            <a:r>
              <a:rPr b="1" lang="en" sz="951">
                <a:latin typeface="Trebuchet MS"/>
                <a:ea typeface="Trebuchet MS"/>
                <a:cs typeface="Trebuchet MS"/>
                <a:sym typeface="Trebuchet MS"/>
              </a:rPr>
              <a:t>Bring your own Model</a:t>
            </a:r>
            <a:endParaRPr b="1" sz="951">
              <a:latin typeface="Trebuchet MS"/>
              <a:ea typeface="Trebuchet MS"/>
              <a:cs typeface="Trebuchet MS"/>
              <a:sym typeface="Trebuchet MS"/>
            </a:endParaRPr>
          </a:p>
        </p:txBody>
      </p:sp>
      <p:sp>
        <p:nvSpPr>
          <p:cNvPr id="559" name="Google Shape;559;p63"/>
          <p:cNvSpPr txBox="1"/>
          <p:nvPr/>
        </p:nvSpPr>
        <p:spPr>
          <a:xfrm>
            <a:off x="879550" y="2115826"/>
            <a:ext cx="4368600" cy="351300"/>
          </a:xfrm>
          <a:prstGeom prst="rect">
            <a:avLst/>
          </a:prstGeom>
          <a:noFill/>
          <a:ln>
            <a:noFill/>
          </a:ln>
        </p:spPr>
        <p:txBody>
          <a:bodyPr anchorCtr="0" anchor="t" bIns="86950" lIns="86950" spcFirstLastPara="1" rIns="86950" wrap="square" tIns="86950">
            <a:spAutoFit/>
          </a:bodyPr>
          <a:lstStyle/>
          <a:p>
            <a:pPr indent="0" lvl="0" marL="0" rtl="0" algn="l">
              <a:spcBef>
                <a:spcPts val="0"/>
              </a:spcBef>
              <a:spcAft>
                <a:spcPts val="0"/>
              </a:spcAft>
              <a:buNone/>
            </a:pPr>
            <a:r>
              <a:rPr b="1" i="1" lang="en" sz="1141">
                <a:solidFill>
                  <a:srgbClr val="990028"/>
                </a:solidFill>
                <a:highlight>
                  <a:srgbClr val="FFFFFF"/>
                </a:highlight>
              </a:rPr>
              <a:t>Most used ML libraries and </a:t>
            </a:r>
            <a:r>
              <a:rPr b="1" i="1" lang="en" sz="1141">
                <a:solidFill>
                  <a:srgbClr val="990028"/>
                </a:solidFill>
                <a:highlight>
                  <a:srgbClr val="FFFFFF"/>
                </a:highlight>
              </a:rPr>
              <a:t>frameworks</a:t>
            </a:r>
            <a:r>
              <a:rPr b="1" i="1" lang="en" sz="1141">
                <a:solidFill>
                  <a:srgbClr val="990028"/>
                </a:solidFill>
                <a:highlight>
                  <a:srgbClr val="FFFFFF"/>
                </a:highlight>
              </a:rPr>
              <a:t> among developers</a:t>
            </a:r>
            <a:endParaRPr b="1" i="1" sz="1141">
              <a:solidFill>
                <a:srgbClr val="990028"/>
              </a:solidFill>
            </a:endParaRPr>
          </a:p>
        </p:txBody>
      </p:sp>
      <p:grpSp>
        <p:nvGrpSpPr>
          <p:cNvPr id="560" name="Google Shape;560;p63"/>
          <p:cNvGrpSpPr/>
          <p:nvPr/>
        </p:nvGrpSpPr>
        <p:grpSpPr>
          <a:xfrm>
            <a:off x="1024482" y="2539437"/>
            <a:ext cx="3016275" cy="1977520"/>
            <a:chOff x="583275" y="3736850"/>
            <a:chExt cx="4322550" cy="2770800"/>
          </a:xfrm>
        </p:grpSpPr>
        <p:pic>
          <p:nvPicPr>
            <p:cNvPr id="561" name="Google Shape;561;p63">
              <a:hlinkClick r:id="rId3"/>
            </p:cNvPr>
            <p:cNvPicPr preferRelativeResize="0"/>
            <p:nvPr/>
          </p:nvPicPr>
          <p:blipFill>
            <a:blip r:embed="rId4">
              <a:alphaModFix/>
            </a:blip>
            <a:stretch>
              <a:fillRect/>
            </a:stretch>
          </p:blipFill>
          <p:spPr>
            <a:xfrm>
              <a:off x="4328499" y="6345275"/>
              <a:ext cx="577325" cy="162375"/>
            </a:xfrm>
            <a:prstGeom prst="rect">
              <a:avLst/>
            </a:prstGeom>
            <a:noFill/>
            <a:ln>
              <a:noFill/>
            </a:ln>
          </p:spPr>
        </p:pic>
        <p:grpSp>
          <p:nvGrpSpPr>
            <p:cNvPr id="562" name="Google Shape;562;p63"/>
            <p:cNvGrpSpPr/>
            <p:nvPr/>
          </p:nvGrpSpPr>
          <p:grpSpPr>
            <a:xfrm>
              <a:off x="583275" y="3736850"/>
              <a:ext cx="4322550" cy="2770800"/>
              <a:chOff x="-193850" y="3034150"/>
              <a:chExt cx="4322550" cy="2770800"/>
            </a:xfrm>
          </p:grpSpPr>
          <p:cxnSp>
            <p:nvCxnSpPr>
              <p:cNvPr id="563" name="Google Shape;563;p63"/>
              <p:cNvCxnSpPr/>
              <p:nvPr/>
            </p:nvCxnSpPr>
            <p:spPr>
              <a:xfrm>
                <a:off x="914400" y="3034150"/>
                <a:ext cx="0" cy="2770800"/>
              </a:xfrm>
              <a:prstGeom prst="straightConnector1">
                <a:avLst/>
              </a:prstGeom>
              <a:noFill/>
              <a:ln cap="flat" cmpd="sng" w="9050">
                <a:solidFill>
                  <a:srgbClr val="000000"/>
                </a:solidFill>
                <a:prstDash val="solid"/>
                <a:round/>
                <a:headEnd len="med" w="med" type="none"/>
                <a:tailEnd len="med" w="med" type="none"/>
              </a:ln>
            </p:spPr>
          </p:cxnSp>
          <p:sp>
            <p:nvSpPr>
              <p:cNvPr id="564" name="Google Shape;564;p63"/>
              <p:cNvSpPr/>
              <p:nvPr/>
            </p:nvSpPr>
            <p:spPr>
              <a:xfrm>
                <a:off x="942100" y="3186550"/>
                <a:ext cx="3186600" cy="332400"/>
              </a:xfrm>
              <a:prstGeom prst="rect">
                <a:avLst/>
              </a:prstGeom>
              <a:solidFill>
                <a:srgbClr val="999999"/>
              </a:solidFill>
              <a:ln cap="flat" cmpd="sng" w="9050">
                <a:solidFill>
                  <a:srgbClr val="999999"/>
                </a:solidFill>
                <a:prstDash val="solid"/>
                <a:round/>
                <a:headEnd len="sm" w="sm" type="none"/>
                <a:tailEnd len="sm" w="sm" type="none"/>
              </a:ln>
            </p:spPr>
            <p:txBody>
              <a:bodyPr anchorCtr="0" anchor="ctr" bIns="86950" lIns="86950" spcFirstLastPara="1" rIns="86950" wrap="square" tIns="86950">
                <a:noAutofit/>
              </a:bodyPr>
              <a:lstStyle/>
              <a:p>
                <a:pPr indent="0" lvl="0" marL="0" rtl="0" algn="r">
                  <a:spcBef>
                    <a:spcPts val="0"/>
                  </a:spcBef>
                  <a:spcAft>
                    <a:spcPts val="0"/>
                  </a:spcAft>
                  <a:buNone/>
                </a:pPr>
                <a:r>
                  <a:rPr b="1" lang="en" sz="856">
                    <a:solidFill>
                      <a:srgbClr val="FFFFFF"/>
                    </a:solidFill>
                  </a:rPr>
                  <a:t>16.53%</a:t>
                </a:r>
                <a:endParaRPr b="1" sz="856">
                  <a:solidFill>
                    <a:srgbClr val="FFFFFF"/>
                  </a:solidFill>
                </a:endParaRPr>
              </a:p>
            </p:txBody>
          </p:sp>
          <p:sp>
            <p:nvSpPr>
              <p:cNvPr id="565" name="Google Shape;565;p63"/>
              <p:cNvSpPr/>
              <p:nvPr/>
            </p:nvSpPr>
            <p:spPr>
              <a:xfrm>
                <a:off x="942100" y="3713050"/>
                <a:ext cx="1995000" cy="332400"/>
              </a:xfrm>
              <a:prstGeom prst="rect">
                <a:avLst/>
              </a:prstGeom>
              <a:solidFill>
                <a:srgbClr val="999999"/>
              </a:solidFill>
              <a:ln cap="flat" cmpd="sng" w="9050">
                <a:solidFill>
                  <a:srgbClr val="999999"/>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r">
                  <a:lnSpc>
                    <a:spcPct val="100000"/>
                  </a:lnSpc>
                  <a:spcBef>
                    <a:spcPts val="0"/>
                  </a:spcBef>
                  <a:spcAft>
                    <a:spcPts val="0"/>
                  </a:spcAft>
                  <a:buNone/>
                </a:pPr>
                <a:r>
                  <a:rPr b="1" lang="en" sz="856">
                    <a:solidFill>
                      <a:srgbClr val="FFFFFF"/>
                    </a:solidFill>
                  </a:rPr>
                  <a:t>10.14%</a:t>
                </a:r>
                <a:endParaRPr b="1" sz="856">
                  <a:solidFill>
                    <a:srgbClr val="FFFFFF"/>
                  </a:solidFill>
                </a:endParaRPr>
              </a:p>
            </p:txBody>
          </p:sp>
          <p:sp>
            <p:nvSpPr>
              <p:cNvPr id="566" name="Google Shape;566;p63"/>
              <p:cNvSpPr/>
              <p:nvPr/>
            </p:nvSpPr>
            <p:spPr>
              <a:xfrm>
                <a:off x="942100" y="4239550"/>
                <a:ext cx="1731900" cy="332400"/>
              </a:xfrm>
              <a:prstGeom prst="rect">
                <a:avLst/>
              </a:prstGeom>
              <a:solidFill>
                <a:srgbClr val="999999"/>
              </a:solidFill>
              <a:ln cap="flat" cmpd="sng" w="9050">
                <a:solidFill>
                  <a:srgbClr val="999999"/>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r">
                  <a:lnSpc>
                    <a:spcPct val="100000"/>
                  </a:lnSpc>
                  <a:spcBef>
                    <a:spcPts val="0"/>
                  </a:spcBef>
                  <a:spcAft>
                    <a:spcPts val="0"/>
                  </a:spcAft>
                  <a:buNone/>
                </a:pPr>
                <a:r>
                  <a:rPr b="1" lang="en" sz="856">
                    <a:solidFill>
                      <a:srgbClr val="FFFFFF"/>
                    </a:solidFill>
                  </a:rPr>
                  <a:t>9.89%</a:t>
                </a:r>
                <a:endParaRPr b="1" sz="856">
                  <a:solidFill>
                    <a:srgbClr val="FFFFFF"/>
                  </a:solidFill>
                </a:endParaRPr>
              </a:p>
            </p:txBody>
          </p:sp>
          <p:sp>
            <p:nvSpPr>
              <p:cNvPr id="567" name="Google Shape;567;p63"/>
              <p:cNvSpPr/>
              <p:nvPr/>
            </p:nvSpPr>
            <p:spPr>
              <a:xfrm>
                <a:off x="951950" y="4766050"/>
                <a:ext cx="1056900" cy="332400"/>
              </a:xfrm>
              <a:prstGeom prst="rect">
                <a:avLst/>
              </a:prstGeom>
              <a:solidFill>
                <a:srgbClr val="999999"/>
              </a:solidFill>
              <a:ln cap="flat" cmpd="sng" w="9050">
                <a:solidFill>
                  <a:srgbClr val="999999"/>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r">
                  <a:lnSpc>
                    <a:spcPct val="100000"/>
                  </a:lnSpc>
                  <a:spcBef>
                    <a:spcPts val="0"/>
                  </a:spcBef>
                  <a:spcAft>
                    <a:spcPts val="0"/>
                  </a:spcAft>
                  <a:buNone/>
                </a:pPr>
                <a:r>
                  <a:rPr b="1" lang="en" sz="856">
                    <a:solidFill>
                      <a:srgbClr val="FFFFFF"/>
                    </a:solidFill>
                  </a:rPr>
                  <a:t>5.83%</a:t>
                </a:r>
                <a:endParaRPr b="1" sz="856">
                  <a:solidFill>
                    <a:srgbClr val="FFFFFF"/>
                  </a:solidFill>
                </a:endParaRPr>
              </a:p>
            </p:txBody>
          </p:sp>
          <p:sp>
            <p:nvSpPr>
              <p:cNvPr id="568" name="Google Shape;568;p63"/>
              <p:cNvSpPr/>
              <p:nvPr/>
            </p:nvSpPr>
            <p:spPr>
              <a:xfrm>
                <a:off x="951950" y="5292550"/>
                <a:ext cx="793800" cy="332400"/>
              </a:xfrm>
              <a:prstGeom prst="rect">
                <a:avLst/>
              </a:prstGeom>
              <a:solidFill>
                <a:srgbClr val="999999"/>
              </a:solidFill>
              <a:ln cap="flat" cmpd="sng" w="9050">
                <a:solidFill>
                  <a:srgbClr val="999999"/>
                </a:solidFill>
                <a:prstDash val="solid"/>
                <a:round/>
                <a:headEnd len="sm" w="sm" type="none"/>
                <a:tailEnd len="sm" w="sm" type="none"/>
              </a:ln>
            </p:spPr>
            <p:txBody>
              <a:bodyPr anchorCtr="0" anchor="ctr" bIns="86950" lIns="86950" spcFirstLastPara="1" rIns="86950" wrap="square" tIns="86950">
                <a:noAutofit/>
              </a:bodyPr>
              <a:lstStyle/>
              <a:p>
                <a:pPr indent="0" lvl="0" marL="0" marR="0" rtl="0" algn="r">
                  <a:lnSpc>
                    <a:spcPct val="100000"/>
                  </a:lnSpc>
                  <a:spcBef>
                    <a:spcPts val="0"/>
                  </a:spcBef>
                  <a:spcAft>
                    <a:spcPts val="0"/>
                  </a:spcAft>
                  <a:buNone/>
                </a:pPr>
                <a:r>
                  <a:rPr b="1" lang="en" sz="856">
                    <a:solidFill>
                      <a:srgbClr val="FFFFFF"/>
                    </a:solidFill>
                  </a:rPr>
                  <a:t>4.43%</a:t>
                </a:r>
                <a:endParaRPr b="1" sz="856">
                  <a:solidFill>
                    <a:srgbClr val="FFFFFF"/>
                  </a:solidFill>
                </a:endParaRPr>
              </a:p>
            </p:txBody>
          </p:sp>
          <p:sp>
            <p:nvSpPr>
              <p:cNvPr id="569" name="Google Shape;569;p63"/>
              <p:cNvSpPr txBox="1"/>
              <p:nvPr/>
            </p:nvSpPr>
            <p:spPr>
              <a:xfrm>
                <a:off x="-184000" y="3183400"/>
                <a:ext cx="1056900" cy="410100"/>
              </a:xfrm>
              <a:prstGeom prst="rect">
                <a:avLst/>
              </a:prstGeom>
              <a:noFill/>
              <a:ln>
                <a:noFill/>
              </a:ln>
            </p:spPr>
            <p:txBody>
              <a:bodyPr anchorCtr="0" anchor="t" bIns="86950" lIns="86950" spcFirstLastPara="1" rIns="86950" wrap="square" tIns="86950">
                <a:spAutoFit/>
              </a:bodyPr>
              <a:lstStyle/>
              <a:p>
                <a:pPr indent="0" lvl="0" marL="0" rtl="0" algn="r">
                  <a:spcBef>
                    <a:spcPts val="0"/>
                  </a:spcBef>
                  <a:spcAft>
                    <a:spcPts val="0"/>
                  </a:spcAft>
                  <a:buNone/>
                </a:pPr>
                <a:r>
                  <a:rPr b="1" lang="en" sz="760"/>
                  <a:t>TensorFlow</a:t>
                </a:r>
                <a:endParaRPr b="1" sz="760"/>
              </a:p>
            </p:txBody>
          </p:sp>
          <p:sp>
            <p:nvSpPr>
              <p:cNvPr id="570" name="Google Shape;570;p63"/>
              <p:cNvSpPr txBox="1"/>
              <p:nvPr/>
            </p:nvSpPr>
            <p:spPr>
              <a:xfrm>
                <a:off x="-184000" y="3697450"/>
                <a:ext cx="1056900" cy="410100"/>
              </a:xfrm>
              <a:prstGeom prst="rect">
                <a:avLst/>
              </a:prstGeom>
              <a:noFill/>
              <a:ln>
                <a:noFill/>
              </a:ln>
            </p:spPr>
            <p:txBody>
              <a:bodyPr anchorCtr="0" anchor="t" bIns="86950" lIns="86950" spcFirstLastPara="1" rIns="86950" wrap="square" tIns="86950">
                <a:spAutoFit/>
              </a:bodyPr>
              <a:lstStyle/>
              <a:p>
                <a:pPr indent="0" lvl="0" marL="0" rtl="0" algn="r">
                  <a:spcBef>
                    <a:spcPts val="0"/>
                  </a:spcBef>
                  <a:spcAft>
                    <a:spcPts val="0"/>
                  </a:spcAft>
                  <a:buNone/>
                </a:pPr>
                <a:r>
                  <a:rPr b="1" lang="en" sz="760"/>
                  <a:t>Keras</a:t>
                </a:r>
                <a:endParaRPr b="1" sz="760"/>
              </a:p>
            </p:txBody>
          </p:sp>
          <p:sp>
            <p:nvSpPr>
              <p:cNvPr id="571" name="Google Shape;571;p63"/>
              <p:cNvSpPr txBox="1"/>
              <p:nvPr/>
            </p:nvSpPr>
            <p:spPr>
              <a:xfrm>
                <a:off x="-184000" y="4236400"/>
                <a:ext cx="1056900" cy="410100"/>
              </a:xfrm>
              <a:prstGeom prst="rect">
                <a:avLst/>
              </a:prstGeom>
              <a:noFill/>
              <a:ln>
                <a:noFill/>
              </a:ln>
            </p:spPr>
            <p:txBody>
              <a:bodyPr anchorCtr="0" anchor="t" bIns="86950" lIns="86950" spcFirstLastPara="1" rIns="86950" wrap="square" tIns="86950">
                <a:spAutoFit/>
              </a:bodyPr>
              <a:lstStyle/>
              <a:p>
                <a:pPr indent="0" lvl="0" marL="0" rtl="0" algn="r">
                  <a:spcBef>
                    <a:spcPts val="0"/>
                  </a:spcBef>
                  <a:spcAft>
                    <a:spcPts val="0"/>
                  </a:spcAft>
                  <a:buNone/>
                </a:pPr>
                <a:r>
                  <a:rPr b="1" lang="en" sz="760"/>
                  <a:t>PyTorch</a:t>
                </a:r>
                <a:endParaRPr b="1" sz="760"/>
              </a:p>
            </p:txBody>
          </p:sp>
          <p:sp>
            <p:nvSpPr>
              <p:cNvPr id="572" name="Google Shape;572;p63"/>
              <p:cNvSpPr txBox="1"/>
              <p:nvPr/>
            </p:nvSpPr>
            <p:spPr>
              <a:xfrm>
                <a:off x="-193850" y="4685950"/>
                <a:ext cx="1056900" cy="574200"/>
              </a:xfrm>
              <a:prstGeom prst="rect">
                <a:avLst/>
              </a:prstGeom>
              <a:noFill/>
              <a:ln>
                <a:noFill/>
              </a:ln>
            </p:spPr>
            <p:txBody>
              <a:bodyPr anchorCtr="0" anchor="t" bIns="86950" lIns="86950" spcFirstLastPara="1" rIns="86950" wrap="square" tIns="86950">
                <a:spAutoFit/>
              </a:bodyPr>
              <a:lstStyle/>
              <a:p>
                <a:pPr indent="0" lvl="0" marL="0" rtl="0" algn="r">
                  <a:spcBef>
                    <a:spcPts val="0"/>
                  </a:spcBef>
                  <a:spcAft>
                    <a:spcPts val="0"/>
                  </a:spcAft>
                  <a:buNone/>
                </a:pPr>
                <a:r>
                  <a:rPr b="1" lang="en" sz="760"/>
                  <a:t>Apache</a:t>
                </a:r>
                <a:endParaRPr b="1" sz="760"/>
              </a:p>
              <a:p>
                <a:pPr indent="0" lvl="0" marL="0" rtl="0" algn="r">
                  <a:spcBef>
                    <a:spcPts val="0"/>
                  </a:spcBef>
                  <a:spcAft>
                    <a:spcPts val="0"/>
                  </a:spcAft>
                  <a:buNone/>
                </a:pPr>
                <a:r>
                  <a:rPr b="1" lang="en" sz="760"/>
                  <a:t>Spark</a:t>
                </a:r>
                <a:endParaRPr b="1" sz="760"/>
              </a:p>
            </p:txBody>
          </p:sp>
          <p:sp>
            <p:nvSpPr>
              <p:cNvPr id="573" name="Google Shape;573;p63"/>
              <p:cNvSpPr txBox="1"/>
              <p:nvPr/>
            </p:nvSpPr>
            <p:spPr>
              <a:xfrm>
                <a:off x="-193850" y="5289400"/>
                <a:ext cx="1056900" cy="410100"/>
              </a:xfrm>
              <a:prstGeom prst="rect">
                <a:avLst/>
              </a:prstGeom>
              <a:noFill/>
              <a:ln>
                <a:noFill/>
              </a:ln>
            </p:spPr>
            <p:txBody>
              <a:bodyPr anchorCtr="0" anchor="t" bIns="86950" lIns="86950" spcFirstLastPara="1" rIns="86950" wrap="square" tIns="86950">
                <a:spAutoFit/>
              </a:bodyPr>
              <a:lstStyle/>
              <a:p>
                <a:pPr indent="0" lvl="0" marL="0" rtl="0" algn="r">
                  <a:spcBef>
                    <a:spcPts val="0"/>
                  </a:spcBef>
                  <a:spcAft>
                    <a:spcPts val="0"/>
                  </a:spcAft>
                  <a:buNone/>
                </a:pPr>
                <a:r>
                  <a:rPr b="1" lang="en" sz="760"/>
                  <a:t>Hadoop</a:t>
                </a:r>
                <a:endParaRPr b="1" sz="760"/>
              </a:p>
            </p:txBody>
          </p:sp>
        </p:gr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77" name="Shape 577"/>
        <p:cNvGrpSpPr/>
        <p:nvPr/>
      </p:nvGrpSpPr>
      <p:grpSpPr>
        <a:xfrm>
          <a:off x="0" y="0"/>
          <a:ext cx="0" cy="0"/>
          <a:chOff x="0" y="0"/>
          <a:chExt cx="0" cy="0"/>
        </a:xfrm>
      </p:grpSpPr>
      <p:sp>
        <p:nvSpPr>
          <p:cNvPr id="578" name="Google Shape;578;p6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Myths around Machine Learning</a:t>
            </a:r>
            <a:endParaRPr sz="2000">
              <a:solidFill>
                <a:schemeClr val="dk1"/>
              </a:solidFill>
              <a:latin typeface="Century Gothic"/>
              <a:ea typeface="Century Gothic"/>
              <a:cs typeface="Century Gothic"/>
              <a:sym typeface="Century Gothic"/>
            </a:endParaRPr>
          </a:p>
        </p:txBody>
      </p:sp>
      <p:sp>
        <p:nvSpPr>
          <p:cNvPr id="579" name="Google Shape;579;p6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580" name="Google Shape;580;p64"/>
          <p:cNvPicPr preferRelativeResize="0"/>
          <p:nvPr/>
        </p:nvPicPr>
        <p:blipFill rotWithShape="1">
          <a:blip r:embed="rId3">
            <a:alphaModFix/>
          </a:blip>
          <a:srcRect b="0" l="0" r="0" t="14973"/>
          <a:stretch/>
        </p:blipFill>
        <p:spPr>
          <a:xfrm>
            <a:off x="752475" y="1039325"/>
            <a:ext cx="7901225" cy="3706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84" name="Shape 584"/>
        <p:cNvGrpSpPr/>
        <p:nvPr/>
      </p:nvGrpSpPr>
      <p:grpSpPr>
        <a:xfrm>
          <a:off x="0" y="0"/>
          <a:ext cx="0" cy="0"/>
          <a:chOff x="0" y="0"/>
          <a:chExt cx="0" cy="0"/>
        </a:xfrm>
      </p:grpSpPr>
      <p:sp>
        <p:nvSpPr>
          <p:cNvPr id="585" name="Google Shape;585;p6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Common limitations</a:t>
            </a:r>
            <a:endParaRPr sz="2000">
              <a:solidFill>
                <a:schemeClr val="dk1"/>
              </a:solidFill>
              <a:latin typeface="Century Gothic"/>
              <a:ea typeface="Century Gothic"/>
              <a:cs typeface="Century Gothic"/>
              <a:sym typeface="Century Gothic"/>
            </a:endParaRPr>
          </a:p>
        </p:txBody>
      </p:sp>
      <p:sp>
        <p:nvSpPr>
          <p:cNvPr id="586" name="Google Shape;586;p6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graphicFrame>
        <p:nvGraphicFramePr>
          <p:cNvPr id="587" name="Google Shape;587;p65"/>
          <p:cNvGraphicFramePr/>
          <p:nvPr/>
        </p:nvGraphicFramePr>
        <p:xfrm>
          <a:off x="752475" y="1129775"/>
          <a:ext cx="3000000" cy="3000000"/>
        </p:xfrm>
        <a:graphic>
          <a:graphicData uri="http://schemas.openxmlformats.org/drawingml/2006/table">
            <a:tbl>
              <a:tblPr>
                <a:noFill/>
                <a:tableStyleId>{B77D10B8-D09D-4B30-A7EF-2C3402F03075}</a:tableStyleId>
              </a:tblPr>
              <a:tblGrid>
                <a:gridCol w="1589500"/>
                <a:gridCol w="2898475"/>
                <a:gridCol w="3160275"/>
              </a:tblGrid>
              <a:tr h="504075">
                <a:tc>
                  <a:txBody>
                    <a:bodyPr/>
                    <a:lstStyle/>
                    <a:p>
                      <a:pPr indent="0" lvl="0" marL="0" rtl="0" algn="ctr">
                        <a:lnSpc>
                          <a:spcPct val="115000"/>
                        </a:lnSpc>
                        <a:spcBef>
                          <a:spcPts val="0"/>
                        </a:spcBef>
                        <a:spcAft>
                          <a:spcPts val="0"/>
                        </a:spcAft>
                        <a:buNone/>
                      </a:pPr>
                      <a:r>
                        <a:rPr b="1" lang="en" sz="1100">
                          <a:solidFill>
                            <a:schemeClr val="lt1"/>
                          </a:solidFill>
                          <a:highlight>
                            <a:srgbClr val="980000"/>
                          </a:highlight>
                        </a:rPr>
                        <a:t>Limitation</a:t>
                      </a:r>
                      <a:endParaRPr b="1" sz="1100">
                        <a:solidFill>
                          <a:schemeClr val="lt1"/>
                        </a:solidFill>
                        <a:highlight>
                          <a:srgbClr val="980000"/>
                        </a:highlight>
                      </a:endParaRPr>
                    </a:p>
                  </a:txBody>
                  <a:tcPr marT="91425" marB="91425" marR="91425" marL="91425" anchor="ctr">
                    <a:solidFill>
                      <a:srgbClr val="980000"/>
                    </a:solidFill>
                  </a:tcPr>
                </a:tc>
                <a:tc>
                  <a:txBody>
                    <a:bodyPr/>
                    <a:lstStyle/>
                    <a:p>
                      <a:pPr indent="0" lvl="0" marL="0" rtl="0" algn="ctr">
                        <a:lnSpc>
                          <a:spcPct val="115000"/>
                        </a:lnSpc>
                        <a:spcBef>
                          <a:spcPts val="0"/>
                        </a:spcBef>
                        <a:spcAft>
                          <a:spcPts val="0"/>
                        </a:spcAft>
                        <a:buNone/>
                      </a:pPr>
                      <a:r>
                        <a:rPr b="1" lang="en" sz="1100">
                          <a:solidFill>
                            <a:schemeClr val="lt1"/>
                          </a:solidFill>
                          <a:highlight>
                            <a:srgbClr val="980000"/>
                          </a:highlight>
                        </a:rPr>
                        <a:t>Why It Happens</a:t>
                      </a:r>
                      <a:endParaRPr b="1" sz="1100">
                        <a:solidFill>
                          <a:schemeClr val="lt1"/>
                        </a:solidFill>
                        <a:highlight>
                          <a:srgbClr val="980000"/>
                        </a:highlight>
                      </a:endParaRPr>
                    </a:p>
                  </a:txBody>
                  <a:tcPr marT="91425" marB="91425" marR="91425" marL="91425" anchor="ctr">
                    <a:solidFill>
                      <a:srgbClr val="980000"/>
                    </a:solidFill>
                  </a:tcPr>
                </a:tc>
                <a:tc>
                  <a:txBody>
                    <a:bodyPr/>
                    <a:lstStyle/>
                    <a:p>
                      <a:pPr indent="0" lvl="0" marL="0" rtl="0" algn="ctr">
                        <a:lnSpc>
                          <a:spcPct val="115000"/>
                        </a:lnSpc>
                        <a:spcBef>
                          <a:spcPts val="0"/>
                        </a:spcBef>
                        <a:spcAft>
                          <a:spcPts val="0"/>
                        </a:spcAft>
                        <a:buNone/>
                      </a:pPr>
                      <a:r>
                        <a:rPr b="1" lang="en" sz="1100">
                          <a:solidFill>
                            <a:schemeClr val="lt1"/>
                          </a:solidFill>
                          <a:highlight>
                            <a:srgbClr val="980000"/>
                          </a:highlight>
                        </a:rPr>
                        <a:t>Impact</a:t>
                      </a:r>
                      <a:endParaRPr b="1" sz="1100">
                        <a:solidFill>
                          <a:schemeClr val="lt1"/>
                        </a:solidFill>
                        <a:highlight>
                          <a:srgbClr val="980000"/>
                        </a:highlight>
                      </a:endParaRPr>
                    </a:p>
                  </a:txBody>
                  <a:tcPr marT="91425" marB="91425" marR="91425" marL="91425" anchor="ctr">
                    <a:solidFill>
                      <a:srgbClr val="980000"/>
                    </a:solidFill>
                  </a:tcPr>
                </a:tc>
              </a:tr>
              <a:tr h="529800">
                <a:tc>
                  <a:txBody>
                    <a:bodyPr/>
                    <a:lstStyle/>
                    <a:p>
                      <a:pPr indent="0" lvl="0" marL="0" rtl="0" algn="ctr">
                        <a:spcBef>
                          <a:spcPts val="0"/>
                        </a:spcBef>
                        <a:spcAft>
                          <a:spcPts val="0"/>
                        </a:spcAft>
                        <a:buNone/>
                      </a:pPr>
                      <a:r>
                        <a:rPr lang="en"/>
                        <a:t>Data Quality</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Poor or incomplete data</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Wrong predictions</a:t>
                      </a:r>
                      <a:endParaRPr/>
                    </a:p>
                  </a:txBody>
                  <a:tcPr marT="91425" marB="91425" marR="91425" marL="91425">
                    <a:solidFill>
                      <a:srgbClr val="EFEFEF"/>
                    </a:solidFill>
                  </a:tcPr>
                </a:tc>
              </a:tr>
              <a:tr h="529800">
                <a:tc>
                  <a:txBody>
                    <a:bodyPr/>
                    <a:lstStyle/>
                    <a:p>
                      <a:pPr indent="0" lvl="0" marL="0" rtl="0" algn="ctr">
                        <a:spcBef>
                          <a:spcPts val="0"/>
                        </a:spcBef>
                        <a:spcAft>
                          <a:spcPts val="0"/>
                        </a:spcAft>
                        <a:buNone/>
                      </a:pPr>
                      <a:r>
                        <a:rPr lang="en"/>
                        <a:t>Bias</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Biased historical data</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Unfair outcomes</a:t>
                      </a:r>
                      <a:endParaRPr/>
                    </a:p>
                  </a:txBody>
                  <a:tcPr marT="91425" marB="91425" marR="91425" marL="91425">
                    <a:solidFill>
                      <a:srgbClr val="EFEFEF"/>
                    </a:solidFill>
                  </a:tcPr>
                </a:tc>
              </a:tr>
              <a:tr h="529800">
                <a:tc>
                  <a:txBody>
                    <a:bodyPr/>
                    <a:lstStyle/>
                    <a:p>
                      <a:pPr indent="0" lvl="0" marL="0" rtl="0" algn="ctr">
                        <a:spcBef>
                          <a:spcPts val="0"/>
                        </a:spcBef>
                        <a:spcAft>
                          <a:spcPts val="0"/>
                        </a:spcAft>
                        <a:buNone/>
                      </a:pPr>
                      <a:r>
                        <a:rPr lang="en"/>
                        <a:t>Expectations</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Overhype of AI</a:t>
                      </a:r>
                      <a:endParaRPr/>
                    </a:p>
                  </a:txBody>
                  <a:tcPr marT="91425" marB="91425" marR="91425" marL="91425">
                    <a:solidFill>
                      <a:srgbClr val="EFEFEF"/>
                    </a:solidFill>
                  </a:tcPr>
                </a:tc>
                <a:tc>
                  <a:txBody>
                    <a:bodyPr/>
                    <a:lstStyle/>
                    <a:p>
                      <a:pPr indent="0" lvl="0" marL="0" rtl="0" algn="ctr">
                        <a:spcBef>
                          <a:spcPts val="0"/>
                        </a:spcBef>
                        <a:spcAft>
                          <a:spcPts val="0"/>
                        </a:spcAft>
                        <a:buNone/>
                      </a:pPr>
                      <a:r>
                        <a:rPr lang="en"/>
                        <a:t>Disappointment &amp; misuse</a:t>
                      </a:r>
                      <a:endParaRPr/>
                    </a:p>
                  </a:txBody>
                  <a:tcPr marT="91425" marB="91425" marR="91425" marL="91425">
                    <a:solidFill>
                      <a:srgbClr val="EFEFEF"/>
                    </a:solidFill>
                  </a:tcPr>
                </a:tc>
              </a:tr>
            </a:tbl>
          </a:graphicData>
        </a:graphic>
      </p:graphicFrame>
      <p:pic>
        <p:nvPicPr>
          <p:cNvPr id="588" name="Google Shape;588;p65"/>
          <p:cNvPicPr preferRelativeResize="0"/>
          <p:nvPr/>
        </p:nvPicPr>
        <p:blipFill rotWithShape="1">
          <a:blip r:embed="rId3">
            <a:alphaModFix/>
          </a:blip>
          <a:srcRect b="13134" l="0" r="0" t="0"/>
          <a:stretch/>
        </p:blipFill>
        <p:spPr>
          <a:xfrm>
            <a:off x="152400" y="3375650"/>
            <a:ext cx="1615449" cy="140332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92" name="Shape 592"/>
        <p:cNvGrpSpPr/>
        <p:nvPr/>
      </p:nvGrpSpPr>
      <p:grpSpPr>
        <a:xfrm>
          <a:off x="0" y="0"/>
          <a:ext cx="0" cy="0"/>
          <a:chOff x="0" y="0"/>
          <a:chExt cx="0" cy="0"/>
        </a:xfrm>
      </p:grpSpPr>
      <p:cxnSp>
        <p:nvCxnSpPr>
          <p:cNvPr id="593" name="Google Shape;593;p66"/>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594" name="Google Shape;594;p6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595" name="Google Shape;595;p66"/>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596" name="Google Shape;596;p66"/>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597" name="Google Shape;597;p66"/>
          <p:cNvSpPr/>
          <p:nvPr/>
        </p:nvSpPr>
        <p:spPr>
          <a:xfrm>
            <a:off x="2737850" y="822800"/>
            <a:ext cx="5551800" cy="26223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Introduction to AI &amp; Machine Learning Fundamentals</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Data, Preprocessing, and Exploratory Data Analysis (EDA)</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Python for Machine Learning</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80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 Regression – Simple Linear Regression</a:t>
            </a:r>
            <a:endParaRPr sz="1200">
              <a:solidFill>
                <a:srgbClr val="5D5D5D"/>
              </a:solidFill>
              <a:latin typeface="Trebuchet MS"/>
              <a:ea typeface="Trebuchet MS"/>
              <a:cs typeface="Trebuchet MS"/>
              <a:sym typeface="Trebuchet MS"/>
            </a:endParaRPr>
          </a:p>
        </p:txBody>
      </p:sp>
      <p:pic>
        <p:nvPicPr>
          <p:cNvPr id="598" name="Google Shape;598;p66"/>
          <p:cNvPicPr preferRelativeResize="0"/>
          <p:nvPr/>
        </p:nvPicPr>
        <p:blipFill>
          <a:blip r:embed="rId4">
            <a:alphaModFix/>
          </a:blip>
          <a:stretch>
            <a:fillRect/>
          </a:stretch>
        </p:blipFill>
        <p:spPr>
          <a:xfrm>
            <a:off x="2565731" y="1736581"/>
            <a:ext cx="172125" cy="172125"/>
          </a:xfrm>
          <a:prstGeom prst="rect">
            <a:avLst/>
          </a:prstGeom>
          <a:noFill/>
          <a:ln>
            <a:noFill/>
          </a:ln>
        </p:spPr>
      </p:pic>
      <p:pic>
        <p:nvPicPr>
          <p:cNvPr id="599" name="Google Shape;599;p66"/>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03" name="Shape 603"/>
        <p:cNvGrpSpPr/>
        <p:nvPr/>
      </p:nvGrpSpPr>
      <p:grpSpPr>
        <a:xfrm>
          <a:off x="0" y="0"/>
          <a:ext cx="0" cy="0"/>
          <a:chOff x="0" y="0"/>
          <a:chExt cx="0" cy="0"/>
        </a:xfrm>
      </p:grpSpPr>
      <p:sp>
        <p:nvSpPr>
          <p:cNvPr id="604" name="Google Shape;604;p6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Data Types: Numeric vs Categorical</a:t>
            </a:r>
            <a:endParaRPr sz="2000">
              <a:solidFill>
                <a:schemeClr val="dk1"/>
              </a:solidFill>
              <a:latin typeface="Century Gothic"/>
              <a:ea typeface="Century Gothic"/>
              <a:cs typeface="Century Gothic"/>
              <a:sym typeface="Century Gothic"/>
            </a:endParaRPr>
          </a:p>
        </p:txBody>
      </p:sp>
      <p:sp>
        <p:nvSpPr>
          <p:cNvPr id="605" name="Google Shape;605;p6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descr="preencoded.png" id="606" name="Google Shape;606;p67"/>
          <p:cNvPicPr preferRelativeResize="0"/>
          <p:nvPr/>
        </p:nvPicPr>
        <p:blipFill rotWithShape="1">
          <a:blip r:embed="rId3">
            <a:alphaModFix/>
          </a:blip>
          <a:srcRect b="0" l="0" r="0" t="0"/>
          <a:stretch/>
        </p:blipFill>
        <p:spPr>
          <a:xfrm>
            <a:off x="752469" y="1145955"/>
            <a:ext cx="283517" cy="283517"/>
          </a:xfrm>
          <a:prstGeom prst="rect">
            <a:avLst/>
          </a:prstGeom>
          <a:noFill/>
          <a:ln>
            <a:noFill/>
          </a:ln>
        </p:spPr>
      </p:pic>
      <p:sp>
        <p:nvSpPr>
          <p:cNvPr id="607" name="Google Shape;607;p67"/>
          <p:cNvSpPr/>
          <p:nvPr/>
        </p:nvSpPr>
        <p:spPr>
          <a:xfrm>
            <a:off x="752469" y="1542880"/>
            <a:ext cx="1417800" cy="177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Varela Round"/>
              <a:buNone/>
            </a:pPr>
            <a:r>
              <a:rPr b="1" i="0" lang="en" sz="1100" u="none" cap="none" strike="noStrike">
                <a:solidFill>
                  <a:srgbClr val="000000"/>
                </a:solidFill>
                <a:latin typeface="Century Gothic"/>
                <a:ea typeface="Century Gothic"/>
                <a:cs typeface="Century Gothic"/>
                <a:sym typeface="Century Gothic"/>
              </a:rPr>
              <a:t>Numeric</a:t>
            </a:r>
            <a:endParaRPr i="0" sz="1100" u="none" cap="none" strike="noStrike">
              <a:latin typeface="Century Gothic"/>
              <a:ea typeface="Century Gothic"/>
              <a:cs typeface="Century Gothic"/>
              <a:sym typeface="Century Gothic"/>
            </a:endParaRPr>
          </a:p>
        </p:txBody>
      </p:sp>
      <p:sp>
        <p:nvSpPr>
          <p:cNvPr id="608" name="Google Shape;608;p67"/>
          <p:cNvSpPr/>
          <p:nvPr/>
        </p:nvSpPr>
        <p:spPr>
          <a:xfrm>
            <a:off x="752478" y="1810775"/>
            <a:ext cx="3819600" cy="1632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0"/>
              <a:buFont typeface="Varela Round"/>
              <a:buNone/>
            </a:pPr>
            <a:r>
              <a:rPr i="0" lang="en" sz="900" u="none" cap="none" strike="noStrike">
                <a:solidFill>
                  <a:srgbClr val="000000"/>
                </a:solidFill>
                <a:latin typeface="Century Gothic"/>
                <a:ea typeface="Century Gothic"/>
                <a:cs typeface="Century Gothic"/>
                <a:sym typeface="Century Gothic"/>
              </a:rPr>
              <a:t>Continuous / discrete — e.g., height, price, counts</a:t>
            </a:r>
            <a:endParaRPr i="0" sz="900" u="none" cap="none" strike="noStrike">
              <a:latin typeface="Century Gothic"/>
              <a:ea typeface="Century Gothic"/>
              <a:cs typeface="Century Gothic"/>
              <a:sym typeface="Century Gothic"/>
            </a:endParaRPr>
          </a:p>
        </p:txBody>
      </p:sp>
      <p:pic>
        <p:nvPicPr>
          <p:cNvPr descr="preencoded.png" id="609" name="Google Shape;609;p67"/>
          <p:cNvPicPr preferRelativeResize="0"/>
          <p:nvPr/>
        </p:nvPicPr>
        <p:blipFill rotWithShape="1">
          <a:blip r:embed="rId4">
            <a:alphaModFix/>
          </a:blip>
          <a:srcRect b="0" l="0" r="0" t="0"/>
          <a:stretch/>
        </p:blipFill>
        <p:spPr>
          <a:xfrm>
            <a:off x="752469" y="2155456"/>
            <a:ext cx="283517" cy="283517"/>
          </a:xfrm>
          <a:prstGeom prst="rect">
            <a:avLst/>
          </a:prstGeom>
          <a:noFill/>
          <a:ln>
            <a:noFill/>
          </a:ln>
        </p:spPr>
      </p:pic>
      <p:sp>
        <p:nvSpPr>
          <p:cNvPr id="610" name="Google Shape;610;p67"/>
          <p:cNvSpPr/>
          <p:nvPr/>
        </p:nvSpPr>
        <p:spPr>
          <a:xfrm>
            <a:off x="752469" y="2552381"/>
            <a:ext cx="1417800" cy="177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Varela Round"/>
              <a:buNone/>
            </a:pPr>
            <a:r>
              <a:rPr b="1" i="0" lang="en" sz="1100" u="none" cap="none" strike="noStrike">
                <a:solidFill>
                  <a:srgbClr val="000000"/>
                </a:solidFill>
                <a:latin typeface="Century Gothic"/>
                <a:ea typeface="Century Gothic"/>
                <a:cs typeface="Century Gothic"/>
                <a:sym typeface="Century Gothic"/>
              </a:rPr>
              <a:t>Categorical</a:t>
            </a:r>
            <a:endParaRPr i="0" sz="1100" u="none" cap="none" strike="noStrike">
              <a:latin typeface="Century Gothic"/>
              <a:ea typeface="Century Gothic"/>
              <a:cs typeface="Century Gothic"/>
              <a:sym typeface="Century Gothic"/>
            </a:endParaRPr>
          </a:p>
        </p:txBody>
      </p:sp>
      <p:sp>
        <p:nvSpPr>
          <p:cNvPr id="611" name="Google Shape;611;p67"/>
          <p:cNvSpPr/>
          <p:nvPr/>
        </p:nvSpPr>
        <p:spPr>
          <a:xfrm>
            <a:off x="752478" y="2820280"/>
            <a:ext cx="3819600" cy="3264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0"/>
              <a:buFont typeface="Varela Round"/>
              <a:buNone/>
            </a:pPr>
            <a:r>
              <a:rPr i="0" lang="en" sz="900" u="none" cap="none" strike="noStrike">
                <a:solidFill>
                  <a:srgbClr val="000000"/>
                </a:solidFill>
                <a:latin typeface="Century Gothic"/>
                <a:ea typeface="Century Gothic"/>
                <a:cs typeface="Century Gothic"/>
                <a:sym typeface="Century Gothic"/>
              </a:rPr>
              <a:t>Nominal or ordinal — e.g., country, customer segment, rating tier</a:t>
            </a:r>
            <a:endParaRPr i="0" sz="900" u="none" cap="none" strike="noStrike">
              <a:latin typeface="Century Gothic"/>
              <a:ea typeface="Century Gothic"/>
              <a:cs typeface="Century Gothic"/>
              <a:sym typeface="Century Gothic"/>
            </a:endParaRPr>
          </a:p>
        </p:txBody>
      </p:sp>
      <p:pic>
        <p:nvPicPr>
          <p:cNvPr descr="preencoded.png" id="612" name="Google Shape;612;p67"/>
          <p:cNvPicPr preferRelativeResize="0"/>
          <p:nvPr/>
        </p:nvPicPr>
        <p:blipFill rotWithShape="1">
          <a:blip r:embed="rId5">
            <a:alphaModFix/>
          </a:blip>
          <a:srcRect b="0" l="0" r="0" t="0"/>
          <a:stretch/>
        </p:blipFill>
        <p:spPr>
          <a:xfrm>
            <a:off x="752469" y="3328222"/>
            <a:ext cx="283517" cy="283517"/>
          </a:xfrm>
          <a:prstGeom prst="rect">
            <a:avLst/>
          </a:prstGeom>
          <a:noFill/>
          <a:ln>
            <a:noFill/>
          </a:ln>
        </p:spPr>
      </p:pic>
      <p:sp>
        <p:nvSpPr>
          <p:cNvPr id="613" name="Google Shape;613;p67"/>
          <p:cNvSpPr/>
          <p:nvPr/>
        </p:nvSpPr>
        <p:spPr>
          <a:xfrm>
            <a:off x="752469" y="3725147"/>
            <a:ext cx="1417800" cy="177300"/>
          </a:xfrm>
          <a:prstGeom prst="rect">
            <a:avLst/>
          </a:prstGeom>
          <a:noFill/>
          <a:ln>
            <a:noFill/>
          </a:ln>
        </p:spPr>
        <p:txBody>
          <a:bodyPr anchorCtr="0" anchor="t" bIns="0" lIns="0" spcFirstLastPara="1" rIns="0" wrap="square" tIns="0">
            <a:noAutofit/>
          </a:bodyPr>
          <a:lstStyle/>
          <a:p>
            <a:pPr indent="0" lvl="0" marL="0" marR="0" rtl="0" algn="l">
              <a:lnSpc>
                <a:spcPct val="125714"/>
              </a:lnSpc>
              <a:spcBef>
                <a:spcPts val="0"/>
              </a:spcBef>
              <a:spcAft>
                <a:spcPts val="0"/>
              </a:spcAft>
              <a:buClr>
                <a:srgbClr val="000000"/>
              </a:buClr>
              <a:buSzPts val="1100"/>
              <a:buFont typeface="Varela Round"/>
              <a:buNone/>
            </a:pPr>
            <a:r>
              <a:rPr b="1" i="0" lang="en" sz="1100" u="none" cap="none" strike="noStrike">
                <a:solidFill>
                  <a:srgbClr val="000000"/>
                </a:solidFill>
                <a:latin typeface="Century Gothic"/>
                <a:ea typeface="Century Gothic"/>
                <a:cs typeface="Century Gothic"/>
                <a:sym typeface="Century Gothic"/>
              </a:rPr>
              <a:t>Implication</a:t>
            </a:r>
            <a:endParaRPr i="0" sz="1100" u="none" cap="none" strike="noStrike">
              <a:latin typeface="Century Gothic"/>
              <a:ea typeface="Century Gothic"/>
              <a:cs typeface="Century Gothic"/>
              <a:sym typeface="Century Gothic"/>
            </a:endParaRPr>
          </a:p>
        </p:txBody>
      </p:sp>
      <p:sp>
        <p:nvSpPr>
          <p:cNvPr id="614" name="Google Shape;614;p67"/>
          <p:cNvSpPr/>
          <p:nvPr/>
        </p:nvSpPr>
        <p:spPr>
          <a:xfrm>
            <a:off x="752478" y="3993049"/>
            <a:ext cx="3819600" cy="326400"/>
          </a:xfrm>
          <a:prstGeom prst="rect">
            <a:avLst/>
          </a:prstGeom>
          <a:noFill/>
          <a:ln>
            <a:noFill/>
          </a:ln>
        </p:spPr>
        <p:txBody>
          <a:bodyPr anchorCtr="0" anchor="t" bIns="0" lIns="0" spcFirstLastPara="1" rIns="0" wrap="square" tIns="0">
            <a:noAutofit/>
          </a:bodyPr>
          <a:lstStyle/>
          <a:p>
            <a:pPr indent="0" lvl="0" marL="0" marR="0" rtl="0" algn="l">
              <a:lnSpc>
                <a:spcPct val="146428"/>
              </a:lnSpc>
              <a:spcBef>
                <a:spcPts val="0"/>
              </a:spcBef>
              <a:spcAft>
                <a:spcPts val="0"/>
              </a:spcAft>
              <a:buClr>
                <a:srgbClr val="000000"/>
              </a:buClr>
              <a:buSzPts val="900"/>
              <a:buFont typeface="Varela Round"/>
              <a:buNone/>
            </a:pPr>
            <a:r>
              <a:rPr i="0" lang="en" sz="900" u="none" cap="none" strike="noStrike">
                <a:solidFill>
                  <a:srgbClr val="000000"/>
                </a:solidFill>
                <a:latin typeface="Century Gothic"/>
                <a:ea typeface="Century Gothic"/>
                <a:cs typeface="Century Gothic"/>
                <a:sym typeface="Century Gothic"/>
              </a:rPr>
              <a:t>Choose encoders, scalers and tests appropriate to type</a:t>
            </a:r>
            <a:endParaRPr i="0" sz="900" u="none" cap="none" strike="noStrike">
              <a:latin typeface="Century Gothic"/>
              <a:ea typeface="Century Gothic"/>
              <a:cs typeface="Century Gothic"/>
              <a:sym typeface="Century Gothic"/>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8" name="Shape 618"/>
        <p:cNvGrpSpPr/>
        <p:nvPr/>
      </p:nvGrpSpPr>
      <p:grpSpPr>
        <a:xfrm>
          <a:off x="0" y="0"/>
          <a:ext cx="0" cy="0"/>
          <a:chOff x="0" y="0"/>
          <a:chExt cx="0" cy="0"/>
        </a:xfrm>
      </p:grpSpPr>
      <p:sp>
        <p:nvSpPr>
          <p:cNvPr id="619" name="Google Shape;619;p6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Variables</a:t>
            </a:r>
            <a:endParaRPr sz="2000">
              <a:solidFill>
                <a:schemeClr val="dk1"/>
              </a:solidFill>
              <a:latin typeface="Century Gothic"/>
              <a:ea typeface="Century Gothic"/>
              <a:cs typeface="Century Gothic"/>
              <a:sym typeface="Century Gothic"/>
            </a:endParaRPr>
          </a:p>
        </p:txBody>
      </p:sp>
      <p:sp>
        <p:nvSpPr>
          <p:cNvPr id="620" name="Google Shape;620;p6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21" name="Google Shape;621;p68"/>
          <p:cNvSpPr txBox="1"/>
          <p:nvPr/>
        </p:nvSpPr>
        <p:spPr>
          <a:xfrm>
            <a:off x="752475" y="917700"/>
            <a:ext cx="3819600" cy="3291900"/>
          </a:xfrm>
          <a:prstGeom prst="rect">
            <a:avLst/>
          </a:prstGeom>
          <a:noFill/>
          <a:ln>
            <a:noFill/>
          </a:ln>
        </p:spPr>
        <p:txBody>
          <a:bodyPr anchorCtr="0" anchor="t" bIns="91425" lIns="91425" spcFirstLastPara="1" rIns="91425" wrap="square" tIns="91425">
            <a:spAutoFit/>
          </a:bodyPr>
          <a:lstStyle/>
          <a:p>
            <a:pPr indent="0" lvl="0" marL="0" rtl="0" algn="l">
              <a:lnSpc>
                <a:spcPct val="158000"/>
              </a:lnSpc>
              <a:spcBef>
                <a:spcPts val="0"/>
              </a:spcBef>
              <a:spcAft>
                <a:spcPts val="0"/>
              </a:spcAft>
              <a:buNone/>
            </a:pPr>
            <a:r>
              <a:rPr b="1" lang="en" sz="1150">
                <a:solidFill>
                  <a:srgbClr val="273239"/>
                </a:solidFill>
                <a:highlight>
                  <a:srgbClr val="FFFFFF"/>
                </a:highlight>
                <a:latin typeface="Nunito"/>
                <a:ea typeface="Nunito"/>
                <a:cs typeface="Nunito"/>
                <a:sym typeface="Nunito"/>
              </a:rPr>
              <a:t>Categorical variable:</a:t>
            </a:r>
            <a:r>
              <a:rPr lang="en" sz="1150">
                <a:solidFill>
                  <a:srgbClr val="273239"/>
                </a:solidFill>
                <a:highlight>
                  <a:srgbClr val="FFFFFF"/>
                </a:highlight>
                <a:latin typeface="Nunito"/>
                <a:ea typeface="Nunito"/>
                <a:cs typeface="Nunito"/>
                <a:sym typeface="Nunito"/>
              </a:rPr>
              <a:t> The variables containing details like name, gender, address, company, job role, etc are called categorical variables. </a:t>
            </a:r>
            <a:br>
              <a:rPr lang="en" sz="1150">
                <a:solidFill>
                  <a:srgbClr val="273239"/>
                </a:solidFill>
                <a:highlight>
                  <a:srgbClr val="FFFFFF"/>
                </a:highlight>
                <a:latin typeface="Nunito"/>
                <a:ea typeface="Nunito"/>
                <a:cs typeface="Nunito"/>
                <a:sym typeface="Nunito"/>
              </a:rPr>
            </a:br>
            <a:r>
              <a:rPr b="1" lang="en" sz="1150">
                <a:solidFill>
                  <a:srgbClr val="273239"/>
                </a:solidFill>
                <a:highlight>
                  <a:srgbClr val="FFFFFF"/>
                </a:highlight>
                <a:latin typeface="Nunito"/>
                <a:ea typeface="Nunito"/>
                <a:cs typeface="Nunito"/>
                <a:sym typeface="Nunito"/>
              </a:rPr>
              <a:t>Data type:</a:t>
            </a:r>
            <a:r>
              <a:rPr lang="en" sz="1150">
                <a:solidFill>
                  <a:srgbClr val="273239"/>
                </a:solidFill>
                <a:highlight>
                  <a:srgbClr val="FFFFFF"/>
                </a:highlight>
                <a:latin typeface="Nunito"/>
                <a:ea typeface="Nunito"/>
                <a:cs typeface="Nunito"/>
                <a:sym typeface="Nunito"/>
              </a:rPr>
              <a:t> categorical, object</a:t>
            </a:r>
            <a:endParaRPr sz="115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0"/>
              </a:spcAft>
              <a:buNone/>
            </a:pPr>
            <a:r>
              <a:rPr b="1" lang="en" sz="1150">
                <a:solidFill>
                  <a:srgbClr val="273239"/>
                </a:solidFill>
                <a:highlight>
                  <a:srgbClr val="FFFFFF"/>
                </a:highlight>
                <a:latin typeface="Nunito"/>
                <a:ea typeface="Nunito"/>
                <a:cs typeface="Nunito"/>
                <a:sym typeface="Nunito"/>
              </a:rPr>
              <a:t>Numerical variable: </a:t>
            </a:r>
            <a:r>
              <a:rPr lang="en" sz="1150">
                <a:solidFill>
                  <a:srgbClr val="273239"/>
                </a:solidFill>
                <a:highlight>
                  <a:srgbClr val="FFFFFF"/>
                </a:highlight>
                <a:latin typeface="Nunito"/>
                <a:ea typeface="Nunito"/>
                <a:cs typeface="Nunito"/>
                <a:sym typeface="Nunito"/>
              </a:rPr>
              <a:t>The variable that contains details like id, salary, class is called a numerical variable.</a:t>
            </a:r>
            <a:br>
              <a:rPr lang="en" sz="1150">
                <a:solidFill>
                  <a:srgbClr val="273239"/>
                </a:solidFill>
                <a:highlight>
                  <a:srgbClr val="FFFFFF"/>
                </a:highlight>
                <a:latin typeface="Nunito"/>
                <a:ea typeface="Nunito"/>
                <a:cs typeface="Nunito"/>
                <a:sym typeface="Nunito"/>
              </a:rPr>
            </a:br>
            <a:r>
              <a:rPr b="1" lang="en" sz="1150">
                <a:solidFill>
                  <a:srgbClr val="273239"/>
                </a:solidFill>
                <a:highlight>
                  <a:srgbClr val="FFFFFF"/>
                </a:highlight>
                <a:latin typeface="Nunito"/>
                <a:ea typeface="Nunito"/>
                <a:cs typeface="Nunito"/>
                <a:sym typeface="Nunito"/>
              </a:rPr>
              <a:t>Data type:</a:t>
            </a:r>
            <a:r>
              <a:rPr lang="en" sz="1150">
                <a:solidFill>
                  <a:srgbClr val="273239"/>
                </a:solidFill>
                <a:highlight>
                  <a:srgbClr val="FFFFFF"/>
                </a:highlight>
                <a:latin typeface="Nunito"/>
                <a:ea typeface="Nunito"/>
                <a:cs typeface="Nunito"/>
                <a:sym typeface="Nunito"/>
              </a:rPr>
              <a:t> integer, float</a:t>
            </a:r>
            <a:endParaRPr sz="115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0"/>
              </a:spcAft>
              <a:buClr>
                <a:schemeClr val="dk1"/>
              </a:buClr>
              <a:buSzPts val="1100"/>
              <a:buFont typeface="Arial"/>
              <a:buNone/>
            </a:pPr>
            <a:r>
              <a:t/>
            </a:r>
            <a:endParaRPr sz="115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sz="1150">
              <a:solidFill>
                <a:srgbClr val="273239"/>
              </a:solidFill>
              <a:highlight>
                <a:srgbClr val="FFFFFF"/>
              </a:highlight>
              <a:latin typeface="Nunito"/>
              <a:ea typeface="Nunito"/>
              <a:cs typeface="Nunito"/>
              <a:sym typeface="Nunito"/>
            </a:endParaRPr>
          </a:p>
        </p:txBody>
      </p:sp>
      <p:pic>
        <p:nvPicPr>
          <p:cNvPr id="622" name="Google Shape;622;p68"/>
          <p:cNvPicPr preferRelativeResize="0"/>
          <p:nvPr/>
        </p:nvPicPr>
        <p:blipFill>
          <a:blip r:embed="rId3">
            <a:alphaModFix/>
          </a:blip>
          <a:stretch>
            <a:fillRect/>
          </a:stretch>
        </p:blipFill>
        <p:spPr>
          <a:xfrm>
            <a:off x="4768850" y="1001225"/>
            <a:ext cx="4076750" cy="3353025"/>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26" name="Shape 626"/>
        <p:cNvGrpSpPr/>
        <p:nvPr/>
      </p:nvGrpSpPr>
      <p:grpSpPr>
        <a:xfrm>
          <a:off x="0" y="0"/>
          <a:ext cx="0" cy="0"/>
          <a:chOff x="0" y="0"/>
          <a:chExt cx="0" cy="0"/>
        </a:xfrm>
      </p:grpSpPr>
      <p:sp>
        <p:nvSpPr>
          <p:cNvPr id="627" name="Google Shape;627;p6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Data Preprocessing Pipeline (Iterative in nature)</a:t>
            </a:r>
            <a:endParaRPr sz="2000">
              <a:solidFill>
                <a:schemeClr val="dk1"/>
              </a:solidFill>
              <a:latin typeface="Century Gothic"/>
              <a:ea typeface="Century Gothic"/>
              <a:cs typeface="Century Gothic"/>
              <a:sym typeface="Century Gothic"/>
            </a:endParaRPr>
          </a:p>
        </p:txBody>
      </p:sp>
      <p:sp>
        <p:nvSpPr>
          <p:cNvPr id="628" name="Google Shape;628;p69"/>
          <p:cNvSpPr/>
          <p:nvPr/>
        </p:nvSpPr>
        <p:spPr>
          <a:xfrm>
            <a:off x="752475" y="984500"/>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Gathering</a:t>
            </a:r>
            <a:endParaRPr b="1" i="1" sz="1127">
              <a:solidFill>
                <a:srgbClr val="FFFFFF"/>
              </a:solidFill>
              <a:latin typeface="Montserrat"/>
              <a:ea typeface="Montserrat"/>
              <a:cs typeface="Montserrat"/>
              <a:sym typeface="Montserrat"/>
            </a:endParaRPr>
          </a:p>
        </p:txBody>
      </p:sp>
      <p:sp>
        <p:nvSpPr>
          <p:cNvPr id="629" name="Google Shape;629;p69"/>
          <p:cNvSpPr/>
          <p:nvPr/>
        </p:nvSpPr>
        <p:spPr>
          <a:xfrm>
            <a:off x="752475" y="1725853"/>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Exploration</a:t>
            </a:r>
            <a:endParaRPr b="1" i="1" sz="1127">
              <a:solidFill>
                <a:srgbClr val="FFFFFF"/>
              </a:solidFill>
              <a:latin typeface="Montserrat"/>
              <a:ea typeface="Montserrat"/>
              <a:cs typeface="Montserrat"/>
              <a:sym typeface="Montserrat"/>
            </a:endParaRPr>
          </a:p>
        </p:txBody>
      </p:sp>
      <p:sp>
        <p:nvSpPr>
          <p:cNvPr id="630" name="Google Shape;630;p69"/>
          <p:cNvSpPr/>
          <p:nvPr/>
        </p:nvSpPr>
        <p:spPr>
          <a:xfrm>
            <a:off x="752475" y="2467207"/>
            <a:ext cx="1761000" cy="4974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Dimensionality Reduction</a:t>
            </a:r>
            <a:endParaRPr b="1" i="1" sz="1127">
              <a:solidFill>
                <a:srgbClr val="FFFFFF"/>
              </a:solidFill>
              <a:latin typeface="Montserrat"/>
              <a:ea typeface="Montserrat"/>
              <a:cs typeface="Montserrat"/>
              <a:sym typeface="Montserrat"/>
            </a:endParaRPr>
          </a:p>
        </p:txBody>
      </p:sp>
      <p:sp>
        <p:nvSpPr>
          <p:cNvPr id="631" name="Google Shape;631;p69"/>
          <p:cNvSpPr/>
          <p:nvPr/>
        </p:nvSpPr>
        <p:spPr>
          <a:xfrm>
            <a:off x="752475" y="3308027"/>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Feature Engineering</a:t>
            </a:r>
            <a:endParaRPr b="1" i="1" sz="1127">
              <a:solidFill>
                <a:srgbClr val="FFFFFF"/>
              </a:solidFill>
              <a:latin typeface="Montserrat"/>
              <a:ea typeface="Montserrat"/>
              <a:cs typeface="Montserrat"/>
              <a:sym typeface="Montserrat"/>
            </a:endParaRPr>
          </a:p>
        </p:txBody>
      </p:sp>
      <p:sp>
        <p:nvSpPr>
          <p:cNvPr id="632" name="Google Shape;632;p69"/>
          <p:cNvSpPr/>
          <p:nvPr/>
        </p:nvSpPr>
        <p:spPr>
          <a:xfrm>
            <a:off x="752475" y="4049381"/>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Filtering</a:t>
            </a:r>
            <a:endParaRPr b="1" i="1" sz="1127">
              <a:solidFill>
                <a:srgbClr val="FFFFFF"/>
              </a:solidFill>
              <a:latin typeface="Montserrat"/>
              <a:ea typeface="Montserrat"/>
              <a:cs typeface="Montserrat"/>
              <a:sym typeface="Montserrat"/>
            </a:endParaRPr>
          </a:p>
        </p:txBody>
      </p:sp>
      <p:sp>
        <p:nvSpPr>
          <p:cNvPr id="633" name="Google Shape;633;p69"/>
          <p:cNvSpPr/>
          <p:nvPr/>
        </p:nvSpPr>
        <p:spPr>
          <a:xfrm>
            <a:off x="3455461" y="4049381"/>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Sorting</a:t>
            </a:r>
            <a:endParaRPr b="1" i="1" sz="1127">
              <a:solidFill>
                <a:srgbClr val="FFFFFF"/>
              </a:solidFill>
              <a:latin typeface="Montserrat"/>
              <a:ea typeface="Montserrat"/>
              <a:cs typeface="Montserrat"/>
              <a:sym typeface="Montserrat"/>
            </a:endParaRPr>
          </a:p>
        </p:txBody>
      </p:sp>
      <p:sp>
        <p:nvSpPr>
          <p:cNvPr id="634" name="Google Shape;634;p69"/>
          <p:cNvSpPr/>
          <p:nvPr/>
        </p:nvSpPr>
        <p:spPr>
          <a:xfrm>
            <a:off x="3455461" y="3308027"/>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Normalization</a:t>
            </a:r>
            <a:endParaRPr b="1" i="1" sz="1127">
              <a:solidFill>
                <a:srgbClr val="FFFFFF"/>
              </a:solidFill>
              <a:latin typeface="Montserrat"/>
              <a:ea typeface="Montserrat"/>
              <a:cs typeface="Montserrat"/>
              <a:sym typeface="Montserrat"/>
            </a:endParaRPr>
          </a:p>
        </p:txBody>
      </p:sp>
      <p:sp>
        <p:nvSpPr>
          <p:cNvPr id="635" name="Google Shape;635;p69"/>
          <p:cNvSpPr/>
          <p:nvPr/>
        </p:nvSpPr>
        <p:spPr>
          <a:xfrm>
            <a:off x="3455461" y="2467207"/>
            <a:ext cx="1761000" cy="4974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Handling Missing Data</a:t>
            </a:r>
            <a:endParaRPr b="1" i="1" sz="1127">
              <a:solidFill>
                <a:srgbClr val="FFFFFF"/>
              </a:solidFill>
              <a:latin typeface="Montserrat"/>
              <a:ea typeface="Montserrat"/>
              <a:cs typeface="Montserrat"/>
              <a:sym typeface="Montserrat"/>
            </a:endParaRPr>
          </a:p>
        </p:txBody>
      </p:sp>
      <p:sp>
        <p:nvSpPr>
          <p:cNvPr id="636" name="Google Shape;636;p69"/>
          <p:cNvSpPr/>
          <p:nvPr/>
        </p:nvSpPr>
        <p:spPr>
          <a:xfrm>
            <a:off x="3455461" y="1725853"/>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Outlier Detection</a:t>
            </a:r>
            <a:endParaRPr b="1" i="1" sz="1127">
              <a:solidFill>
                <a:srgbClr val="FFFFFF"/>
              </a:solidFill>
              <a:latin typeface="Montserrat"/>
              <a:ea typeface="Montserrat"/>
              <a:cs typeface="Montserrat"/>
              <a:sym typeface="Montserrat"/>
            </a:endParaRPr>
          </a:p>
        </p:txBody>
      </p:sp>
      <p:sp>
        <p:nvSpPr>
          <p:cNvPr id="637" name="Google Shape;637;p69"/>
          <p:cNvSpPr/>
          <p:nvPr/>
        </p:nvSpPr>
        <p:spPr>
          <a:xfrm>
            <a:off x="3455461" y="984500"/>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Encoding</a:t>
            </a:r>
            <a:endParaRPr b="1" i="1" sz="1127">
              <a:solidFill>
                <a:srgbClr val="FFFFFF"/>
              </a:solidFill>
              <a:latin typeface="Montserrat"/>
              <a:ea typeface="Montserrat"/>
              <a:cs typeface="Montserrat"/>
              <a:sym typeface="Montserrat"/>
            </a:endParaRPr>
          </a:p>
        </p:txBody>
      </p:sp>
      <p:sp>
        <p:nvSpPr>
          <p:cNvPr id="638" name="Google Shape;638;p69"/>
          <p:cNvSpPr/>
          <p:nvPr/>
        </p:nvSpPr>
        <p:spPr>
          <a:xfrm>
            <a:off x="6158447" y="984500"/>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Class Imbalance</a:t>
            </a:r>
            <a:endParaRPr b="1" i="1" sz="1127">
              <a:solidFill>
                <a:srgbClr val="FFFFFF"/>
              </a:solidFill>
              <a:latin typeface="Montserrat"/>
              <a:ea typeface="Montserrat"/>
              <a:cs typeface="Montserrat"/>
              <a:sym typeface="Montserrat"/>
            </a:endParaRPr>
          </a:p>
        </p:txBody>
      </p:sp>
      <p:sp>
        <p:nvSpPr>
          <p:cNvPr id="639" name="Google Shape;639;p69"/>
          <p:cNvSpPr/>
          <p:nvPr/>
        </p:nvSpPr>
        <p:spPr>
          <a:xfrm>
            <a:off x="6158447" y="1725853"/>
            <a:ext cx="1761000" cy="397800"/>
          </a:xfrm>
          <a:prstGeom prst="rect">
            <a:avLst/>
          </a:prstGeom>
          <a:solidFill>
            <a:srgbClr val="535353"/>
          </a:solidFill>
          <a:ln cap="flat" cmpd="sng" w="10750">
            <a:solidFill>
              <a:srgbClr val="A7A7A7"/>
            </a:solidFill>
            <a:prstDash val="solid"/>
            <a:round/>
            <a:headEnd len="sm" w="sm" type="none"/>
            <a:tailEnd len="sm" w="sm" type="none"/>
          </a:ln>
        </p:spPr>
        <p:txBody>
          <a:bodyPr anchorCtr="0" anchor="ctr" bIns="103100" lIns="103100" spcFirstLastPara="1" rIns="103100" wrap="square" tIns="103100">
            <a:noAutofit/>
          </a:bodyPr>
          <a:lstStyle/>
          <a:p>
            <a:pPr indent="0" lvl="0" marL="0" rtl="0" algn="ctr">
              <a:spcBef>
                <a:spcPts val="0"/>
              </a:spcBef>
              <a:spcAft>
                <a:spcPts val="0"/>
              </a:spcAft>
              <a:buNone/>
            </a:pPr>
            <a:r>
              <a:rPr b="1" i="1" lang="en" sz="1127">
                <a:solidFill>
                  <a:srgbClr val="FFFFFF"/>
                </a:solidFill>
                <a:latin typeface="Montserrat"/>
                <a:ea typeface="Montserrat"/>
                <a:cs typeface="Montserrat"/>
                <a:sym typeface="Montserrat"/>
              </a:rPr>
              <a:t>Data Skew</a:t>
            </a:r>
            <a:endParaRPr b="1" i="1" sz="1127">
              <a:solidFill>
                <a:srgbClr val="FFFFFF"/>
              </a:solidFill>
              <a:latin typeface="Montserrat"/>
              <a:ea typeface="Montserrat"/>
              <a:cs typeface="Montserrat"/>
              <a:sym typeface="Montserrat"/>
            </a:endParaRPr>
          </a:p>
        </p:txBody>
      </p:sp>
      <p:sp>
        <p:nvSpPr>
          <p:cNvPr id="640" name="Google Shape;640;p69"/>
          <p:cNvSpPr/>
          <p:nvPr/>
        </p:nvSpPr>
        <p:spPr>
          <a:xfrm>
            <a:off x="1528422" y="1426056"/>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1" name="Google Shape;641;p69"/>
          <p:cNvSpPr/>
          <p:nvPr/>
        </p:nvSpPr>
        <p:spPr>
          <a:xfrm>
            <a:off x="1528422" y="2167395"/>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2" name="Google Shape;642;p69"/>
          <p:cNvSpPr/>
          <p:nvPr/>
        </p:nvSpPr>
        <p:spPr>
          <a:xfrm>
            <a:off x="1528422" y="3008230"/>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3" name="Google Shape;643;p69"/>
          <p:cNvSpPr/>
          <p:nvPr/>
        </p:nvSpPr>
        <p:spPr>
          <a:xfrm>
            <a:off x="1528422" y="3749569"/>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4" name="Google Shape;644;p69"/>
          <p:cNvSpPr/>
          <p:nvPr/>
        </p:nvSpPr>
        <p:spPr>
          <a:xfrm rot="-5400000">
            <a:off x="2879951" y="4120207"/>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5" name="Google Shape;645;p69"/>
          <p:cNvSpPr/>
          <p:nvPr/>
        </p:nvSpPr>
        <p:spPr>
          <a:xfrm rot="10800000">
            <a:off x="4231392" y="3749494"/>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6" name="Google Shape;646;p69"/>
          <p:cNvSpPr/>
          <p:nvPr/>
        </p:nvSpPr>
        <p:spPr>
          <a:xfrm rot="10800000">
            <a:off x="4231392" y="3008127"/>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7" name="Google Shape;647;p69"/>
          <p:cNvSpPr/>
          <p:nvPr/>
        </p:nvSpPr>
        <p:spPr>
          <a:xfrm rot="10800000">
            <a:off x="4231392" y="2167320"/>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8" name="Google Shape;648;p69"/>
          <p:cNvSpPr/>
          <p:nvPr/>
        </p:nvSpPr>
        <p:spPr>
          <a:xfrm rot="10800000">
            <a:off x="4231392" y="1425953"/>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49" name="Google Shape;649;p69"/>
          <p:cNvSpPr/>
          <p:nvPr/>
        </p:nvSpPr>
        <p:spPr>
          <a:xfrm rot="-5400000">
            <a:off x="5582937" y="1055327"/>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50" name="Google Shape;650;p69"/>
          <p:cNvSpPr/>
          <p:nvPr/>
        </p:nvSpPr>
        <p:spPr>
          <a:xfrm>
            <a:off x="6934394" y="1426042"/>
            <a:ext cx="209100" cy="256200"/>
          </a:xfrm>
          <a:prstGeom prst="downArrow">
            <a:avLst>
              <a:gd fmla="val 50000" name="adj1"/>
              <a:gd fmla="val 50000" name="adj2"/>
            </a:avLst>
          </a:prstGeom>
          <a:gradFill>
            <a:gsLst>
              <a:gs pos="0">
                <a:srgbClr val="F05A28"/>
              </a:gs>
              <a:gs pos="100000">
                <a:srgbClr val="E80A89"/>
              </a:gs>
            </a:gsLst>
            <a:lin ang="0" scaled="0"/>
          </a:gradFill>
          <a:ln cap="flat" cmpd="sng" w="10750">
            <a:solidFill>
              <a:srgbClr val="E80A89"/>
            </a:solidFill>
            <a:prstDash val="solid"/>
            <a:round/>
            <a:headEnd len="sm" w="sm" type="none"/>
            <a:tailEnd len="sm" w="sm" type="none"/>
          </a:ln>
        </p:spPr>
        <p:txBody>
          <a:bodyPr anchorCtr="0" anchor="ctr" bIns="103100" lIns="103100" spcFirstLastPara="1" rIns="103100" wrap="square" tIns="103100">
            <a:noAutofit/>
          </a:bodyPr>
          <a:lstStyle/>
          <a:p>
            <a:pPr indent="0" lvl="0" marL="0" rtl="0" algn="l">
              <a:spcBef>
                <a:spcPts val="0"/>
              </a:spcBef>
              <a:spcAft>
                <a:spcPts val="0"/>
              </a:spcAft>
              <a:buNone/>
            </a:pPr>
            <a:r>
              <a:t/>
            </a:r>
            <a:endParaRPr/>
          </a:p>
        </p:txBody>
      </p:sp>
      <p:sp>
        <p:nvSpPr>
          <p:cNvPr id="651" name="Google Shape;651;p6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55" name="Shape 655"/>
        <p:cNvGrpSpPr/>
        <p:nvPr/>
      </p:nvGrpSpPr>
      <p:grpSpPr>
        <a:xfrm>
          <a:off x="0" y="0"/>
          <a:ext cx="0" cy="0"/>
          <a:chOff x="0" y="0"/>
          <a:chExt cx="0" cy="0"/>
        </a:xfrm>
      </p:grpSpPr>
      <p:sp>
        <p:nvSpPr>
          <p:cNvPr id="656" name="Google Shape;656;p7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Data Preprocessing</a:t>
            </a:r>
            <a:endParaRPr sz="2000">
              <a:solidFill>
                <a:schemeClr val="dk1"/>
              </a:solidFill>
              <a:latin typeface="Century Gothic"/>
              <a:ea typeface="Century Gothic"/>
              <a:cs typeface="Century Gothic"/>
              <a:sym typeface="Century Gothic"/>
            </a:endParaRPr>
          </a:p>
        </p:txBody>
      </p:sp>
      <p:sp>
        <p:nvSpPr>
          <p:cNvPr id="657" name="Google Shape;657;p7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58" name="Google Shape;658;p70"/>
          <p:cNvSpPr txBox="1"/>
          <p:nvPr/>
        </p:nvSpPr>
        <p:spPr>
          <a:xfrm>
            <a:off x="752475" y="995350"/>
            <a:ext cx="7910100" cy="23307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1350">
                <a:solidFill>
                  <a:srgbClr val="273239"/>
                </a:solidFill>
                <a:highlight>
                  <a:srgbClr val="FFFFFF"/>
                </a:highlight>
                <a:latin typeface="Nunito"/>
                <a:ea typeface="Nunito"/>
                <a:cs typeface="Nunito"/>
                <a:sym typeface="Nunito"/>
              </a:rPr>
              <a:t>Data preprocessing is the first step in any data analysis or machine learning pipeline. </a:t>
            </a:r>
            <a:endParaRPr sz="1350">
              <a:solidFill>
                <a:srgbClr val="273239"/>
              </a:solidFill>
              <a:highlight>
                <a:srgbClr val="FFFFFF"/>
              </a:highlight>
              <a:latin typeface="Nunito"/>
              <a:ea typeface="Nunito"/>
              <a:cs typeface="Nunito"/>
              <a:sym typeface="Nunito"/>
            </a:endParaRPr>
          </a:p>
          <a:p>
            <a:pPr indent="0" lvl="0" marL="0" rtl="0" algn="l">
              <a:lnSpc>
                <a:spcPct val="120000"/>
              </a:lnSpc>
              <a:spcBef>
                <a:spcPts val="800"/>
              </a:spcBef>
              <a:spcAft>
                <a:spcPts val="0"/>
              </a:spcAft>
              <a:buNone/>
            </a:pPr>
            <a:r>
              <a:rPr lang="en" sz="1350">
                <a:solidFill>
                  <a:srgbClr val="273239"/>
                </a:solidFill>
                <a:highlight>
                  <a:srgbClr val="FFFFFF"/>
                </a:highlight>
                <a:latin typeface="Nunito"/>
                <a:ea typeface="Nunito"/>
                <a:cs typeface="Nunito"/>
                <a:sym typeface="Nunito"/>
              </a:rPr>
              <a:t>It involves cleaning, transforming and organizing raw data to ensure it is accurate, consistent and ready for modeling. It has a big impact on model building such as: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Clean and well-structured data allows models to learn meaningful patterns rather than noise.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lang="en" sz="1350">
                <a:solidFill>
                  <a:srgbClr val="273239"/>
                </a:solidFill>
                <a:highlight>
                  <a:srgbClr val="FFFFFF"/>
                </a:highlight>
                <a:latin typeface="Nunito"/>
                <a:ea typeface="Nunito"/>
                <a:cs typeface="Nunito"/>
                <a:sym typeface="Nunito"/>
              </a:rPr>
              <a:t>Organized data supports better Exploratory Data Analysis (EDA), making patterns and trends more interpretable.</a:t>
            </a:r>
            <a:endParaRPr sz="1350">
              <a:solidFill>
                <a:srgbClr val="273239"/>
              </a:solidFill>
              <a:highlight>
                <a:srgbClr val="FFFFFF"/>
              </a:highlight>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2" name="Shape 662"/>
        <p:cNvGrpSpPr/>
        <p:nvPr/>
      </p:nvGrpSpPr>
      <p:grpSpPr>
        <a:xfrm>
          <a:off x="0" y="0"/>
          <a:ext cx="0" cy="0"/>
          <a:chOff x="0" y="0"/>
          <a:chExt cx="0" cy="0"/>
        </a:xfrm>
      </p:grpSpPr>
      <p:sp>
        <p:nvSpPr>
          <p:cNvPr id="663" name="Google Shape;663;p7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What’s Exploratory data analysis?</a:t>
            </a:r>
            <a:endParaRPr sz="2000">
              <a:solidFill>
                <a:schemeClr val="dk1"/>
              </a:solidFill>
              <a:latin typeface="Century Gothic"/>
              <a:ea typeface="Century Gothic"/>
              <a:cs typeface="Century Gothic"/>
              <a:sym typeface="Century Gothic"/>
            </a:endParaRPr>
          </a:p>
        </p:txBody>
      </p:sp>
      <p:sp>
        <p:nvSpPr>
          <p:cNvPr id="664" name="Google Shape;664;p7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65" name="Google Shape;665;p71"/>
          <p:cNvSpPr txBox="1"/>
          <p:nvPr/>
        </p:nvSpPr>
        <p:spPr>
          <a:xfrm>
            <a:off x="752475" y="853400"/>
            <a:ext cx="7910100" cy="1049100"/>
          </a:xfrm>
          <a:prstGeom prst="rect">
            <a:avLst/>
          </a:prstGeom>
          <a:noFill/>
          <a:ln>
            <a:noFill/>
          </a:ln>
        </p:spPr>
        <p:txBody>
          <a:bodyPr anchorCtr="0" anchor="t" bIns="91425" lIns="91425" spcFirstLastPara="1" rIns="91425" wrap="square" tIns="91425">
            <a:spAutoFit/>
          </a:bodyPr>
          <a:lstStyle/>
          <a:p>
            <a:pPr indent="0" lvl="0" marL="0" rtl="0" algn="l">
              <a:lnSpc>
                <a:spcPct val="158000"/>
              </a:lnSpc>
              <a:spcBef>
                <a:spcPts val="0"/>
              </a:spcBef>
              <a:spcAft>
                <a:spcPts val="1800"/>
              </a:spcAft>
              <a:buNone/>
            </a:pPr>
            <a:r>
              <a:rPr lang="en" sz="1350">
                <a:solidFill>
                  <a:srgbClr val="273239"/>
                </a:solidFill>
                <a:highlight>
                  <a:srgbClr val="FFFFFF"/>
                </a:highlight>
                <a:latin typeface="Nunito"/>
                <a:ea typeface="Nunito"/>
                <a:cs typeface="Nunito"/>
                <a:sym typeface="Nunito"/>
              </a:rPr>
              <a:t>Exploratory data analysis (EDA) is a term for certain kinds of initial analysis and findings done with data sets, usually early on in an analytical process. Some experts describe it as “</a:t>
            </a:r>
            <a:r>
              <a:rPr b="1" lang="en" sz="1350">
                <a:solidFill>
                  <a:srgbClr val="273239"/>
                </a:solidFill>
                <a:highlight>
                  <a:srgbClr val="FFFFFF"/>
                </a:highlight>
                <a:latin typeface="Nunito"/>
                <a:ea typeface="Nunito"/>
                <a:cs typeface="Nunito"/>
                <a:sym typeface="Nunito"/>
              </a:rPr>
              <a:t>taking a peek</a:t>
            </a:r>
            <a:r>
              <a:rPr lang="en" sz="1350">
                <a:solidFill>
                  <a:srgbClr val="273239"/>
                </a:solidFill>
                <a:highlight>
                  <a:srgbClr val="FFFFFF"/>
                </a:highlight>
                <a:latin typeface="Nunito"/>
                <a:ea typeface="Nunito"/>
                <a:cs typeface="Nunito"/>
                <a:sym typeface="Nunito"/>
              </a:rPr>
              <a:t>” at the data to understand more about what it represents and how to apply it.</a:t>
            </a:r>
            <a:endParaRPr sz="1350">
              <a:solidFill>
                <a:srgbClr val="273239"/>
              </a:solidFill>
              <a:highlight>
                <a:srgbClr val="FFFFFF"/>
              </a:highlight>
              <a:latin typeface="Nunito"/>
              <a:ea typeface="Nunito"/>
              <a:cs typeface="Nunito"/>
              <a:sym typeface="Nunito"/>
            </a:endParaRPr>
          </a:p>
        </p:txBody>
      </p:sp>
      <p:pic>
        <p:nvPicPr>
          <p:cNvPr id="666" name="Google Shape;666;p71"/>
          <p:cNvPicPr preferRelativeResize="0"/>
          <p:nvPr/>
        </p:nvPicPr>
        <p:blipFill>
          <a:blip r:embed="rId3">
            <a:alphaModFix/>
          </a:blip>
          <a:stretch>
            <a:fillRect/>
          </a:stretch>
        </p:blipFill>
        <p:spPr>
          <a:xfrm>
            <a:off x="1693650" y="1969825"/>
            <a:ext cx="5756701" cy="277575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0" name="Shape 670"/>
        <p:cNvGrpSpPr/>
        <p:nvPr/>
      </p:nvGrpSpPr>
      <p:grpSpPr>
        <a:xfrm>
          <a:off x="0" y="0"/>
          <a:ext cx="0" cy="0"/>
          <a:chOff x="0" y="0"/>
          <a:chExt cx="0" cy="0"/>
        </a:xfrm>
      </p:grpSpPr>
      <p:sp>
        <p:nvSpPr>
          <p:cNvPr id="671" name="Google Shape;671;p7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EDA Techniques</a:t>
            </a:r>
            <a:endParaRPr sz="2000">
              <a:solidFill>
                <a:schemeClr val="dk1"/>
              </a:solidFill>
              <a:latin typeface="Century Gothic"/>
              <a:ea typeface="Century Gothic"/>
              <a:cs typeface="Century Gothic"/>
              <a:sym typeface="Century Gothic"/>
            </a:endParaRPr>
          </a:p>
        </p:txBody>
      </p:sp>
      <p:sp>
        <p:nvSpPr>
          <p:cNvPr id="672" name="Google Shape;672;p7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73" name="Google Shape;673;p72"/>
          <p:cNvSpPr txBox="1"/>
          <p:nvPr/>
        </p:nvSpPr>
        <p:spPr>
          <a:xfrm>
            <a:off x="705150" y="853400"/>
            <a:ext cx="7957500" cy="3688500"/>
          </a:xfrm>
          <a:prstGeom prst="rect">
            <a:avLst/>
          </a:prstGeom>
          <a:noFill/>
          <a:ln>
            <a:noFill/>
          </a:ln>
        </p:spPr>
        <p:txBody>
          <a:bodyPr anchorCtr="0" anchor="t" bIns="91425" lIns="91425" spcFirstLastPara="1" rIns="91425" wrap="square" tIns="91425">
            <a:spAutoFit/>
          </a:bodyPr>
          <a:lstStyle/>
          <a:p>
            <a:pPr indent="0" lvl="0" marL="0" rtl="0" algn="l">
              <a:lnSpc>
                <a:spcPct val="158000"/>
              </a:lnSpc>
              <a:spcBef>
                <a:spcPts val="0"/>
              </a:spcBef>
              <a:spcAft>
                <a:spcPts val="0"/>
              </a:spcAft>
              <a:buNone/>
            </a:pPr>
            <a:r>
              <a:rPr lang="en" sz="1200">
                <a:solidFill>
                  <a:srgbClr val="273239"/>
                </a:solidFill>
                <a:highlight>
                  <a:srgbClr val="FFFFFF"/>
                </a:highlight>
                <a:latin typeface="Nunito"/>
                <a:ea typeface="Nunito"/>
                <a:cs typeface="Nunito"/>
                <a:sym typeface="Nunito"/>
              </a:rPr>
              <a:t>Python offers various libraries like pandas, numPy, matplotlib, seaborn and plotly which enables effective exploration and insights generation to help in further modeling and analysis. </a:t>
            </a:r>
            <a:endParaRPr sz="120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0"/>
              </a:spcAft>
              <a:buNone/>
            </a:pPr>
            <a:r>
              <a:rPr lang="en" sz="1200">
                <a:solidFill>
                  <a:srgbClr val="273239"/>
                </a:solidFill>
                <a:highlight>
                  <a:srgbClr val="FFFFFF"/>
                </a:highlight>
                <a:latin typeface="Nunito"/>
                <a:ea typeface="Nunito"/>
                <a:cs typeface="Nunito"/>
                <a:sym typeface="Nunito"/>
              </a:rPr>
              <a:t>Some common EDA techniques are:</a:t>
            </a:r>
            <a:endParaRPr sz="1200">
              <a:solidFill>
                <a:srgbClr val="273239"/>
              </a:solidFill>
              <a:highlight>
                <a:srgbClr val="FFFFFF"/>
              </a:highlight>
              <a:latin typeface="Nunito"/>
              <a:ea typeface="Nunito"/>
              <a:cs typeface="Nunito"/>
              <a:sym typeface="Nunito"/>
            </a:endParaRPr>
          </a:p>
          <a:p>
            <a:pPr indent="-304800" lvl="0" marL="457200" rtl="0" algn="l">
              <a:lnSpc>
                <a:spcPct val="158000"/>
              </a:lnSpc>
              <a:spcBef>
                <a:spcPts val="1800"/>
              </a:spcBef>
              <a:spcAft>
                <a:spcPts val="0"/>
              </a:spcAft>
              <a:buClr>
                <a:srgbClr val="273239"/>
              </a:buClr>
              <a:buSzPts val="1200"/>
              <a:buFont typeface="Nunito"/>
              <a:buChar char="●"/>
            </a:pPr>
            <a:r>
              <a:rPr b="1" lang="en" sz="1200">
                <a:solidFill>
                  <a:srgbClr val="273239"/>
                </a:solidFill>
                <a:highlight>
                  <a:srgbClr val="FFFFFF"/>
                </a:highlight>
                <a:latin typeface="Nunito"/>
                <a:ea typeface="Nunito"/>
                <a:cs typeface="Nunito"/>
                <a:sym typeface="Nunito"/>
              </a:rPr>
              <a:t>Data Inspection:</a:t>
            </a:r>
            <a:r>
              <a:rPr lang="en" sz="1200">
                <a:solidFill>
                  <a:srgbClr val="273239"/>
                </a:solidFill>
                <a:highlight>
                  <a:srgbClr val="FFFFFF"/>
                </a:highlight>
                <a:latin typeface="Nunito"/>
                <a:ea typeface="Nunito"/>
                <a:cs typeface="Nunito"/>
                <a:sym typeface="Nunito"/>
              </a:rPr>
              <a:t> Check the size of the dataset, how it is organized, the types of data it contains and basic summary values.</a:t>
            </a:r>
            <a:endParaRPr sz="1200">
              <a:solidFill>
                <a:srgbClr val="273239"/>
              </a:solidFill>
              <a:highlight>
                <a:srgbClr val="FFFFFF"/>
              </a:highlight>
              <a:latin typeface="Nunito"/>
              <a:ea typeface="Nunito"/>
              <a:cs typeface="Nunito"/>
              <a:sym typeface="Nunito"/>
            </a:endParaRPr>
          </a:p>
          <a:p>
            <a:pPr indent="-304800" lvl="0" marL="457200" rtl="0" algn="l">
              <a:lnSpc>
                <a:spcPct val="158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Nunito"/>
                <a:ea typeface="Nunito"/>
                <a:cs typeface="Nunito"/>
                <a:sym typeface="Nunito"/>
              </a:rPr>
              <a:t>Handling Missing and Duplicate Data:</a:t>
            </a:r>
            <a:r>
              <a:rPr lang="en" sz="1200">
                <a:solidFill>
                  <a:srgbClr val="273239"/>
                </a:solidFill>
                <a:highlight>
                  <a:srgbClr val="FFFFFF"/>
                </a:highlight>
                <a:latin typeface="Nunito"/>
                <a:ea typeface="Nunito"/>
                <a:cs typeface="Nunito"/>
                <a:sym typeface="Nunito"/>
              </a:rPr>
              <a:t> Find and fix empty values or repeated rows to keep the data clean.</a:t>
            </a:r>
            <a:endParaRPr sz="1200">
              <a:solidFill>
                <a:srgbClr val="273239"/>
              </a:solidFill>
              <a:highlight>
                <a:srgbClr val="FFFFFF"/>
              </a:highlight>
              <a:latin typeface="Nunito"/>
              <a:ea typeface="Nunito"/>
              <a:cs typeface="Nunito"/>
              <a:sym typeface="Nunito"/>
            </a:endParaRPr>
          </a:p>
          <a:p>
            <a:pPr indent="-304800" lvl="0" marL="457200" rtl="0" algn="l">
              <a:lnSpc>
                <a:spcPct val="158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Nunito"/>
                <a:ea typeface="Nunito"/>
                <a:cs typeface="Nunito"/>
                <a:sym typeface="Nunito"/>
              </a:rPr>
              <a:t>Univariate Analysis: </a:t>
            </a:r>
            <a:r>
              <a:rPr lang="en" sz="1200">
                <a:solidFill>
                  <a:srgbClr val="273239"/>
                </a:solidFill>
                <a:highlight>
                  <a:srgbClr val="FFFFFF"/>
                </a:highlight>
                <a:latin typeface="Nunito"/>
                <a:ea typeface="Nunito"/>
                <a:cs typeface="Nunito"/>
                <a:sym typeface="Nunito"/>
              </a:rPr>
              <a:t>Study one variable at a time to understand its distribution, trend and outliers.</a:t>
            </a:r>
            <a:endParaRPr sz="1200">
              <a:solidFill>
                <a:srgbClr val="273239"/>
              </a:solidFill>
              <a:highlight>
                <a:srgbClr val="FFFFFF"/>
              </a:highlight>
              <a:latin typeface="Nunito"/>
              <a:ea typeface="Nunito"/>
              <a:cs typeface="Nunito"/>
              <a:sym typeface="Nunito"/>
            </a:endParaRPr>
          </a:p>
          <a:p>
            <a:pPr indent="-304800" lvl="0" marL="457200" rtl="0" algn="l">
              <a:lnSpc>
                <a:spcPct val="158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Nunito"/>
                <a:ea typeface="Nunito"/>
                <a:cs typeface="Nunito"/>
                <a:sym typeface="Nunito"/>
              </a:rPr>
              <a:t>Bivariate Analysis: </a:t>
            </a:r>
            <a:r>
              <a:rPr lang="en" sz="1200">
                <a:solidFill>
                  <a:srgbClr val="273239"/>
                </a:solidFill>
                <a:highlight>
                  <a:srgbClr val="FFFFFF"/>
                </a:highlight>
                <a:latin typeface="Nunito"/>
                <a:ea typeface="Nunito"/>
                <a:cs typeface="Nunito"/>
                <a:sym typeface="Nunito"/>
              </a:rPr>
              <a:t>Compare two variables to see how they are related.</a:t>
            </a:r>
            <a:endParaRPr sz="1200">
              <a:solidFill>
                <a:srgbClr val="273239"/>
              </a:solidFill>
              <a:highlight>
                <a:srgbClr val="FFFFFF"/>
              </a:highlight>
              <a:latin typeface="Nunito"/>
              <a:ea typeface="Nunito"/>
              <a:cs typeface="Nunito"/>
              <a:sym typeface="Nunito"/>
            </a:endParaRPr>
          </a:p>
          <a:p>
            <a:pPr indent="-304800" lvl="0" marL="457200" rtl="0" algn="l">
              <a:lnSpc>
                <a:spcPct val="158000"/>
              </a:lnSpc>
              <a:spcBef>
                <a:spcPts val="0"/>
              </a:spcBef>
              <a:spcAft>
                <a:spcPts val="0"/>
              </a:spcAft>
              <a:buClr>
                <a:srgbClr val="273239"/>
              </a:buClr>
              <a:buSzPts val="1200"/>
              <a:buFont typeface="Nunito"/>
              <a:buChar char="●"/>
            </a:pPr>
            <a:r>
              <a:rPr b="1" lang="en" sz="1200">
                <a:solidFill>
                  <a:srgbClr val="273239"/>
                </a:solidFill>
                <a:highlight>
                  <a:srgbClr val="FFFFFF"/>
                </a:highlight>
                <a:latin typeface="Nunito"/>
                <a:ea typeface="Nunito"/>
                <a:cs typeface="Nunito"/>
                <a:sym typeface="Nunito"/>
              </a:rPr>
              <a:t>Multivariate Analysis:</a:t>
            </a:r>
            <a:r>
              <a:rPr lang="en" sz="1200">
                <a:solidFill>
                  <a:srgbClr val="273239"/>
                </a:solidFill>
                <a:highlight>
                  <a:srgbClr val="FFFFFF"/>
                </a:highlight>
                <a:latin typeface="Nunito"/>
                <a:ea typeface="Nunito"/>
                <a:cs typeface="Nunito"/>
                <a:sym typeface="Nunito"/>
              </a:rPr>
              <a:t> Analyze three or more variables together to understand deeper relationships.</a:t>
            </a:r>
            <a:endParaRPr sz="120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77" name="Shape 677"/>
        <p:cNvGrpSpPr/>
        <p:nvPr/>
      </p:nvGrpSpPr>
      <p:grpSpPr>
        <a:xfrm>
          <a:off x="0" y="0"/>
          <a:ext cx="0" cy="0"/>
          <a:chOff x="0" y="0"/>
          <a:chExt cx="0" cy="0"/>
        </a:xfrm>
      </p:grpSpPr>
      <p:sp>
        <p:nvSpPr>
          <p:cNvPr id="678" name="Google Shape;678;p7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a:t>
            </a:r>
            <a:endParaRPr sz="2000">
              <a:solidFill>
                <a:schemeClr val="dk1"/>
              </a:solidFill>
              <a:latin typeface="Century Gothic"/>
              <a:ea typeface="Century Gothic"/>
              <a:cs typeface="Century Gothic"/>
              <a:sym typeface="Century Gothic"/>
            </a:endParaRPr>
          </a:p>
        </p:txBody>
      </p:sp>
      <p:sp>
        <p:nvSpPr>
          <p:cNvPr id="679" name="Google Shape;679;p7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80" name="Google Shape;680;p73"/>
          <p:cNvSpPr txBox="1"/>
          <p:nvPr/>
        </p:nvSpPr>
        <p:spPr>
          <a:xfrm>
            <a:off x="705150" y="853400"/>
            <a:ext cx="7957500" cy="892200"/>
          </a:xfrm>
          <a:prstGeom prst="rect">
            <a:avLst/>
          </a:prstGeom>
          <a:noFill/>
          <a:ln>
            <a:noFill/>
          </a:ln>
        </p:spPr>
        <p:txBody>
          <a:bodyPr anchorCtr="0" anchor="t" bIns="91425" lIns="91425" spcFirstLastPara="1" rIns="91425" wrap="square" tIns="91425">
            <a:spAutoFit/>
          </a:bodyPr>
          <a:lstStyle/>
          <a:p>
            <a:pPr indent="0" lvl="0" marL="0" rtl="0" algn="l">
              <a:lnSpc>
                <a:spcPct val="158000"/>
              </a:lnSpc>
              <a:spcBef>
                <a:spcPts val="0"/>
              </a:spcBef>
              <a:spcAft>
                <a:spcPts val="0"/>
              </a:spcAft>
              <a:buNone/>
            </a:pPr>
            <a:r>
              <a:rPr b="1" lang="en" sz="1200">
                <a:solidFill>
                  <a:srgbClr val="273239"/>
                </a:solidFill>
                <a:highlight>
                  <a:srgbClr val="FFFFFF"/>
                </a:highlight>
                <a:latin typeface="Nunito"/>
                <a:ea typeface="Nunito"/>
                <a:cs typeface="Nunito"/>
                <a:sym typeface="Nunito"/>
              </a:rPr>
              <a:t>Step 1:</a:t>
            </a:r>
            <a:r>
              <a:rPr lang="en" sz="1200">
                <a:solidFill>
                  <a:srgbClr val="273239"/>
                </a:solidFill>
                <a:highlight>
                  <a:srgbClr val="FFFFFF"/>
                </a:highlight>
                <a:latin typeface="Nunito"/>
                <a:ea typeface="Nunito"/>
                <a:cs typeface="Nunito"/>
                <a:sym typeface="Nunito"/>
              </a:rPr>
              <a:t> Importing Required Libraries</a:t>
            </a:r>
            <a:endParaRPr sz="120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pic>
        <p:nvPicPr>
          <p:cNvPr id="681" name="Google Shape;681;p73"/>
          <p:cNvPicPr preferRelativeResize="0"/>
          <p:nvPr/>
        </p:nvPicPr>
        <p:blipFill>
          <a:blip r:embed="rId3">
            <a:alphaModFix/>
          </a:blip>
          <a:stretch>
            <a:fillRect/>
          </a:stretch>
        </p:blipFill>
        <p:spPr>
          <a:xfrm>
            <a:off x="752474" y="1242377"/>
            <a:ext cx="4187499" cy="19146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85" name="Shape 685"/>
        <p:cNvGrpSpPr/>
        <p:nvPr/>
      </p:nvGrpSpPr>
      <p:grpSpPr>
        <a:xfrm>
          <a:off x="0" y="0"/>
          <a:ext cx="0" cy="0"/>
          <a:chOff x="0" y="0"/>
          <a:chExt cx="0" cy="0"/>
        </a:xfrm>
      </p:grpSpPr>
      <p:sp>
        <p:nvSpPr>
          <p:cNvPr id="686" name="Google Shape;686;p7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687" name="Google Shape;687;p7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88" name="Google Shape;688;p74"/>
          <p:cNvSpPr txBox="1"/>
          <p:nvPr/>
        </p:nvSpPr>
        <p:spPr>
          <a:xfrm>
            <a:off x="705150" y="853400"/>
            <a:ext cx="7957500" cy="892200"/>
          </a:xfrm>
          <a:prstGeom prst="rect">
            <a:avLst/>
          </a:prstGeom>
          <a:noFill/>
          <a:ln>
            <a:noFill/>
          </a:ln>
        </p:spPr>
        <p:txBody>
          <a:bodyPr anchorCtr="0" anchor="t" bIns="91425" lIns="91425" spcFirstLastPara="1" rIns="91425" wrap="square" tIns="91425">
            <a:spAutoFit/>
          </a:bodyPr>
          <a:lstStyle/>
          <a:p>
            <a:pPr indent="0" lvl="0" marL="0" rtl="0" algn="l">
              <a:lnSpc>
                <a:spcPct val="158000"/>
              </a:lnSpc>
              <a:spcBef>
                <a:spcPts val="0"/>
              </a:spcBef>
              <a:spcAft>
                <a:spcPts val="0"/>
              </a:spcAft>
              <a:buNone/>
            </a:pPr>
            <a:r>
              <a:rPr b="1" lang="en" sz="1200">
                <a:solidFill>
                  <a:srgbClr val="273239"/>
                </a:solidFill>
                <a:highlight>
                  <a:srgbClr val="FFFFFF"/>
                </a:highlight>
                <a:latin typeface="Nunito"/>
                <a:ea typeface="Nunito"/>
                <a:cs typeface="Nunito"/>
                <a:sym typeface="Nunito"/>
              </a:rPr>
              <a:t>Step 2:</a:t>
            </a:r>
            <a:r>
              <a:rPr lang="en" sz="1200">
                <a:solidFill>
                  <a:srgbClr val="273239"/>
                </a:solidFill>
                <a:highlight>
                  <a:srgbClr val="FFFFFF"/>
                </a:highlight>
                <a:latin typeface="Nunito"/>
                <a:ea typeface="Nunito"/>
                <a:cs typeface="Nunito"/>
                <a:sym typeface="Nunito"/>
              </a:rPr>
              <a:t> </a:t>
            </a:r>
            <a:r>
              <a:rPr lang="en" sz="1200">
                <a:solidFill>
                  <a:srgbClr val="273239"/>
                </a:solidFill>
                <a:highlight>
                  <a:srgbClr val="FFFFFF"/>
                </a:highlight>
                <a:latin typeface="Nunito"/>
                <a:ea typeface="Nunito"/>
                <a:cs typeface="Nunito"/>
                <a:sym typeface="Nunito"/>
              </a:rPr>
              <a:t>Reading Dataset</a:t>
            </a:r>
            <a:endParaRPr sz="1200">
              <a:solidFill>
                <a:srgbClr val="273239"/>
              </a:solidFill>
              <a:highlight>
                <a:srgbClr val="FFFFFF"/>
              </a:highlight>
              <a:latin typeface="Nunito"/>
              <a:ea typeface="Nunito"/>
              <a:cs typeface="Nunito"/>
              <a:sym typeface="Nunito"/>
            </a:endParaRPr>
          </a:p>
          <a:p>
            <a:pPr indent="0" lvl="0" marL="0" rtl="0" algn="l">
              <a:lnSpc>
                <a:spcPct val="158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pic>
        <p:nvPicPr>
          <p:cNvPr id="689" name="Google Shape;689;p74"/>
          <p:cNvPicPr preferRelativeResize="0"/>
          <p:nvPr/>
        </p:nvPicPr>
        <p:blipFill>
          <a:blip r:embed="rId3">
            <a:alphaModFix/>
          </a:blip>
          <a:stretch>
            <a:fillRect/>
          </a:stretch>
        </p:blipFill>
        <p:spPr>
          <a:xfrm>
            <a:off x="797025" y="1228375"/>
            <a:ext cx="2569699" cy="415500"/>
          </a:xfrm>
          <a:prstGeom prst="rect">
            <a:avLst/>
          </a:prstGeom>
          <a:noFill/>
          <a:ln>
            <a:noFill/>
          </a:ln>
        </p:spPr>
      </p:pic>
      <p:pic>
        <p:nvPicPr>
          <p:cNvPr id="690" name="Google Shape;690;p74"/>
          <p:cNvPicPr preferRelativeResize="0"/>
          <p:nvPr/>
        </p:nvPicPr>
        <p:blipFill>
          <a:blip r:embed="rId4">
            <a:alphaModFix/>
          </a:blip>
          <a:stretch>
            <a:fillRect/>
          </a:stretch>
        </p:blipFill>
        <p:spPr>
          <a:xfrm>
            <a:off x="797025" y="1800975"/>
            <a:ext cx="4901326" cy="28472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4" name="Shape 694"/>
        <p:cNvGrpSpPr/>
        <p:nvPr/>
      </p:nvGrpSpPr>
      <p:grpSpPr>
        <a:xfrm>
          <a:off x="0" y="0"/>
          <a:ext cx="0" cy="0"/>
          <a:chOff x="0" y="0"/>
          <a:chExt cx="0" cy="0"/>
        </a:xfrm>
      </p:grpSpPr>
      <p:sp>
        <p:nvSpPr>
          <p:cNvPr id="695" name="Google Shape;695;p7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696" name="Google Shape;696;p7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697" name="Google Shape;697;p75"/>
          <p:cNvSpPr txBox="1"/>
          <p:nvPr/>
        </p:nvSpPr>
        <p:spPr>
          <a:xfrm>
            <a:off x="705150" y="853400"/>
            <a:ext cx="7957500" cy="877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rgbClr val="273239"/>
                </a:solidFill>
                <a:highlight>
                  <a:srgbClr val="FFFFFF"/>
                </a:highlight>
                <a:latin typeface="Nunito"/>
                <a:ea typeface="Nunito"/>
                <a:cs typeface="Nunito"/>
                <a:sym typeface="Nunito"/>
              </a:rPr>
              <a:t>Step 3:</a:t>
            </a:r>
            <a:r>
              <a:rPr lang="en" sz="1200">
                <a:solidFill>
                  <a:srgbClr val="273239"/>
                </a:solidFill>
                <a:highlight>
                  <a:srgbClr val="FFFFFF"/>
                </a:highlight>
                <a:latin typeface="Nunito"/>
                <a:ea typeface="Nunito"/>
                <a:cs typeface="Nunito"/>
                <a:sym typeface="Nunito"/>
              </a:rPr>
              <a:t> </a:t>
            </a:r>
            <a:r>
              <a:rPr lang="en" sz="1200">
                <a:solidFill>
                  <a:srgbClr val="273239"/>
                </a:solidFill>
                <a:highlight>
                  <a:srgbClr val="FFFFFF"/>
                </a:highlight>
                <a:latin typeface="Nunito"/>
                <a:ea typeface="Nunito"/>
                <a:cs typeface="Nunito"/>
                <a:sym typeface="Nunito"/>
              </a:rPr>
              <a:t>Analyzing the Data</a:t>
            </a:r>
            <a:endParaRPr sz="1200">
              <a:solidFill>
                <a:srgbClr val="273239"/>
              </a:solidFill>
              <a:highlight>
                <a:srgbClr val="FFFFFF"/>
              </a:highlight>
              <a:latin typeface="Nunito"/>
              <a:ea typeface="Nunito"/>
              <a:cs typeface="Nunito"/>
              <a:sym typeface="Nunito"/>
            </a:endParaRPr>
          </a:p>
          <a:p>
            <a:pPr indent="0" lvl="0" marL="0" rtl="0" algn="l">
              <a:lnSpc>
                <a:spcPct val="150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sp>
        <p:nvSpPr>
          <p:cNvPr id="698" name="Google Shape;698;p75"/>
          <p:cNvSpPr txBox="1"/>
          <p:nvPr/>
        </p:nvSpPr>
        <p:spPr>
          <a:xfrm>
            <a:off x="752475" y="1171500"/>
            <a:ext cx="7492500" cy="1116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lang="en" sz="1100">
                <a:solidFill>
                  <a:srgbClr val="273239"/>
                </a:solidFill>
                <a:highlight>
                  <a:srgbClr val="FFFFFF"/>
                </a:highlight>
                <a:latin typeface="Nunito"/>
                <a:ea typeface="Nunito"/>
                <a:cs typeface="Nunito"/>
                <a:sym typeface="Nunito"/>
              </a:rPr>
              <a:t>1. </a:t>
            </a:r>
            <a:r>
              <a:rPr b="1" lang="en" sz="1100">
                <a:solidFill>
                  <a:srgbClr val="273239"/>
                </a:solidFill>
                <a:highlight>
                  <a:srgbClr val="FFFFFF"/>
                </a:highlight>
                <a:latin typeface="Nunito"/>
                <a:ea typeface="Nunito"/>
                <a:cs typeface="Nunito"/>
                <a:sym typeface="Nunito"/>
              </a:rPr>
              <a:t>df.shape()</a:t>
            </a:r>
            <a:r>
              <a:rPr lang="en" sz="1100">
                <a:solidFill>
                  <a:srgbClr val="273239"/>
                </a:solidFill>
                <a:highlight>
                  <a:srgbClr val="FFFFFF"/>
                </a:highlight>
                <a:latin typeface="Nunito"/>
                <a:ea typeface="Nunito"/>
                <a:cs typeface="Nunito"/>
                <a:sym typeface="Nunito"/>
              </a:rPr>
              <a:t>: This function is used to understand the number of rows (observations) and columns (features) in the dataset. This gives an overview of the dataset's size and structure.</a:t>
            </a:r>
            <a:br>
              <a:rPr lang="en" sz="1100">
                <a:solidFill>
                  <a:srgbClr val="273239"/>
                </a:solidFill>
                <a:highlight>
                  <a:srgbClr val="FFFFFF"/>
                </a:highlight>
                <a:latin typeface="Nunito"/>
                <a:ea typeface="Nunito"/>
                <a:cs typeface="Nunito"/>
                <a:sym typeface="Nunito"/>
              </a:rPr>
            </a:br>
            <a:br>
              <a:rPr lang="en" sz="1100">
                <a:solidFill>
                  <a:srgbClr val="273239"/>
                </a:solidFill>
                <a:highlight>
                  <a:srgbClr val="FFFFFF"/>
                </a:highlight>
                <a:latin typeface="Nunito"/>
                <a:ea typeface="Nunito"/>
                <a:cs typeface="Nunito"/>
                <a:sym typeface="Nunito"/>
              </a:rPr>
            </a:br>
            <a:endParaRPr sz="1100">
              <a:solidFill>
                <a:srgbClr val="273239"/>
              </a:solidFill>
              <a:highlight>
                <a:srgbClr val="FFFFFF"/>
              </a:highlight>
              <a:latin typeface="Nunito"/>
              <a:ea typeface="Nunito"/>
              <a:cs typeface="Nunito"/>
              <a:sym typeface="Nunito"/>
            </a:endParaRPr>
          </a:p>
        </p:txBody>
      </p:sp>
      <p:pic>
        <p:nvPicPr>
          <p:cNvPr id="699" name="Google Shape;699;p75"/>
          <p:cNvPicPr preferRelativeResize="0"/>
          <p:nvPr/>
        </p:nvPicPr>
        <p:blipFill>
          <a:blip r:embed="rId3">
            <a:alphaModFix/>
          </a:blip>
          <a:stretch>
            <a:fillRect/>
          </a:stretch>
        </p:blipFill>
        <p:spPr>
          <a:xfrm>
            <a:off x="870850" y="1730602"/>
            <a:ext cx="1554375" cy="619925"/>
          </a:xfrm>
          <a:prstGeom prst="rect">
            <a:avLst/>
          </a:prstGeom>
          <a:noFill/>
          <a:ln>
            <a:noFill/>
          </a:ln>
        </p:spPr>
      </p:pic>
      <p:pic>
        <p:nvPicPr>
          <p:cNvPr id="700" name="Google Shape;700;p75"/>
          <p:cNvPicPr preferRelativeResize="0"/>
          <p:nvPr/>
        </p:nvPicPr>
        <p:blipFill>
          <a:blip r:embed="rId4">
            <a:alphaModFix/>
          </a:blip>
          <a:stretch>
            <a:fillRect/>
          </a:stretch>
        </p:blipFill>
        <p:spPr>
          <a:xfrm>
            <a:off x="870850" y="2848300"/>
            <a:ext cx="2631500" cy="2007099"/>
          </a:xfrm>
          <a:prstGeom prst="rect">
            <a:avLst/>
          </a:prstGeom>
          <a:noFill/>
          <a:ln>
            <a:noFill/>
          </a:ln>
        </p:spPr>
      </p:pic>
      <p:sp>
        <p:nvSpPr>
          <p:cNvPr id="701" name="Google Shape;701;p75"/>
          <p:cNvSpPr txBox="1"/>
          <p:nvPr/>
        </p:nvSpPr>
        <p:spPr>
          <a:xfrm>
            <a:off x="752475" y="2313300"/>
            <a:ext cx="7592700" cy="608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lang="en" sz="1100">
                <a:solidFill>
                  <a:srgbClr val="273239"/>
                </a:solidFill>
                <a:highlight>
                  <a:srgbClr val="FFFFFF"/>
                </a:highlight>
                <a:latin typeface="Nunito"/>
                <a:ea typeface="Nunito"/>
                <a:cs typeface="Nunito"/>
                <a:sym typeface="Nunito"/>
              </a:rPr>
              <a:t>2. </a:t>
            </a:r>
            <a:r>
              <a:rPr b="1" lang="en" sz="1100">
                <a:solidFill>
                  <a:srgbClr val="273239"/>
                </a:solidFill>
                <a:highlight>
                  <a:srgbClr val="FFFFFF"/>
                </a:highlight>
                <a:latin typeface="Nunito"/>
                <a:ea typeface="Nunito"/>
                <a:cs typeface="Nunito"/>
                <a:sym typeface="Nunito"/>
              </a:rPr>
              <a:t>df.info()</a:t>
            </a:r>
            <a:r>
              <a:rPr lang="en" sz="1100">
                <a:solidFill>
                  <a:srgbClr val="273239"/>
                </a:solidFill>
                <a:highlight>
                  <a:srgbClr val="FFFFFF"/>
                </a:highlight>
                <a:latin typeface="Nunito"/>
                <a:ea typeface="Nunito"/>
                <a:cs typeface="Nunito"/>
                <a:sym typeface="Nunito"/>
              </a:rPr>
              <a:t>: This function helps us to understand the dataset by showing the number of records in each column, type of data, whether any values are missing and how much memory the dataset uses.</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05" name="Shape 705"/>
        <p:cNvGrpSpPr/>
        <p:nvPr/>
      </p:nvGrpSpPr>
      <p:grpSpPr>
        <a:xfrm>
          <a:off x="0" y="0"/>
          <a:ext cx="0" cy="0"/>
          <a:chOff x="0" y="0"/>
          <a:chExt cx="0" cy="0"/>
        </a:xfrm>
      </p:grpSpPr>
      <p:sp>
        <p:nvSpPr>
          <p:cNvPr id="706" name="Google Shape;706;p7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07" name="Google Shape;707;p7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08" name="Google Shape;708;p76"/>
          <p:cNvSpPr txBox="1"/>
          <p:nvPr/>
        </p:nvSpPr>
        <p:spPr>
          <a:xfrm>
            <a:off x="705150" y="853400"/>
            <a:ext cx="7957500" cy="877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rgbClr val="273239"/>
                </a:solidFill>
                <a:highlight>
                  <a:srgbClr val="FFFFFF"/>
                </a:highlight>
                <a:latin typeface="Nunito"/>
                <a:ea typeface="Nunito"/>
                <a:cs typeface="Nunito"/>
                <a:sym typeface="Nunito"/>
              </a:rPr>
              <a:t>Step 4: </a:t>
            </a:r>
            <a:r>
              <a:rPr lang="en" sz="1200">
                <a:solidFill>
                  <a:srgbClr val="273239"/>
                </a:solidFill>
                <a:highlight>
                  <a:srgbClr val="FFFFFF"/>
                </a:highlight>
                <a:latin typeface="Nunito"/>
                <a:ea typeface="Nunito"/>
                <a:cs typeface="Nunito"/>
                <a:sym typeface="Nunito"/>
              </a:rPr>
              <a:t>Checking Missing Values</a:t>
            </a:r>
            <a:endParaRPr sz="1200">
              <a:solidFill>
                <a:srgbClr val="273239"/>
              </a:solidFill>
              <a:highlight>
                <a:srgbClr val="FFFFFF"/>
              </a:highlight>
              <a:latin typeface="Nunito"/>
              <a:ea typeface="Nunito"/>
              <a:cs typeface="Nunito"/>
              <a:sym typeface="Nunito"/>
            </a:endParaRPr>
          </a:p>
          <a:p>
            <a:pPr indent="0" lvl="0" marL="0" rtl="0" algn="l">
              <a:lnSpc>
                <a:spcPct val="150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sp>
        <p:nvSpPr>
          <p:cNvPr id="709" name="Google Shape;709;p76"/>
          <p:cNvSpPr txBox="1"/>
          <p:nvPr/>
        </p:nvSpPr>
        <p:spPr>
          <a:xfrm>
            <a:off x="705150" y="1171500"/>
            <a:ext cx="3907500" cy="89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150">
                <a:solidFill>
                  <a:srgbClr val="273239"/>
                </a:solidFill>
                <a:highlight>
                  <a:srgbClr val="FFFFFF"/>
                </a:highlight>
                <a:latin typeface="Nunito"/>
                <a:ea typeface="Nunito"/>
                <a:cs typeface="Nunito"/>
                <a:sym typeface="Nunito"/>
              </a:rPr>
              <a:t>df.isnull().sum():</a:t>
            </a:r>
            <a:r>
              <a:rPr lang="en" sz="1150">
                <a:solidFill>
                  <a:srgbClr val="273239"/>
                </a:solidFill>
                <a:highlight>
                  <a:srgbClr val="FFFFFF"/>
                </a:highlight>
                <a:latin typeface="Nunito"/>
                <a:ea typeface="Nunito"/>
                <a:cs typeface="Nunito"/>
                <a:sym typeface="Nunito"/>
              </a:rPr>
              <a:t> This checks for missing values in each column and returns the total number of null values per column helping us to identify any gaps in our data.</a:t>
            </a:r>
            <a:endParaRPr sz="900">
              <a:solidFill>
                <a:srgbClr val="273239"/>
              </a:solidFill>
              <a:highlight>
                <a:srgbClr val="FFFFFF"/>
              </a:highlight>
              <a:latin typeface="Nunito"/>
              <a:ea typeface="Nunito"/>
              <a:cs typeface="Nunito"/>
              <a:sym typeface="Nunito"/>
            </a:endParaRPr>
          </a:p>
        </p:txBody>
      </p:sp>
      <p:pic>
        <p:nvPicPr>
          <p:cNvPr id="710" name="Google Shape;710;p76"/>
          <p:cNvPicPr preferRelativeResize="0"/>
          <p:nvPr/>
        </p:nvPicPr>
        <p:blipFill>
          <a:blip r:embed="rId3">
            <a:alphaModFix/>
          </a:blip>
          <a:stretch>
            <a:fillRect/>
          </a:stretch>
        </p:blipFill>
        <p:spPr>
          <a:xfrm>
            <a:off x="4715250" y="975950"/>
            <a:ext cx="3074527" cy="3803024"/>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4" name="Shape 714"/>
        <p:cNvGrpSpPr/>
        <p:nvPr/>
      </p:nvGrpSpPr>
      <p:grpSpPr>
        <a:xfrm>
          <a:off x="0" y="0"/>
          <a:ext cx="0" cy="0"/>
          <a:chOff x="0" y="0"/>
          <a:chExt cx="0" cy="0"/>
        </a:xfrm>
      </p:grpSpPr>
      <p:sp>
        <p:nvSpPr>
          <p:cNvPr id="715" name="Google Shape;715;p7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16" name="Google Shape;716;p7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17" name="Google Shape;717;p77"/>
          <p:cNvSpPr txBox="1"/>
          <p:nvPr/>
        </p:nvSpPr>
        <p:spPr>
          <a:xfrm>
            <a:off x="705150" y="853400"/>
            <a:ext cx="7957500" cy="877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 sz="1200">
                <a:solidFill>
                  <a:srgbClr val="273239"/>
                </a:solidFill>
                <a:highlight>
                  <a:srgbClr val="FFFFFF"/>
                </a:highlight>
                <a:latin typeface="Nunito"/>
                <a:ea typeface="Nunito"/>
                <a:cs typeface="Nunito"/>
                <a:sym typeface="Nunito"/>
              </a:rPr>
              <a:t>Step 5: </a:t>
            </a:r>
            <a:r>
              <a:rPr lang="en" sz="1200">
                <a:solidFill>
                  <a:srgbClr val="273239"/>
                </a:solidFill>
                <a:highlight>
                  <a:srgbClr val="FFFFFF"/>
                </a:highlight>
                <a:latin typeface="Nunito"/>
                <a:ea typeface="Nunito"/>
                <a:cs typeface="Nunito"/>
                <a:sym typeface="Nunito"/>
              </a:rPr>
              <a:t>Checking for the duplicate values</a:t>
            </a:r>
            <a:endParaRPr sz="1200">
              <a:solidFill>
                <a:srgbClr val="273239"/>
              </a:solidFill>
              <a:highlight>
                <a:srgbClr val="FFFFFF"/>
              </a:highlight>
              <a:latin typeface="Nunito"/>
              <a:ea typeface="Nunito"/>
              <a:cs typeface="Nunito"/>
              <a:sym typeface="Nunito"/>
            </a:endParaRPr>
          </a:p>
          <a:p>
            <a:pPr indent="0" lvl="0" marL="0" rtl="0" algn="l">
              <a:lnSpc>
                <a:spcPct val="150000"/>
              </a:lnSpc>
              <a:spcBef>
                <a:spcPts val="1800"/>
              </a:spcBef>
              <a:spcAft>
                <a:spcPts val="1800"/>
              </a:spcAft>
              <a:buNone/>
            </a:pPr>
            <a:r>
              <a:t/>
            </a:r>
            <a:endParaRPr sz="1200">
              <a:solidFill>
                <a:srgbClr val="273239"/>
              </a:solidFill>
              <a:highlight>
                <a:srgbClr val="FFFFFF"/>
              </a:highlight>
              <a:latin typeface="Nunito"/>
              <a:ea typeface="Nunito"/>
              <a:cs typeface="Nunito"/>
              <a:sym typeface="Nunito"/>
            </a:endParaRPr>
          </a:p>
        </p:txBody>
      </p:sp>
      <p:sp>
        <p:nvSpPr>
          <p:cNvPr id="718" name="Google Shape;718;p77"/>
          <p:cNvSpPr txBox="1"/>
          <p:nvPr/>
        </p:nvSpPr>
        <p:spPr>
          <a:xfrm>
            <a:off x="3953250" y="1171500"/>
            <a:ext cx="4064700" cy="89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150">
                <a:solidFill>
                  <a:srgbClr val="273239"/>
                </a:solidFill>
                <a:highlight>
                  <a:srgbClr val="FFFFFF"/>
                </a:highlight>
                <a:latin typeface="Nunito"/>
                <a:ea typeface="Nunito"/>
                <a:cs typeface="Nunito"/>
                <a:sym typeface="Nunito"/>
              </a:rPr>
              <a:t>df.nunique(): </a:t>
            </a:r>
            <a:r>
              <a:rPr lang="en" sz="1150">
                <a:solidFill>
                  <a:srgbClr val="273239"/>
                </a:solidFill>
                <a:highlight>
                  <a:srgbClr val="FFFFFF"/>
                </a:highlight>
                <a:latin typeface="Nunito"/>
                <a:ea typeface="Nunito"/>
                <a:cs typeface="Nunito"/>
                <a:sym typeface="Nunito"/>
              </a:rPr>
              <a:t>This function tells us how many unique values exist in each column which provides insight into the variety of data in each feature.</a:t>
            </a:r>
            <a:endParaRPr sz="900">
              <a:solidFill>
                <a:srgbClr val="273239"/>
              </a:solidFill>
              <a:highlight>
                <a:srgbClr val="FFFFFF"/>
              </a:highlight>
              <a:latin typeface="Nunito"/>
              <a:ea typeface="Nunito"/>
              <a:cs typeface="Nunito"/>
              <a:sym typeface="Nunito"/>
            </a:endParaRPr>
          </a:p>
        </p:txBody>
      </p:sp>
      <p:pic>
        <p:nvPicPr>
          <p:cNvPr id="719" name="Google Shape;719;p77"/>
          <p:cNvPicPr preferRelativeResize="0"/>
          <p:nvPr/>
        </p:nvPicPr>
        <p:blipFill>
          <a:blip r:embed="rId3">
            <a:alphaModFix/>
          </a:blip>
          <a:stretch>
            <a:fillRect/>
          </a:stretch>
        </p:blipFill>
        <p:spPr>
          <a:xfrm>
            <a:off x="785874" y="1171500"/>
            <a:ext cx="3105000" cy="3486976"/>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23" name="Shape 723"/>
        <p:cNvGrpSpPr/>
        <p:nvPr/>
      </p:nvGrpSpPr>
      <p:grpSpPr>
        <a:xfrm>
          <a:off x="0" y="0"/>
          <a:ext cx="0" cy="0"/>
          <a:chOff x="0" y="0"/>
          <a:chExt cx="0" cy="0"/>
        </a:xfrm>
      </p:grpSpPr>
      <p:sp>
        <p:nvSpPr>
          <p:cNvPr id="724" name="Google Shape;724;p7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25" name="Google Shape;725;p7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26" name="Google Shape;726;p78"/>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6: </a:t>
            </a:r>
            <a:r>
              <a:rPr lang="en" sz="1200">
                <a:solidFill>
                  <a:srgbClr val="273239"/>
                </a:solidFill>
                <a:highlight>
                  <a:srgbClr val="FFFFFF"/>
                </a:highlight>
                <a:latin typeface="Nunito"/>
                <a:ea typeface="Nunito"/>
                <a:cs typeface="Nunito"/>
                <a:sym typeface="Nunito"/>
              </a:rPr>
              <a:t>Univariate Analysis</a:t>
            </a:r>
            <a:endParaRPr sz="1200">
              <a:solidFill>
                <a:srgbClr val="273239"/>
              </a:solidFill>
              <a:highlight>
                <a:srgbClr val="FFFFFF"/>
              </a:highlight>
              <a:latin typeface="Nunito"/>
              <a:ea typeface="Nunito"/>
              <a:cs typeface="Nunito"/>
              <a:sym typeface="Nunito"/>
            </a:endParaRPr>
          </a:p>
        </p:txBody>
      </p:sp>
      <p:sp>
        <p:nvSpPr>
          <p:cNvPr id="727" name="Google Shape;727;p78"/>
          <p:cNvSpPr txBox="1"/>
          <p:nvPr/>
        </p:nvSpPr>
        <p:spPr>
          <a:xfrm>
            <a:off x="805350" y="1171500"/>
            <a:ext cx="7212600" cy="1123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50">
                <a:solidFill>
                  <a:srgbClr val="273239"/>
                </a:solidFill>
                <a:highlight>
                  <a:srgbClr val="FFFFFF"/>
                </a:highlight>
                <a:latin typeface="Nunito"/>
                <a:ea typeface="Nunito"/>
                <a:cs typeface="Nunito"/>
                <a:sym typeface="Nunito"/>
              </a:rPr>
              <a:t>In Univariate analysis plotting the right charts can help us to better understand the data making the data visualization so important.</a:t>
            </a:r>
            <a:endParaRPr sz="1150">
              <a:solidFill>
                <a:srgbClr val="273239"/>
              </a:solidFill>
              <a:highlight>
                <a:srgbClr val="FFFFFF"/>
              </a:highlight>
              <a:latin typeface="Nunito"/>
              <a:ea typeface="Nunito"/>
              <a:cs typeface="Nunito"/>
              <a:sym typeface="Nunito"/>
            </a:endParaRPr>
          </a:p>
          <a:p>
            <a:pPr indent="0" lvl="0" marL="0" rtl="0" algn="l">
              <a:lnSpc>
                <a:spcPct val="150000"/>
              </a:lnSpc>
              <a:spcBef>
                <a:spcPts val="1800"/>
              </a:spcBef>
              <a:spcAft>
                <a:spcPts val="1800"/>
              </a:spcAft>
              <a:buNone/>
            </a:pPr>
            <a:r>
              <a:rPr lang="en" sz="1150">
                <a:solidFill>
                  <a:srgbClr val="273239"/>
                </a:solidFill>
                <a:highlight>
                  <a:srgbClr val="FFFFFF"/>
                </a:highlight>
                <a:latin typeface="Nunito"/>
                <a:ea typeface="Nunito"/>
                <a:cs typeface="Nunito"/>
                <a:sym typeface="Nunito"/>
              </a:rPr>
              <a:t>1. Bar Plot for evaluating the count of the wine with its quality rate</a:t>
            </a:r>
            <a:endParaRPr sz="1150">
              <a:solidFill>
                <a:srgbClr val="273239"/>
              </a:solidFill>
              <a:highlight>
                <a:srgbClr val="FFFFFF"/>
              </a:highlight>
              <a:latin typeface="Nunito"/>
              <a:ea typeface="Nunito"/>
              <a:cs typeface="Nunito"/>
              <a:sym typeface="Nunito"/>
            </a:endParaRPr>
          </a:p>
        </p:txBody>
      </p:sp>
      <p:pic>
        <p:nvPicPr>
          <p:cNvPr id="728" name="Google Shape;728;p78"/>
          <p:cNvPicPr preferRelativeResize="0"/>
          <p:nvPr/>
        </p:nvPicPr>
        <p:blipFill>
          <a:blip r:embed="rId3">
            <a:alphaModFix/>
          </a:blip>
          <a:stretch>
            <a:fillRect/>
          </a:stretch>
        </p:blipFill>
        <p:spPr>
          <a:xfrm>
            <a:off x="897201" y="2671078"/>
            <a:ext cx="3486626" cy="1062075"/>
          </a:xfrm>
          <a:prstGeom prst="rect">
            <a:avLst/>
          </a:prstGeom>
          <a:noFill/>
          <a:ln>
            <a:noFill/>
          </a:ln>
        </p:spPr>
      </p:pic>
      <p:pic>
        <p:nvPicPr>
          <p:cNvPr id="729" name="Google Shape;729;p78"/>
          <p:cNvPicPr preferRelativeResize="0"/>
          <p:nvPr/>
        </p:nvPicPr>
        <p:blipFill>
          <a:blip r:embed="rId4">
            <a:alphaModFix/>
          </a:blip>
          <a:stretch>
            <a:fillRect/>
          </a:stretch>
        </p:blipFill>
        <p:spPr>
          <a:xfrm>
            <a:off x="5276025" y="2295000"/>
            <a:ext cx="3284998" cy="2438025"/>
          </a:xfrm>
          <a:prstGeom prst="rect">
            <a:avLst/>
          </a:prstGeom>
          <a:noFill/>
          <a:ln>
            <a:noFill/>
          </a:ln>
        </p:spPr>
      </p:pic>
      <p:cxnSp>
        <p:nvCxnSpPr>
          <p:cNvPr id="730" name="Google Shape;730;p78"/>
          <p:cNvCxnSpPr/>
          <p:nvPr/>
        </p:nvCxnSpPr>
        <p:spPr>
          <a:xfrm flipH="1" rot="10800000">
            <a:off x="4462577" y="3297400"/>
            <a:ext cx="734700" cy="8400"/>
          </a:xfrm>
          <a:prstGeom prst="straightConnector1">
            <a:avLst/>
          </a:prstGeom>
          <a:noFill/>
          <a:ln cap="flat" cmpd="sng" w="38100">
            <a:solidFill>
              <a:srgbClr val="980000"/>
            </a:solidFill>
            <a:prstDash val="solid"/>
            <a:round/>
            <a:headEnd len="med" w="med" type="none"/>
            <a:tailEnd len="med" w="med" type="triangl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4" name="Shape 734"/>
        <p:cNvGrpSpPr/>
        <p:nvPr/>
      </p:nvGrpSpPr>
      <p:grpSpPr>
        <a:xfrm>
          <a:off x="0" y="0"/>
          <a:ext cx="0" cy="0"/>
          <a:chOff x="0" y="0"/>
          <a:chExt cx="0" cy="0"/>
        </a:xfrm>
      </p:grpSpPr>
      <p:sp>
        <p:nvSpPr>
          <p:cNvPr id="735" name="Google Shape;735;p7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36" name="Google Shape;736;p7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37" name="Google Shape;737;p79"/>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6: </a:t>
            </a:r>
            <a:r>
              <a:rPr lang="en" sz="1200">
                <a:solidFill>
                  <a:srgbClr val="273239"/>
                </a:solidFill>
                <a:highlight>
                  <a:srgbClr val="FFFFFF"/>
                </a:highlight>
                <a:latin typeface="Nunito"/>
                <a:ea typeface="Nunito"/>
                <a:cs typeface="Nunito"/>
                <a:sym typeface="Nunito"/>
              </a:rPr>
              <a:t>Univariate Analysis</a:t>
            </a:r>
            <a:endParaRPr sz="1200">
              <a:solidFill>
                <a:srgbClr val="273239"/>
              </a:solidFill>
              <a:highlight>
                <a:srgbClr val="FFFFFF"/>
              </a:highlight>
              <a:latin typeface="Nunito"/>
              <a:ea typeface="Nunito"/>
              <a:cs typeface="Nunito"/>
              <a:sym typeface="Nunito"/>
            </a:endParaRPr>
          </a:p>
        </p:txBody>
      </p:sp>
      <p:sp>
        <p:nvSpPr>
          <p:cNvPr id="738" name="Google Shape;738;p79"/>
          <p:cNvSpPr txBox="1"/>
          <p:nvPr/>
        </p:nvSpPr>
        <p:spPr>
          <a:xfrm>
            <a:off x="805350" y="1171500"/>
            <a:ext cx="7212600" cy="36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lang="en" sz="1150">
                <a:solidFill>
                  <a:srgbClr val="273239"/>
                </a:solidFill>
                <a:highlight>
                  <a:srgbClr val="FFFFFF"/>
                </a:highlight>
                <a:latin typeface="Nunito"/>
                <a:ea typeface="Nunito"/>
                <a:cs typeface="Nunito"/>
                <a:sym typeface="Nunito"/>
              </a:rPr>
              <a:t>2. Kernel density plot for understanding variance in the dataset</a:t>
            </a:r>
            <a:endParaRPr sz="1150">
              <a:solidFill>
                <a:srgbClr val="273239"/>
              </a:solidFill>
              <a:highlight>
                <a:srgbClr val="FFFFFF"/>
              </a:highlight>
              <a:latin typeface="Nunito"/>
              <a:ea typeface="Nunito"/>
              <a:cs typeface="Nunito"/>
              <a:sym typeface="Nunito"/>
            </a:endParaRPr>
          </a:p>
        </p:txBody>
      </p:sp>
      <p:pic>
        <p:nvPicPr>
          <p:cNvPr id="739" name="Google Shape;739;p79"/>
          <p:cNvPicPr preferRelativeResize="0"/>
          <p:nvPr/>
        </p:nvPicPr>
        <p:blipFill rotWithShape="1">
          <a:blip r:embed="rId3">
            <a:alphaModFix/>
          </a:blip>
          <a:srcRect b="0" l="0" r="4626" t="0"/>
          <a:stretch/>
        </p:blipFill>
        <p:spPr>
          <a:xfrm>
            <a:off x="838750" y="1533300"/>
            <a:ext cx="3139201" cy="1313250"/>
          </a:xfrm>
          <a:prstGeom prst="rect">
            <a:avLst/>
          </a:prstGeom>
          <a:noFill/>
          <a:ln>
            <a:noFill/>
          </a:ln>
        </p:spPr>
      </p:pic>
      <p:pic>
        <p:nvPicPr>
          <p:cNvPr id="740" name="Google Shape;740;p79"/>
          <p:cNvPicPr preferRelativeResize="0"/>
          <p:nvPr/>
        </p:nvPicPr>
        <p:blipFill>
          <a:blip r:embed="rId4">
            <a:alphaModFix/>
          </a:blip>
          <a:stretch>
            <a:fillRect/>
          </a:stretch>
        </p:blipFill>
        <p:spPr>
          <a:xfrm>
            <a:off x="5007076" y="1533300"/>
            <a:ext cx="2949157" cy="3305401"/>
          </a:xfrm>
          <a:prstGeom prst="rect">
            <a:avLst/>
          </a:prstGeom>
          <a:noFill/>
          <a:ln>
            <a:noFill/>
          </a:ln>
        </p:spPr>
      </p:pic>
      <p:cxnSp>
        <p:nvCxnSpPr>
          <p:cNvPr id="741" name="Google Shape;741;p79"/>
          <p:cNvCxnSpPr/>
          <p:nvPr/>
        </p:nvCxnSpPr>
        <p:spPr>
          <a:xfrm flipH="1" rot="10800000">
            <a:off x="4445877" y="2287075"/>
            <a:ext cx="734700" cy="8400"/>
          </a:xfrm>
          <a:prstGeom prst="straightConnector1">
            <a:avLst/>
          </a:prstGeom>
          <a:noFill/>
          <a:ln cap="flat" cmpd="sng" w="38100">
            <a:solidFill>
              <a:srgbClr val="980000"/>
            </a:solidFill>
            <a:prstDash val="solid"/>
            <a:round/>
            <a:headEnd len="med" w="med" type="none"/>
            <a:tailEnd len="med" w="med" type="triangl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p8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47" name="Google Shape;747;p8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48" name="Google Shape;748;p80"/>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6: </a:t>
            </a:r>
            <a:r>
              <a:rPr lang="en" sz="1200">
                <a:solidFill>
                  <a:srgbClr val="273239"/>
                </a:solidFill>
                <a:highlight>
                  <a:srgbClr val="FFFFFF"/>
                </a:highlight>
                <a:latin typeface="Nunito"/>
                <a:ea typeface="Nunito"/>
                <a:cs typeface="Nunito"/>
                <a:sym typeface="Nunito"/>
              </a:rPr>
              <a:t>Univariate Analysis</a:t>
            </a:r>
            <a:endParaRPr sz="1200">
              <a:solidFill>
                <a:srgbClr val="273239"/>
              </a:solidFill>
              <a:highlight>
                <a:srgbClr val="FFFFFF"/>
              </a:highlight>
              <a:latin typeface="Nunito"/>
              <a:ea typeface="Nunito"/>
              <a:cs typeface="Nunito"/>
              <a:sym typeface="Nunito"/>
            </a:endParaRPr>
          </a:p>
        </p:txBody>
      </p:sp>
      <p:sp>
        <p:nvSpPr>
          <p:cNvPr id="749" name="Google Shape;749;p80"/>
          <p:cNvSpPr txBox="1"/>
          <p:nvPr/>
        </p:nvSpPr>
        <p:spPr>
          <a:xfrm>
            <a:off x="805350" y="1171500"/>
            <a:ext cx="7212600" cy="36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lang="en" sz="1150">
                <a:solidFill>
                  <a:srgbClr val="273239"/>
                </a:solidFill>
                <a:highlight>
                  <a:srgbClr val="FFFFFF"/>
                </a:highlight>
                <a:latin typeface="Nunito"/>
                <a:ea typeface="Nunito"/>
                <a:cs typeface="Nunito"/>
                <a:sym typeface="Nunito"/>
              </a:rPr>
              <a:t>3. Swarm Plot for showing the outlier in the data</a:t>
            </a:r>
            <a:endParaRPr sz="1150">
              <a:solidFill>
                <a:srgbClr val="273239"/>
              </a:solidFill>
              <a:highlight>
                <a:srgbClr val="FFFFFF"/>
              </a:highlight>
              <a:latin typeface="Nunito"/>
              <a:ea typeface="Nunito"/>
              <a:cs typeface="Nunito"/>
              <a:sym typeface="Nunito"/>
            </a:endParaRPr>
          </a:p>
        </p:txBody>
      </p:sp>
      <p:cxnSp>
        <p:nvCxnSpPr>
          <p:cNvPr id="750" name="Google Shape;750;p80"/>
          <p:cNvCxnSpPr/>
          <p:nvPr/>
        </p:nvCxnSpPr>
        <p:spPr>
          <a:xfrm flipH="1" rot="10800000">
            <a:off x="4487626" y="2287075"/>
            <a:ext cx="734700" cy="8400"/>
          </a:xfrm>
          <a:prstGeom prst="straightConnector1">
            <a:avLst/>
          </a:prstGeom>
          <a:noFill/>
          <a:ln cap="flat" cmpd="sng" w="38100">
            <a:solidFill>
              <a:srgbClr val="980000"/>
            </a:solidFill>
            <a:prstDash val="solid"/>
            <a:round/>
            <a:headEnd len="med" w="med" type="none"/>
            <a:tailEnd len="med" w="med" type="triangle"/>
          </a:ln>
        </p:spPr>
      </p:cxnSp>
      <p:pic>
        <p:nvPicPr>
          <p:cNvPr id="751" name="Google Shape;751;p80"/>
          <p:cNvPicPr preferRelativeResize="0"/>
          <p:nvPr/>
        </p:nvPicPr>
        <p:blipFill>
          <a:blip r:embed="rId3">
            <a:alphaModFix/>
          </a:blip>
          <a:stretch>
            <a:fillRect/>
          </a:stretch>
        </p:blipFill>
        <p:spPr>
          <a:xfrm>
            <a:off x="805350" y="1694406"/>
            <a:ext cx="3640525" cy="1107067"/>
          </a:xfrm>
          <a:prstGeom prst="rect">
            <a:avLst/>
          </a:prstGeom>
          <a:noFill/>
          <a:ln>
            <a:noFill/>
          </a:ln>
        </p:spPr>
      </p:pic>
      <p:pic>
        <p:nvPicPr>
          <p:cNvPr id="752" name="Google Shape;752;p80"/>
          <p:cNvPicPr preferRelativeResize="0"/>
          <p:nvPr/>
        </p:nvPicPr>
        <p:blipFill>
          <a:blip r:embed="rId4">
            <a:alphaModFix/>
          </a:blip>
          <a:stretch>
            <a:fillRect/>
          </a:stretch>
        </p:blipFill>
        <p:spPr>
          <a:xfrm>
            <a:off x="5337501" y="1343350"/>
            <a:ext cx="3508096" cy="294088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6" name="Shape 756"/>
        <p:cNvGrpSpPr/>
        <p:nvPr/>
      </p:nvGrpSpPr>
      <p:grpSpPr>
        <a:xfrm>
          <a:off x="0" y="0"/>
          <a:ext cx="0" cy="0"/>
          <a:chOff x="0" y="0"/>
          <a:chExt cx="0" cy="0"/>
        </a:xfrm>
      </p:grpSpPr>
      <p:sp>
        <p:nvSpPr>
          <p:cNvPr id="757" name="Google Shape;757;p8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58" name="Google Shape;758;p8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59" name="Google Shape;759;p81"/>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7: </a:t>
            </a:r>
            <a:r>
              <a:rPr lang="en" sz="1200">
                <a:solidFill>
                  <a:srgbClr val="273239"/>
                </a:solidFill>
                <a:highlight>
                  <a:srgbClr val="FFFFFF"/>
                </a:highlight>
                <a:latin typeface="Nunito"/>
                <a:ea typeface="Nunito"/>
                <a:cs typeface="Nunito"/>
                <a:sym typeface="Nunito"/>
              </a:rPr>
              <a:t>Bivariate Analysis</a:t>
            </a:r>
            <a:endParaRPr sz="1200">
              <a:solidFill>
                <a:srgbClr val="273239"/>
              </a:solidFill>
              <a:highlight>
                <a:srgbClr val="FFFFFF"/>
              </a:highlight>
              <a:latin typeface="Nunito"/>
              <a:ea typeface="Nunito"/>
              <a:cs typeface="Nunito"/>
              <a:sym typeface="Nunito"/>
            </a:endParaRPr>
          </a:p>
        </p:txBody>
      </p:sp>
      <p:sp>
        <p:nvSpPr>
          <p:cNvPr id="760" name="Google Shape;760;p81"/>
          <p:cNvSpPr txBox="1"/>
          <p:nvPr/>
        </p:nvSpPr>
        <p:spPr>
          <a:xfrm>
            <a:off x="752475" y="1171500"/>
            <a:ext cx="7265400" cy="89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lang="en" sz="1150">
                <a:solidFill>
                  <a:srgbClr val="273239"/>
                </a:solidFill>
                <a:highlight>
                  <a:srgbClr val="FFFFFF"/>
                </a:highlight>
                <a:latin typeface="Nunito"/>
                <a:ea typeface="Nunito"/>
                <a:cs typeface="Nunito"/>
                <a:sym typeface="Nunito"/>
              </a:rPr>
              <a:t>In bivariate analysis two variables are analyzed together to identify patterns, dependencies or interactions between them. This method helps in understanding how changes in one variable might affect another.</a:t>
            </a:r>
            <a:br>
              <a:rPr lang="en" sz="1150">
                <a:solidFill>
                  <a:srgbClr val="273239"/>
                </a:solidFill>
                <a:highlight>
                  <a:srgbClr val="FFFFFF"/>
                </a:highlight>
                <a:latin typeface="Nunito"/>
                <a:ea typeface="Nunito"/>
                <a:cs typeface="Nunito"/>
                <a:sym typeface="Nunito"/>
              </a:rPr>
            </a:br>
            <a:r>
              <a:rPr b="1" lang="en" sz="1150">
                <a:solidFill>
                  <a:srgbClr val="273239"/>
                </a:solidFill>
                <a:highlight>
                  <a:srgbClr val="FFFFFF"/>
                </a:highlight>
                <a:latin typeface="Nunito"/>
                <a:ea typeface="Nunito"/>
                <a:cs typeface="Nunito"/>
                <a:sym typeface="Nunito"/>
              </a:rPr>
              <a:t>1. Pair Plot for showing the distribution of the individual variables</a:t>
            </a:r>
            <a:endParaRPr sz="950">
              <a:solidFill>
                <a:srgbClr val="273239"/>
              </a:solidFill>
              <a:highlight>
                <a:srgbClr val="FFFFFF"/>
              </a:highlight>
              <a:latin typeface="Nunito"/>
              <a:ea typeface="Nunito"/>
              <a:cs typeface="Nunito"/>
              <a:sym typeface="Nunito"/>
            </a:endParaRPr>
          </a:p>
        </p:txBody>
      </p:sp>
      <p:cxnSp>
        <p:nvCxnSpPr>
          <p:cNvPr id="761" name="Google Shape;761;p81"/>
          <p:cNvCxnSpPr/>
          <p:nvPr/>
        </p:nvCxnSpPr>
        <p:spPr>
          <a:xfrm flipH="1" rot="10800000">
            <a:off x="4487626" y="2287075"/>
            <a:ext cx="734700" cy="8400"/>
          </a:xfrm>
          <a:prstGeom prst="straightConnector1">
            <a:avLst/>
          </a:prstGeom>
          <a:noFill/>
          <a:ln cap="flat" cmpd="sng" w="38100">
            <a:solidFill>
              <a:srgbClr val="980000"/>
            </a:solidFill>
            <a:prstDash val="solid"/>
            <a:round/>
            <a:headEnd len="med" w="med" type="none"/>
            <a:tailEnd len="med" w="med" type="triangle"/>
          </a:ln>
        </p:spPr>
      </p:cxnSp>
      <p:pic>
        <p:nvPicPr>
          <p:cNvPr id="762" name="Google Shape;762;p81"/>
          <p:cNvPicPr preferRelativeResize="0"/>
          <p:nvPr/>
        </p:nvPicPr>
        <p:blipFill>
          <a:blip r:embed="rId3">
            <a:alphaModFix/>
          </a:blip>
          <a:stretch>
            <a:fillRect/>
          </a:stretch>
        </p:blipFill>
        <p:spPr>
          <a:xfrm>
            <a:off x="816820" y="2064300"/>
            <a:ext cx="3339132" cy="1631250"/>
          </a:xfrm>
          <a:prstGeom prst="rect">
            <a:avLst/>
          </a:prstGeom>
          <a:noFill/>
          <a:ln>
            <a:noFill/>
          </a:ln>
        </p:spPr>
      </p:pic>
      <p:pic>
        <p:nvPicPr>
          <p:cNvPr id="763" name="Google Shape;763;p81"/>
          <p:cNvPicPr preferRelativeResize="0"/>
          <p:nvPr/>
        </p:nvPicPr>
        <p:blipFill>
          <a:blip r:embed="rId4">
            <a:alphaModFix/>
          </a:blip>
          <a:stretch>
            <a:fillRect/>
          </a:stretch>
        </p:blipFill>
        <p:spPr>
          <a:xfrm>
            <a:off x="5281225" y="2064300"/>
            <a:ext cx="2846924" cy="264570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7" name="Shape 767"/>
        <p:cNvGrpSpPr/>
        <p:nvPr/>
      </p:nvGrpSpPr>
      <p:grpSpPr>
        <a:xfrm>
          <a:off x="0" y="0"/>
          <a:ext cx="0" cy="0"/>
          <a:chOff x="0" y="0"/>
          <a:chExt cx="0" cy="0"/>
        </a:xfrm>
      </p:grpSpPr>
      <p:sp>
        <p:nvSpPr>
          <p:cNvPr id="768" name="Google Shape;768;p8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69" name="Google Shape;769;p8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70" name="Google Shape;770;p82"/>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7: </a:t>
            </a:r>
            <a:r>
              <a:rPr lang="en" sz="1200">
                <a:solidFill>
                  <a:srgbClr val="273239"/>
                </a:solidFill>
                <a:highlight>
                  <a:srgbClr val="FFFFFF"/>
                </a:highlight>
                <a:latin typeface="Nunito"/>
                <a:ea typeface="Nunito"/>
                <a:cs typeface="Nunito"/>
                <a:sym typeface="Nunito"/>
              </a:rPr>
              <a:t>Bivariate Analysis</a:t>
            </a:r>
            <a:endParaRPr sz="1200">
              <a:solidFill>
                <a:srgbClr val="273239"/>
              </a:solidFill>
              <a:highlight>
                <a:srgbClr val="FFFFFF"/>
              </a:highlight>
              <a:latin typeface="Nunito"/>
              <a:ea typeface="Nunito"/>
              <a:cs typeface="Nunito"/>
              <a:sym typeface="Nunito"/>
            </a:endParaRPr>
          </a:p>
        </p:txBody>
      </p:sp>
      <p:sp>
        <p:nvSpPr>
          <p:cNvPr id="771" name="Google Shape;771;p82"/>
          <p:cNvSpPr txBox="1"/>
          <p:nvPr/>
        </p:nvSpPr>
        <p:spPr>
          <a:xfrm>
            <a:off x="752475" y="1171500"/>
            <a:ext cx="7265400" cy="36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150">
                <a:solidFill>
                  <a:srgbClr val="273239"/>
                </a:solidFill>
                <a:highlight>
                  <a:srgbClr val="FFFFFF"/>
                </a:highlight>
                <a:latin typeface="Nunito"/>
                <a:ea typeface="Nunito"/>
                <a:cs typeface="Nunito"/>
                <a:sym typeface="Nunito"/>
              </a:rPr>
              <a:t>2. Violin Plot for examining the relationship between alcohol and Quality.</a:t>
            </a:r>
            <a:endParaRPr b="1" sz="950">
              <a:solidFill>
                <a:srgbClr val="273239"/>
              </a:solidFill>
              <a:highlight>
                <a:srgbClr val="FFFFFF"/>
              </a:highlight>
              <a:latin typeface="Nunito"/>
              <a:ea typeface="Nunito"/>
              <a:cs typeface="Nunito"/>
              <a:sym typeface="Nunito"/>
            </a:endParaRPr>
          </a:p>
        </p:txBody>
      </p:sp>
      <p:cxnSp>
        <p:nvCxnSpPr>
          <p:cNvPr id="772" name="Google Shape;772;p82"/>
          <p:cNvCxnSpPr/>
          <p:nvPr/>
        </p:nvCxnSpPr>
        <p:spPr>
          <a:xfrm flipH="1" rot="10800000">
            <a:off x="4354025" y="2245425"/>
            <a:ext cx="734700" cy="8400"/>
          </a:xfrm>
          <a:prstGeom prst="straightConnector1">
            <a:avLst/>
          </a:prstGeom>
          <a:noFill/>
          <a:ln cap="flat" cmpd="sng" w="38100">
            <a:solidFill>
              <a:srgbClr val="980000"/>
            </a:solidFill>
            <a:prstDash val="solid"/>
            <a:round/>
            <a:headEnd len="med" w="med" type="none"/>
            <a:tailEnd len="med" w="med" type="triangle"/>
          </a:ln>
        </p:spPr>
      </p:cxnSp>
      <p:pic>
        <p:nvPicPr>
          <p:cNvPr id="773" name="Google Shape;773;p82"/>
          <p:cNvPicPr preferRelativeResize="0"/>
          <p:nvPr/>
        </p:nvPicPr>
        <p:blipFill>
          <a:blip r:embed="rId3">
            <a:alphaModFix/>
          </a:blip>
          <a:stretch>
            <a:fillRect/>
          </a:stretch>
        </p:blipFill>
        <p:spPr>
          <a:xfrm>
            <a:off x="810924" y="1675350"/>
            <a:ext cx="3484650" cy="1131850"/>
          </a:xfrm>
          <a:prstGeom prst="rect">
            <a:avLst/>
          </a:prstGeom>
          <a:noFill/>
          <a:ln>
            <a:noFill/>
          </a:ln>
        </p:spPr>
      </p:pic>
      <p:pic>
        <p:nvPicPr>
          <p:cNvPr id="774" name="Google Shape;774;p82"/>
          <p:cNvPicPr preferRelativeResize="0"/>
          <p:nvPr/>
        </p:nvPicPr>
        <p:blipFill>
          <a:blip r:embed="rId4">
            <a:alphaModFix/>
          </a:blip>
          <a:stretch>
            <a:fillRect/>
          </a:stretch>
        </p:blipFill>
        <p:spPr>
          <a:xfrm>
            <a:off x="5216100" y="1685700"/>
            <a:ext cx="3629505" cy="294088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78" name="Shape 778"/>
        <p:cNvGrpSpPr/>
        <p:nvPr/>
      </p:nvGrpSpPr>
      <p:grpSpPr>
        <a:xfrm>
          <a:off x="0" y="0"/>
          <a:ext cx="0" cy="0"/>
          <a:chOff x="0" y="0"/>
          <a:chExt cx="0" cy="0"/>
        </a:xfrm>
      </p:grpSpPr>
      <p:sp>
        <p:nvSpPr>
          <p:cNvPr id="779" name="Google Shape;779;p8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80" name="Google Shape;780;p8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781" name="Google Shape;781;p83"/>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7: </a:t>
            </a:r>
            <a:r>
              <a:rPr lang="en" sz="1200">
                <a:solidFill>
                  <a:srgbClr val="273239"/>
                </a:solidFill>
                <a:highlight>
                  <a:srgbClr val="FFFFFF"/>
                </a:highlight>
                <a:latin typeface="Nunito"/>
                <a:ea typeface="Nunito"/>
                <a:cs typeface="Nunito"/>
                <a:sym typeface="Nunito"/>
              </a:rPr>
              <a:t>Bivariate Analysis</a:t>
            </a:r>
            <a:endParaRPr sz="1200">
              <a:solidFill>
                <a:srgbClr val="273239"/>
              </a:solidFill>
              <a:highlight>
                <a:srgbClr val="FFFFFF"/>
              </a:highlight>
              <a:latin typeface="Nunito"/>
              <a:ea typeface="Nunito"/>
              <a:cs typeface="Nunito"/>
              <a:sym typeface="Nunito"/>
            </a:endParaRPr>
          </a:p>
        </p:txBody>
      </p:sp>
      <p:sp>
        <p:nvSpPr>
          <p:cNvPr id="782" name="Google Shape;782;p83"/>
          <p:cNvSpPr txBox="1"/>
          <p:nvPr/>
        </p:nvSpPr>
        <p:spPr>
          <a:xfrm>
            <a:off x="752475" y="1171500"/>
            <a:ext cx="7265400" cy="361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150">
                <a:solidFill>
                  <a:srgbClr val="273239"/>
                </a:solidFill>
                <a:highlight>
                  <a:srgbClr val="FFFFFF"/>
                </a:highlight>
                <a:latin typeface="Nunito"/>
                <a:ea typeface="Nunito"/>
                <a:cs typeface="Nunito"/>
                <a:sym typeface="Nunito"/>
              </a:rPr>
              <a:t>3. Box Plot for examining the relationship between alcohol and Quality</a:t>
            </a:r>
            <a:endParaRPr b="1" sz="1150">
              <a:solidFill>
                <a:srgbClr val="273239"/>
              </a:solidFill>
              <a:highlight>
                <a:srgbClr val="FFFFFF"/>
              </a:highlight>
              <a:latin typeface="Nunito"/>
              <a:ea typeface="Nunito"/>
              <a:cs typeface="Nunito"/>
              <a:sym typeface="Nunito"/>
            </a:endParaRPr>
          </a:p>
        </p:txBody>
      </p:sp>
      <p:pic>
        <p:nvPicPr>
          <p:cNvPr id="783" name="Google Shape;783;p83"/>
          <p:cNvPicPr preferRelativeResize="0"/>
          <p:nvPr/>
        </p:nvPicPr>
        <p:blipFill>
          <a:blip r:embed="rId3">
            <a:alphaModFix/>
          </a:blip>
          <a:stretch>
            <a:fillRect/>
          </a:stretch>
        </p:blipFill>
        <p:spPr>
          <a:xfrm>
            <a:off x="878825" y="1533300"/>
            <a:ext cx="4343576" cy="475075"/>
          </a:xfrm>
          <a:prstGeom prst="rect">
            <a:avLst/>
          </a:prstGeom>
          <a:noFill/>
          <a:ln>
            <a:noFill/>
          </a:ln>
        </p:spPr>
      </p:pic>
      <p:pic>
        <p:nvPicPr>
          <p:cNvPr id="784" name="Google Shape;784;p83"/>
          <p:cNvPicPr preferRelativeResize="0"/>
          <p:nvPr/>
        </p:nvPicPr>
        <p:blipFill>
          <a:blip r:embed="rId4">
            <a:alphaModFix/>
          </a:blip>
          <a:stretch>
            <a:fillRect/>
          </a:stretch>
        </p:blipFill>
        <p:spPr>
          <a:xfrm>
            <a:off x="1271300" y="2377425"/>
            <a:ext cx="4206924" cy="2460000"/>
          </a:xfrm>
          <a:prstGeom prst="rect">
            <a:avLst/>
          </a:prstGeom>
          <a:noFill/>
          <a:ln>
            <a:noFill/>
          </a:ln>
        </p:spPr>
      </p:pic>
      <p:cxnSp>
        <p:nvCxnSpPr>
          <p:cNvPr id="785" name="Google Shape;785;p83"/>
          <p:cNvCxnSpPr/>
          <p:nvPr/>
        </p:nvCxnSpPr>
        <p:spPr>
          <a:xfrm flipH="1">
            <a:off x="3443800" y="1852924"/>
            <a:ext cx="16800" cy="567900"/>
          </a:xfrm>
          <a:prstGeom prst="straightConnector1">
            <a:avLst/>
          </a:prstGeom>
          <a:noFill/>
          <a:ln cap="flat" cmpd="sng" w="28575">
            <a:solidFill>
              <a:srgbClr val="980000"/>
            </a:solidFill>
            <a:prstDash val="solid"/>
            <a:round/>
            <a:headEnd len="med" w="med" type="none"/>
            <a:tailEnd len="med" w="med" type="triangle"/>
          </a:ln>
        </p:spPr>
      </p:cxn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9" name="Shape 789"/>
        <p:cNvGrpSpPr/>
        <p:nvPr/>
      </p:nvGrpSpPr>
      <p:grpSpPr>
        <a:xfrm>
          <a:off x="0" y="0"/>
          <a:ext cx="0" cy="0"/>
          <a:chOff x="0" y="0"/>
          <a:chExt cx="0" cy="0"/>
        </a:xfrm>
      </p:grpSpPr>
      <p:sp>
        <p:nvSpPr>
          <p:cNvPr id="790" name="Google Shape;790;p8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Key Steps for Exploratory Data Analysis (continued) </a:t>
            </a:r>
            <a:endParaRPr sz="2000">
              <a:solidFill>
                <a:schemeClr val="dk1"/>
              </a:solidFill>
              <a:latin typeface="Century Gothic"/>
              <a:ea typeface="Century Gothic"/>
              <a:cs typeface="Century Gothic"/>
              <a:sym typeface="Century Gothic"/>
            </a:endParaRPr>
          </a:p>
        </p:txBody>
      </p:sp>
      <p:sp>
        <p:nvSpPr>
          <p:cNvPr id="791" name="Google Shape;791;p84"/>
          <p:cNvSpPr txBox="1"/>
          <p:nvPr/>
        </p:nvSpPr>
        <p:spPr>
          <a:xfrm>
            <a:off x="705150" y="853400"/>
            <a:ext cx="79575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800"/>
              </a:spcAft>
              <a:buNone/>
            </a:pPr>
            <a:r>
              <a:rPr b="1" lang="en" sz="1200">
                <a:solidFill>
                  <a:srgbClr val="273239"/>
                </a:solidFill>
                <a:highlight>
                  <a:srgbClr val="FFFFFF"/>
                </a:highlight>
                <a:latin typeface="Nunito"/>
                <a:ea typeface="Nunito"/>
                <a:cs typeface="Nunito"/>
                <a:sym typeface="Nunito"/>
              </a:rPr>
              <a:t>Step 8: Multivariate Analysis</a:t>
            </a:r>
            <a:endParaRPr sz="1200">
              <a:solidFill>
                <a:srgbClr val="273239"/>
              </a:solidFill>
              <a:highlight>
                <a:srgbClr val="FFFFFF"/>
              </a:highlight>
              <a:latin typeface="Nunito"/>
              <a:ea typeface="Nunito"/>
              <a:cs typeface="Nunito"/>
              <a:sym typeface="Nunito"/>
            </a:endParaRPr>
          </a:p>
        </p:txBody>
      </p:sp>
      <p:sp>
        <p:nvSpPr>
          <p:cNvPr id="792" name="Google Shape;792;p84"/>
          <p:cNvSpPr txBox="1"/>
          <p:nvPr/>
        </p:nvSpPr>
        <p:spPr>
          <a:xfrm>
            <a:off x="752475" y="1171500"/>
            <a:ext cx="7265400" cy="929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0"/>
              </a:spcAft>
              <a:buNone/>
            </a:pPr>
            <a:r>
              <a:rPr lang="en" sz="950">
                <a:solidFill>
                  <a:srgbClr val="273239"/>
                </a:solidFill>
                <a:highlight>
                  <a:srgbClr val="FFFFFF"/>
                </a:highlight>
                <a:latin typeface="Nunito"/>
                <a:ea typeface="Nunito"/>
                <a:cs typeface="Nunito"/>
                <a:sym typeface="Nunito"/>
              </a:rPr>
              <a:t>It involves finding the interactions between three or more variables in a dataset at the same time. This approach focuses to identify complex patterns, relationships and interactions which provides understanding of how multiple variables collectively behave and influence each other. Here, we are going to show the multivariate analysis using a </a:t>
            </a:r>
            <a:r>
              <a:rPr b="1" lang="en" sz="9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correlation matrix plot</a:t>
            </a:r>
            <a:r>
              <a:rPr lang="en" sz="950">
                <a:solidFill>
                  <a:srgbClr val="273239"/>
                </a:solidFill>
                <a:highlight>
                  <a:srgbClr val="FFFFFF"/>
                </a:highlight>
                <a:latin typeface="Nunito"/>
                <a:ea typeface="Nunito"/>
                <a:cs typeface="Nunito"/>
                <a:sym typeface="Nunito"/>
              </a:rPr>
              <a:t>.</a:t>
            </a:r>
            <a:endParaRPr sz="950">
              <a:solidFill>
                <a:srgbClr val="273239"/>
              </a:solidFill>
              <a:highlight>
                <a:srgbClr val="FFFFFF"/>
              </a:highlight>
              <a:latin typeface="Nunito"/>
              <a:ea typeface="Nunito"/>
              <a:cs typeface="Nunito"/>
              <a:sym typeface="Nunito"/>
            </a:endParaRPr>
          </a:p>
          <a:p>
            <a:pPr indent="0" lvl="0" marL="0" rtl="0" algn="l">
              <a:lnSpc>
                <a:spcPct val="150000"/>
              </a:lnSpc>
              <a:spcBef>
                <a:spcPts val="800"/>
              </a:spcBef>
              <a:spcAft>
                <a:spcPts val="1800"/>
              </a:spcAft>
              <a:buNone/>
            </a:pPr>
            <a:r>
              <a:t/>
            </a:r>
            <a:endParaRPr b="1" sz="750">
              <a:solidFill>
                <a:srgbClr val="273239"/>
              </a:solidFill>
              <a:highlight>
                <a:srgbClr val="FFFFFF"/>
              </a:highlight>
              <a:latin typeface="Nunito"/>
              <a:ea typeface="Nunito"/>
              <a:cs typeface="Nunito"/>
              <a:sym typeface="Nunito"/>
            </a:endParaRPr>
          </a:p>
        </p:txBody>
      </p:sp>
      <p:cxnSp>
        <p:nvCxnSpPr>
          <p:cNvPr id="793" name="Google Shape;793;p84"/>
          <p:cNvCxnSpPr/>
          <p:nvPr/>
        </p:nvCxnSpPr>
        <p:spPr>
          <a:xfrm flipH="1" rot="10800000">
            <a:off x="4354025" y="2245425"/>
            <a:ext cx="734700" cy="8400"/>
          </a:xfrm>
          <a:prstGeom prst="straightConnector1">
            <a:avLst/>
          </a:prstGeom>
          <a:noFill/>
          <a:ln cap="flat" cmpd="sng" w="38100">
            <a:solidFill>
              <a:srgbClr val="980000"/>
            </a:solidFill>
            <a:prstDash val="solid"/>
            <a:round/>
            <a:headEnd len="med" w="med" type="none"/>
            <a:tailEnd len="med" w="med" type="triangle"/>
          </a:ln>
        </p:spPr>
      </p:cxnSp>
      <p:pic>
        <p:nvPicPr>
          <p:cNvPr id="794" name="Google Shape;794;p84"/>
          <p:cNvPicPr preferRelativeResize="0"/>
          <p:nvPr/>
        </p:nvPicPr>
        <p:blipFill>
          <a:blip r:embed="rId4">
            <a:alphaModFix/>
          </a:blip>
          <a:stretch>
            <a:fillRect/>
          </a:stretch>
        </p:blipFill>
        <p:spPr>
          <a:xfrm>
            <a:off x="867925" y="1866400"/>
            <a:ext cx="3384488" cy="705350"/>
          </a:xfrm>
          <a:prstGeom prst="rect">
            <a:avLst/>
          </a:prstGeom>
          <a:noFill/>
          <a:ln>
            <a:noFill/>
          </a:ln>
        </p:spPr>
      </p:pic>
      <p:pic>
        <p:nvPicPr>
          <p:cNvPr id="795" name="Google Shape;795;p84"/>
          <p:cNvPicPr preferRelativeResize="0"/>
          <p:nvPr/>
        </p:nvPicPr>
        <p:blipFill>
          <a:blip r:embed="rId5">
            <a:alphaModFix/>
          </a:blip>
          <a:stretch>
            <a:fillRect/>
          </a:stretch>
        </p:blipFill>
        <p:spPr>
          <a:xfrm>
            <a:off x="5190325" y="1866400"/>
            <a:ext cx="3472325" cy="2894381"/>
          </a:xfrm>
          <a:prstGeom prst="rect">
            <a:avLst/>
          </a:prstGeom>
          <a:noFill/>
          <a:ln>
            <a:noFill/>
          </a:ln>
        </p:spPr>
      </p:pic>
      <p:sp>
        <p:nvSpPr>
          <p:cNvPr id="796" name="Google Shape;796;p8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0" name="Shape 800"/>
        <p:cNvGrpSpPr/>
        <p:nvPr/>
      </p:nvGrpSpPr>
      <p:grpSpPr>
        <a:xfrm>
          <a:off x="0" y="0"/>
          <a:ext cx="0" cy="0"/>
          <a:chOff x="0" y="0"/>
          <a:chExt cx="0" cy="0"/>
        </a:xfrm>
      </p:grpSpPr>
      <p:cxnSp>
        <p:nvCxnSpPr>
          <p:cNvPr id="801" name="Google Shape;801;p85"/>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802" name="Google Shape;802;p8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803" name="Google Shape;803;p85"/>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804" name="Google Shape;804;p85"/>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805" name="Google Shape;805;p85"/>
          <p:cNvSpPr/>
          <p:nvPr/>
        </p:nvSpPr>
        <p:spPr>
          <a:xfrm>
            <a:off x="2737850" y="822800"/>
            <a:ext cx="5551800" cy="26223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Introduction to AI &amp; Machine Learning Fundamentals</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Data, Preprocessing, and Exploratory Data Analysis (EDA)</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chemeClr val="dk1"/>
              </a:buClr>
              <a:buSzPts val="1200"/>
              <a:buFont typeface="Trebuchet MS"/>
              <a:buChar char="●"/>
            </a:pPr>
            <a:r>
              <a:rPr lang="en" sz="1200">
                <a:solidFill>
                  <a:schemeClr val="dk1"/>
                </a:solidFill>
                <a:latin typeface="Trebuchet MS"/>
                <a:ea typeface="Trebuchet MS"/>
                <a:cs typeface="Trebuchet MS"/>
                <a:sym typeface="Trebuchet MS"/>
              </a:rPr>
              <a:t>Python for Machine Learning</a:t>
            </a:r>
            <a:endParaRPr sz="1200">
              <a:solidFill>
                <a:schemeClr val="dk1"/>
              </a:solidFill>
              <a:latin typeface="Trebuchet MS"/>
              <a:ea typeface="Trebuchet MS"/>
              <a:cs typeface="Trebuchet MS"/>
              <a:sym typeface="Trebuchet MS"/>
            </a:endParaRPr>
          </a:p>
          <a:p>
            <a:pPr indent="-241300" lvl="0" marL="342900" rtl="0" algn="l">
              <a:lnSpc>
                <a:spcPct val="200000"/>
              </a:lnSpc>
              <a:spcBef>
                <a:spcPts val="800"/>
              </a:spcBef>
              <a:spcAft>
                <a:spcPts val="80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 Regression – Simple Linear Regression</a:t>
            </a:r>
            <a:endParaRPr sz="1200">
              <a:solidFill>
                <a:srgbClr val="5D5D5D"/>
              </a:solidFill>
              <a:latin typeface="Trebuchet MS"/>
              <a:ea typeface="Trebuchet MS"/>
              <a:cs typeface="Trebuchet MS"/>
              <a:sym typeface="Trebuchet MS"/>
            </a:endParaRPr>
          </a:p>
        </p:txBody>
      </p:sp>
      <p:pic>
        <p:nvPicPr>
          <p:cNvPr id="806" name="Google Shape;806;p85"/>
          <p:cNvPicPr preferRelativeResize="0"/>
          <p:nvPr/>
        </p:nvPicPr>
        <p:blipFill>
          <a:blip r:embed="rId4">
            <a:alphaModFix/>
          </a:blip>
          <a:stretch>
            <a:fillRect/>
          </a:stretch>
        </p:blipFill>
        <p:spPr>
          <a:xfrm>
            <a:off x="2565731" y="2220881"/>
            <a:ext cx="172125" cy="172125"/>
          </a:xfrm>
          <a:prstGeom prst="rect">
            <a:avLst/>
          </a:prstGeom>
          <a:noFill/>
          <a:ln>
            <a:noFill/>
          </a:ln>
        </p:spPr>
      </p:pic>
      <p:pic>
        <p:nvPicPr>
          <p:cNvPr id="807" name="Google Shape;807;p85"/>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1" name="Shape 811"/>
        <p:cNvGrpSpPr/>
        <p:nvPr/>
      </p:nvGrpSpPr>
      <p:grpSpPr>
        <a:xfrm>
          <a:off x="0" y="0"/>
          <a:ext cx="0" cy="0"/>
          <a:chOff x="0" y="0"/>
          <a:chExt cx="0" cy="0"/>
        </a:xfrm>
      </p:grpSpPr>
      <p:sp>
        <p:nvSpPr>
          <p:cNvPr id="812" name="Google Shape;812;p8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Why environment setup matters</a:t>
            </a:r>
            <a:endParaRPr sz="2000">
              <a:solidFill>
                <a:schemeClr val="dk1"/>
              </a:solidFill>
              <a:latin typeface="Century Gothic"/>
              <a:ea typeface="Century Gothic"/>
              <a:cs typeface="Century Gothic"/>
              <a:sym typeface="Century Gothic"/>
            </a:endParaRPr>
          </a:p>
        </p:txBody>
      </p:sp>
      <p:sp>
        <p:nvSpPr>
          <p:cNvPr id="813" name="Google Shape;813;p8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14" name="Google Shape;814;p86"/>
          <p:cNvSpPr/>
          <p:nvPr/>
        </p:nvSpPr>
        <p:spPr>
          <a:xfrm>
            <a:off x="712200" y="1003475"/>
            <a:ext cx="3638400" cy="1362300"/>
          </a:xfrm>
          <a:prstGeom prst="roundRect">
            <a:avLst>
              <a:gd fmla="val 4652" name="adj"/>
            </a:avLst>
          </a:prstGeom>
          <a:solidFill>
            <a:srgbClr val="FFCCCC"/>
          </a:solidFill>
          <a:ln cap="flat" cmpd="sng" w="6350">
            <a:solidFill>
              <a:srgbClr val="E5B2B2"/>
            </a:solidFill>
            <a:prstDash val="solid"/>
            <a:round/>
            <a:headEnd len="sm" w="sm" type="none"/>
            <a:tailEnd len="sm" w="sm" type="none"/>
          </a:ln>
        </p:spPr>
        <p:txBody>
          <a:bodyPr anchorCtr="0" anchor="ctr" bIns="60825" lIns="60825" spcFirstLastPara="1" rIns="60825" wrap="square" tIns="60825">
            <a:noAutofit/>
          </a:bodyPr>
          <a:lstStyle/>
          <a:p>
            <a:pPr indent="0" lvl="0" marL="0" rtl="0" algn="l">
              <a:spcBef>
                <a:spcPts val="0"/>
              </a:spcBef>
              <a:spcAft>
                <a:spcPts val="0"/>
              </a:spcAft>
              <a:buNone/>
            </a:pPr>
            <a:r>
              <a:t/>
            </a:r>
            <a:endParaRPr/>
          </a:p>
        </p:txBody>
      </p:sp>
      <p:sp>
        <p:nvSpPr>
          <p:cNvPr id="815" name="Google Shape;815;p86"/>
          <p:cNvSpPr/>
          <p:nvPr/>
        </p:nvSpPr>
        <p:spPr>
          <a:xfrm>
            <a:off x="944928" y="1159410"/>
            <a:ext cx="2814900" cy="235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63"/>
              <a:buFont typeface="Varela Round"/>
              <a:buNone/>
            </a:pPr>
            <a:r>
              <a:rPr b="1" i="0" lang="en" sz="1463" u="none" cap="none" strike="noStrike">
                <a:solidFill>
                  <a:srgbClr val="000000"/>
                </a:solidFill>
                <a:latin typeface="Varela Round"/>
                <a:ea typeface="Varela Round"/>
                <a:cs typeface="Varela Round"/>
                <a:sym typeface="Varela Round"/>
              </a:rPr>
              <a:t>Reproducibility</a:t>
            </a:r>
            <a:endParaRPr b="0" i="0" sz="1463" u="none" cap="none" strike="noStrike"/>
          </a:p>
        </p:txBody>
      </p:sp>
      <p:sp>
        <p:nvSpPr>
          <p:cNvPr id="816" name="Google Shape;816;p86"/>
          <p:cNvSpPr/>
          <p:nvPr/>
        </p:nvSpPr>
        <p:spPr>
          <a:xfrm>
            <a:off x="944928" y="1485615"/>
            <a:ext cx="3172800" cy="7242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64"/>
              <a:buFont typeface="Varela Round"/>
              <a:buNone/>
            </a:pPr>
            <a:r>
              <a:rPr b="0" i="0" lang="en" sz="1164" u="none" cap="none" strike="noStrike">
                <a:solidFill>
                  <a:srgbClr val="000000"/>
                </a:solidFill>
                <a:latin typeface="Varela Round"/>
                <a:ea typeface="Varela Round"/>
                <a:cs typeface="Varela Round"/>
                <a:sym typeface="Varela Round"/>
              </a:rPr>
              <a:t>Pin packages, share environments, avoid "works on my machine"</a:t>
            </a:r>
            <a:endParaRPr b="0" i="0" sz="1164" u="none" cap="none" strike="noStrike"/>
          </a:p>
        </p:txBody>
      </p:sp>
      <p:sp>
        <p:nvSpPr>
          <p:cNvPr id="817" name="Google Shape;817;p86"/>
          <p:cNvSpPr/>
          <p:nvPr/>
        </p:nvSpPr>
        <p:spPr>
          <a:xfrm>
            <a:off x="4575433" y="1003475"/>
            <a:ext cx="3638400" cy="1362300"/>
          </a:xfrm>
          <a:prstGeom prst="roundRect">
            <a:avLst>
              <a:gd fmla="val 4652" name="adj"/>
            </a:avLst>
          </a:prstGeom>
          <a:solidFill>
            <a:srgbClr val="FFCCCC"/>
          </a:solidFill>
          <a:ln cap="flat" cmpd="sng" w="6350">
            <a:solidFill>
              <a:srgbClr val="E5B2B2"/>
            </a:solidFill>
            <a:prstDash val="solid"/>
            <a:round/>
            <a:headEnd len="sm" w="sm" type="none"/>
            <a:tailEnd len="sm" w="sm" type="none"/>
          </a:ln>
        </p:spPr>
        <p:txBody>
          <a:bodyPr anchorCtr="0" anchor="ctr" bIns="60825" lIns="60825" spcFirstLastPara="1" rIns="60825" wrap="square" tIns="60825">
            <a:noAutofit/>
          </a:bodyPr>
          <a:lstStyle/>
          <a:p>
            <a:pPr indent="0" lvl="0" marL="0" rtl="0" algn="l">
              <a:spcBef>
                <a:spcPts val="0"/>
              </a:spcBef>
              <a:spcAft>
                <a:spcPts val="0"/>
              </a:spcAft>
              <a:buNone/>
            </a:pPr>
            <a:r>
              <a:t/>
            </a:r>
            <a:endParaRPr/>
          </a:p>
        </p:txBody>
      </p:sp>
      <p:sp>
        <p:nvSpPr>
          <p:cNvPr id="818" name="Google Shape;818;p86"/>
          <p:cNvSpPr/>
          <p:nvPr/>
        </p:nvSpPr>
        <p:spPr>
          <a:xfrm>
            <a:off x="4808160" y="1159410"/>
            <a:ext cx="2814900" cy="235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63"/>
              <a:buFont typeface="Varela Round"/>
              <a:buNone/>
            </a:pPr>
            <a:r>
              <a:rPr b="1" i="0" lang="en" sz="1463" u="none" cap="none" strike="noStrike">
                <a:solidFill>
                  <a:srgbClr val="000000"/>
                </a:solidFill>
                <a:latin typeface="Varela Round"/>
                <a:ea typeface="Varela Round"/>
                <a:cs typeface="Varela Round"/>
                <a:sym typeface="Varela Round"/>
              </a:rPr>
              <a:t>Isolation</a:t>
            </a:r>
            <a:endParaRPr b="0" i="0" sz="1463" u="none" cap="none" strike="noStrike"/>
          </a:p>
        </p:txBody>
      </p:sp>
      <p:sp>
        <p:nvSpPr>
          <p:cNvPr id="819" name="Google Shape;819;p86"/>
          <p:cNvSpPr/>
          <p:nvPr/>
        </p:nvSpPr>
        <p:spPr>
          <a:xfrm>
            <a:off x="4808160" y="1485615"/>
            <a:ext cx="3172800" cy="4827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64"/>
              <a:buFont typeface="Varela Round"/>
              <a:buNone/>
            </a:pPr>
            <a:r>
              <a:rPr b="0" i="0" lang="en" sz="1164" u="none" cap="none" strike="noStrike">
                <a:solidFill>
                  <a:srgbClr val="000000"/>
                </a:solidFill>
                <a:latin typeface="Varela Round"/>
                <a:ea typeface="Varela Round"/>
                <a:cs typeface="Varela Round"/>
                <a:sym typeface="Varela Round"/>
              </a:rPr>
              <a:t>Separate projects, avoid dependency conflicts</a:t>
            </a:r>
            <a:endParaRPr b="0" i="0" sz="1164" u="none" cap="none" strike="noStrike"/>
          </a:p>
        </p:txBody>
      </p:sp>
      <p:sp>
        <p:nvSpPr>
          <p:cNvPr id="820" name="Google Shape;820;p86"/>
          <p:cNvSpPr/>
          <p:nvPr/>
        </p:nvSpPr>
        <p:spPr>
          <a:xfrm>
            <a:off x="712200" y="2516575"/>
            <a:ext cx="7501500" cy="879600"/>
          </a:xfrm>
          <a:prstGeom prst="roundRect">
            <a:avLst>
              <a:gd fmla="val 7205" name="adj"/>
            </a:avLst>
          </a:prstGeom>
          <a:solidFill>
            <a:srgbClr val="FFCCCC"/>
          </a:solidFill>
          <a:ln cap="flat" cmpd="sng" w="6350">
            <a:solidFill>
              <a:srgbClr val="E5B2B2"/>
            </a:solidFill>
            <a:prstDash val="solid"/>
            <a:round/>
            <a:headEnd len="sm" w="sm" type="none"/>
            <a:tailEnd len="sm" w="sm" type="none"/>
          </a:ln>
        </p:spPr>
        <p:txBody>
          <a:bodyPr anchorCtr="0" anchor="ctr" bIns="60825" lIns="60825" spcFirstLastPara="1" rIns="60825" wrap="square" tIns="60825">
            <a:noAutofit/>
          </a:bodyPr>
          <a:lstStyle/>
          <a:p>
            <a:pPr indent="0" lvl="0" marL="0" rtl="0" algn="l">
              <a:spcBef>
                <a:spcPts val="0"/>
              </a:spcBef>
              <a:spcAft>
                <a:spcPts val="0"/>
              </a:spcAft>
              <a:buNone/>
            </a:pPr>
            <a:r>
              <a:t/>
            </a:r>
            <a:endParaRPr/>
          </a:p>
        </p:txBody>
      </p:sp>
      <p:sp>
        <p:nvSpPr>
          <p:cNvPr id="821" name="Google Shape;821;p86"/>
          <p:cNvSpPr/>
          <p:nvPr/>
        </p:nvSpPr>
        <p:spPr>
          <a:xfrm>
            <a:off x="944928" y="2672510"/>
            <a:ext cx="2814900" cy="2355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63"/>
              <a:buFont typeface="Varela Round"/>
              <a:buNone/>
            </a:pPr>
            <a:r>
              <a:rPr b="1" i="0" lang="en" sz="1463" u="none" cap="none" strike="noStrike">
                <a:solidFill>
                  <a:srgbClr val="000000"/>
                </a:solidFill>
                <a:latin typeface="Varela Round"/>
                <a:ea typeface="Varela Round"/>
                <a:cs typeface="Varela Round"/>
                <a:sym typeface="Varela Round"/>
              </a:rPr>
              <a:t>Productivity</a:t>
            </a:r>
            <a:endParaRPr b="0" i="0" sz="1463" u="none" cap="none" strike="noStrike"/>
          </a:p>
        </p:txBody>
      </p:sp>
      <p:sp>
        <p:nvSpPr>
          <p:cNvPr id="822" name="Google Shape;822;p86"/>
          <p:cNvSpPr/>
          <p:nvPr/>
        </p:nvSpPr>
        <p:spPr>
          <a:xfrm>
            <a:off x="944928" y="2998715"/>
            <a:ext cx="7035900" cy="2415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64"/>
              <a:buFont typeface="Varela Round"/>
              <a:buNone/>
            </a:pPr>
            <a:r>
              <a:rPr b="0" i="0" lang="en" sz="1164" u="none" cap="none" strike="noStrike">
                <a:solidFill>
                  <a:srgbClr val="000000"/>
                </a:solidFill>
                <a:latin typeface="Varela Round"/>
                <a:ea typeface="Varela Round"/>
                <a:cs typeface="Varela Round"/>
                <a:sym typeface="Varela Round"/>
              </a:rPr>
              <a:t>Prebuilt data-science packages, easy management (conda)</a:t>
            </a:r>
            <a:endParaRPr b="0" i="0" sz="1164" u="none" cap="none" strike="noStrike"/>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6" name="Shape 826"/>
        <p:cNvGrpSpPr/>
        <p:nvPr/>
      </p:nvGrpSpPr>
      <p:grpSpPr>
        <a:xfrm>
          <a:off x="0" y="0"/>
          <a:ext cx="0" cy="0"/>
          <a:chOff x="0" y="0"/>
          <a:chExt cx="0" cy="0"/>
        </a:xfrm>
      </p:grpSpPr>
      <p:sp>
        <p:nvSpPr>
          <p:cNvPr id="827" name="Google Shape;827;p8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Working with Anaconda</a:t>
            </a:r>
            <a:endParaRPr sz="2000">
              <a:solidFill>
                <a:schemeClr val="dk1"/>
              </a:solidFill>
              <a:latin typeface="Century Gothic"/>
              <a:ea typeface="Century Gothic"/>
              <a:cs typeface="Century Gothic"/>
              <a:sym typeface="Century Gothic"/>
            </a:endParaRPr>
          </a:p>
        </p:txBody>
      </p:sp>
      <p:sp>
        <p:nvSpPr>
          <p:cNvPr id="828" name="Google Shape;828;p8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29" name="Google Shape;829;p87"/>
          <p:cNvSpPr/>
          <p:nvPr/>
        </p:nvSpPr>
        <p:spPr>
          <a:xfrm>
            <a:off x="1570800" y="939213"/>
            <a:ext cx="7390200" cy="2908200"/>
          </a:xfrm>
          <a:prstGeom prst="rect">
            <a:avLst/>
          </a:prstGeom>
          <a:noFill/>
          <a:ln cap="flat" cmpd="sng" w="19050">
            <a:solidFill>
              <a:schemeClr val="accent2"/>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87"/>
          <p:cNvSpPr/>
          <p:nvPr/>
        </p:nvSpPr>
        <p:spPr>
          <a:xfrm>
            <a:off x="622038" y="1397475"/>
            <a:ext cx="1991700" cy="19917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31" name="Google Shape;831;p87"/>
          <p:cNvPicPr preferRelativeResize="0"/>
          <p:nvPr/>
        </p:nvPicPr>
        <p:blipFill>
          <a:blip r:embed="rId3">
            <a:alphaModFix/>
          </a:blip>
          <a:stretch>
            <a:fillRect/>
          </a:stretch>
        </p:blipFill>
        <p:spPr>
          <a:xfrm>
            <a:off x="622050" y="1397463"/>
            <a:ext cx="1991675" cy="1991675"/>
          </a:xfrm>
          <a:prstGeom prst="rect">
            <a:avLst/>
          </a:prstGeom>
          <a:noFill/>
          <a:ln>
            <a:noFill/>
          </a:ln>
        </p:spPr>
      </p:pic>
      <p:sp>
        <p:nvSpPr>
          <p:cNvPr id="832" name="Google Shape;832;p87"/>
          <p:cNvSpPr txBox="1"/>
          <p:nvPr/>
        </p:nvSpPr>
        <p:spPr>
          <a:xfrm>
            <a:off x="2613750" y="1076075"/>
            <a:ext cx="6261600" cy="738900"/>
          </a:xfrm>
          <a:prstGeom prst="rect">
            <a:avLst/>
          </a:prstGeom>
          <a:noFill/>
          <a:ln>
            <a:noFill/>
          </a:ln>
        </p:spPr>
        <p:txBody>
          <a:bodyPr anchorCtr="0" anchor="t" bIns="91425" lIns="91425" spcFirstLastPara="1" rIns="91425" wrap="square" tIns="91425">
            <a:spAutoFit/>
          </a:bodyPr>
          <a:lstStyle/>
          <a:p>
            <a:pPr indent="0" lvl="0" marL="0" rtl="0" algn="ctr">
              <a:lnSpc>
                <a:spcPct val="200000"/>
              </a:lnSpc>
              <a:spcBef>
                <a:spcPts val="0"/>
              </a:spcBef>
              <a:spcAft>
                <a:spcPts val="0"/>
              </a:spcAft>
              <a:buNone/>
            </a:pPr>
            <a:r>
              <a:rPr lang="en" sz="1200"/>
              <a:t>Anaconda is a platform for data scientists, IT professionals, and business leaders of tomorrow. It features more than 300 packages for data science.</a:t>
            </a:r>
            <a:endParaRPr sz="1200"/>
          </a:p>
        </p:txBody>
      </p:sp>
      <p:sp>
        <p:nvSpPr>
          <p:cNvPr id="833" name="Google Shape;833;p87"/>
          <p:cNvSpPr/>
          <p:nvPr/>
        </p:nvSpPr>
        <p:spPr>
          <a:xfrm>
            <a:off x="2762250" y="2205125"/>
            <a:ext cx="5964600" cy="1391400"/>
          </a:xfrm>
          <a:prstGeom prst="rect">
            <a:avLst/>
          </a:prstGeom>
          <a:noFill/>
          <a:ln cap="flat" cmpd="sng" w="19050">
            <a:solidFill>
              <a:srgbClr val="990028"/>
            </a:solidFill>
            <a:prstDash val="dot"/>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87"/>
          <p:cNvSpPr/>
          <p:nvPr/>
        </p:nvSpPr>
        <p:spPr>
          <a:xfrm>
            <a:off x="3532050" y="2102475"/>
            <a:ext cx="4425000" cy="228000"/>
          </a:xfrm>
          <a:prstGeom prst="rect">
            <a:avLst/>
          </a:prstGeom>
          <a:solidFill>
            <a:srgbClr val="990028"/>
          </a:solidFill>
          <a:ln cap="flat" cmpd="sng" w="9525">
            <a:solidFill>
              <a:srgbClr val="99002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rgbClr val="FFFFFF"/>
                </a:solidFill>
              </a:rPr>
              <a:t>Kernels, Data Sources, &amp; Compute Integrations</a:t>
            </a:r>
            <a:endParaRPr b="1" sz="1000">
              <a:solidFill>
                <a:srgbClr val="FFFFFF"/>
              </a:solidFill>
            </a:endParaRPr>
          </a:p>
        </p:txBody>
      </p:sp>
      <p:pic>
        <p:nvPicPr>
          <p:cNvPr id="835" name="Google Shape;835;p87"/>
          <p:cNvPicPr preferRelativeResize="0"/>
          <p:nvPr/>
        </p:nvPicPr>
        <p:blipFill rotWithShape="1">
          <a:blip r:embed="rId4">
            <a:alphaModFix/>
          </a:blip>
          <a:srcRect b="4094" l="0" r="77853" t="4104"/>
          <a:stretch/>
        </p:blipFill>
        <p:spPr>
          <a:xfrm>
            <a:off x="2984625" y="2531375"/>
            <a:ext cx="1072050" cy="738900"/>
          </a:xfrm>
          <a:prstGeom prst="rect">
            <a:avLst/>
          </a:prstGeom>
          <a:noFill/>
          <a:ln>
            <a:noFill/>
          </a:ln>
        </p:spPr>
      </p:pic>
      <p:pic>
        <p:nvPicPr>
          <p:cNvPr id="836" name="Google Shape;836;p87"/>
          <p:cNvPicPr preferRelativeResize="0"/>
          <p:nvPr/>
        </p:nvPicPr>
        <p:blipFill rotWithShape="1">
          <a:blip r:embed="rId4">
            <a:alphaModFix/>
          </a:blip>
          <a:srcRect b="4094" l="26276" r="51577" t="4104"/>
          <a:stretch/>
        </p:blipFill>
        <p:spPr>
          <a:xfrm>
            <a:off x="4467225" y="2531375"/>
            <a:ext cx="1072050" cy="738900"/>
          </a:xfrm>
          <a:prstGeom prst="rect">
            <a:avLst/>
          </a:prstGeom>
          <a:noFill/>
          <a:ln>
            <a:noFill/>
          </a:ln>
        </p:spPr>
      </p:pic>
      <p:pic>
        <p:nvPicPr>
          <p:cNvPr id="837" name="Google Shape;837;p87"/>
          <p:cNvPicPr preferRelativeResize="0"/>
          <p:nvPr/>
        </p:nvPicPr>
        <p:blipFill rotWithShape="1">
          <a:blip r:embed="rId4">
            <a:alphaModFix/>
          </a:blip>
          <a:srcRect b="4094" l="51873" r="25981" t="4104"/>
          <a:stretch/>
        </p:blipFill>
        <p:spPr>
          <a:xfrm>
            <a:off x="5949825" y="2531375"/>
            <a:ext cx="1072050" cy="738900"/>
          </a:xfrm>
          <a:prstGeom prst="rect">
            <a:avLst/>
          </a:prstGeom>
          <a:noFill/>
          <a:ln>
            <a:noFill/>
          </a:ln>
        </p:spPr>
      </p:pic>
      <p:pic>
        <p:nvPicPr>
          <p:cNvPr id="838" name="Google Shape;838;p87"/>
          <p:cNvPicPr preferRelativeResize="0"/>
          <p:nvPr/>
        </p:nvPicPr>
        <p:blipFill rotWithShape="1">
          <a:blip r:embed="rId4">
            <a:alphaModFix/>
          </a:blip>
          <a:srcRect b="4094" l="77853" r="0" t="4104"/>
          <a:stretch/>
        </p:blipFill>
        <p:spPr>
          <a:xfrm>
            <a:off x="7432425" y="2531375"/>
            <a:ext cx="1072050" cy="738900"/>
          </a:xfrm>
          <a:prstGeom prst="rect">
            <a:avLst/>
          </a:prstGeom>
          <a:noFill/>
          <a:ln>
            <a:noFill/>
          </a:ln>
        </p:spPr>
      </p:pic>
      <p:sp>
        <p:nvSpPr>
          <p:cNvPr id="839" name="Google Shape;839;p87"/>
          <p:cNvSpPr txBox="1"/>
          <p:nvPr/>
        </p:nvSpPr>
        <p:spPr>
          <a:xfrm>
            <a:off x="2848200" y="4132475"/>
            <a:ext cx="6112800" cy="646500"/>
          </a:xfrm>
          <a:prstGeom prst="rect">
            <a:avLst/>
          </a:prstGeom>
          <a:noFill/>
          <a:ln>
            <a:noFill/>
          </a:ln>
        </p:spPr>
        <p:txBody>
          <a:bodyPr anchorCtr="0" anchor="t" bIns="91425" lIns="91425" spcFirstLastPara="1" rIns="91425" wrap="square" tIns="91425">
            <a:spAutoFit/>
          </a:bodyPr>
          <a:lstStyle/>
          <a:p>
            <a:pPr indent="0" lvl="0" marL="0" rtl="0" algn="r">
              <a:lnSpc>
                <a:spcPct val="200000"/>
              </a:lnSpc>
              <a:spcBef>
                <a:spcPts val="0"/>
              </a:spcBef>
              <a:spcAft>
                <a:spcPts val="0"/>
              </a:spcAft>
              <a:buNone/>
            </a:pPr>
            <a:r>
              <a:rPr b="1" i="1" lang="en" sz="1000">
                <a:solidFill>
                  <a:srgbClr val="434343"/>
                </a:solidFill>
              </a:rPr>
              <a:t>Anaconda Enterprise automates your organization’s AI pipelines from laptops to training clusters to production clusters with ease</a:t>
            </a:r>
            <a:endParaRPr b="1" i="1" sz="1000">
              <a:solidFill>
                <a:srgbClr val="434343"/>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3" name="Shape 843"/>
        <p:cNvGrpSpPr/>
        <p:nvPr/>
      </p:nvGrpSpPr>
      <p:grpSpPr>
        <a:xfrm>
          <a:off x="0" y="0"/>
          <a:ext cx="0" cy="0"/>
          <a:chOff x="0" y="0"/>
          <a:chExt cx="0" cy="0"/>
        </a:xfrm>
      </p:grpSpPr>
      <p:sp>
        <p:nvSpPr>
          <p:cNvPr id="844" name="Google Shape;844;p8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Working with Anaconda</a:t>
            </a:r>
            <a:endParaRPr sz="2000">
              <a:solidFill>
                <a:schemeClr val="dk1"/>
              </a:solidFill>
              <a:latin typeface="Century Gothic"/>
              <a:ea typeface="Century Gothic"/>
              <a:cs typeface="Century Gothic"/>
              <a:sym typeface="Century Gothic"/>
            </a:endParaRPr>
          </a:p>
        </p:txBody>
      </p:sp>
      <p:sp>
        <p:nvSpPr>
          <p:cNvPr id="845" name="Google Shape;845;p8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846" name="Google Shape;846;p88"/>
          <p:cNvSpPr txBox="1"/>
          <p:nvPr/>
        </p:nvSpPr>
        <p:spPr>
          <a:xfrm>
            <a:off x="705525" y="957288"/>
            <a:ext cx="6112800" cy="400200"/>
          </a:xfrm>
          <a:prstGeom prst="rect">
            <a:avLst/>
          </a:prstGeom>
          <a:noFill/>
          <a:ln>
            <a:noFill/>
          </a:ln>
        </p:spPr>
        <p:txBody>
          <a:bodyPr anchorCtr="0" anchor="t" bIns="91425" lIns="91425" spcFirstLastPara="1" rIns="91425" wrap="square" tIns="91425">
            <a:spAutoFit/>
          </a:bodyPr>
          <a:lstStyle/>
          <a:p>
            <a:pPr indent="0" lvl="0" marL="0" rtl="0" algn="l">
              <a:lnSpc>
                <a:spcPct val="200000"/>
              </a:lnSpc>
              <a:spcBef>
                <a:spcPts val="0"/>
              </a:spcBef>
              <a:spcAft>
                <a:spcPts val="0"/>
              </a:spcAft>
              <a:buNone/>
            </a:pPr>
            <a:r>
              <a:rPr b="1" lang="en"/>
              <a:t>Visit </a:t>
            </a:r>
            <a:r>
              <a:rPr i="1" lang="en" u="sng">
                <a:solidFill>
                  <a:schemeClr val="accent2"/>
                </a:solidFill>
                <a:highlight>
                  <a:srgbClr val="FFFFFF"/>
                </a:highlight>
                <a:hlinkClick r:id="rId3">
                  <a:extLst>
                    <a:ext uri="{A12FA001-AC4F-418D-AE19-62706E023703}">
                      <ahyp:hlinkClr val="tx"/>
                    </a:ext>
                  </a:extLst>
                </a:hlinkClick>
              </a:rPr>
              <a:t>https://www.anaconda.com/distribution/</a:t>
            </a:r>
            <a:r>
              <a:rPr b="1" lang="en"/>
              <a:t> </a:t>
            </a:r>
            <a:endParaRPr b="1"/>
          </a:p>
        </p:txBody>
      </p:sp>
      <p:sp>
        <p:nvSpPr>
          <p:cNvPr id="847" name="Google Shape;847;p88"/>
          <p:cNvSpPr txBox="1"/>
          <p:nvPr/>
        </p:nvSpPr>
        <p:spPr>
          <a:xfrm>
            <a:off x="705525" y="4339188"/>
            <a:ext cx="6569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a:t>Choose the correct version and download the Anaconda platform</a:t>
            </a:r>
            <a:endParaRPr i="1"/>
          </a:p>
        </p:txBody>
      </p:sp>
      <p:pic>
        <p:nvPicPr>
          <p:cNvPr id="848" name="Google Shape;848;p88"/>
          <p:cNvPicPr preferRelativeResize="0"/>
          <p:nvPr/>
        </p:nvPicPr>
        <p:blipFill>
          <a:blip r:embed="rId4">
            <a:alphaModFix/>
          </a:blip>
          <a:stretch>
            <a:fillRect/>
          </a:stretch>
        </p:blipFill>
        <p:spPr>
          <a:xfrm>
            <a:off x="746785" y="1506775"/>
            <a:ext cx="8052767" cy="21822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2" name="Shape 852"/>
        <p:cNvGrpSpPr/>
        <p:nvPr/>
      </p:nvGrpSpPr>
      <p:grpSpPr>
        <a:xfrm>
          <a:off x="0" y="0"/>
          <a:ext cx="0" cy="0"/>
          <a:chOff x="0" y="0"/>
          <a:chExt cx="0" cy="0"/>
        </a:xfrm>
      </p:grpSpPr>
      <p:sp>
        <p:nvSpPr>
          <p:cNvPr id="853" name="Google Shape;853;p8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Working with Anaconda</a:t>
            </a:r>
            <a:endParaRPr sz="2000">
              <a:solidFill>
                <a:schemeClr val="dk1"/>
              </a:solidFill>
              <a:latin typeface="Century Gothic"/>
              <a:ea typeface="Century Gothic"/>
              <a:cs typeface="Century Gothic"/>
              <a:sym typeface="Century Gothic"/>
            </a:endParaRPr>
          </a:p>
        </p:txBody>
      </p:sp>
      <p:sp>
        <p:nvSpPr>
          <p:cNvPr id="854" name="Google Shape;854;p8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855" name="Google Shape;855;p89"/>
          <p:cNvPicPr preferRelativeResize="0"/>
          <p:nvPr/>
        </p:nvPicPr>
        <p:blipFill>
          <a:blip r:embed="rId3">
            <a:alphaModFix/>
          </a:blip>
          <a:stretch>
            <a:fillRect/>
          </a:stretch>
        </p:blipFill>
        <p:spPr>
          <a:xfrm>
            <a:off x="1469899" y="1075450"/>
            <a:ext cx="6624799" cy="354577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9" name="Shape 859"/>
        <p:cNvGrpSpPr/>
        <p:nvPr/>
      </p:nvGrpSpPr>
      <p:grpSpPr>
        <a:xfrm>
          <a:off x="0" y="0"/>
          <a:ext cx="0" cy="0"/>
          <a:chOff x="0" y="0"/>
          <a:chExt cx="0" cy="0"/>
        </a:xfrm>
      </p:grpSpPr>
      <p:sp>
        <p:nvSpPr>
          <p:cNvPr id="860" name="Google Shape;860;p9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Walking through of JupyterLab Environment </a:t>
            </a:r>
            <a:endParaRPr sz="2000">
              <a:solidFill>
                <a:schemeClr val="dk1"/>
              </a:solidFill>
              <a:latin typeface="Century Gothic"/>
              <a:ea typeface="Century Gothic"/>
              <a:cs typeface="Century Gothic"/>
              <a:sym typeface="Century Gothic"/>
            </a:endParaRPr>
          </a:p>
        </p:txBody>
      </p:sp>
      <p:sp>
        <p:nvSpPr>
          <p:cNvPr id="861" name="Google Shape;861;p9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862" name="Google Shape;862;p90"/>
          <p:cNvPicPr preferRelativeResize="0"/>
          <p:nvPr/>
        </p:nvPicPr>
        <p:blipFill>
          <a:blip r:embed="rId3">
            <a:alphaModFix/>
          </a:blip>
          <a:stretch>
            <a:fillRect/>
          </a:stretch>
        </p:blipFill>
        <p:spPr>
          <a:xfrm>
            <a:off x="2190164" y="1257596"/>
            <a:ext cx="5170655" cy="3309031"/>
          </a:xfrm>
          <a:prstGeom prst="rect">
            <a:avLst/>
          </a:prstGeom>
          <a:noFill/>
          <a:ln>
            <a:noFill/>
          </a:ln>
        </p:spPr>
      </p:pic>
      <p:sp>
        <p:nvSpPr>
          <p:cNvPr id="863" name="Google Shape;863;p90"/>
          <p:cNvSpPr/>
          <p:nvPr/>
        </p:nvSpPr>
        <p:spPr>
          <a:xfrm>
            <a:off x="3938464" y="1706592"/>
            <a:ext cx="1766100" cy="8580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64" name="Google Shape;864;p90"/>
          <p:cNvSpPr txBox="1"/>
          <p:nvPr/>
        </p:nvSpPr>
        <p:spPr>
          <a:xfrm>
            <a:off x="7490729" y="1819191"/>
            <a:ext cx="1284900" cy="633000"/>
          </a:xfrm>
          <a:prstGeom prst="rect">
            <a:avLst/>
          </a:prstGeom>
          <a:noFill/>
          <a:ln>
            <a:noFill/>
          </a:ln>
        </p:spPr>
        <p:txBody>
          <a:bodyPr anchorCtr="0" anchor="t" bIns="79975" lIns="79975" spcFirstLastPara="1" rIns="79975" wrap="square" tIns="79975">
            <a:spAutoFit/>
          </a:bodyPr>
          <a:lstStyle/>
          <a:p>
            <a:pPr indent="0" lvl="0" marL="0" rtl="0" algn="l">
              <a:lnSpc>
                <a:spcPct val="150000"/>
              </a:lnSpc>
              <a:spcBef>
                <a:spcPts val="0"/>
              </a:spcBef>
              <a:spcAft>
                <a:spcPts val="0"/>
              </a:spcAft>
              <a:buNone/>
            </a:pPr>
            <a:r>
              <a:rPr b="1" lang="en" sz="874"/>
              <a:t>Jupyter Notebook</a:t>
            </a:r>
            <a:endParaRPr b="1" sz="874"/>
          </a:p>
          <a:p>
            <a:pPr indent="0" lvl="0" marL="0" rtl="0" algn="l">
              <a:lnSpc>
                <a:spcPct val="150000"/>
              </a:lnSpc>
              <a:spcBef>
                <a:spcPts val="0"/>
              </a:spcBef>
              <a:spcAft>
                <a:spcPts val="0"/>
              </a:spcAft>
              <a:buNone/>
            </a:pPr>
            <a:r>
              <a:rPr i="1" lang="en" sz="699"/>
              <a:t>For interactive IDE experience</a:t>
            </a:r>
            <a:endParaRPr i="1" sz="699"/>
          </a:p>
        </p:txBody>
      </p:sp>
      <p:cxnSp>
        <p:nvCxnSpPr>
          <p:cNvPr id="865" name="Google Shape;865;p90"/>
          <p:cNvCxnSpPr>
            <a:stCxn id="863" idx="3"/>
            <a:endCxn id="864" idx="1"/>
          </p:cNvCxnSpPr>
          <p:nvPr/>
        </p:nvCxnSpPr>
        <p:spPr>
          <a:xfrm>
            <a:off x="5704564" y="2135592"/>
            <a:ext cx="1786200" cy="0"/>
          </a:xfrm>
          <a:prstGeom prst="straightConnector1">
            <a:avLst/>
          </a:prstGeom>
          <a:noFill/>
          <a:ln cap="flat" cmpd="sng" w="8325">
            <a:solidFill>
              <a:srgbClr val="FF0000"/>
            </a:solidFill>
            <a:prstDash val="solid"/>
            <a:round/>
            <a:headEnd len="med" w="med" type="none"/>
            <a:tailEnd len="med" w="med" type="triangle"/>
          </a:ln>
        </p:spPr>
      </p:cxnSp>
      <p:sp>
        <p:nvSpPr>
          <p:cNvPr id="866" name="Google Shape;866;p90"/>
          <p:cNvSpPr/>
          <p:nvPr/>
        </p:nvSpPr>
        <p:spPr>
          <a:xfrm>
            <a:off x="3938464" y="2618189"/>
            <a:ext cx="1766100" cy="8580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67" name="Google Shape;867;p90"/>
          <p:cNvSpPr txBox="1"/>
          <p:nvPr/>
        </p:nvSpPr>
        <p:spPr>
          <a:xfrm>
            <a:off x="7490729" y="2730788"/>
            <a:ext cx="1284900" cy="633000"/>
          </a:xfrm>
          <a:prstGeom prst="rect">
            <a:avLst/>
          </a:prstGeom>
          <a:noFill/>
          <a:ln>
            <a:noFill/>
          </a:ln>
        </p:spPr>
        <p:txBody>
          <a:bodyPr anchorCtr="0" anchor="t" bIns="79975" lIns="79975" spcFirstLastPara="1" rIns="79975" wrap="square" tIns="79975">
            <a:spAutoFit/>
          </a:bodyPr>
          <a:lstStyle/>
          <a:p>
            <a:pPr indent="0" lvl="0" marL="0" rtl="0" algn="l">
              <a:lnSpc>
                <a:spcPct val="150000"/>
              </a:lnSpc>
              <a:spcBef>
                <a:spcPts val="0"/>
              </a:spcBef>
              <a:spcAft>
                <a:spcPts val="0"/>
              </a:spcAft>
              <a:buNone/>
            </a:pPr>
            <a:r>
              <a:rPr b="1" lang="en" sz="874"/>
              <a:t>Jupyter Console</a:t>
            </a:r>
            <a:endParaRPr b="1" sz="874"/>
          </a:p>
          <a:p>
            <a:pPr indent="0" lvl="0" marL="0" rtl="0" algn="l">
              <a:lnSpc>
                <a:spcPct val="150000"/>
              </a:lnSpc>
              <a:spcBef>
                <a:spcPts val="0"/>
              </a:spcBef>
              <a:spcAft>
                <a:spcPts val="0"/>
              </a:spcAft>
              <a:buNone/>
            </a:pPr>
            <a:r>
              <a:rPr i="1" lang="en" sz="699"/>
              <a:t>For Interactive CLI experience </a:t>
            </a:r>
            <a:endParaRPr i="1" sz="699"/>
          </a:p>
        </p:txBody>
      </p:sp>
      <p:cxnSp>
        <p:nvCxnSpPr>
          <p:cNvPr id="868" name="Google Shape;868;p90"/>
          <p:cNvCxnSpPr>
            <a:stCxn id="866" idx="3"/>
            <a:endCxn id="867" idx="1"/>
          </p:cNvCxnSpPr>
          <p:nvPr/>
        </p:nvCxnSpPr>
        <p:spPr>
          <a:xfrm>
            <a:off x="5704564" y="3047189"/>
            <a:ext cx="1786200" cy="0"/>
          </a:xfrm>
          <a:prstGeom prst="straightConnector1">
            <a:avLst/>
          </a:prstGeom>
          <a:noFill/>
          <a:ln cap="flat" cmpd="sng" w="8325">
            <a:solidFill>
              <a:srgbClr val="FF0000"/>
            </a:solidFill>
            <a:prstDash val="solid"/>
            <a:round/>
            <a:headEnd len="med" w="med" type="none"/>
            <a:tailEnd len="med" w="med" type="triangle"/>
          </a:ln>
        </p:spPr>
      </p:cxnSp>
      <p:sp>
        <p:nvSpPr>
          <p:cNvPr id="869" name="Google Shape;869;p90"/>
          <p:cNvSpPr/>
          <p:nvPr/>
        </p:nvSpPr>
        <p:spPr>
          <a:xfrm>
            <a:off x="2190175" y="1410877"/>
            <a:ext cx="151800" cy="14832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70" name="Google Shape;870;p90"/>
          <p:cNvSpPr txBox="1"/>
          <p:nvPr/>
        </p:nvSpPr>
        <p:spPr>
          <a:xfrm>
            <a:off x="819142" y="2434024"/>
            <a:ext cx="1284900" cy="956100"/>
          </a:xfrm>
          <a:prstGeom prst="rect">
            <a:avLst/>
          </a:prstGeom>
          <a:noFill/>
          <a:ln>
            <a:noFill/>
          </a:ln>
        </p:spPr>
        <p:txBody>
          <a:bodyPr anchorCtr="0" anchor="t" bIns="79975" lIns="79975" spcFirstLastPara="1" rIns="79975" wrap="square" tIns="79975">
            <a:spAutoFit/>
          </a:bodyPr>
          <a:lstStyle/>
          <a:p>
            <a:pPr indent="0" lvl="0" marL="0" rtl="0" algn="r">
              <a:lnSpc>
                <a:spcPct val="150000"/>
              </a:lnSpc>
              <a:spcBef>
                <a:spcPts val="0"/>
              </a:spcBef>
              <a:spcAft>
                <a:spcPts val="0"/>
              </a:spcAft>
              <a:buNone/>
            </a:pPr>
            <a:r>
              <a:rPr b="1" lang="en" sz="874"/>
              <a:t>JupyterLab Options</a:t>
            </a:r>
            <a:endParaRPr b="1" sz="874"/>
          </a:p>
          <a:p>
            <a:pPr indent="0" lvl="0" marL="0" rtl="0" algn="r">
              <a:lnSpc>
                <a:spcPct val="150000"/>
              </a:lnSpc>
              <a:spcBef>
                <a:spcPts val="0"/>
              </a:spcBef>
              <a:spcAft>
                <a:spcPts val="0"/>
              </a:spcAft>
              <a:buNone/>
            </a:pPr>
            <a:r>
              <a:rPr i="1" lang="en" sz="699"/>
              <a:t>Various options for integrating Jupyter Environment and managing kernels, tasks, &amp; files</a:t>
            </a:r>
            <a:endParaRPr i="1" sz="699"/>
          </a:p>
        </p:txBody>
      </p:sp>
      <p:cxnSp>
        <p:nvCxnSpPr>
          <p:cNvPr id="871" name="Google Shape;871;p90"/>
          <p:cNvCxnSpPr>
            <a:stCxn id="869" idx="1"/>
            <a:endCxn id="870" idx="0"/>
          </p:cNvCxnSpPr>
          <p:nvPr/>
        </p:nvCxnSpPr>
        <p:spPr>
          <a:xfrm flipH="1">
            <a:off x="1461475" y="2152477"/>
            <a:ext cx="728700" cy="281400"/>
          </a:xfrm>
          <a:prstGeom prst="bentConnector2">
            <a:avLst/>
          </a:prstGeom>
          <a:noFill/>
          <a:ln cap="flat" cmpd="sng" w="8325">
            <a:solidFill>
              <a:srgbClr val="FF0000"/>
            </a:solidFill>
            <a:prstDash val="solid"/>
            <a:round/>
            <a:headEnd len="med" w="med" type="none"/>
            <a:tailEnd len="med" w="med" type="triangle"/>
          </a:ln>
        </p:spPr>
      </p:cxnSp>
      <p:sp>
        <p:nvSpPr>
          <p:cNvPr id="872" name="Google Shape;872;p90"/>
          <p:cNvSpPr/>
          <p:nvPr/>
        </p:nvSpPr>
        <p:spPr>
          <a:xfrm>
            <a:off x="2341882" y="1245697"/>
            <a:ext cx="1855800" cy="1059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73" name="Google Shape;873;p90"/>
          <p:cNvSpPr txBox="1"/>
          <p:nvPr/>
        </p:nvSpPr>
        <p:spPr>
          <a:xfrm>
            <a:off x="752475" y="1643621"/>
            <a:ext cx="1418100" cy="296100"/>
          </a:xfrm>
          <a:prstGeom prst="rect">
            <a:avLst/>
          </a:prstGeom>
          <a:noFill/>
          <a:ln>
            <a:noFill/>
          </a:ln>
        </p:spPr>
        <p:txBody>
          <a:bodyPr anchorCtr="0" anchor="t" bIns="79975" lIns="79975" spcFirstLastPara="1" rIns="79975" wrap="square" tIns="79975">
            <a:spAutoFit/>
          </a:bodyPr>
          <a:lstStyle/>
          <a:p>
            <a:pPr indent="0" lvl="0" marL="0" rtl="0" algn="r">
              <a:lnSpc>
                <a:spcPct val="150000"/>
              </a:lnSpc>
              <a:spcBef>
                <a:spcPts val="0"/>
              </a:spcBef>
              <a:spcAft>
                <a:spcPts val="0"/>
              </a:spcAft>
              <a:buNone/>
            </a:pPr>
            <a:r>
              <a:rPr b="1" lang="en" sz="874"/>
              <a:t>JupyterLab Menu Bar</a:t>
            </a:r>
            <a:endParaRPr i="1" sz="699"/>
          </a:p>
        </p:txBody>
      </p:sp>
      <p:cxnSp>
        <p:nvCxnSpPr>
          <p:cNvPr id="874" name="Google Shape;874;p90"/>
          <p:cNvCxnSpPr>
            <a:stCxn id="872" idx="0"/>
            <a:endCxn id="873" idx="0"/>
          </p:cNvCxnSpPr>
          <p:nvPr/>
        </p:nvCxnSpPr>
        <p:spPr>
          <a:xfrm rot="5400000">
            <a:off x="2166682" y="540397"/>
            <a:ext cx="397800" cy="1808400"/>
          </a:xfrm>
          <a:prstGeom prst="bentConnector3">
            <a:avLst>
              <a:gd fmla="val -59860" name="adj1"/>
            </a:avLst>
          </a:prstGeom>
          <a:noFill/>
          <a:ln cap="flat" cmpd="sng" w="8325">
            <a:solidFill>
              <a:srgbClr val="FF0000"/>
            </a:solidFill>
            <a:prstDash val="solid"/>
            <a:round/>
            <a:headEnd len="med" w="med" type="none"/>
            <a:tailEnd len="med" w="med" type="triangle"/>
          </a:ln>
        </p:spPr>
      </p:cxnSp>
      <p:sp>
        <p:nvSpPr>
          <p:cNvPr id="875" name="Google Shape;875;p90"/>
          <p:cNvSpPr txBox="1"/>
          <p:nvPr/>
        </p:nvSpPr>
        <p:spPr>
          <a:xfrm>
            <a:off x="752475" y="3437047"/>
            <a:ext cx="1418100" cy="296100"/>
          </a:xfrm>
          <a:prstGeom prst="rect">
            <a:avLst/>
          </a:prstGeom>
          <a:noFill/>
          <a:ln>
            <a:noFill/>
          </a:ln>
        </p:spPr>
        <p:txBody>
          <a:bodyPr anchorCtr="0" anchor="t" bIns="79975" lIns="79975" spcFirstLastPara="1" rIns="79975" wrap="square" tIns="79975">
            <a:spAutoFit/>
          </a:bodyPr>
          <a:lstStyle/>
          <a:p>
            <a:pPr indent="0" lvl="0" marL="0" rtl="0" algn="r">
              <a:lnSpc>
                <a:spcPct val="150000"/>
              </a:lnSpc>
              <a:spcBef>
                <a:spcPts val="0"/>
              </a:spcBef>
              <a:spcAft>
                <a:spcPts val="0"/>
              </a:spcAft>
              <a:buNone/>
            </a:pPr>
            <a:r>
              <a:rPr b="1" lang="en" sz="874"/>
              <a:t>Create New File</a:t>
            </a:r>
            <a:endParaRPr i="1" sz="699"/>
          </a:p>
        </p:txBody>
      </p:sp>
      <p:sp>
        <p:nvSpPr>
          <p:cNvPr id="876" name="Google Shape;876;p90"/>
          <p:cNvSpPr/>
          <p:nvPr/>
        </p:nvSpPr>
        <p:spPr>
          <a:xfrm>
            <a:off x="2385409" y="1410877"/>
            <a:ext cx="255900" cy="1059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77" name="Google Shape;877;p90"/>
          <p:cNvSpPr/>
          <p:nvPr/>
        </p:nvSpPr>
        <p:spPr>
          <a:xfrm>
            <a:off x="2684843" y="1410877"/>
            <a:ext cx="212400" cy="1059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sp>
        <p:nvSpPr>
          <p:cNvPr id="878" name="Google Shape;878;p90"/>
          <p:cNvSpPr/>
          <p:nvPr/>
        </p:nvSpPr>
        <p:spPr>
          <a:xfrm>
            <a:off x="2940707" y="1410877"/>
            <a:ext cx="212400" cy="105900"/>
          </a:xfrm>
          <a:prstGeom prst="rect">
            <a:avLst/>
          </a:prstGeom>
          <a:noFill/>
          <a:ln cap="flat" cmpd="sng" w="8325">
            <a:solidFill>
              <a:srgbClr val="FF0000"/>
            </a:solidFill>
            <a:prstDash val="solid"/>
            <a:round/>
            <a:headEnd len="sm" w="sm" type="none"/>
            <a:tailEnd len="sm" w="sm" type="none"/>
          </a:ln>
        </p:spPr>
        <p:txBody>
          <a:bodyPr anchorCtr="0" anchor="ctr" bIns="79975" lIns="79975" spcFirstLastPara="1" rIns="79975" wrap="square" tIns="79975">
            <a:noAutofit/>
          </a:bodyPr>
          <a:lstStyle/>
          <a:p>
            <a:pPr indent="0" lvl="0" marL="0" rtl="0" algn="l">
              <a:spcBef>
                <a:spcPts val="0"/>
              </a:spcBef>
              <a:spcAft>
                <a:spcPts val="0"/>
              </a:spcAft>
              <a:buNone/>
            </a:pPr>
            <a:r>
              <a:t/>
            </a:r>
            <a:endParaRPr/>
          </a:p>
        </p:txBody>
      </p:sp>
      <p:cxnSp>
        <p:nvCxnSpPr>
          <p:cNvPr id="879" name="Google Shape;879;p90"/>
          <p:cNvCxnSpPr>
            <a:stCxn id="876" idx="2"/>
            <a:endCxn id="875" idx="3"/>
          </p:cNvCxnSpPr>
          <p:nvPr/>
        </p:nvCxnSpPr>
        <p:spPr>
          <a:xfrm rot="5400000">
            <a:off x="1307809" y="2379427"/>
            <a:ext cx="2068200" cy="342900"/>
          </a:xfrm>
          <a:prstGeom prst="bentConnector2">
            <a:avLst/>
          </a:prstGeom>
          <a:noFill/>
          <a:ln cap="flat" cmpd="sng" w="8325">
            <a:solidFill>
              <a:srgbClr val="FF0000"/>
            </a:solidFill>
            <a:prstDash val="solid"/>
            <a:round/>
            <a:headEnd len="med" w="med" type="none"/>
            <a:tailEnd len="med" w="med" type="triangle"/>
          </a:ln>
        </p:spPr>
      </p:cxnSp>
      <p:sp>
        <p:nvSpPr>
          <p:cNvPr id="880" name="Google Shape;880;p90"/>
          <p:cNvSpPr txBox="1"/>
          <p:nvPr/>
        </p:nvSpPr>
        <p:spPr>
          <a:xfrm>
            <a:off x="752475" y="3839783"/>
            <a:ext cx="1418100" cy="296100"/>
          </a:xfrm>
          <a:prstGeom prst="rect">
            <a:avLst/>
          </a:prstGeom>
          <a:noFill/>
          <a:ln>
            <a:noFill/>
          </a:ln>
        </p:spPr>
        <p:txBody>
          <a:bodyPr anchorCtr="0" anchor="t" bIns="79975" lIns="79975" spcFirstLastPara="1" rIns="79975" wrap="square" tIns="79975">
            <a:spAutoFit/>
          </a:bodyPr>
          <a:lstStyle/>
          <a:p>
            <a:pPr indent="0" lvl="0" marL="0" rtl="0" algn="r">
              <a:lnSpc>
                <a:spcPct val="150000"/>
              </a:lnSpc>
              <a:spcBef>
                <a:spcPts val="0"/>
              </a:spcBef>
              <a:spcAft>
                <a:spcPts val="0"/>
              </a:spcAft>
              <a:buNone/>
            </a:pPr>
            <a:r>
              <a:rPr b="1" lang="en" sz="874"/>
              <a:t>Create New Folder</a:t>
            </a:r>
            <a:endParaRPr i="1" sz="699"/>
          </a:p>
        </p:txBody>
      </p:sp>
      <p:cxnSp>
        <p:nvCxnSpPr>
          <p:cNvPr id="881" name="Google Shape;881;p90"/>
          <p:cNvCxnSpPr>
            <a:stCxn id="877" idx="2"/>
            <a:endCxn id="880" idx="3"/>
          </p:cNvCxnSpPr>
          <p:nvPr/>
        </p:nvCxnSpPr>
        <p:spPr>
          <a:xfrm rot="5400000">
            <a:off x="1245293" y="2442127"/>
            <a:ext cx="2471100" cy="620400"/>
          </a:xfrm>
          <a:prstGeom prst="bentConnector2">
            <a:avLst/>
          </a:prstGeom>
          <a:noFill/>
          <a:ln cap="flat" cmpd="sng" w="8325">
            <a:solidFill>
              <a:srgbClr val="FF0000"/>
            </a:solidFill>
            <a:prstDash val="solid"/>
            <a:round/>
            <a:headEnd len="med" w="med" type="none"/>
            <a:tailEnd len="med" w="med" type="triangle"/>
          </a:ln>
        </p:spPr>
      </p:cxnSp>
      <p:sp>
        <p:nvSpPr>
          <p:cNvPr id="882" name="Google Shape;882;p90"/>
          <p:cNvSpPr txBox="1"/>
          <p:nvPr/>
        </p:nvSpPr>
        <p:spPr>
          <a:xfrm>
            <a:off x="752475" y="4242520"/>
            <a:ext cx="1418100" cy="296100"/>
          </a:xfrm>
          <a:prstGeom prst="rect">
            <a:avLst/>
          </a:prstGeom>
          <a:noFill/>
          <a:ln>
            <a:noFill/>
          </a:ln>
        </p:spPr>
        <p:txBody>
          <a:bodyPr anchorCtr="0" anchor="t" bIns="79975" lIns="79975" spcFirstLastPara="1" rIns="79975" wrap="square" tIns="79975">
            <a:spAutoFit/>
          </a:bodyPr>
          <a:lstStyle/>
          <a:p>
            <a:pPr indent="0" lvl="0" marL="0" rtl="0" algn="r">
              <a:lnSpc>
                <a:spcPct val="150000"/>
              </a:lnSpc>
              <a:spcBef>
                <a:spcPts val="0"/>
              </a:spcBef>
              <a:spcAft>
                <a:spcPts val="0"/>
              </a:spcAft>
              <a:buNone/>
            </a:pPr>
            <a:r>
              <a:rPr b="1" lang="en" sz="874"/>
              <a:t>Upload Folder/File</a:t>
            </a:r>
            <a:endParaRPr i="1" sz="699"/>
          </a:p>
        </p:txBody>
      </p:sp>
      <p:cxnSp>
        <p:nvCxnSpPr>
          <p:cNvPr id="883" name="Google Shape;883;p90"/>
          <p:cNvCxnSpPr>
            <a:stCxn id="878" idx="2"/>
            <a:endCxn id="882" idx="3"/>
          </p:cNvCxnSpPr>
          <p:nvPr/>
        </p:nvCxnSpPr>
        <p:spPr>
          <a:xfrm rot="5400000">
            <a:off x="1171907" y="2515477"/>
            <a:ext cx="2873700" cy="876300"/>
          </a:xfrm>
          <a:prstGeom prst="bentConnector2">
            <a:avLst/>
          </a:prstGeom>
          <a:noFill/>
          <a:ln cap="flat" cmpd="sng" w="8325">
            <a:solidFill>
              <a:srgbClr val="FF0000"/>
            </a:solidFill>
            <a:prstDash val="solid"/>
            <a:round/>
            <a:headEnd len="med" w="med" type="none"/>
            <a:tailEnd len="med" w="med" type="triangle"/>
          </a:ln>
        </p:spPr>
      </p:cxn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7" name="Shape 887"/>
        <p:cNvGrpSpPr/>
        <p:nvPr/>
      </p:nvGrpSpPr>
      <p:grpSpPr>
        <a:xfrm>
          <a:off x="0" y="0"/>
          <a:ext cx="0" cy="0"/>
          <a:chOff x="0" y="0"/>
          <a:chExt cx="0" cy="0"/>
        </a:xfrm>
      </p:grpSpPr>
      <p:sp>
        <p:nvSpPr>
          <p:cNvPr id="888" name="Google Shape;888;p9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Notebook workflow &amp; running experiments</a:t>
            </a:r>
            <a:endParaRPr sz="2000">
              <a:solidFill>
                <a:schemeClr val="dk1"/>
              </a:solidFill>
              <a:latin typeface="Century Gothic"/>
              <a:ea typeface="Century Gothic"/>
              <a:cs typeface="Century Gothic"/>
              <a:sym typeface="Century Gothic"/>
            </a:endParaRPr>
          </a:p>
        </p:txBody>
      </p:sp>
      <p:sp>
        <p:nvSpPr>
          <p:cNvPr id="889" name="Google Shape;889;p9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890" name="Google Shape;890;p91"/>
          <p:cNvPicPr preferRelativeResize="0"/>
          <p:nvPr/>
        </p:nvPicPr>
        <p:blipFill rotWithShape="1">
          <a:blip r:embed="rId3">
            <a:alphaModFix/>
          </a:blip>
          <a:srcRect b="0" l="0" r="0" t="12296"/>
          <a:stretch/>
        </p:blipFill>
        <p:spPr>
          <a:xfrm>
            <a:off x="662075" y="1191551"/>
            <a:ext cx="8183526" cy="3119124"/>
          </a:xfrm>
          <a:prstGeom prst="rect">
            <a:avLst/>
          </a:prstGeom>
          <a:noFill/>
          <a:ln>
            <a:noFill/>
          </a:ln>
        </p:spPr>
      </p:pic>
      <p:sp>
        <p:nvSpPr>
          <p:cNvPr id="891" name="Google Shape;891;p91"/>
          <p:cNvSpPr/>
          <p:nvPr/>
        </p:nvSpPr>
        <p:spPr>
          <a:xfrm>
            <a:off x="503497" y="1986200"/>
            <a:ext cx="18066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lang="en" sz="1100" u="sng">
                <a:latin typeface="Geist"/>
                <a:ea typeface="Geist"/>
                <a:cs typeface="Geist"/>
                <a:sym typeface="Geist"/>
              </a:rPr>
              <a:t>Run cells sequentially</a:t>
            </a:r>
            <a:br>
              <a:rPr b="1" lang="en" sz="1100">
                <a:latin typeface="Geist"/>
                <a:ea typeface="Geist"/>
                <a:cs typeface="Geist"/>
                <a:sym typeface="Geist"/>
              </a:rPr>
            </a:br>
            <a:r>
              <a:rPr lang="en" sz="1100">
                <a:solidFill>
                  <a:schemeClr val="dk1"/>
                </a:solidFill>
                <a:latin typeface="Geist"/>
                <a:ea typeface="Geist"/>
                <a:cs typeface="Geist"/>
                <a:sym typeface="Geist"/>
              </a:rPr>
              <a:t>You can also run cells using </a:t>
            </a:r>
            <a:r>
              <a:rPr b="1" lang="en" sz="1100">
                <a:solidFill>
                  <a:schemeClr val="dk1"/>
                </a:solidFill>
                <a:latin typeface="Geist"/>
                <a:ea typeface="Geist"/>
                <a:cs typeface="Geist"/>
                <a:sym typeface="Geist"/>
              </a:rPr>
              <a:t>Shift + Enter</a:t>
            </a:r>
            <a:r>
              <a:rPr lang="en" sz="1100">
                <a:solidFill>
                  <a:schemeClr val="dk1"/>
                </a:solidFill>
                <a:latin typeface="Geist"/>
                <a:ea typeface="Geist"/>
                <a:cs typeface="Geist"/>
                <a:sym typeface="Geist"/>
              </a:rPr>
              <a:t>.</a:t>
            </a:r>
            <a:endParaRPr i="0" sz="1100" u="none" cap="none" strike="noStrike">
              <a:latin typeface="Geist"/>
              <a:ea typeface="Geist"/>
              <a:cs typeface="Geist"/>
              <a:sym typeface="Geist"/>
            </a:endParaRPr>
          </a:p>
        </p:txBody>
      </p:sp>
      <p:sp>
        <p:nvSpPr>
          <p:cNvPr id="892" name="Google Shape;892;p91"/>
          <p:cNvSpPr/>
          <p:nvPr/>
        </p:nvSpPr>
        <p:spPr>
          <a:xfrm>
            <a:off x="1019028" y="3915600"/>
            <a:ext cx="13152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lang="en" sz="1100" u="sng">
                <a:latin typeface="Century Gothic"/>
                <a:ea typeface="Century Gothic"/>
                <a:cs typeface="Century Gothic"/>
                <a:sym typeface="Century Gothic"/>
              </a:rPr>
              <a:t>Instant </a:t>
            </a:r>
            <a:r>
              <a:rPr b="1" lang="en" sz="1100" u="sng">
                <a:solidFill>
                  <a:schemeClr val="dk1"/>
                </a:solidFill>
                <a:latin typeface="Century Gothic"/>
                <a:ea typeface="Century Gothic"/>
                <a:cs typeface="Century Gothic"/>
                <a:sym typeface="Century Gothic"/>
              </a:rPr>
              <a:t>outputs</a:t>
            </a:r>
            <a:endParaRPr b="1" sz="1100" u="sng">
              <a:latin typeface="Century Gothic"/>
              <a:ea typeface="Century Gothic"/>
              <a:cs typeface="Century Gothic"/>
              <a:sym typeface="Century Gothic"/>
            </a:endParaRPr>
          </a:p>
        </p:txBody>
      </p:sp>
      <p:sp>
        <p:nvSpPr>
          <p:cNvPr id="893" name="Google Shape;893;p91"/>
          <p:cNvSpPr/>
          <p:nvPr/>
        </p:nvSpPr>
        <p:spPr>
          <a:xfrm>
            <a:off x="930178" y="3337450"/>
            <a:ext cx="13152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lang="en" sz="1100" u="sng">
                <a:latin typeface="Century Gothic"/>
                <a:ea typeface="Century Gothic"/>
                <a:cs typeface="Century Gothic"/>
                <a:sym typeface="Century Gothic"/>
              </a:rPr>
              <a:t>Separate</a:t>
            </a:r>
            <a:r>
              <a:rPr b="1" lang="en" sz="1100" u="sng">
                <a:latin typeface="Century Gothic"/>
                <a:ea typeface="Century Gothic"/>
                <a:cs typeface="Century Gothic"/>
                <a:sym typeface="Century Gothic"/>
              </a:rPr>
              <a:t> cells </a:t>
            </a:r>
            <a:endParaRPr b="1" sz="1100" u="sng">
              <a:latin typeface="Century Gothic"/>
              <a:ea typeface="Century Gothic"/>
              <a:cs typeface="Century Gothic"/>
              <a:sym typeface="Century Gothic"/>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7" name="Shape 897"/>
        <p:cNvGrpSpPr/>
        <p:nvPr/>
      </p:nvGrpSpPr>
      <p:grpSpPr>
        <a:xfrm>
          <a:off x="0" y="0"/>
          <a:ext cx="0" cy="0"/>
          <a:chOff x="0" y="0"/>
          <a:chExt cx="0" cy="0"/>
        </a:xfrm>
      </p:grpSpPr>
      <p:sp>
        <p:nvSpPr>
          <p:cNvPr id="898" name="Google Shape;898;p9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Notebook workflow &amp; running experiments</a:t>
            </a:r>
            <a:endParaRPr sz="2000">
              <a:solidFill>
                <a:schemeClr val="dk1"/>
              </a:solidFill>
              <a:latin typeface="Century Gothic"/>
              <a:ea typeface="Century Gothic"/>
              <a:cs typeface="Century Gothic"/>
              <a:sym typeface="Century Gothic"/>
            </a:endParaRPr>
          </a:p>
        </p:txBody>
      </p:sp>
      <p:sp>
        <p:nvSpPr>
          <p:cNvPr id="899" name="Google Shape;899;p9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00" name="Google Shape;900;p92"/>
          <p:cNvSpPr/>
          <p:nvPr/>
        </p:nvSpPr>
        <p:spPr>
          <a:xfrm>
            <a:off x="752469" y="1111153"/>
            <a:ext cx="134700" cy="808200"/>
          </a:xfrm>
          <a:prstGeom prst="roundRect">
            <a:avLst>
              <a:gd fmla="val 42020"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01" name="Google Shape;901;p92"/>
          <p:cNvSpPr/>
          <p:nvPr/>
        </p:nvSpPr>
        <p:spPr>
          <a:xfrm>
            <a:off x="991683" y="1245775"/>
            <a:ext cx="22938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Iterate quickly</a:t>
            </a:r>
            <a:endParaRPr i="0" sz="1300" u="none" cap="none" strike="noStrike">
              <a:latin typeface="Century Gothic"/>
              <a:ea typeface="Century Gothic"/>
              <a:cs typeface="Century Gothic"/>
              <a:sym typeface="Century Gothic"/>
            </a:endParaRPr>
          </a:p>
        </p:txBody>
      </p:sp>
      <p:sp>
        <p:nvSpPr>
          <p:cNvPr id="902" name="Google Shape;902;p92"/>
          <p:cNvSpPr/>
          <p:nvPr/>
        </p:nvSpPr>
        <p:spPr>
          <a:xfrm>
            <a:off x="991683" y="1532864"/>
            <a:ext cx="6076800" cy="2100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Small cells → test code snippets, view outputs instantly</a:t>
            </a:r>
            <a:endParaRPr i="0" sz="1000" u="none" cap="none" strike="noStrike">
              <a:latin typeface="Century Gothic"/>
              <a:ea typeface="Century Gothic"/>
              <a:cs typeface="Century Gothic"/>
              <a:sym typeface="Century Gothic"/>
            </a:endParaRPr>
          </a:p>
        </p:txBody>
      </p:sp>
      <p:sp>
        <p:nvSpPr>
          <p:cNvPr id="903" name="Google Shape;903;p92"/>
          <p:cNvSpPr/>
          <p:nvPr/>
        </p:nvSpPr>
        <p:spPr>
          <a:xfrm>
            <a:off x="954428" y="2047133"/>
            <a:ext cx="134700" cy="808200"/>
          </a:xfrm>
          <a:prstGeom prst="roundRect">
            <a:avLst>
              <a:gd fmla="val 42020"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04" name="Google Shape;904;p92"/>
          <p:cNvSpPr/>
          <p:nvPr/>
        </p:nvSpPr>
        <p:spPr>
          <a:xfrm>
            <a:off x="1266835" y="2181755"/>
            <a:ext cx="25392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Document experiments</a:t>
            </a:r>
            <a:endParaRPr i="0" sz="1300" u="none" cap="none" strike="noStrike">
              <a:latin typeface="Century Gothic"/>
              <a:ea typeface="Century Gothic"/>
              <a:cs typeface="Century Gothic"/>
              <a:sym typeface="Century Gothic"/>
            </a:endParaRPr>
          </a:p>
        </p:txBody>
      </p:sp>
      <p:sp>
        <p:nvSpPr>
          <p:cNvPr id="905" name="Google Shape;905;p92"/>
          <p:cNvSpPr/>
          <p:nvPr/>
        </p:nvSpPr>
        <p:spPr>
          <a:xfrm>
            <a:off x="1266835" y="2468845"/>
            <a:ext cx="5801400" cy="2100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Combine code, markdown, visuals, and results in one file</a:t>
            </a:r>
            <a:endParaRPr i="0" sz="1000" u="none" cap="none" strike="noStrike">
              <a:latin typeface="Century Gothic"/>
              <a:ea typeface="Century Gothic"/>
              <a:cs typeface="Century Gothic"/>
              <a:sym typeface="Century Gothic"/>
            </a:endParaRPr>
          </a:p>
        </p:txBody>
      </p:sp>
      <p:sp>
        <p:nvSpPr>
          <p:cNvPr id="906" name="Google Shape;906;p92"/>
          <p:cNvSpPr/>
          <p:nvPr/>
        </p:nvSpPr>
        <p:spPr>
          <a:xfrm>
            <a:off x="1156463" y="2983113"/>
            <a:ext cx="134700" cy="808200"/>
          </a:xfrm>
          <a:prstGeom prst="roundRect">
            <a:avLst>
              <a:gd fmla="val 42020"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07" name="Google Shape;907;p92"/>
          <p:cNvSpPr/>
          <p:nvPr/>
        </p:nvSpPr>
        <p:spPr>
          <a:xfrm>
            <a:off x="1542087" y="3117735"/>
            <a:ext cx="2293800" cy="21030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Share &amp; reproduce</a:t>
            </a:r>
            <a:endParaRPr i="0" sz="1300" u="none" cap="none" strike="noStrike">
              <a:latin typeface="Century Gothic"/>
              <a:ea typeface="Century Gothic"/>
              <a:cs typeface="Century Gothic"/>
              <a:sym typeface="Century Gothic"/>
            </a:endParaRPr>
          </a:p>
        </p:txBody>
      </p:sp>
      <p:sp>
        <p:nvSpPr>
          <p:cNvPr id="908" name="Google Shape;908;p92"/>
          <p:cNvSpPr/>
          <p:nvPr/>
        </p:nvSpPr>
        <p:spPr>
          <a:xfrm>
            <a:off x="1542087" y="3404825"/>
            <a:ext cx="5526600" cy="2100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Export .ipynb or convert to HTML; include environment file</a:t>
            </a:r>
            <a:endParaRPr i="0" sz="1000" u="none" cap="none" strike="noStrike">
              <a:latin typeface="Century Gothic"/>
              <a:ea typeface="Century Gothic"/>
              <a:cs typeface="Century Gothic"/>
              <a:sym typeface="Century Gothic"/>
            </a:endParaRPr>
          </a:p>
        </p:txBody>
      </p:sp>
      <p:sp>
        <p:nvSpPr>
          <p:cNvPr id="909" name="Google Shape;909;p92"/>
          <p:cNvSpPr/>
          <p:nvPr/>
        </p:nvSpPr>
        <p:spPr>
          <a:xfrm>
            <a:off x="752475" y="3935100"/>
            <a:ext cx="6434400" cy="4203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Workflow example: Load data → Preprocess → Train → Evaluate → Log results</a:t>
            </a:r>
            <a:endParaRPr i="0" sz="1000" u="none" cap="none" strike="noStrike">
              <a:latin typeface="Century Gothic"/>
              <a:ea typeface="Century Gothic"/>
              <a:cs typeface="Century Gothic"/>
              <a:sym typeface="Century Gothic"/>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3" name="Shape 913"/>
        <p:cNvGrpSpPr/>
        <p:nvPr/>
      </p:nvGrpSpPr>
      <p:grpSpPr>
        <a:xfrm>
          <a:off x="0" y="0"/>
          <a:ext cx="0" cy="0"/>
          <a:chOff x="0" y="0"/>
          <a:chExt cx="0" cy="0"/>
        </a:xfrm>
      </p:grpSpPr>
      <p:sp>
        <p:nvSpPr>
          <p:cNvPr id="914" name="Google Shape;914;p9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NumPy Basics</a:t>
            </a:r>
            <a:endParaRPr sz="2000">
              <a:solidFill>
                <a:schemeClr val="dk1"/>
              </a:solidFill>
              <a:latin typeface="Century Gothic"/>
              <a:ea typeface="Century Gothic"/>
              <a:cs typeface="Century Gothic"/>
              <a:sym typeface="Century Gothic"/>
            </a:endParaRPr>
          </a:p>
        </p:txBody>
      </p:sp>
      <p:sp>
        <p:nvSpPr>
          <p:cNvPr id="915" name="Google Shape;915;p9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16" name="Google Shape;916;p93"/>
          <p:cNvSpPr/>
          <p:nvPr/>
        </p:nvSpPr>
        <p:spPr>
          <a:xfrm>
            <a:off x="752481" y="1280081"/>
            <a:ext cx="66900" cy="66900"/>
          </a:xfrm>
          <a:prstGeom prst="roundRect">
            <a:avLst>
              <a:gd fmla="val 427142" name="adj"/>
            </a:avLst>
          </a:prstGeom>
          <a:solidFill>
            <a:srgbClr val="99000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17" name="Google Shape;917;p93"/>
          <p:cNvSpPr/>
          <p:nvPr/>
        </p:nvSpPr>
        <p:spPr>
          <a:xfrm>
            <a:off x="945883" y="1208979"/>
            <a:ext cx="1674000" cy="209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ndarray</a:t>
            </a:r>
            <a:endParaRPr i="0" sz="1300" u="none" cap="none" strike="noStrike">
              <a:latin typeface="Century Gothic"/>
              <a:ea typeface="Century Gothic"/>
              <a:cs typeface="Century Gothic"/>
              <a:sym typeface="Century Gothic"/>
            </a:endParaRPr>
          </a:p>
        </p:txBody>
      </p:sp>
      <p:sp>
        <p:nvSpPr>
          <p:cNvPr id="918" name="Google Shape;918;p93"/>
          <p:cNvSpPr/>
          <p:nvPr/>
        </p:nvSpPr>
        <p:spPr>
          <a:xfrm>
            <a:off x="945870" y="1544725"/>
            <a:ext cx="3694200" cy="4167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Homogeneous N‑dimensional array — fast storage &amp; access</a:t>
            </a:r>
            <a:endParaRPr i="0" sz="1000" u="none" cap="none" strike="noStrike">
              <a:latin typeface="Century Gothic"/>
              <a:ea typeface="Century Gothic"/>
              <a:cs typeface="Century Gothic"/>
              <a:sym typeface="Century Gothic"/>
            </a:endParaRPr>
          </a:p>
        </p:txBody>
      </p:sp>
      <p:sp>
        <p:nvSpPr>
          <p:cNvPr id="919" name="Google Shape;919;p93"/>
          <p:cNvSpPr/>
          <p:nvPr/>
        </p:nvSpPr>
        <p:spPr>
          <a:xfrm>
            <a:off x="752482" y="2997852"/>
            <a:ext cx="66900" cy="66900"/>
          </a:xfrm>
          <a:prstGeom prst="roundRect">
            <a:avLst>
              <a:gd fmla="val 427142" name="adj"/>
            </a:avLst>
          </a:prstGeom>
          <a:solidFill>
            <a:srgbClr val="99000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20" name="Google Shape;920;p93"/>
          <p:cNvSpPr/>
          <p:nvPr/>
        </p:nvSpPr>
        <p:spPr>
          <a:xfrm>
            <a:off x="945884" y="2926750"/>
            <a:ext cx="1674000" cy="209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Vectorised ops</a:t>
            </a:r>
            <a:endParaRPr i="0" sz="1300" u="none" cap="none" strike="noStrike">
              <a:latin typeface="Century Gothic"/>
              <a:ea typeface="Century Gothic"/>
              <a:cs typeface="Century Gothic"/>
              <a:sym typeface="Century Gothic"/>
            </a:endParaRPr>
          </a:p>
        </p:txBody>
      </p:sp>
      <p:sp>
        <p:nvSpPr>
          <p:cNvPr id="921" name="Google Shape;921;p93"/>
          <p:cNvSpPr/>
          <p:nvPr/>
        </p:nvSpPr>
        <p:spPr>
          <a:xfrm>
            <a:off x="945876" y="3262500"/>
            <a:ext cx="4010100" cy="4167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Element-wise math, broadcasting — avoids Python loops</a:t>
            </a:r>
            <a:endParaRPr i="0" sz="1000" u="none" cap="none" strike="noStrike">
              <a:latin typeface="Century Gothic"/>
              <a:ea typeface="Century Gothic"/>
              <a:cs typeface="Century Gothic"/>
              <a:sym typeface="Century Gothic"/>
            </a:endParaRPr>
          </a:p>
        </p:txBody>
      </p:sp>
      <p:sp>
        <p:nvSpPr>
          <p:cNvPr id="922" name="Google Shape;922;p93"/>
          <p:cNvSpPr/>
          <p:nvPr/>
        </p:nvSpPr>
        <p:spPr>
          <a:xfrm>
            <a:off x="752481" y="2206585"/>
            <a:ext cx="66900" cy="66900"/>
          </a:xfrm>
          <a:prstGeom prst="roundRect">
            <a:avLst>
              <a:gd fmla="val 427142" name="adj"/>
            </a:avLst>
          </a:prstGeom>
          <a:solidFill>
            <a:srgbClr val="990000"/>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23" name="Google Shape;923;p93"/>
          <p:cNvSpPr/>
          <p:nvPr/>
        </p:nvSpPr>
        <p:spPr>
          <a:xfrm>
            <a:off x="945883" y="2135483"/>
            <a:ext cx="1674000" cy="20940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Slicing &amp; shapes</a:t>
            </a:r>
            <a:endParaRPr i="0" sz="1300" u="none" cap="none" strike="noStrike">
              <a:latin typeface="Century Gothic"/>
              <a:ea typeface="Century Gothic"/>
              <a:cs typeface="Century Gothic"/>
              <a:sym typeface="Century Gothic"/>
            </a:endParaRPr>
          </a:p>
        </p:txBody>
      </p:sp>
      <p:sp>
        <p:nvSpPr>
          <p:cNvPr id="924" name="Google Shape;924;p93"/>
          <p:cNvSpPr/>
          <p:nvPr/>
        </p:nvSpPr>
        <p:spPr>
          <a:xfrm>
            <a:off x="945883" y="2471239"/>
            <a:ext cx="5026800" cy="208200"/>
          </a:xfrm>
          <a:prstGeom prst="rect">
            <a:avLst/>
          </a:prstGeom>
          <a:noFill/>
          <a:ln>
            <a:noFill/>
          </a:ln>
        </p:spPr>
        <p:txBody>
          <a:bodyPr anchorCtr="0" anchor="t" bIns="0" lIns="0" spcFirstLastPara="1" rIns="0" wrap="square" tIns="0">
            <a:noAutofit/>
          </a:bodyPr>
          <a:lstStyle/>
          <a:p>
            <a:pPr indent="0" lvl="0" marL="0" marR="0" rtl="0" algn="l">
              <a:lnSpc>
                <a:spcPct val="157575"/>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Reshape, transpose, index subsets efficiently</a:t>
            </a:r>
            <a:endParaRPr i="0" sz="1000" u="none" cap="none" strike="noStrike">
              <a:latin typeface="Century Gothic"/>
              <a:ea typeface="Century Gothic"/>
              <a:cs typeface="Century Gothic"/>
              <a:sym typeface="Century Gothic"/>
            </a:endParaRPr>
          </a:p>
        </p:txBody>
      </p:sp>
      <p:pic>
        <p:nvPicPr>
          <p:cNvPr id="925" name="Google Shape;925;p93"/>
          <p:cNvPicPr preferRelativeResize="0"/>
          <p:nvPr/>
        </p:nvPicPr>
        <p:blipFill>
          <a:blip r:embed="rId3">
            <a:alphaModFix/>
          </a:blip>
          <a:stretch>
            <a:fillRect/>
          </a:stretch>
        </p:blipFill>
        <p:spPr>
          <a:xfrm>
            <a:off x="781138" y="3902109"/>
            <a:ext cx="5356277" cy="876867"/>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9" name="Shape 929"/>
        <p:cNvGrpSpPr/>
        <p:nvPr/>
      </p:nvGrpSpPr>
      <p:grpSpPr>
        <a:xfrm>
          <a:off x="0" y="0"/>
          <a:ext cx="0" cy="0"/>
          <a:chOff x="0" y="0"/>
          <a:chExt cx="0" cy="0"/>
        </a:xfrm>
      </p:grpSpPr>
      <p:sp>
        <p:nvSpPr>
          <p:cNvPr id="930" name="Google Shape;930;p9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NumPy — quick examples</a:t>
            </a:r>
            <a:endParaRPr sz="2000">
              <a:solidFill>
                <a:schemeClr val="dk1"/>
              </a:solidFill>
              <a:latin typeface="Century Gothic"/>
              <a:ea typeface="Century Gothic"/>
              <a:cs typeface="Century Gothic"/>
              <a:sym typeface="Century Gothic"/>
            </a:endParaRPr>
          </a:p>
        </p:txBody>
      </p:sp>
      <p:sp>
        <p:nvSpPr>
          <p:cNvPr id="931" name="Google Shape;931;p9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32" name="Google Shape;932;p94"/>
          <p:cNvSpPr/>
          <p:nvPr/>
        </p:nvSpPr>
        <p:spPr>
          <a:xfrm>
            <a:off x="752475" y="1359300"/>
            <a:ext cx="2347200" cy="1331700"/>
          </a:xfrm>
          <a:prstGeom prst="roundRect">
            <a:avLst>
              <a:gd fmla="val 4471" name="adj"/>
            </a:avLst>
          </a:prstGeom>
          <a:solidFill>
            <a:srgbClr val="FFFFFF"/>
          </a:solidFill>
          <a:ln cap="flat" cmpd="sng" w="190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33" name="Google Shape;933;p94"/>
          <p:cNvSpPr/>
          <p:nvPr/>
        </p:nvSpPr>
        <p:spPr>
          <a:xfrm>
            <a:off x="1007533" y="1520111"/>
            <a:ext cx="1837200" cy="4428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Array creation</a:t>
            </a:r>
            <a:endParaRPr i="0" sz="1400" u="none" cap="none" strike="noStrike">
              <a:latin typeface="Century Gothic"/>
              <a:ea typeface="Century Gothic"/>
              <a:cs typeface="Century Gothic"/>
              <a:sym typeface="Century Gothic"/>
            </a:endParaRPr>
          </a:p>
        </p:txBody>
      </p:sp>
      <p:sp>
        <p:nvSpPr>
          <p:cNvPr id="934" name="Google Shape;934;p94"/>
          <p:cNvSpPr/>
          <p:nvPr/>
        </p:nvSpPr>
        <p:spPr>
          <a:xfrm>
            <a:off x="1007533" y="2048084"/>
            <a:ext cx="1837200" cy="482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chemeClr val="lt1"/>
                </a:solidFill>
                <a:highlight>
                  <a:srgbClr val="980000"/>
                </a:highlight>
                <a:latin typeface="Century Gothic"/>
                <a:ea typeface="Century Gothic"/>
                <a:cs typeface="Century Gothic"/>
                <a:sym typeface="Century Gothic"/>
              </a:rPr>
              <a:t>np.array([1,2,3]) </a:t>
            </a:r>
            <a:endParaRPr i="0" sz="1100" u="none" cap="none" strike="noStrike">
              <a:solidFill>
                <a:schemeClr val="lt1"/>
              </a:solidFill>
              <a:highlight>
                <a:srgbClr val="980000"/>
              </a:highlight>
              <a:latin typeface="Century Gothic"/>
              <a:ea typeface="Century Gothic"/>
              <a:cs typeface="Century Gothic"/>
              <a:sym typeface="Century Gothic"/>
            </a:endParaRPr>
          </a:p>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rgbClr val="000000"/>
                </a:solidFill>
                <a:latin typeface="Century Gothic"/>
                <a:ea typeface="Century Gothic"/>
                <a:cs typeface="Century Gothic"/>
                <a:sym typeface="Century Gothic"/>
              </a:rPr>
              <a:t>• </a:t>
            </a:r>
            <a:r>
              <a:rPr i="0" lang="en" sz="1100" u="none" cap="none" strike="noStrike">
                <a:solidFill>
                  <a:schemeClr val="lt1"/>
                </a:solidFill>
                <a:highlight>
                  <a:srgbClr val="980000"/>
                </a:highlight>
                <a:latin typeface="Century Gothic"/>
                <a:ea typeface="Century Gothic"/>
                <a:cs typeface="Century Gothic"/>
                <a:sym typeface="Century Gothic"/>
              </a:rPr>
              <a:t>np.arange(0,10)</a:t>
            </a:r>
            <a:endParaRPr i="0" sz="1100" u="none" cap="none" strike="noStrike">
              <a:solidFill>
                <a:schemeClr val="lt1"/>
              </a:solidFill>
              <a:highlight>
                <a:srgbClr val="980000"/>
              </a:highlight>
              <a:latin typeface="Century Gothic"/>
              <a:ea typeface="Century Gothic"/>
              <a:cs typeface="Century Gothic"/>
              <a:sym typeface="Century Gothic"/>
            </a:endParaRPr>
          </a:p>
        </p:txBody>
      </p:sp>
      <p:sp>
        <p:nvSpPr>
          <p:cNvPr id="935" name="Google Shape;935;p94"/>
          <p:cNvSpPr/>
          <p:nvPr/>
        </p:nvSpPr>
        <p:spPr>
          <a:xfrm>
            <a:off x="3324298" y="1359300"/>
            <a:ext cx="2347200" cy="1331700"/>
          </a:xfrm>
          <a:prstGeom prst="roundRect">
            <a:avLst>
              <a:gd fmla="val 4471" name="adj"/>
            </a:avLst>
          </a:prstGeom>
          <a:solidFill>
            <a:srgbClr val="FFFFFF"/>
          </a:solidFill>
          <a:ln cap="flat" cmpd="sng" w="190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36" name="Google Shape;936;p94"/>
          <p:cNvSpPr/>
          <p:nvPr/>
        </p:nvSpPr>
        <p:spPr>
          <a:xfrm>
            <a:off x="3579356" y="1520111"/>
            <a:ext cx="18372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Operations</a:t>
            </a:r>
            <a:endParaRPr i="0" sz="1400" u="none" cap="none" strike="noStrike">
              <a:latin typeface="Century Gothic"/>
              <a:ea typeface="Century Gothic"/>
              <a:cs typeface="Century Gothic"/>
              <a:sym typeface="Century Gothic"/>
            </a:endParaRPr>
          </a:p>
        </p:txBody>
      </p:sp>
      <p:sp>
        <p:nvSpPr>
          <p:cNvPr id="937" name="Google Shape;937;p94"/>
          <p:cNvSpPr/>
          <p:nvPr/>
        </p:nvSpPr>
        <p:spPr>
          <a:xfrm>
            <a:off x="3579356" y="1826625"/>
            <a:ext cx="1837200" cy="468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chemeClr val="lt1"/>
                </a:solidFill>
                <a:highlight>
                  <a:srgbClr val="980000"/>
                </a:highlight>
                <a:latin typeface="Century Gothic"/>
                <a:ea typeface="Century Gothic"/>
                <a:cs typeface="Century Gothic"/>
                <a:sym typeface="Century Gothic"/>
              </a:rPr>
              <a:t>a + b</a:t>
            </a:r>
            <a:r>
              <a:rPr i="0" lang="en" sz="1100" u="none" cap="none" strike="noStrike">
                <a:solidFill>
                  <a:srgbClr val="000000"/>
                </a:solidFill>
                <a:latin typeface="Century Gothic"/>
                <a:ea typeface="Century Gothic"/>
                <a:cs typeface="Century Gothic"/>
                <a:sym typeface="Century Gothic"/>
              </a:rPr>
              <a:t> • </a:t>
            </a:r>
            <a:r>
              <a:rPr i="0" lang="en" sz="1100" u="none" cap="none" strike="noStrike">
                <a:solidFill>
                  <a:schemeClr val="lt1"/>
                </a:solidFill>
                <a:highlight>
                  <a:srgbClr val="980000"/>
                </a:highlight>
                <a:latin typeface="Century Gothic"/>
                <a:ea typeface="Century Gothic"/>
                <a:cs typeface="Century Gothic"/>
                <a:sym typeface="Century Gothic"/>
              </a:rPr>
              <a:t>a * 2 </a:t>
            </a:r>
            <a:endParaRPr i="0" sz="1100" u="none" cap="none" strike="noStrike">
              <a:solidFill>
                <a:schemeClr val="lt1"/>
              </a:solidFill>
              <a:highlight>
                <a:srgbClr val="980000"/>
              </a:highlight>
              <a:latin typeface="Century Gothic"/>
              <a:ea typeface="Century Gothic"/>
              <a:cs typeface="Century Gothic"/>
              <a:sym typeface="Century Gothic"/>
            </a:endParaRPr>
          </a:p>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rgbClr val="000000"/>
                </a:solidFill>
                <a:latin typeface="Century Gothic"/>
                <a:ea typeface="Century Gothic"/>
                <a:cs typeface="Century Gothic"/>
                <a:sym typeface="Century Gothic"/>
              </a:rPr>
              <a:t>• broadcasting</a:t>
            </a:r>
            <a:endParaRPr i="0" sz="1100" u="none" cap="none" strike="noStrike">
              <a:latin typeface="Century Gothic"/>
              <a:ea typeface="Century Gothic"/>
              <a:cs typeface="Century Gothic"/>
              <a:sym typeface="Century Gothic"/>
            </a:endParaRPr>
          </a:p>
        </p:txBody>
      </p:sp>
      <p:sp>
        <p:nvSpPr>
          <p:cNvPr id="938" name="Google Shape;938;p94"/>
          <p:cNvSpPr/>
          <p:nvPr/>
        </p:nvSpPr>
        <p:spPr>
          <a:xfrm>
            <a:off x="5896120" y="1359300"/>
            <a:ext cx="2347200" cy="1331700"/>
          </a:xfrm>
          <a:prstGeom prst="roundRect">
            <a:avLst>
              <a:gd fmla="val 4471" name="adj"/>
            </a:avLst>
          </a:prstGeom>
          <a:solidFill>
            <a:srgbClr val="FFFFFF"/>
          </a:solidFill>
          <a:ln cap="flat" cmpd="sng" w="190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sp>
        <p:nvSpPr>
          <p:cNvPr id="939" name="Google Shape;939;p94"/>
          <p:cNvSpPr/>
          <p:nvPr/>
        </p:nvSpPr>
        <p:spPr>
          <a:xfrm>
            <a:off x="6151179" y="1520111"/>
            <a:ext cx="18372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Slicing</a:t>
            </a:r>
            <a:endParaRPr i="0" sz="1400" u="none" cap="none" strike="noStrike">
              <a:latin typeface="Century Gothic"/>
              <a:ea typeface="Century Gothic"/>
              <a:cs typeface="Century Gothic"/>
              <a:sym typeface="Century Gothic"/>
            </a:endParaRPr>
          </a:p>
        </p:txBody>
      </p:sp>
      <p:sp>
        <p:nvSpPr>
          <p:cNvPr id="940" name="Google Shape;940;p94"/>
          <p:cNvSpPr/>
          <p:nvPr/>
        </p:nvSpPr>
        <p:spPr>
          <a:xfrm>
            <a:off x="6151179" y="1826625"/>
            <a:ext cx="1837200" cy="468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chemeClr val="lt1"/>
                </a:solidFill>
                <a:highlight>
                  <a:srgbClr val="980000"/>
                </a:highlight>
                <a:latin typeface="Century Gothic"/>
                <a:ea typeface="Century Gothic"/>
                <a:cs typeface="Century Gothic"/>
                <a:sym typeface="Century Gothic"/>
              </a:rPr>
              <a:t>arr[0:3] </a:t>
            </a:r>
            <a:r>
              <a:rPr i="0" lang="en" sz="1100" u="none" cap="none" strike="noStrike">
                <a:solidFill>
                  <a:srgbClr val="000000"/>
                </a:solidFill>
                <a:latin typeface="Century Gothic"/>
                <a:ea typeface="Century Gothic"/>
                <a:cs typeface="Century Gothic"/>
                <a:sym typeface="Century Gothic"/>
              </a:rPr>
              <a:t>• </a:t>
            </a:r>
            <a:r>
              <a:rPr i="0" lang="en" sz="1100" u="none" cap="none" strike="noStrike">
                <a:solidFill>
                  <a:schemeClr val="lt1"/>
                </a:solidFill>
                <a:highlight>
                  <a:srgbClr val="980000"/>
                </a:highlight>
                <a:latin typeface="Century Gothic"/>
                <a:ea typeface="Century Gothic"/>
                <a:cs typeface="Century Gothic"/>
                <a:sym typeface="Century Gothic"/>
              </a:rPr>
              <a:t>arr[:,1] </a:t>
            </a:r>
            <a:endParaRPr i="0" sz="1100" u="none" cap="none" strike="noStrike">
              <a:solidFill>
                <a:schemeClr val="lt1"/>
              </a:solidFill>
              <a:highlight>
                <a:srgbClr val="980000"/>
              </a:highlight>
              <a:latin typeface="Century Gothic"/>
              <a:ea typeface="Century Gothic"/>
              <a:cs typeface="Century Gothic"/>
              <a:sym typeface="Century Gothic"/>
            </a:endParaRPr>
          </a:p>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rgbClr val="000000"/>
                </a:solidFill>
                <a:latin typeface="Century Gothic"/>
                <a:ea typeface="Century Gothic"/>
                <a:cs typeface="Century Gothic"/>
                <a:sym typeface="Century Gothic"/>
              </a:rPr>
              <a:t>• reshape</a:t>
            </a:r>
            <a:endParaRPr i="0" sz="1100" u="none" cap="none" strike="noStrike">
              <a:latin typeface="Century Gothic"/>
              <a:ea typeface="Century Gothic"/>
              <a:cs typeface="Century Gothic"/>
              <a:sym typeface="Century Gothic"/>
            </a:endParaRPr>
          </a:p>
        </p:txBody>
      </p:sp>
      <p:sp>
        <p:nvSpPr>
          <p:cNvPr id="941" name="Google Shape;941;p94"/>
          <p:cNvSpPr/>
          <p:nvPr/>
        </p:nvSpPr>
        <p:spPr>
          <a:xfrm>
            <a:off x="752475" y="2850575"/>
            <a:ext cx="7491000" cy="2268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Varela Round"/>
              <a:buNone/>
            </a:pPr>
            <a:r>
              <a:rPr i="0" lang="en" sz="1100" u="none" cap="none" strike="noStrike">
                <a:solidFill>
                  <a:srgbClr val="000000"/>
                </a:solidFill>
                <a:latin typeface="Century Gothic"/>
                <a:ea typeface="Century Gothic"/>
                <a:cs typeface="Century Gothic"/>
                <a:sym typeface="Century Gothic"/>
              </a:rPr>
              <a:t>NumPy underpins libraries like pandas, scikit‑learn, and TensorFlow</a:t>
            </a:r>
            <a:endParaRPr i="0" sz="1100" u="none" cap="none" strike="noStrike">
              <a:latin typeface="Century Gothic"/>
              <a:ea typeface="Century Gothic"/>
              <a:cs typeface="Century Gothic"/>
              <a:sym typeface="Century Gothic"/>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5" name="Shape 945"/>
        <p:cNvGrpSpPr/>
        <p:nvPr/>
      </p:nvGrpSpPr>
      <p:grpSpPr>
        <a:xfrm>
          <a:off x="0" y="0"/>
          <a:ext cx="0" cy="0"/>
          <a:chOff x="0" y="0"/>
          <a:chExt cx="0" cy="0"/>
        </a:xfrm>
      </p:grpSpPr>
      <p:sp>
        <p:nvSpPr>
          <p:cNvPr id="946" name="Google Shape;946;p9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Pandas basics</a:t>
            </a:r>
            <a:endParaRPr sz="2000">
              <a:solidFill>
                <a:schemeClr val="dk1"/>
              </a:solidFill>
              <a:latin typeface="Century Gothic"/>
              <a:ea typeface="Century Gothic"/>
              <a:cs typeface="Century Gothic"/>
              <a:sym typeface="Century Gothic"/>
            </a:endParaRPr>
          </a:p>
        </p:txBody>
      </p:sp>
      <p:sp>
        <p:nvSpPr>
          <p:cNvPr id="947" name="Google Shape;947;p9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48" name="Google Shape;948;p95"/>
          <p:cNvSpPr/>
          <p:nvPr/>
        </p:nvSpPr>
        <p:spPr>
          <a:xfrm>
            <a:off x="752479" y="1079550"/>
            <a:ext cx="38082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DataFrame</a:t>
            </a:r>
            <a:endParaRPr i="0" sz="1400" u="none" cap="none" strike="noStrike">
              <a:latin typeface="Century Gothic"/>
              <a:ea typeface="Century Gothic"/>
              <a:cs typeface="Century Gothic"/>
              <a:sym typeface="Century Gothic"/>
            </a:endParaRPr>
          </a:p>
        </p:txBody>
      </p:sp>
      <p:sp>
        <p:nvSpPr>
          <p:cNvPr id="949" name="Google Shape;949;p95"/>
          <p:cNvSpPr/>
          <p:nvPr/>
        </p:nvSpPr>
        <p:spPr>
          <a:xfrm>
            <a:off x="752479" y="1386057"/>
            <a:ext cx="3976500" cy="4536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Varela Round"/>
              <a:buNone/>
            </a:pPr>
            <a:r>
              <a:rPr i="0" lang="en" sz="1100" u="none" cap="none" strike="noStrike">
                <a:solidFill>
                  <a:srgbClr val="000000"/>
                </a:solidFill>
                <a:latin typeface="Century Gothic"/>
                <a:ea typeface="Century Gothic"/>
                <a:cs typeface="Century Gothic"/>
                <a:sym typeface="Century Gothic"/>
              </a:rPr>
              <a:t>Tabular data structure — labelled rows &amp; columns</a:t>
            </a:r>
            <a:endParaRPr i="0" sz="1100" u="none" cap="none" strike="noStrike">
              <a:latin typeface="Century Gothic"/>
              <a:ea typeface="Century Gothic"/>
              <a:cs typeface="Century Gothic"/>
              <a:sym typeface="Century Gothic"/>
            </a:endParaRPr>
          </a:p>
        </p:txBody>
      </p:sp>
      <p:sp>
        <p:nvSpPr>
          <p:cNvPr id="950" name="Google Shape;950;p95"/>
          <p:cNvSpPr/>
          <p:nvPr/>
        </p:nvSpPr>
        <p:spPr>
          <a:xfrm>
            <a:off x="752465" y="1924750"/>
            <a:ext cx="34584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Exploration</a:t>
            </a:r>
            <a:endParaRPr i="0" sz="1400" u="none" cap="none" strike="noStrike">
              <a:latin typeface="Century Gothic"/>
              <a:ea typeface="Century Gothic"/>
              <a:cs typeface="Century Gothic"/>
              <a:sym typeface="Century Gothic"/>
            </a:endParaRPr>
          </a:p>
        </p:txBody>
      </p:sp>
      <p:sp>
        <p:nvSpPr>
          <p:cNvPr id="951" name="Google Shape;951;p95"/>
          <p:cNvSpPr/>
          <p:nvPr/>
        </p:nvSpPr>
        <p:spPr>
          <a:xfrm>
            <a:off x="752465" y="2231257"/>
            <a:ext cx="3611100" cy="4680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Consolas"/>
              <a:buNone/>
            </a:pPr>
            <a:r>
              <a:rPr i="0" lang="en" sz="1100" u="none" cap="none" strike="noStrike">
                <a:solidFill>
                  <a:schemeClr val="lt1"/>
                </a:solidFill>
                <a:highlight>
                  <a:srgbClr val="980000"/>
                </a:highlight>
                <a:latin typeface="Century Gothic"/>
                <a:ea typeface="Century Gothic"/>
                <a:cs typeface="Century Gothic"/>
                <a:sym typeface="Century Gothic"/>
              </a:rPr>
              <a:t>df.describe(),</a:t>
            </a:r>
            <a:r>
              <a:rPr i="0" lang="en" sz="1100" u="none" cap="none" strike="noStrike">
                <a:solidFill>
                  <a:srgbClr val="000000"/>
                </a:solidFill>
                <a:latin typeface="Century Gothic"/>
                <a:ea typeface="Century Gothic"/>
                <a:cs typeface="Century Gothic"/>
                <a:sym typeface="Century Gothic"/>
              </a:rPr>
              <a:t> </a:t>
            </a:r>
            <a:r>
              <a:rPr i="0" lang="en" sz="1100" u="none" cap="none" strike="noStrike">
                <a:solidFill>
                  <a:schemeClr val="lt1"/>
                </a:solidFill>
                <a:highlight>
                  <a:srgbClr val="980000"/>
                </a:highlight>
                <a:latin typeface="Century Gothic"/>
                <a:ea typeface="Century Gothic"/>
                <a:cs typeface="Century Gothic"/>
                <a:sym typeface="Century Gothic"/>
              </a:rPr>
              <a:t>df.info()</a:t>
            </a:r>
            <a:r>
              <a:rPr i="0" lang="en" sz="1100" u="none" cap="none" strike="noStrike">
                <a:solidFill>
                  <a:srgbClr val="000000"/>
                </a:solidFill>
                <a:latin typeface="Century Gothic"/>
                <a:ea typeface="Century Gothic"/>
                <a:cs typeface="Century Gothic"/>
                <a:sym typeface="Century Gothic"/>
              </a:rPr>
              <a:t>, missing value checks</a:t>
            </a:r>
            <a:endParaRPr i="0" sz="1100" u="none" cap="none" strike="noStrike">
              <a:latin typeface="Century Gothic"/>
              <a:ea typeface="Century Gothic"/>
              <a:cs typeface="Century Gothic"/>
              <a:sym typeface="Century Gothic"/>
            </a:endParaRPr>
          </a:p>
        </p:txBody>
      </p:sp>
      <p:sp>
        <p:nvSpPr>
          <p:cNvPr id="952" name="Google Shape;952;p95"/>
          <p:cNvSpPr/>
          <p:nvPr/>
        </p:nvSpPr>
        <p:spPr>
          <a:xfrm>
            <a:off x="752476" y="2784350"/>
            <a:ext cx="4782000" cy="2214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400"/>
              <a:buFont typeface="Varela Round"/>
              <a:buNone/>
            </a:pPr>
            <a:r>
              <a:rPr b="1" i="0" lang="en" sz="1400" u="none" cap="none" strike="noStrike">
                <a:solidFill>
                  <a:srgbClr val="000000"/>
                </a:solidFill>
                <a:latin typeface="Century Gothic"/>
                <a:ea typeface="Century Gothic"/>
                <a:cs typeface="Century Gothic"/>
                <a:sym typeface="Century Gothic"/>
              </a:rPr>
              <a:t>Filtering</a:t>
            </a:r>
            <a:endParaRPr i="0" sz="1400" u="none" cap="none" strike="noStrike">
              <a:latin typeface="Century Gothic"/>
              <a:ea typeface="Century Gothic"/>
              <a:cs typeface="Century Gothic"/>
              <a:sym typeface="Century Gothic"/>
            </a:endParaRPr>
          </a:p>
        </p:txBody>
      </p:sp>
      <p:sp>
        <p:nvSpPr>
          <p:cNvPr id="953" name="Google Shape;953;p95"/>
          <p:cNvSpPr/>
          <p:nvPr/>
        </p:nvSpPr>
        <p:spPr>
          <a:xfrm>
            <a:off x="752476" y="3090857"/>
            <a:ext cx="4993200" cy="48240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100"/>
              <a:buFont typeface="Varela Round"/>
              <a:buNone/>
            </a:pPr>
            <a:r>
              <a:rPr i="0" lang="en" sz="1100" u="none" cap="none" strike="noStrike">
                <a:solidFill>
                  <a:srgbClr val="000000"/>
                </a:solidFill>
                <a:latin typeface="Century Gothic"/>
                <a:ea typeface="Century Gothic"/>
                <a:cs typeface="Century Gothic"/>
                <a:sym typeface="Century Gothic"/>
              </a:rPr>
              <a:t>Boolean masks: </a:t>
            </a:r>
            <a:r>
              <a:rPr i="0" lang="en" sz="1100" u="none" cap="none" strike="noStrike">
                <a:solidFill>
                  <a:schemeClr val="lt1"/>
                </a:solidFill>
                <a:highlight>
                  <a:srgbClr val="980000"/>
                </a:highlight>
                <a:latin typeface="Century Gothic"/>
                <a:ea typeface="Century Gothic"/>
                <a:cs typeface="Century Gothic"/>
                <a:sym typeface="Century Gothic"/>
              </a:rPr>
              <a:t>df[df.col &gt; x]</a:t>
            </a:r>
            <a:r>
              <a:rPr i="0" lang="en" sz="1100" u="none" cap="none" strike="noStrike">
                <a:solidFill>
                  <a:srgbClr val="000000"/>
                </a:solidFill>
                <a:latin typeface="Century Gothic"/>
                <a:ea typeface="Century Gothic"/>
                <a:cs typeface="Century Gothic"/>
                <a:sym typeface="Century Gothic"/>
              </a:rPr>
              <a:t>, chaining conditions</a:t>
            </a:r>
            <a:endParaRPr i="0" sz="1100" u="none" cap="none" strike="noStrike">
              <a:latin typeface="Century Gothic"/>
              <a:ea typeface="Century Gothic"/>
              <a:cs typeface="Century Gothic"/>
              <a:sym typeface="Century Gothic"/>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57" name="Shape 957"/>
        <p:cNvGrpSpPr/>
        <p:nvPr/>
      </p:nvGrpSpPr>
      <p:grpSpPr>
        <a:xfrm>
          <a:off x="0" y="0"/>
          <a:ext cx="0" cy="0"/>
          <a:chOff x="0" y="0"/>
          <a:chExt cx="0" cy="0"/>
        </a:xfrm>
      </p:grpSpPr>
      <p:sp>
        <p:nvSpPr>
          <p:cNvPr id="958" name="Google Shape;958;p9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Reading CSVs &amp; preparing features</a:t>
            </a:r>
            <a:endParaRPr sz="2000">
              <a:solidFill>
                <a:schemeClr val="dk1"/>
              </a:solidFill>
              <a:latin typeface="Century Gothic"/>
              <a:ea typeface="Century Gothic"/>
              <a:cs typeface="Century Gothic"/>
              <a:sym typeface="Century Gothic"/>
            </a:endParaRPr>
          </a:p>
        </p:txBody>
      </p:sp>
      <p:sp>
        <p:nvSpPr>
          <p:cNvPr id="959" name="Google Shape;959;p9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960" name="Google Shape;960;p96"/>
          <p:cNvSpPr/>
          <p:nvPr/>
        </p:nvSpPr>
        <p:spPr>
          <a:xfrm>
            <a:off x="752469" y="962013"/>
            <a:ext cx="287100" cy="287100"/>
          </a:xfrm>
          <a:prstGeom prst="roundRect">
            <a:avLst>
              <a:gd fmla="val 18671"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61" name="Google Shape;961;p96"/>
          <p:cNvSpPr/>
          <p:nvPr/>
        </p:nvSpPr>
        <p:spPr>
          <a:xfrm>
            <a:off x="1154304" y="1005843"/>
            <a:ext cx="1594800" cy="199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Load</a:t>
            </a:r>
            <a:endParaRPr i="0" sz="1300" u="none" cap="none" strike="noStrike">
              <a:latin typeface="Century Gothic"/>
              <a:ea typeface="Century Gothic"/>
              <a:cs typeface="Century Gothic"/>
              <a:sym typeface="Century Gothic"/>
            </a:endParaRPr>
          </a:p>
        </p:txBody>
      </p:sp>
      <p:sp>
        <p:nvSpPr>
          <p:cNvPr id="962" name="Google Shape;962;p96"/>
          <p:cNvSpPr/>
          <p:nvPr/>
        </p:nvSpPr>
        <p:spPr>
          <a:xfrm>
            <a:off x="1154304" y="1319944"/>
            <a:ext cx="2248800" cy="203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000"/>
              <a:buFont typeface="Consolas"/>
              <a:buNone/>
            </a:pPr>
            <a:r>
              <a:rPr i="0" lang="en" sz="1000" u="none" cap="none" strike="noStrike">
                <a:solidFill>
                  <a:schemeClr val="lt1"/>
                </a:solidFill>
                <a:highlight>
                  <a:srgbClr val="980000"/>
                </a:highlight>
                <a:latin typeface="Century Gothic"/>
                <a:ea typeface="Century Gothic"/>
                <a:cs typeface="Century Gothic"/>
                <a:sym typeface="Century Gothic"/>
              </a:rPr>
              <a:t>df = pd.read_csv('data.csv')</a:t>
            </a:r>
            <a:endParaRPr i="0" sz="1000" u="none" cap="none" strike="noStrike">
              <a:solidFill>
                <a:schemeClr val="lt1"/>
              </a:solidFill>
              <a:highlight>
                <a:srgbClr val="980000"/>
              </a:highlight>
              <a:latin typeface="Century Gothic"/>
              <a:ea typeface="Century Gothic"/>
              <a:cs typeface="Century Gothic"/>
              <a:sym typeface="Century Gothic"/>
            </a:endParaRPr>
          </a:p>
        </p:txBody>
      </p:sp>
      <p:sp>
        <p:nvSpPr>
          <p:cNvPr id="963" name="Google Shape;963;p96"/>
          <p:cNvSpPr/>
          <p:nvPr/>
        </p:nvSpPr>
        <p:spPr>
          <a:xfrm>
            <a:off x="752469" y="1753034"/>
            <a:ext cx="287100" cy="287100"/>
          </a:xfrm>
          <a:prstGeom prst="roundRect">
            <a:avLst>
              <a:gd fmla="val 18671"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64" name="Google Shape;964;p96"/>
          <p:cNvSpPr/>
          <p:nvPr/>
        </p:nvSpPr>
        <p:spPr>
          <a:xfrm>
            <a:off x="1154304" y="1796864"/>
            <a:ext cx="1594800" cy="199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Clean</a:t>
            </a:r>
            <a:endParaRPr i="0" sz="1300" u="none" cap="none" strike="noStrike">
              <a:latin typeface="Century Gothic"/>
              <a:ea typeface="Century Gothic"/>
              <a:cs typeface="Century Gothic"/>
              <a:sym typeface="Century Gothic"/>
            </a:endParaRPr>
          </a:p>
        </p:txBody>
      </p:sp>
      <p:sp>
        <p:nvSpPr>
          <p:cNvPr id="965" name="Google Shape;965;p96"/>
          <p:cNvSpPr/>
          <p:nvPr/>
        </p:nvSpPr>
        <p:spPr>
          <a:xfrm>
            <a:off x="1154304" y="2110966"/>
            <a:ext cx="2248800" cy="387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Handle NaNs, type conversion, drop duplicates</a:t>
            </a:r>
            <a:endParaRPr i="0" sz="1000" u="none" cap="none" strike="noStrike">
              <a:latin typeface="Century Gothic"/>
              <a:ea typeface="Century Gothic"/>
              <a:cs typeface="Century Gothic"/>
              <a:sym typeface="Century Gothic"/>
            </a:endParaRPr>
          </a:p>
        </p:txBody>
      </p:sp>
      <p:sp>
        <p:nvSpPr>
          <p:cNvPr id="966" name="Google Shape;966;p96"/>
          <p:cNvSpPr/>
          <p:nvPr/>
        </p:nvSpPr>
        <p:spPr>
          <a:xfrm>
            <a:off x="752469" y="2728454"/>
            <a:ext cx="287100" cy="287100"/>
          </a:xfrm>
          <a:prstGeom prst="roundRect">
            <a:avLst>
              <a:gd fmla="val 18671" name="adj"/>
            </a:avLst>
          </a:prstGeom>
          <a:solidFill>
            <a:srgbClr val="FFCCCC"/>
          </a:solidFill>
          <a:ln cap="flat" cmpd="sng" w="5950">
            <a:solidFill>
              <a:srgbClr val="E5B2B2"/>
            </a:solidFill>
            <a:prstDash val="solid"/>
            <a:round/>
            <a:headEnd len="sm" w="sm" type="none"/>
            <a:tailEnd len="sm" w="sm" type="none"/>
          </a:ln>
        </p:spPr>
        <p:txBody>
          <a:bodyPr anchorCtr="0" anchor="ctr" bIns="57150" lIns="57150" spcFirstLastPara="1" rIns="57150" wrap="square" tIns="57150">
            <a:noAutofit/>
          </a:bodyPr>
          <a:lstStyle/>
          <a:p>
            <a:pPr indent="0" lvl="0" marL="0" rtl="0" algn="l">
              <a:spcBef>
                <a:spcPts val="0"/>
              </a:spcBef>
              <a:spcAft>
                <a:spcPts val="0"/>
              </a:spcAft>
              <a:buNone/>
            </a:pPr>
            <a:r>
              <a:t/>
            </a:r>
            <a:endParaRPr/>
          </a:p>
        </p:txBody>
      </p:sp>
      <p:sp>
        <p:nvSpPr>
          <p:cNvPr id="967" name="Google Shape;967;p96"/>
          <p:cNvSpPr/>
          <p:nvPr/>
        </p:nvSpPr>
        <p:spPr>
          <a:xfrm>
            <a:off x="1154304" y="2772284"/>
            <a:ext cx="1594800" cy="199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300"/>
              <a:buFont typeface="Varela Round"/>
              <a:buNone/>
            </a:pPr>
            <a:r>
              <a:rPr b="1" i="0" lang="en" sz="1300" u="none" cap="none" strike="noStrike">
                <a:solidFill>
                  <a:srgbClr val="000000"/>
                </a:solidFill>
                <a:latin typeface="Century Gothic"/>
                <a:ea typeface="Century Gothic"/>
                <a:cs typeface="Century Gothic"/>
                <a:sym typeface="Century Gothic"/>
              </a:rPr>
              <a:t>Features</a:t>
            </a:r>
            <a:endParaRPr i="0" sz="1300" u="none" cap="none" strike="noStrike">
              <a:latin typeface="Century Gothic"/>
              <a:ea typeface="Century Gothic"/>
              <a:cs typeface="Century Gothic"/>
              <a:sym typeface="Century Gothic"/>
            </a:endParaRPr>
          </a:p>
        </p:txBody>
      </p:sp>
      <p:sp>
        <p:nvSpPr>
          <p:cNvPr id="968" name="Google Shape;968;p96"/>
          <p:cNvSpPr/>
          <p:nvPr/>
        </p:nvSpPr>
        <p:spPr>
          <a:xfrm>
            <a:off x="1154304" y="3086386"/>
            <a:ext cx="2248800" cy="3879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Encode categoricals, scale numerics, create derived cols</a:t>
            </a:r>
            <a:endParaRPr i="0" sz="1000" u="none" cap="none" strike="noStrike">
              <a:latin typeface="Century Gothic"/>
              <a:ea typeface="Century Gothic"/>
              <a:cs typeface="Century Gothic"/>
              <a:sym typeface="Century Gothic"/>
            </a:endParaRPr>
          </a:p>
        </p:txBody>
      </p:sp>
      <p:sp>
        <p:nvSpPr>
          <p:cNvPr id="969" name="Google Shape;969;p96"/>
          <p:cNvSpPr/>
          <p:nvPr/>
        </p:nvSpPr>
        <p:spPr>
          <a:xfrm>
            <a:off x="752475" y="3779925"/>
            <a:ext cx="7609800" cy="517200"/>
          </a:xfrm>
          <a:prstGeom prst="roundRect">
            <a:avLst>
              <a:gd fmla="val 10362" name="adj"/>
            </a:avLst>
          </a:prstGeom>
          <a:solidFill>
            <a:srgbClr val="FFB3B3"/>
          </a:solidFill>
          <a:ln>
            <a:noFill/>
          </a:ln>
        </p:spPr>
        <p:txBody>
          <a:bodyPr anchorCtr="0" anchor="ctr" bIns="57150" lIns="57150" spcFirstLastPara="1" rIns="57150" wrap="square" tIns="57150">
            <a:noAutofit/>
          </a:bodyPr>
          <a:lstStyle/>
          <a:p>
            <a:pPr indent="0" lvl="0" marL="0" rtl="0" algn="l">
              <a:spcBef>
                <a:spcPts val="0"/>
              </a:spcBef>
              <a:spcAft>
                <a:spcPts val="0"/>
              </a:spcAft>
              <a:buNone/>
            </a:pPr>
            <a:r>
              <a:t/>
            </a:r>
            <a:endParaRPr>
              <a:latin typeface="Century Gothic"/>
              <a:ea typeface="Century Gothic"/>
              <a:cs typeface="Century Gothic"/>
              <a:sym typeface="Century Gothic"/>
            </a:endParaRPr>
          </a:p>
        </p:txBody>
      </p:sp>
      <p:pic>
        <p:nvPicPr>
          <p:cNvPr descr="preencoded.png" id="970" name="Google Shape;970;p96"/>
          <p:cNvPicPr preferRelativeResize="0"/>
          <p:nvPr/>
        </p:nvPicPr>
        <p:blipFill rotWithShape="1">
          <a:blip r:embed="rId3">
            <a:alphaModFix/>
          </a:blip>
          <a:srcRect b="0" l="0" r="0" t="0"/>
          <a:stretch/>
        </p:blipFill>
        <p:spPr>
          <a:xfrm>
            <a:off x="880014" y="3961048"/>
            <a:ext cx="159469" cy="127546"/>
          </a:xfrm>
          <a:prstGeom prst="rect">
            <a:avLst/>
          </a:prstGeom>
          <a:noFill/>
          <a:ln>
            <a:noFill/>
          </a:ln>
        </p:spPr>
      </p:pic>
      <p:sp>
        <p:nvSpPr>
          <p:cNvPr id="971" name="Google Shape;971;p96"/>
          <p:cNvSpPr/>
          <p:nvPr/>
        </p:nvSpPr>
        <p:spPr>
          <a:xfrm>
            <a:off x="1167029" y="3926594"/>
            <a:ext cx="7609800" cy="2034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000000"/>
              </a:buClr>
              <a:buSzPts val="1000"/>
              <a:buFont typeface="Varela Round"/>
              <a:buNone/>
            </a:pPr>
            <a:r>
              <a:rPr i="0" lang="en" sz="1000" u="none" cap="none" strike="noStrike">
                <a:solidFill>
                  <a:srgbClr val="000000"/>
                </a:solidFill>
                <a:latin typeface="Century Gothic"/>
                <a:ea typeface="Century Gothic"/>
                <a:cs typeface="Century Gothic"/>
                <a:sym typeface="Century Gothic"/>
              </a:rPr>
              <a:t>Save prepared features: </a:t>
            </a:r>
            <a:r>
              <a:rPr i="0" lang="en" sz="1000" u="none" cap="none" strike="noStrike">
                <a:solidFill>
                  <a:srgbClr val="980000"/>
                </a:solidFill>
                <a:highlight>
                  <a:schemeClr val="lt1"/>
                </a:highlight>
                <a:latin typeface="Century Gothic"/>
                <a:ea typeface="Century Gothic"/>
                <a:cs typeface="Century Gothic"/>
                <a:sym typeface="Century Gothic"/>
              </a:rPr>
              <a:t>df.to_csv('features.csv', index=False)</a:t>
            </a:r>
            <a:endParaRPr i="0" sz="1000" u="none" cap="none" strike="noStrike">
              <a:solidFill>
                <a:srgbClr val="980000"/>
              </a:solidFill>
              <a:highlight>
                <a:schemeClr val="lt1"/>
              </a:highlight>
              <a:latin typeface="Century Gothic"/>
              <a:ea typeface="Century Gothic"/>
              <a:cs typeface="Century Gothic"/>
              <a:sym typeface="Century Gothic"/>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75" name="Shape 975"/>
        <p:cNvGrpSpPr/>
        <p:nvPr/>
      </p:nvGrpSpPr>
      <p:grpSpPr>
        <a:xfrm>
          <a:off x="0" y="0"/>
          <a:ext cx="0" cy="0"/>
          <a:chOff x="0" y="0"/>
          <a:chExt cx="0" cy="0"/>
        </a:xfrm>
      </p:grpSpPr>
      <p:cxnSp>
        <p:nvCxnSpPr>
          <p:cNvPr id="976" name="Google Shape;976;p97"/>
          <p:cNvCxnSpPr/>
          <p:nvPr/>
        </p:nvCxnSpPr>
        <p:spPr>
          <a:xfrm>
            <a:off x="2358131" y="683550"/>
            <a:ext cx="0" cy="3776400"/>
          </a:xfrm>
          <a:prstGeom prst="straightConnector1">
            <a:avLst/>
          </a:prstGeom>
          <a:noFill/>
          <a:ln cap="flat" cmpd="sng" w="9525">
            <a:solidFill>
              <a:srgbClr val="000000"/>
            </a:solidFill>
            <a:prstDash val="solid"/>
            <a:miter lim="800000"/>
            <a:headEnd len="sm" w="sm" type="none"/>
            <a:tailEnd len="sm" w="sm" type="none"/>
          </a:ln>
        </p:spPr>
      </p:cxnSp>
      <p:sp>
        <p:nvSpPr>
          <p:cNvPr id="977" name="Google Shape;977;p9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Clr>
                <a:srgbClr val="000000"/>
              </a:buClr>
              <a:buFont typeface="Arial"/>
              <a:buNone/>
            </a:pPr>
            <a:fld id="{00000000-1234-1234-1234-123412341234}" type="slidenum">
              <a:rPr lang="en"/>
              <a:t>‹#›</a:t>
            </a:fld>
            <a:endParaRPr/>
          </a:p>
        </p:txBody>
      </p:sp>
      <p:sp>
        <p:nvSpPr>
          <p:cNvPr id="978" name="Google Shape;978;p97"/>
          <p:cNvSpPr/>
          <p:nvPr/>
        </p:nvSpPr>
        <p:spPr>
          <a:xfrm rot="-5400000">
            <a:off x="716856" y="2364036"/>
            <a:ext cx="2622300" cy="415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2700">
                <a:latin typeface="Trebuchet MS"/>
                <a:ea typeface="Trebuchet MS"/>
                <a:cs typeface="Trebuchet MS"/>
                <a:sym typeface="Trebuchet MS"/>
              </a:rPr>
              <a:t>AGENDA</a:t>
            </a:r>
            <a:r>
              <a:rPr lang="en" sz="2700">
                <a:latin typeface="Trebuchet MS"/>
                <a:ea typeface="Trebuchet MS"/>
                <a:cs typeface="Trebuchet MS"/>
                <a:sym typeface="Trebuchet MS"/>
              </a:rPr>
              <a:t> </a:t>
            </a:r>
            <a:endParaRPr sz="1100">
              <a:latin typeface="Trebuchet MS"/>
              <a:ea typeface="Trebuchet MS"/>
              <a:cs typeface="Trebuchet MS"/>
              <a:sym typeface="Trebuchet MS"/>
            </a:endParaRPr>
          </a:p>
        </p:txBody>
      </p:sp>
      <p:pic>
        <p:nvPicPr>
          <p:cNvPr id="979" name="Google Shape;979;p97"/>
          <p:cNvPicPr preferRelativeResize="0"/>
          <p:nvPr/>
        </p:nvPicPr>
        <p:blipFill rotWithShape="1">
          <a:blip r:embed="rId3">
            <a:alphaModFix/>
          </a:blip>
          <a:srcRect b="0" l="34609" r="33565" t="5330"/>
          <a:stretch/>
        </p:blipFill>
        <p:spPr>
          <a:xfrm>
            <a:off x="549281" y="604350"/>
            <a:ext cx="1198838" cy="3946389"/>
          </a:xfrm>
          <a:prstGeom prst="rect">
            <a:avLst/>
          </a:prstGeom>
          <a:noFill/>
          <a:ln>
            <a:noFill/>
          </a:ln>
        </p:spPr>
      </p:pic>
      <p:sp>
        <p:nvSpPr>
          <p:cNvPr id="980" name="Google Shape;980;p97"/>
          <p:cNvSpPr/>
          <p:nvPr/>
        </p:nvSpPr>
        <p:spPr>
          <a:xfrm>
            <a:off x="2737850" y="822800"/>
            <a:ext cx="5551800" cy="2622300"/>
          </a:xfrm>
          <a:prstGeom prst="rect">
            <a:avLst/>
          </a:prstGeom>
          <a:noFill/>
          <a:ln>
            <a:noFill/>
          </a:ln>
        </p:spPr>
        <p:txBody>
          <a:bodyPr anchorCtr="0" anchor="ctr" bIns="0" lIns="0" spcFirstLastPara="1" rIns="0" wrap="square" tIns="0">
            <a:noAutofit/>
          </a:bodyPr>
          <a:lstStyle/>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Introduction to AI &amp; Machine Learning Fundamentals</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Data, Preprocessing, and Exploratory Data Analysis (EDA)</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0"/>
              </a:spcAft>
              <a:buClr>
                <a:srgbClr val="5D5D5D"/>
              </a:buClr>
              <a:buSzPts val="1200"/>
              <a:buFont typeface="Trebuchet MS"/>
              <a:buChar char="●"/>
            </a:pPr>
            <a:r>
              <a:rPr lang="en" sz="1200">
                <a:solidFill>
                  <a:srgbClr val="5D5D5D"/>
                </a:solidFill>
                <a:latin typeface="Trebuchet MS"/>
                <a:ea typeface="Trebuchet MS"/>
                <a:cs typeface="Trebuchet MS"/>
                <a:sym typeface="Trebuchet MS"/>
              </a:rPr>
              <a:t>Python for Machine Learning</a:t>
            </a:r>
            <a:endParaRPr sz="1200">
              <a:solidFill>
                <a:srgbClr val="5D5D5D"/>
              </a:solidFill>
              <a:latin typeface="Trebuchet MS"/>
              <a:ea typeface="Trebuchet MS"/>
              <a:cs typeface="Trebuchet MS"/>
              <a:sym typeface="Trebuchet MS"/>
            </a:endParaRPr>
          </a:p>
          <a:p>
            <a:pPr indent="-241300" lvl="0" marL="342900" rtl="0" algn="l">
              <a:lnSpc>
                <a:spcPct val="200000"/>
              </a:lnSpc>
              <a:spcBef>
                <a:spcPts val="800"/>
              </a:spcBef>
              <a:spcAft>
                <a:spcPts val="800"/>
              </a:spcAft>
              <a:buClr>
                <a:schemeClr val="dk1"/>
              </a:buClr>
              <a:buSzPts val="1200"/>
              <a:buFont typeface="Trebuchet MS"/>
              <a:buChar char="●"/>
            </a:pPr>
            <a:r>
              <a:rPr lang="en" sz="1200">
                <a:solidFill>
                  <a:schemeClr val="dk1"/>
                </a:solidFill>
                <a:latin typeface="Trebuchet MS"/>
                <a:ea typeface="Trebuchet MS"/>
                <a:cs typeface="Trebuchet MS"/>
                <a:sym typeface="Trebuchet MS"/>
              </a:rPr>
              <a:t> Regression – Simple Linear Regression</a:t>
            </a:r>
            <a:endParaRPr sz="1200">
              <a:solidFill>
                <a:schemeClr val="dk1"/>
              </a:solidFill>
              <a:latin typeface="Trebuchet MS"/>
              <a:ea typeface="Trebuchet MS"/>
              <a:cs typeface="Trebuchet MS"/>
              <a:sym typeface="Trebuchet MS"/>
            </a:endParaRPr>
          </a:p>
        </p:txBody>
      </p:sp>
      <p:pic>
        <p:nvPicPr>
          <p:cNvPr id="981" name="Google Shape;981;p97"/>
          <p:cNvPicPr preferRelativeResize="0"/>
          <p:nvPr/>
        </p:nvPicPr>
        <p:blipFill>
          <a:blip r:embed="rId4">
            <a:alphaModFix/>
          </a:blip>
          <a:stretch>
            <a:fillRect/>
          </a:stretch>
        </p:blipFill>
        <p:spPr>
          <a:xfrm>
            <a:off x="2565731" y="2671756"/>
            <a:ext cx="172125" cy="172125"/>
          </a:xfrm>
          <a:prstGeom prst="rect">
            <a:avLst/>
          </a:prstGeom>
          <a:noFill/>
          <a:ln>
            <a:noFill/>
          </a:ln>
        </p:spPr>
      </p:pic>
      <p:pic>
        <p:nvPicPr>
          <p:cNvPr id="982" name="Google Shape;982;p97"/>
          <p:cNvPicPr preferRelativeResize="0"/>
          <p:nvPr/>
        </p:nvPicPr>
        <p:blipFill rotWithShape="1">
          <a:blip r:embed="rId5">
            <a:alphaModFix amt="10000"/>
          </a:blip>
          <a:srcRect b="0" l="0" r="48909" t="0"/>
          <a:stretch/>
        </p:blipFill>
        <p:spPr>
          <a:xfrm>
            <a:off x="7159192" y="771525"/>
            <a:ext cx="1795377" cy="3514106"/>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986" name="Shape 986"/>
        <p:cNvGrpSpPr/>
        <p:nvPr/>
      </p:nvGrpSpPr>
      <p:grpSpPr>
        <a:xfrm>
          <a:off x="0" y="0"/>
          <a:ext cx="0" cy="0"/>
          <a:chOff x="0" y="0"/>
          <a:chExt cx="0" cy="0"/>
        </a:xfrm>
      </p:grpSpPr>
      <p:sp>
        <p:nvSpPr>
          <p:cNvPr id="987" name="Google Shape;987;p98"/>
          <p:cNvSpPr txBox="1"/>
          <p:nvPr>
            <p:ph idx="4294967295"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Regression based Algorithms</a:t>
            </a:r>
            <a:endParaRPr>
              <a:solidFill>
                <a:schemeClr val="dk1"/>
              </a:solidFill>
            </a:endParaRPr>
          </a:p>
        </p:txBody>
      </p:sp>
      <p:sp>
        <p:nvSpPr>
          <p:cNvPr id="988" name="Google Shape;988;p98"/>
          <p:cNvSpPr/>
          <p:nvPr/>
        </p:nvSpPr>
        <p:spPr>
          <a:xfrm>
            <a:off x="3203400" y="1151875"/>
            <a:ext cx="2737200" cy="410700"/>
          </a:xfrm>
          <a:prstGeom prst="rect">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Generalized Linear Models</a:t>
            </a:r>
            <a:endParaRPr b="1">
              <a:solidFill>
                <a:srgbClr val="FFFFFF"/>
              </a:solidFill>
            </a:endParaRPr>
          </a:p>
        </p:txBody>
      </p:sp>
      <p:sp>
        <p:nvSpPr>
          <p:cNvPr id="989" name="Google Shape;989;p98"/>
          <p:cNvSpPr/>
          <p:nvPr/>
        </p:nvSpPr>
        <p:spPr>
          <a:xfrm>
            <a:off x="885750" y="216105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Linear</a:t>
            </a:r>
            <a:endParaRPr b="1">
              <a:solidFill>
                <a:srgbClr val="FFFFFF"/>
              </a:solidFill>
            </a:endParaRPr>
          </a:p>
        </p:txBody>
      </p:sp>
      <p:sp>
        <p:nvSpPr>
          <p:cNvPr id="990" name="Google Shape;990;p98"/>
          <p:cNvSpPr/>
          <p:nvPr/>
        </p:nvSpPr>
        <p:spPr>
          <a:xfrm>
            <a:off x="2415000" y="216105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Lasso</a:t>
            </a:r>
            <a:endParaRPr b="1">
              <a:solidFill>
                <a:srgbClr val="FFFFFF"/>
              </a:solidFill>
            </a:endParaRPr>
          </a:p>
        </p:txBody>
      </p:sp>
      <p:sp>
        <p:nvSpPr>
          <p:cNvPr id="991" name="Google Shape;991;p98"/>
          <p:cNvSpPr/>
          <p:nvPr/>
        </p:nvSpPr>
        <p:spPr>
          <a:xfrm>
            <a:off x="3944250" y="216105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Logistic</a:t>
            </a:r>
            <a:endParaRPr b="1">
              <a:solidFill>
                <a:srgbClr val="FFFFFF"/>
              </a:solidFill>
            </a:endParaRPr>
          </a:p>
        </p:txBody>
      </p:sp>
      <p:sp>
        <p:nvSpPr>
          <p:cNvPr id="992" name="Google Shape;992;p98"/>
          <p:cNvSpPr/>
          <p:nvPr/>
        </p:nvSpPr>
        <p:spPr>
          <a:xfrm>
            <a:off x="5473500" y="2161050"/>
            <a:ext cx="12555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Multivariate</a:t>
            </a:r>
            <a:endParaRPr b="1">
              <a:solidFill>
                <a:srgbClr val="FFFFFF"/>
              </a:solidFill>
            </a:endParaRPr>
          </a:p>
        </p:txBody>
      </p:sp>
      <p:sp>
        <p:nvSpPr>
          <p:cNvPr id="993" name="Google Shape;993;p98"/>
          <p:cNvSpPr/>
          <p:nvPr/>
        </p:nvSpPr>
        <p:spPr>
          <a:xfrm>
            <a:off x="7143450" y="216105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Multiple</a:t>
            </a:r>
            <a:endParaRPr b="1">
              <a:solidFill>
                <a:srgbClr val="FFFFFF"/>
              </a:solidFill>
            </a:endParaRPr>
          </a:p>
        </p:txBody>
      </p:sp>
      <p:cxnSp>
        <p:nvCxnSpPr>
          <p:cNvPr id="994" name="Google Shape;994;p98"/>
          <p:cNvCxnSpPr>
            <a:stCxn id="988" idx="2"/>
            <a:endCxn id="989" idx="0"/>
          </p:cNvCxnSpPr>
          <p:nvPr/>
        </p:nvCxnSpPr>
        <p:spPr>
          <a:xfrm rot="5400000">
            <a:off x="2708400" y="297475"/>
            <a:ext cx="598500" cy="3128700"/>
          </a:xfrm>
          <a:prstGeom prst="bentConnector3">
            <a:avLst>
              <a:gd fmla="val 49998" name="adj1"/>
            </a:avLst>
          </a:prstGeom>
          <a:noFill/>
          <a:ln cap="flat" cmpd="sng" w="19050">
            <a:solidFill>
              <a:srgbClr val="434343"/>
            </a:solidFill>
            <a:prstDash val="solid"/>
            <a:round/>
            <a:headEnd len="med" w="med" type="none"/>
            <a:tailEnd len="med" w="med" type="triangle"/>
          </a:ln>
        </p:spPr>
      </p:cxnSp>
      <p:cxnSp>
        <p:nvCxnSpPr>
          <p:cNvPr id="995" name="Google Shape;995;p98"/>
          <p:cNvCxnSpPr>
            <a:stCxn id="988" idx="2"/>
            <a:endCxn id="993" idx="0"/>
          </p:cNvCxnSpPr>
          <p:nvPr/>
        </p:nvCxnSpPr>
        <p:spPr>
          <a:xfrm flipH="1" rot="-5400000">
            <a:off x="5837250" y="297325"/>
            <a:ext cx="598500" cy="3129000"/>
          </a:xfrm>
          <a:prstGeom prst="bentConnector3">
            <a:avLst>
              <a:gd fmla="val 49998" name="adj1"/>
            </a:avLst>
          </a:prstGeom>
          <a:noFill/>
          <a:ln cap="flat" cmpd="sng" w="19050">
            <a:solidFill>
              <a:srgbClr val="434343"/>
            </a:solidFill>
            <a:prstDash val="solid"/>
            <a:round/>
            <a:headEnd len="med" w="med" type="none"/>
            <a:tailEnd len="med" w="med" type="triangle"/>
          </a:ln>
        </p:spPr>
      </p:cxnSp>
      <p:cxnSp>
        <p:nvCxnSpPr>
          <p:cNvPr id="996" name="Google Shape;996;p98"/>
          <p:cNvCxnSpPr>
            <a:stCxn id="988" idx="2"/>
            <a:endCxn id="992" idx="0"/>
          </p:cNvCxnSpPr>
          <p:nvPr/>
        </p:nvCxnSpPr>
        <p:spPr>
          <a:xfrm flipH="1" rot="-5400000">
            <a:off x="5037450" y="1097125"/>
            <a:ext cx="598500" cy="1529400"/>
          </a:xfrm>
          <a:prstGeom prst="bentConnector3">
            <a:avLst>
              <a:gd fmla="val 49998" name="adj1"/>
            </a:avLst>
          </a:prstGeom>
          <a:noFill/>
          <a:ln cap="flat" cmpd="sng" w="19050">
            <a:solidFill>
              <a:srgbClr val="434343"/>
            </a:solidFill>
            <a:prstDash val="solid"/>
            <a:round/>
            <a:headEnd len="med" w="med" type="none"/>
            <a:tailEnd len="med" w="med" type="triangle"/>
          </a:ln>
        </p:spPr>
      </p:cxnSp>
      <p:cxnSp>
        <p:nvCxnSpPr>
          <p:cNvPr id="997" name="Google Shape;997;p98"/>
          <p:cNvCxnSpPr>
            <a:stCxn id="988" idx="2"/>
            <a:endCxn id="990" idx="0"/>
          </p:cNvCxnSpPr>
          <p:nvPr/>
        </p:nvCxnSpPr>
        <p:spPr>
          <a:xfrm rot="5400000">
            <a:off x="3472950" y="1062025"/>
            <a:ext cx="598500" cy="1599600"/>
          </a:xfrm>
          <a:prstGeom prst="bentConnector3">
            <a:avLst>
              <a:gd fmla="val 49998" name="adj1"/>
            </a:avLst>
          </a:prstGeom>
          <a:noFill/>
          <a:ln cap="flat" cmpd="sng" w="19050">
            <a:solidFill>
              <a:srgbClr val="434343"/>
            </a:solidFill>
            <a:prstDash val="solid"/>
            <a:round/>
            <a:headEnd len="med" w="med" type="none"/>
            <a:tailEnd len="med" w="med" type="triangle"/>
          </a:ln>
        </p:spPr>
      </p:cxnSp>
      <p:cxnSp>
        <p:nvCxnSpPr>
          <p:cNvPr id="998" name="Google Shape;998;p98"/>
          <p:cNvCxnSpPr>
            <a:stCxn id="988" idx="2"/>
            <a:endCxn id="991" idx="0"/>
          </p:cNvCxnSpPr>
          <p:nvPr/>
        </p:nvCxnSpPr>
        <p:spPr>
          <a:xfrm rot="5400000">
            <a:off x="4237500" y="1826575"/>
            <a:ext cx="598500" cy="70500"/>
          </a:xfrm>
          <a:prstGeom prst="bentConnector3">
            <a:avLst>
              <a:gd fmla="val 49998" name="adj1"/>
            </a:avLst>
          </a:prstGeom>
          <a:noFill/>
          <a:ln cap="flat" cmpd="sng" w="19050">
            <a:solidFill>
              <a:srgbClr val="434343"/>
            </a:solidFill>
            <a:prstDash val="solid"/>
            <a:round/>
            <a:headEnd len="med" w="med" type="none"/>
            <a:tailEnd len="med" w="med" type="triangle"/>
          </a:ln>
        </p:spPr>
      </p:cxnSp>
      <p:sp>
        <p:nvSpPr>
          <p:cNvPr id="999" name="Google Shape;999;p98"/>
          <p:cNvSpPr txBox="1"/>
          <p:nvPr/>
        </p:nvSpPr>
        <p:spPr>
          <a:xfrm>
            <a:off x="6914850" y="2695275"/>
            <a:ext cx="1829100" cy="8004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Char char="●"/>
            </a:pPr>
            <a:r>
              <a:rPr i="1" lang="en" sz="1000"/>
              <a:t>Behavioural Analysis</a:t>
            </a:r>
            <a:endParaRPr i="1" sz="1000"/>
          </a:p>
          <a:p>
            <a:pPr indent="-292100" lvl="0" marL="457200" rtl="0" algn="l">
              <a:lnSpc>
                <a:spcPct val="150000"/>
              </a:lnSpc>
              <a:spcBef>
                <a:spcPts val="0"/>
              </a:spcBef>
              <a:spcAft>
                <a:spcPts val="0"/>
              </a:spcAft>
              <a:buSzPts val="1000"/>
              <a:buChar char="●"/>
            </a:pPr>
            <a:r>
              <a:rPr i="1" lang="en" sz="1000"/>
              <a:t>Insurance Claim Worthiness</a:t>
            </a:r>
            <a:endParaRPr i="1" sz="1000"/>
          </a:p>
        </p:txBody>
      </p:sp>
      <p:sp>
        <p:nvSpPr>
          <p:cNvPr id="1000" name="Google Shape;1000;p98"/>
          <p:cNvSpPr txBox="1"/>
          <p:nvPr/>
        </p:nvSpPr>
        <p:spPr>
          <a:xfrm>
            <a:off x="5339100" y="2695275"/>
            <a:ext cx="1829100" cy="8004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Char char="●"/>
            </a:pPr>
            <a:r>
              <a:rPr i="1" lang="en" sz="1000"/>
              <a:t>Best product combinations for retailers</a:t>
            </a:r>
            <a:endParaRPr i="1" sz="1000"/>
          </a:p>
        </p:txBody>
      </p:sp>
      <p:sp>
        <p:nvSpPr>
          <p:cNvPr id="1001" name="Google Shape;1001;p98"/>
          <p:cNvSpPr txBox="1"/>
          <p:nvPr/>
        </p:nvSpPr>
        <p:spPr>
          <a:xfrm>
            <a:off x="3739500" y="2695275"/>
            <a:ext cx="1689600" cy="10314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Char char="●"/>
            </a:pPr>
            <a:r>
              <a:rPr i="1" lang="en" sz="1000"/>
              <a:t>Predict House Prices</a:t>
            </a:r>
            <a:endParaRPr i="1" sz="1000"/>
          </a:p>
          <a:p>
            <a:pPr indent="-292100" lvl="0" marL="457200" rtl="0" algn="l">
              <a:lnSpc>
                <a:spcPct val="150000"/>
              </a:lnSpc>
              <a:spcBef>
                <a:spcPts val="0"/>
              </a:spcBef>
              <a:spcAft>
                <a:spcPts val="0"/>
              </a:spcAft>
              <a:buSzPts val="1000"/>
              <a:buChar char="●"/>
            </a:pPr>
            <a:r>
              <a:rPr i="1" lang="en" sz="1000"/>
              <a:t>Customer Lifetime value</a:t>
            </a:r>
            <a:endParaRPr i="1" sz="1000"/>
          </a:p>
        </p:txBody>
      </p:sp>
      <p:sp>
        <p:nvSpPr>
          <p:cNvPr id="1002" name="Google Shape;1002;p98"/>
          <p:cNvSpPr txBox="1"/>
          <p:nvPr/>
        </p:nvSpPr>
        <p:spPr>
          <a:xfrm>
            <a:off x="2203800" y="2695275"/>
            <a:ext cx="1689600" cy="10314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Char char="●"/>
            </a:pPr>
            <a:r>
              <a:rPr i="1" lang="en" sz="1000"/>
              <a:t>Enterprise wide risk framework</a:t>
            </a:r>
            <a:endParaRPr i="1" sz="1000"/>
          </a:p>
          <a:p>
            <a:pPr indent="-292100" lvl="0" marL="457200" rtl="0" algn="l">
              <a:lnSpc>
                <a:spcPct val="150000"/>
              </a:lnSpc>
              <a:spcBef>
                <a:spcPts val="0"/>
              </a:spcBef>
              <a:spcAft>
                <a:spcPts val="0"/>
              </a:spcAft>
              <a:buSzPts val="1000"/>
              <a:buChar char="●"/>
            </a:pPr>
            <a:r>
              <a:rPr i="1" lang="en" sz="1000"/>
              <a:t>Analyze multiple stress scenarios</a:t>
            </a:r>
            <a:endParaRPr i="1" sz="1000"/>
          </a:p>
        </p:txBody>
      </p:sp>
      <p:sp>
        <p:nvSpPr>
          <p:cNvPr id="1003" name="Google Shape;1003;p98"/>
          <p:cNvSpPr txBox="1"/>
          <p:nvPr/>
        </p:nvSpPr>
        <p:spPr>
          <a:xfrm>
            <a:off x="598350" y="2695275"/>
            <a:ext cx="1689600" cy="5694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SzPts val="1000"/>
              <a:buChar char="●"/>
            </a:pPr>
            <a:r>
              <a:rPr i="1" lang="en" sz="1000"/>
              <a:t>Salary forecasting</a:t>
            </a:r>
            <a:endParaRPr i="1" sz="1000"/>
          </a:p>
          <a:p>
            <a:pPr indent="-292100" lvl="0" marL="457200" rtl="0" algn="l">
              <a:lnSpc>
                <a:spcPct val="150000"/>
              </a:lnSpc>
              <a:spcBef>
                <a:spcPts val="0"/>
              </a:spcBef>
              <a:spcAft>
                <a:spcPts val="0"/>
              </a:spcAft>
              <a:buSzPts val="1000"/>
              <a:buChar char="●"/>
            </a:pPr>
            <a:r>
              <a:rPr i="1" lang="en" sz="1000"/>
              <a:t>Traffic forecasting</a:t>
            </a:r>
            <a:endParaRPr i="1" sz="10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1007" name="Shape 1007"/>
        <p:cNvGrpSpPr/>
        <p:nvPr/>
      </p:nvGrpSpPr>
      <p:grpSpPr>
        <a:xfrm>
          <a:off x="0" y="0"/>
          <a:ext cx="0" cy="0"/>
          <a:chOff x="0" y="0"/>
          <a:chExt cx="0" cy="0"/>
        </a:xfrm>
      </p:grpSpPr>
      <p:sp>
        <p:nvSpPr>
          <p:cNvPr id="1008" name="Google Shape;1008;p99"/>
          <p:cNvSpPr txBox="1"/>
          <p:nvPr>
            <p:ph type="title"/>
          </p:nvPr>
        </p:nvSpPr>
        <p:spPr>
          <a:xfrm>
            <a:off x="613700" y="714275"/>
            <a:ext cx="8253300" cy="314100"/>
          </a:xfrm>
          <a:prstGeom prst="rect">
            <a:avLst/>
          </a:prstGeom>
          <a:noFill/>
          <a:ln>
            <a:noFill/>
          </a:ln>
        </p:spPr>
        <p:txBody>
          <a:bodyPr anchorCtr="0" anchor="b" bIns="45700" lIns="45700" spcFirstLastPara="1" rIns="45700" wrap="square" tIns="45700">
            <a:noAutofit/>
          </a:bodyPr>
          <a:lstStyle/>
          <a:p>
            <a:pPr indent="0" lvl="0" marL="0" rtl="0" algn="l">
              <a:lnSpc>
                <a:spcPct val="90000"/>
              </a:lnSpc>
              <a:spcBef>
                <a:spcPts val="0"/>
              </a:spcBef>
              <a:spcAft>
                <a:spcPts val="0"/>
              </a:spcAft>
              <a:buSzPts val="2000"/>
              <a:buNone/>
            </a:pPr>
            <a:r>
              <a:rPr lang="en">
                <a:solidFill>
                  <a:schemeClr val="dk1"/>
                </a:solidFill>
              </a:rPr>
              <a:t>Regression based Algorithms</a:t>
            </a:r>
            <a:endParaRPr>
              <a:solidFill>
                <a:schemeClr val="dk1"/>
              </a:solidFill>
            </a:endParaRPr>
          </a:p>
        </p:txBody>
      </p:sp>
      <p:sp>
        <p:nvSpPr>
          <p:cNvPr id="1009" name="Google Shape;1009;p99"/>
          <p:cNvSpPr/>
          <p:nvPr/>
        </p:nvSpPr>
        <p:spPr>
          <a:xfrm>
            <a:off x="870250" y="374005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Linear</a:t>
            </a:r>
            <a:endParaRPr b="1">
              <a:solidFill>
                <a:srgbClr val="FFFFFF"/>
              </a:solidFill>
            </a:endParaRPr>
          </a:p>
        </p:txBody>
      </p:sp>
      <p:sp>
        <p:nvSpPr>
          <p:cNvPr id="1010" name="Google Shape;1010;p99"/>
          <p:cNvSpPr/>
          <p:nvPr/>
        </p:nvSpPr>
        <p:spPr>
          <a:xfrm>
            <a:off x="4030550" y="368820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Lasso</a:t>
            </a:r>
            <a:endParaRPr b="1">
              <a:solidFill>
                <a:srgbClr val="FFFFFF"/>
              </a:solidFill>
            </a:endParaRPr>
          </a:p>
        </p:txBody>
      </p:sp>
      <p:sp>
        <p:nvSpPr>
          <p:cNvPr id="1011" name="Google Shape;1011;p99"/>
          <p:cNvSpPr/>
          <p:nvPr/>
        </p:nvSpPr>
        <p:spPr>
          <a:xfrm>
            <a:off x="7190850" y="3688200"/>
            <a:ext cx="1114800" cy="410700"/>
          </a:xfrm>
          <a:prstGeom prst="rect">
            <a:avLst/>
          </a:prstGeom>
          <a:solidFill>
            <a:srgbClr val="666666"/>
          </a:solidFill>
          <a:ln cap="flat" cmpd="sng" w="9525">
            <a:solidFill>
              <a:srgbClr val="66666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rgbClr val="FFFFFF"/>
                </a:solidFill>
              </a:rPr>
              <a:t>Logistic</a:t>
            </a:r>
            <a:endParaRPr b="1">
              <a:solidFill>
                <a:srgbClr val="FFFFFF"/>
              </a:solidFill>
            </a:endParaRPr>
          </a:p>
        </p:txBody>
      </p:sp>
      <p:pic>
        <p:nvPicPr>
          <p:cNvPr id="1012" name="Google Shape;1012;p99"/>
          <p:cNvPicPr preferRelativeResize="0"/>
          <p:nvPr/>
        </p:nvPicPr>
        <p:blipFill>
          <a:blip r:embed="rId3">
            <a:alphaModFix/>
          </a:blip>
          <a:stretch>
            <a:fillRect/>
          </a:stretch>
        </p:blipFill>
        <p:spPr>
          <a:xfrm>
            <a:off x="129600" y="1551546"/>
            <a:ext cx="2596100" cy="1719925"/>
          </a:xfrm>
          <a:prstGeom prst="rect">
            <a:avLst/>
          </a:prstGeom>
          <a:noFill/>
          <a:ln>
            <a:noFill/>
          </a:ln>
        </p:spPr>
      </p:pic>
      <p:pic>
        <p:nvPicPr>
          <p:cNvPr id="1013" name="Google Shape;1013;p99"/>
          <p:cNvPicPr preferRelativeResize="0"/>
          <p:nvPr/>
        </p:nvPicPr>
        <p:blipFill>
          <a:blip r:embed="rId4">
            <a:alphaModFix/>
          </a:blip>
          <a:stretch>
            <a:fillRect/>
          </a:stretch>
        </p:blipFill>
        <p:spPr>
          <a:xfrm>
            <a:off x="3572650" y="1367557"/>
            <a:ext cx="1693900" cy="2087918"/>
          </a:xfrm>
          <a:prstGeom prst="rect">
            <a:avLst/>
          </a:prstGeom>
          <a:noFill/>
          <a:ln>
            <a:noFill/>
          </a:ln>
        </p:spPr>
      </p:pic>
      <p:pic>
        <p:nvPicPr>
          <p:cNvPr id="1014" name="Google Shape;1014;p99"/>
          <p:cNvPicPr preferRelativeResize="0"/>
          <p:nvPr/>
        </p:nvPicPr>
        <p:blipFill rotWithShape="1">
          <a:blip r:embed="rId5">
            <a:alphaModFix/>
          </a:blip>
          <a:srcRect b="0" l="52864" r="0" t="8958"/>
          <a:stretch/>
        </p:blipFill>
        <p:spPr>
          <a:xfrm>
            <a:off x="6562174" y="1711789"/>
            <a:ext cx="2077903" cy="17199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18" name="Shape 1018"/>
        <p:cNvGrpSpPr/>
        <p:nvPr/>
      </p:nvGrpSpPr>
      <p:grpSpPr>
        <a:xfrm>
          <a:off x="0" y="0"/>
          <a:ext cx="0" cy="0"/>
          <a:chOff x="0" y="0"/>
          <a:chExt cx="0" cy="0"/>
        </a:xfrm>
      </p:grpSpPr>
      <p:sp>
        <p:nvSpPr>
          <p:cNvPr id="1019" name="Google Shape;1019;p10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Our first algorithm: Linear Regression</a:t>
            </a:r>
            <a:endParaRPr sz="2000">
              <a:solidFill>
                <a:schemeClr val="dk1"/>
              </a:solidFill>
              <a:latin typeface="Century Gothic"/>
              <a:ea typeface="Century Gothic"/>
              <a:cs typeface="Century Gothic"/>
              <a:sym typeface="Century Gothic"/>
            </a:endParaRPr>
          </a:p>
        </p:txBody>
      </p:sp>
      <p:pic>
        <p:nvPicPr>
          <p:cNvPr id="1020" name="Google Shape;1020;p100"/>
          <p:cNvPicPr preferRelativeResize="0"/>
          <p:nvPr/>
        </p:nvPicPr>
        <p:blipFill rotWithShape="1">
          <a:blip r:embed="rId3">
            <a:alphaModFix/>
          </a:blip>
          <a:srcRect b="0" l="0" r="0" t="0"/>
          <a:stretch/>
        </p:blipFill>
        <p:spPr>
          <a:xfrm>
            <a:off x="1703850" y="1758400"/>
            <a:ext cx="4469624" cy="2749399"/>
          </a:xfrm>
          <a:prstGeom prst="rect">
            <a:avLst/>
          </a:prstGeom>
          <a:noFill/>
          <a:ln>
            <a:noFill/>
          </a:ln>
        </p:spPr>
      </p:pic>
      <p:sp>
        <p:nvSpPr>
          <p:cNvPr id="1021" name="Google Shape;1021;p100"/>
          <p:cNvSpPr txBox="1"/>
          <p:nvPr/>
        </p:nvSpPr>
        <p:spPr>
          <a:xfrm>
            <a:off x="752475" y="968600"/>
            <a:ext cx="8002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Calibri"/>
                <a:ea typeface="Calibri"/>
                <a:cs typeface="Calibri"/>
                <a:sym typeface="Calibri"/>
              </a:rPr>
              <a:t>R</a:t>
            </a:r>
            <a:r>
              <a:rPr lang="en" sz="1800">
                <a:solidFill>
                  <a:schemeClr val="dk1"/>
                </a:solidFill>
                <a:latin typeface="Calibri"/>
                <a:ea typeface="Calibri"/>
                <a:cs typeface="Calibri"/>
                <a:sym typeface="Calibri"/>
              </a:rPr>
              <a:t>elates your input (sometimes called "independent variable") to your output ("dependent variable") by fitting a straight line through your data </a:t>
            </a:r>
            <a:endParaRPr sz="1800">
              <a:solidFill>
                <a:schemeClr val="dk1"/>
              </a:solidFill>
              <a:latin typeface="Calibri"/>
              <a:ea typeface="Calibri"/>
              <a:cs typeface="Calibri"/>
              <a:sym typeface="Calibri"/>
            </a:endParaRPr>
          </a:p>
        </p:txBody>
      </p:sp>
      <p:sp>
        <p:nvSpPr>
          <p:cNvPr id="1022" name="Google Shape;1022;p10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26" name="Shape 1026"/>
        <p:cNvGrpSpPr/>
        <p:nvPr/>
      </p:nvGrpSpPr>
      <p:grpSpPr>
        <a:xfrm>
          <a:off x="0" y="0"/>
          <a:ext cx="0" cy="0"/>
          <a:chOff x="0" y="0"/>
          <a:chExt cx="0" cy="0"/>
        </a:xfrm>
      </p:grpSpPr>
      <p:sp>
        <p:nvSpPr>
          <p:cNvPr id="1027" name="Google Shape;1027;p10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Our first algorithm: Linear Regression (cont’d)</a:t>
            </a:r>
            <a:endParaRPr sz="2000">
              <a:solidFill>
                <a:schemeClr val="dk1"/>
              </a:solidFill>
              <a:latin typeface="Century Gothic"/>
              <a:ea typeface="Century Gothic"/>
              <a:cs typeface="Century Gothic"/>
              <a:sym typeface="Century Gothic"/>
            </a:endParaRPr>
          </a:p>
        </p:txBody>
      </p:sp>
      <p:sp>
        <p:nvSpPr>
          <p:cNvPr id="1028" name="Google Shape;1028;p101"/>
          <p:cNvSpPr txBox="1"/>
          <p:nvPr/>
        </p:nvSpPr>
        <p:spPr>
          <a:xfrm>
            <a:off x="696800" y="968600"/>
            <a:ext cx="8058600" cy="24012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Can be expressed using a simple formula that will take you back to elementary school: </a:t>
            </a:r>
            <a:r>
              <a:rPr b="1" lang="en" sz="1800">
                <a:solidFill>
                  <a:schemeClr val="dk1"/>
                </a:solidFill>
                <a:latin typeface="Lora"/>
                <a:ea typeface="Lora"/>
                <a:cs typeface="Lora"/>
                <a:sym typeface="Lora"/>
              </a:rPr>
              <a:t>y = mx + b</a:t>
            </a:r>
            <a:r>
              <a:rPr lang="en" sz="1800">
                <a:solidFill>
                  <a:schemeClr val="dk1"/>
                </a:solidFill>
                <a:latin typeface="Calibri"/>
                <a:ea typeface="Calibri"/>
                <a:cs typeface="Calibri"/>
                <a:sym typeface="Calibri"/>
              </a:rPr>
              <a:t> </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In two dimensions </a:t>
            </a:r>
            <a:r>
              <a:rPr b="1" lang="en" sz="1800">
                <a:solidFill>
                  <a:schemeClr val="dk1"/>
                </a:solidFill>
                <a:latin typeface="Lora"/>
                <a:ea typeface="Lora"/>
                <a:cs typeface="Lora"/>
                <a:sym typeface="Lora"/>
              </a:rPr>
              <a:t>x</a:t>
            </a:r>
            <a:r>
              <a:rPr lang="en" sz="1800">
                <a:solidFill>
                  <a:schemeClr val="dk1"/>
                </a:solidFill>
                <a:latin typeface="Calibri"/>
                <a:ea typeface="Calibri"/>
                <a:cs typeface="Calibri"/>
                <a:sym typeface="Calibri"/>
              </a:rPr>
              <a:t>, </a:t>
            </a:r>
            <a:r>
              <a:rPr b="1" lang="en" sz="1800">
                <a:solidFill>
                  <a:schemeClr val="dk1"/>
                </a:solidFill>
                <a:latin typeface="Lora"/>
                <a:ea typeface="Lora"/>
                <a:cs typeface="Lora"/>
                <a:sym typeface="Lora"/>
              </a:rPr>
              <a:t>y</a:t>
            </a:r>
            <a:r>
              <a:rPr lang="en" sz="1800">
                <a:solidFill>
                  <a:schemeClr val="dk1"/>
                </a:solidFill>
                <a:latin typeface="Calibri"/>
                <a:ea typeface="Calibri"/>
                <a:cs typeface="Calibri"/>
                <a:sym typeface="Calibri"/>
              </a:rPr>
              <a:t>, </a:t>
            </a:r>
            <a:r>
              <a:rPr b="1" lang="en" sz="1800">
                <a:solidFill>
                  <a:schemeClr val="dk1"/>
                </a:solidFill>
                <a:latin typeface="Lora"/>
                <a:ea typeface="Lora"/>
                <a:cs typeface="Lora"/>
                <a:sym typeface="Lora"/>
              </a:rPr>
              <a:t>m</a:t>
            </a:r>
            <a:r>
              <a:rPr lang="en" sz="1800">
                <a:solidFill>
                  <a:schemeClr val="dk1"/>
                </a:solidFill>
                <a:latin typeface="Calibri"/>
                <a:ea typeface="Calibri"/>
                <a:cs typeface="Calibri"/>
                <a:sym typeface="Calibri"/>
              </a:rPr>
              <a:t>, and </a:t>
            </a:r>
            <a:r>
              <a:rPr b="1" lang="en" sz="1800">
                <a:solidFill>
                  <a:schemeClr val="dk1"/>
                </a:solidFill>
                <a:latin typeface="Lora"/>
                <a:ea typeface="Lora"/>
                <a:cs typeface="Lora"/>
                <a:sym typeface="Lora"/>
              </a:rPr>
              <a:t>b</a:t>
            </a:r>
            <a:r>
              <a:rPr lang="en" sz="1800">
                <a:solidFill>
                  <a:schemeClr val="dk1"/>
                </a:solidFill>
                <a:latin typeface="Calibri"/>
                <a:ea typeface="Calibri"/>
                <a:cs typeface="Calibri"/>
                <a:sym typeface="Calibri"/>
              </a:rPr>
              <a:t> are all single numbers</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In multidimensional problems not much changes, we</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simply add more </a:t>
            </a:r>
            <a:r>
              <a:rPr b="1" lang="en" sz="1800">
                <a:solidFill>
                  <a:schemeClr val="dk1"/>
                </a:solidFill>
                <a:latin typeface="Lora"/>
                <a:ea typeface="Lora"/>
                <a:cs typeface="Lora"/>
                <a:sym typeface="Lora"/>
              </a:rPr>
              <a:t>m</a:t>
            </a:r>
            <a:r>
              <a:rPr lang="en" sz="1800">
                <a:solidFill>
                  <a:schemeClr val="dk1"/>
                </a:solidFill>
                <a:latin typeface="Calibri"/>
                <a:ea typeface="Calibri"/>
                <a:cs typeface="Calibri"/>
                <a:sym typeface="Calibri"/>
              </a:rPr>
              <a:t>'s and </a:t>
            </a:r>
            <a:r>
              <a:rPr b="1" lang="en" sz="1800">
                <a:solidFill>
                  <a:schemeClr val="dk1"/>
                </a:solidFill>
                <a:latin typeface="Lora"/>
                <a:ea typeface="Lora"/>
                <a:cs typeface="Lora"/>
                <a:sym typeface="Lora"/>
              </a:rPr>
              <a:t>x</a:t>
            </a:r>
            <a:r>
              <a:rPr lang="en" sz="1800">
                <a:solidFill>
                  <a:schemeClr val="dk1"/>
                </a:solidFill>
                <a:latin typeface="Calibri"/>
                <a:ea typeface="Calibri"/>
                <a:cs typeface="Calibri"/>
                <a:sym typeface="Calibri"/>
              </a:rPr>
              <a:t>'s — one for each feature in</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the training data: </a:t>
            </a:r>
            <a:r>
              <a:rPr b="1" lang="en" sz="1800">
                <a:solidFill>
                  <a:schemeClr val="dk1"/>
                </a:solidFill>
                <a:latin typeface="Lora"/>
                <a:ea typeface="Lora"/>
                <a:cs typeface="Lora"/>
                <a:sym typeface="Lora"/>
              </a:rPr>
              <a:t>y = m</a:t>
            </a:r>
            <a:r>
              <a:rPr b="1" baseline="-25000" lang="en" sz="1800">
                <a:solidFill>
                  <a:schemeClr val="dk1"/>
                </a:solidFill>
                <a:latin typeface="Lora"/>
                <a:ea typeface="Lora"/>
                <a:cs typeface="Lora"/>
                <a:sym typeface="Lora"/>
              </a:rPr>
              <a:t>1</a:t>
            </a:r>
            <a:r>
              <a:rPr b="1" lang="en" sz="1800">
                <a:solidFill>
                  <a:schemeClr val="dk1"/>
                </a:solidFill>
                <a:latin typeface="Lora"/>
                <a:ea typeface="Lora"/>
                <a:cs typeface="Lora"/>
                <a:sym typeface="Lora"/>
              </a:rPr>
              <a:t>x</a:t>
            </a:r>
            <a:r>
              <a:rPr b="1" baseline="-25000" lang="en" sz="1800">
                <a:solidFill>
                  <a:schemeClr val="dk1"/>
                </a:solidFill>
                <a:latin typeface="Lora"/>
                <a:ea typeface="Lora"/>
                <a:cs typeface="Lora"/>
                <a:sym typeface="Lora"/>
              </a:rPr>
              <a:t>1</a:t>
            </a:r>
            <a:r>
              <a:rPr b="1" lang="en" sz="1800">
                <a:solidFill>
                  <a:schemeClr val="dk1"/>
                </a:solidFill>
                <a:latin typeface="Lora"/>
                <a:ea typeface="Lora"/>
                <a:cs typeface="Lora"/>
                <a:sym typeface="Lora"/>
              </a:rPr>
              <a:t> + m</a:t>
            </a:r>
            <a:r>
              <a:rPr b="1" baseline="-25000" lang="en" sz="1800">
                <a:solidFill>
                  <a:schemeClr val="dk1"/>
                </a:solidFill>
                <a:latin typeface="Lora"/>
                <a:ea typeface="Lora"/>
                <a:cs typeface="Lora"/>
                <a:sym typeface="Lora"/>
              </a:rPr>
              <a:t>2</a:t>
            </a:r>
            <a:r>
              <a:rPr b="1" lang="en" sz="1800">
                <a:solidFill>
                  <a:schemeClr val="dk1"/>
                </a:solidFill>
                <a:latin typeface="Lora"/>
                <a:ea typeface="Lora"/>
                <a:cs typeface="Lora"/>
                <a:sym typeface="Lora"/>
              </a:rPr>
              <a:t>x</a:t>
            </a:r>
            <a:r>
              <a:rPr b="1" baseline="-25000" lang="en" sz="1800">
                <a:solidFill>
                  <a:schemeClr val="dk1"/>
                </a:solidFill>
                <a:latin typeface="Lora"/>
                <a:ea typeface="Lora"/>
                <a:cs typeface="Lora"/>
                <a:sym typeface="Lora"/>
              </a:rPr>
              <a:t>2</a:t>
            </a:r>
            <a:r>
              <a:rPr b="1" lang="en" sz="1800">
                <a:solidFill>
                  <a:schemeClr val="dk1"/>
                </a:solidFill>
                <a:latin typeface="Lora"/>
                <a:ea typeface="Lora"/>
                <a:cs typeface="Lora"/>
                <a:sym typeface="Lora"/>
              </a:rPr>
              <a:t> + m</a:t>
            </a:r>
            <a:r>
              <a:rPr b="1" baseline="-25000" lang="en" sz="1800">
                <a:solidFill>
                  <a:schemeClr val="dk1"/>
                </a:solidFill>
                <a:latin typeface="Lora"/>
                <a:ea typeface="Lora"/>
                <a:cs typeface="Lora"/>
                <a:sym typeface="Lora"/>
              </a:rPr>
              <a:t>3</a:t>
            </a:r>
            <a:r>
              <a:rPr b="1" lang="en" sz="1800">
                <a:solidFill>
                  <a:schemeClr val="dk1"/>
                </a:solidFill>
                <a:latin typeface="Lora"/>
                <a:ea typeface="Lora"/>
                <a:cs typeface="Lora"/>
                <a:sym typeface="Lora"/>
              </a:rPr>
              <a:t>x</a:t>
            </a:r>
            <a:r>
              <a:rPr b="1" baseline="-25000" lang="en" sz="1800">
                <a:solidFill>
                  <a:schemeClr val="dk1"/>
                </a:solidFill>
                <a:latin typeface="Lora"/>
                <a:ea typeface="Lora"/>
                <a:cs typeface="Lora"/>
                <a:sym typeface="Lora"/>
              </a:rPr>
              <a:t>3</a:t>
            </a:r>
            <a:r>
              <a:rPr b="1" lang="en" sz="1800">
                <a:solidFill>
                  <a:schemeClr val="dk1"/>
                </a:solidFill>
                <a:latin typeface="Lora"/>
                <a:ea typeface="Lora"/>
                <a:cs typeface="Lora"/>
                <a:sym typeface="Lora"/>
              </a:rPr>
              <a:t> ... m</a:t>
            </a:r>
            <a:r>
              <a:rPr b="1" baseline="-25000" lang="en" sz="1800">
                <a:solidFill>
                  <a:schemeClr val="dk1"/>
                </a:solidFill>
                <a:latin typeface="Lora"/>
                <a:ea typeface="Lora"/>
                <a:cs typeface="Lora"/>
                <a:sym typeface="Lora"/>
              </a:rPr>
              <a:t>n</a:t>
            </a:r>
            <a:r>
              <a:rPr b="1" lang="en" sz="1800">
                <a:solidFill>
                  <a:schemeClr val="dk1"/>
                </a:solidFill>
                <a:latin typeface="Lora"/>
                <a:ea typeface="Lora"/>
                <a:cs typeface="Lora"/>
                <a:sym typeface="Lora"/>
              </a:rPr>
              <a:t>x</a:t>
            </a:r>
            <a:r>
              <a:rPr b="1" baseline="-25000" lang="en" sz="1800">
                <a:solidFill>
                  <a:schemeClr val="dk1"/>
                </a:solidFill>
                <a:latin typeface="Lora"/>
                <a:ea typeface="Lora"/>
                <a:cs typeface="Lora"/>
                <a:sym typeface="Lora"/>
              </a:rPr>
              <a:t>n</a:t>
            </a:r>
            <a:r>
              <a:rPr b="1" lang="en" sz="1800">
                <a:solidFill>
                  <a:schemeClr val="dk1"/>
                </a:solidFill>
                <a:latin typeface="Lora"/>
                <a:ea typeface="Lora"/>
                <a:cs typeface="Lora"/>
                <a:sym typeface="Lora"/>
              </a:rPr>
              <a:t> + b</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Note that we still have only a single "intercept" but</a:t>
            </a:r>
            <a:br>
              <a:rPr lang="en" sz="1800">
                <a:solidFill>
                  <a:schemeClr val="dk1"/>
                </a:solidFill>
                <a:latin typeface="Calibri"/>
                <a:ea typeface="Calibri"/>
                <a:cs typeface="Calibri"/>
                <a:sym typeface="Calibri"/>
              </a:rPr>
            </a:br>
            <a:r>
              <a:rPr lang="en" sz="1800">
                <a:solidFill>
                  <a:schemeClr val="dk1"/>
                </a:solidFill>
                <a:latin typeface="Calibri"/>
                <a:ea typeface="Calibri"/>
                <a:cs typeface="Calibri"/>
                <a:sym typeface="Calibri"/>
              </a:rPr>
              <a:t>one coefficient (</a:t>
            </a:r>
            <a:r>
              <a:rPr b="1" lang="en" sz="1800">
                <a:solidFill>
                  <a:schemeClr val="dk1"/>
                </a:solidFill>
                <a:latin typeface="Lora"/>
                <a:ea typeface="Lora"/>
                <a:cs typeface="Lora"/>
                <a:sym typeface="Lora"/>
              </a:rPr>
              <a:t>m</a:t>
            </a:r>
            <a:r>
              <a:rPr lang="en" sz="1800">
                <a:solidFill>
                  <a:schemeClr val="dk1"/>
                </a:solidFill>
                <a:latin typeface="Calibri"/>
                <a:ea typeface="Calibri"/>
                <a:cs typeface="Calibri"/>
                <a:sym typeface="Calibri"/>
              </a:rPr>
              <a:t>) per input feature (</a:t>
            </a:r>
            <a:r>
              <a:rPr b="1" lang="en" sz="1800">
                <a:solidFill>
                  <a:schemeClr val="dk1"/>
                </a:solidFill>
                <a:latin typeface="Lora"/>
                <a:ea typeface="Lora"/>
                <a:cs typeface="Lora"/>
                <a:sym typeface="Lora"/>
              </a:rPr>
              <a:t>x</a:t>
            </a:r>
            <a:r>
              <a:rPr lang="en" sz="1800">
                <a:solidFill>
                  <a:schemeClr val="dk1"/>
                </a:solidFill>
                <a:latin typeface="Calibri"/>
                <a:ea typeface="Calibri"/>
                <a:cs typeface="Calibri"/>
                <a:sym typeface="Calibri"/>
              </a:rPr>
              <a:t>)</a:t>
            </a:r>
            <a:endParaRPr sz="1800">
              <a:solidFill>
                <a:schemeClr val="dk1"/>
              </a:solidFill>
              <a:latin typeface="Calibri"/>
              <a:ea typeface="Calibri"/>
              <a:cs typeface="Calibri"/>
              <a:sym typeface="Calibri"/>
            </a:endParaRPr>
          </a:p>
        </p:txBody>
      </p:sp>
      <p:sp>
        <p:nvSpPr>
          <p:cNvPr id="1029" name="Google Shape;1029;p10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33" name="Shape 1033"/>
        <p:cNvGrpSpPr/>
        <p:nvPr/>
      </p:nvGrpSpPr>
      <p:grpSpPr>
        <a:xfrm>
          <a:off x="0" y="0"/>
          <a:ext cx="0" cy="0"/>
          <a:chOff x="0" y="0"/>
          <a:chExt cx="0" cy="0"/>
        </a:xfrm>
      </p:grpSpPr>
      <p:sp>
        <p:nvSpPr>
          <p:cNvPr id="1034" name="Google Shape;1034;p10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Our first algorithm: Linear Regression (cont’d)</a:t>
            </a:r>
            <a:endParaRPr sz="2000">
              <a:solidFill>
                <a:schemeClr val="dk1"/>
              </a:solidFill>
              <a:latin typeface="Century Gothic"/>
              <a:ea typeface="Century Gothic"/>
              <a:cs typeface="Century Gothic"/>
              <a:sym typeface="Century Gothic"/>
            </a:endParaRPr>
          </a:p>
        </p:txBody>
      </p:sp>
      <p:sp>
        <p:nvSpPr>
          <p:cNvPr id="1035" name="Google Shape;1035;p102"/>
          <p:cNvSpPr txBox="1"/>
          <p:nvPr/>
        </p:nvSpPr>
        <p:spPr>
          <a:xfrm>
            <a:off x="696800" y="968600"/>
            <a:ext cx="8058600" cy="7389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Font typeface="Calibri"/>
              <a:buChar char="●"/>
            </a:pPr>
            <a:r>
              <a:rPr lang="en" sz="1800">
                <a:solidFill>
                  <a:schemeClr val="dk1"/>
                </a:solidFill>
                <a:latin typeface="Calibri"/>
                <a:ea typeface="Calibri"/>
                <a:cs typeface="Calibri"/>
                <a:sym typeface="Calibri"/>
              </a:rPr>
              <a:t>Works by minimizing the sum of squared errors (technically called </a:t>
            </a:r>
            <a:r>
              <a:rPr i="1" lang="en" sz="1800">
                <a:solidFill>
                  <a:schemeClr val="dk1"/>
                </a:solidFill>
                <a:latin typeface="Calibri"/>
                <a:ea typeface="Calibri"/>
                <a:cs typeface="Calibri"/>
                <a:sym typeface="Calibri"/>
              </a:rPr>
              <a:t>residuals</a:t>
            </a:r>
            <a:r>
              <a:rPr lang="en" sz="1800">
                <a:solidFill>
                  <a:schemeClr val="dk1"/>
                </a:solidFill>
                <a:latin typeface="Calibri"/>
                <a:ea typeface="Calibri"/>
                <a:cs typeface="Calibri"/>
                <a:sym typeface="Calibri"/>
              </a:rPr>
              <a:t>) between the data points and the regression line</a:t>
            </a:r>
            <a:endParaRPr sz="1800">
              <a:solidFill>
                <a:schemeClr val="dk1"/>
              </a:solidFill>
              <a:latin typeface="Calibri"/>
              <a:ea typeface="Calibri"/>
              <a:cs typeface="Calibri"/>
              <a:sym typeface="Calibri"/>
            </a:endParaRPr>
          </a:p>
        </p:txBody>
      </p:sp>
      <p:pic>
        <p:nvPicPr>
          <p:cNvPr id="1036" name="Google Shape;1036;p102"/>
          <p:cNvPicPr preferRelativeResize="0"/>
          <p:nvPr/>
        </p:nvPicPr>
        <p:blipFill rotWithShape="1">
          <a:blip r:embed="rId3">
            <a:alphaModFix/>
          </a:blip>
          <a:srcRect b="0" l="0" r="0" t="0"/>
          <a:stretch/>
        </p:blipFill>
        <p:spPr>
          <a:xfrm>
            <a:off x="2239100" y="1758400"/>
            <a:ext cx="4157388" cy="2883350"/>
          </a:xfrm>
          <a:prstGeom prst="rect">
            <a:avLst/>
          </a:prstGeom>
          <a:noFill/>
          <a:ln>
            <a:noFill/>
          </a:ln>
        </p:spPr>
      </p:pic>
      <p:sp>
        <p:nvSpPr>
          <p:cNvPr id="1037" name="Google Shape;1037;p10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1" name="Shape 1041"/>
        <p:cNvGrpSpPr/>
        <p:nvPr/>
      </p:nvGrpSpPr>
      <p:grpSpPr>
        <a:xfrm>
          <a:off x="0" y="0"/>
          <a:ext cx="0" cy="0"/>
          <a:chOff x="0" y="0"/>
          <a:chExt cx="0" cy="0"/>
        </a:xfrm>
      </p:grpSpPr>
      <p:sp>
        <p:nvSpPr>
          <p:cNvPr id="1042" name="Google Shape;1042;p10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Linear Regression: Pros and Cons</a:t>
            </a:r>
            <a:endParaRPr sz="2000">
              <a:solidFill>
                <a:schemeClr val="dk1"/>
              </a:solidFill>
              <a:latin typeface="Century Gothic"/>
              <a:ea typeface="Century Gothic"/>
              <a:cs typeface="Century Gothic"/>
              <a:sym typeface="Century Gothic"/>
            </a:endParaRPr>
          </a:p>
        </p:txBody>
      </p:sp>
      <p:sp>
        <p:nvSpPr>
          <p:cNvPr id="1043" name="Google Shape;1043;p103"/>
          <p:cNvSpPr txBox="1"/>
          <p:nvPr/>
        </p:nvSpPr>
        <p:spPr>
          <a:xfrm>
            <a:off x="680100" y="968600"/>
            <a:ext cx="8058600" cy="24858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Century Gothic"/>
              <a:buChar char="●"/>
            </a:pPr>
            <a:r>
              <a:rPr b="1" lang="en" sz="1300">
                <a:solidFill>
                  <a:schemeClr val="dk1"/>
                </a:solidFill>
                <a:latin typeface="Century Gothic"/>
                <a:ea typeface="Century Gothic"/>
                <a:cs typeface="Century Gothic"/>
                <a:sym typeface="Century Gothic"/>
              </a:rPr>
              <a:t>Pros</a:t>
            </a:r>
            <a:endParaRPr b="1"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Common approach for numeric data</a:t>
            </a:r>
            <a:endParaRPr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Easily interpretable	</a:t>
            </a:r>
            <a:endParaRPr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Estimates strength and size of relationships among</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features and targets</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b="1" lang="en" sz="1300">
                <a:solidFill>
                  <a:schemeClr val="dk1"/>
                </a:solidFill>
                <a:latin typeface="Century Gothic"/>
                <a:ea typeface="Century Gothic"/>
                <a:cs typeface="Century Gothic"/>
                <a:sym typeface="Century Gothic"/>
              </a:rPr>
              <a:t>Cons</a:t>
            </a:r>
            <a:endParaRPr b="1"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Strong assumptions about the data (i.e., linearity)</a:t>
            </a:r>
            <a:endParaRPr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Sensitive to outliers</a:t>
            </a:r>
            <a:endParaRPr sz="1300">
              <a:solidFill>
                <a:schemeClr val="dk1"/>
              </a:solidFill>
              <a:latin typeface="Century Gothic"/>
              <a:ea typeface="Century Gothic"/>
              <a:cs typeface="Century Gothic"/>
              <a:sym typeface="Century Gothic"/>
            </a:endParaRPr>
          </a:p>
        </p:txBody>
      </p:sp>
      <p:sp>
        <p:nvSpPr>
          <p:cNvPr id="1044" name="Google Shape;1044;p10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48" name="Shape 1048"/>
        <p:cNvGrpSpPr/>
        <p:nvPr/>
      </p:nvGrpSpPr>
      <p:grpSpPr>
        <a:xfrm>
          <a:off x="0" y="0"/>
          <a:ext cx="0" cy="0"/>
          <a:chOff x="0" y="0"/>
          <a:chExt cx="0" cy="0"/>
        </a:xfrm>
      </p:grpSpPr>
      <p:sp>
        <p:nvSpPr>
          <p:cNvPr id="1049" name="Google Shape;1049;p10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Covariance</a:t>
            </a:r>
            <a:endParaRPr sz="2000">
              <a:solidFill>
                <a:schemeClr val="dk1"/>
              </a:solidFill>
              <a:latin typeface="Century Gothic"/>
              <a:ea typeface="Century Gothic"/>
              <a:cs typeface="Century Gothic"/>
              <a:sym typeface="Century Gothic"/>
            </a:endParaRPr>
          </a:p>
        </p:txBody>
      </p:sp>
      <p:sp>
        <p:nvSpPr>
          <p:cNvPr id="1050" name="Google Shape;1050;p104"/>
          <p:cNvSpPr txBox="1"/>
          <p:nvPr/>
        </p:nvSpPr>
        <p:spPr>
          <a:xfrm>
            <a:off x="638350" y="976950"/>
            <a:ext cx="6563100" cy="28629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Measure of joint variability</a:t>
            </a:r>
            <a:endParaRPr sz="12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200"/>
              <a:buFont typeface="Century Gothic"/>
              <a:buNone/>
            </a:pPr>
            <a:r>
              <a:rPr lang="en" sz="1200">
                <a:solidFill>
                  <a:schemeClr val="dk1"/>
                </a:solidFill>
                <a:latin typeface="Century Gothic"/>
                <a:ea typeface="Century Gothic"/>
                <a:cs typeface="Century Gothic"/>
                <a:sym typeface="Century Gothic"/>
              </a:rPr>
              <a:t>i.e., how does one variable change as the other changes?</a:t>
            </a:r>
            <a:endParaRPr sz="12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200"/>
              <a:buFont typeface="Century Gothic"/>
              <a:buNone/>
            </a:pPr>
            <a:r>
              <a:rPr lang="en" sz="1200">
                <a:solidFill>
                  <a:schemeClr val="dk1"/>
                </a:solidFill>
                <a:latin typeface="Century Gothic"/>
                <a:ea typeface="Century Gothic"/>
                <a:cs typeface="Century Gothic"/>
                <a:sym typeface="Century Gothic"/>
              </a:rPr>
              <a:t>this draws our attention to a connection</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Non-zero covariance implies?</a:t>
            </a:r>
            <a:endParaRPr sz="12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200"/>
              <a:buFont typeface="Century Gothic"/>
              <a:buNone/>
            </a:pPr>
            <a:r>
              <a:rPr lang="en" sz="1200">
                <a:solidFill>
                  <a:schemeClr val="dk1"/>
                </a:solidFill>
                <a:latin typeface="Century Gothic"/>
                <a:ea typeface="Century Gothic"/>
                <a:cs typeface="Century Gothic"/>
                <a:sym typeface="Century Gothic"/>
              </a:rPr>
              <a:t>there is some connection</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Zero covariance implies?</a:t>
            </a:r>
            <a:endParaRPr sz="12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200"/>
              <a:buFont typeface="Century Gothic"/>
              <a:buNone/>
            </a:pPr>
            <a:r>
              <a:rPr lang="en" sz="1200">
                <a:solidFill>
                  <a:schemeClr val="dk1"/>
                </a:solidFill>
                <a:latin typeface="Century Gothic"/>
                <a:ea typeface="Century Gothic"/>
                <a:cs typeface="Century Gothic"/>
                <a:sym typeface="Century Gothic"/>
              </a:rPr>
              <a:t>Independence</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“Correlation is not causation” </a:t>
            </a:r>
            <a:br>
              <a:rPr lang="en" sz="1200">
                <a:solidFill>
                  <a:schemeClr val="dk1"/>
                </a:solidFill>
                <a:latin typeface="Century Gothic"/>
                <a:ea typeface="Century Gothic"/>
                <a:cs typeface="Century Gothic"/>
                <a:sym typeface="Century Gothic"/>
              </a:rPr>
            </a:br>
            <a:r>
              <a:rPr lang="en" sz="1200">
                <a:solidFill>
                  <a:schemeClr val="dk1"/>
                </a:solidFill>
                <a:latin typeface="Century Gothic"/>
                <a:ea typeface="Century Gothic"/>
                <a:cs typeface="Century Gothic"/>
                <a:sym typeface="Century Gothic"/>
              </a:rPr>
              <a:t>		–Anyone who has ever taken statistics</a:t>
            </a:r>
            <a:endParaRPr sz="1200">
              <a:solidFill>
                <a:schemeClr val="dk1"/>
              </a:solidFill>
              <a:latin typeface="Century Gothic"/>
              <a:ea typeface="Century Gothic"/>
              <a:cs typeface="Century Gothic"/>
              <a:sym typeface="Century Gothic"/>
            </a:endParaRPr>
          </a:p>
          <a:p>
            <a:pPr indent="-304800" lvl="0" marL="457200" rtl="0" algn="l">
              <a:lnSpc>
                <a:spcPct val="150000"/>
              </a:lnSpc>
              <a:spcBef>
                <a:spcPts val="0"/>
              </a:spcBef>
              <a:spcAft>
                <a:spcPts val="0"/>
              </a:spcAft>
              <a:buClr>
                <a:schemeClr val="dk1"/>
              </a:buClr>
              <a:buSzPts val="1200"/>
              <a:buFont typeface="Century Gothic"/>
              <a:buChar char="●"/>
            </a:pPr>
            <a:r>
              <a:rPr lang="en" sz="1200">
                <a:solidFill>
                  <a:schemeClr val="dk1"/>
                </a:solidFill>
                <a:latin typeface="Century Gothic"/>
                <a:ea typeface="Century Gothic"/>
                <a:cs typeface="Century Gothic"/>
                <a:sym typeface="Century Gothic"/>
              </a:rPr>
              <a:t>Correlation is not causation, but it sure is a hint”</a:t>
            </a:r>
            <a:endParaRPr sz="1200">
              <a:solidFill>
                <a:schemeClr val="dk1"/>
              </a:solidFill>
              <a:latin typeface="Century Gothic"/>
              <a:ea typeface="Century Gothic"/>
              <a:cs typeface="Century Gothic"/>
              <a:sym typeface="Century Gothic"/>
            </a:endParaRPr>
          </a:p>
        </p:txBody>
      </p:sp>
      <p:sp>
        <p:nvSpPr>
          <p:cNvPr id="1051" name="Google Shape;1051;p10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55" name="Shape 1055"/>
        <p:cNvGrpSpPr/>
        <p:nvPr/>
      </p:nvGrpSpPr>
      <p:grpSpPr>
        <a:xfrm>
          <a:off x="0" y="0"/>
          <a:ext cx="0" cy="0"/>
          <a:chOff x="0" y="0"/>
          <a:chExt cx="0" cy="0"/>
        </a:xfrm>
      </p:grpSpPr>
      <p:sp>
        <p:nvSpPr>
          <p:cNvPr id="1056" name="Google Shape;1056;p105"/>
          <p:cNvSpPr/>
          <p:nvPr/>
        </p:nvSpPr>
        <p:spPr>
          <a:xfrm>
            <a:off x="752475" y="502200"/>
            <a:ext cx="47955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Correlation/Causation</a:t>
            </a:r>
            <a:endParaRPr sz="2000">
              <a:solidFill>
                <a:schemeClr val="dk1"/>
              </a:solidFill>
              <a:latin typeface="Century Gothic"/>
              <a:ea typeface="Century Gothic"/>
              <a:cs typeface="Century Gothic"/>
              <a:sym typeface="Century Gothic"/>
            </a:endParaRPr>
          </a:p>
        </p:txBody>
      </p:sp>
      <p:sp>
        <p:nvSpPr>
          <p:cNvPr id="1057" name="Google Shape;1057;p105"/>
          <p:cNvSpPr txBox="1"/>
          <p:nvPr/>
        </p:nvSpPr>
        <p:spPr>
          <a:xfrm>
            <a:off x="688450" y="917700"/>
            <a:ext cx="4550700" cy="314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100">
                <a:solidFill>
                  <a:schemeClr val="dk1"/>
                </a:solidFill>
                <a:latin typeface="Century Gothic"/>
                <a:ea typeface="Century Gothic"/>
                <a:cs typeface="Century Gothic"/>
                <a:sym typeface="Century Gothic"/>
              </a:rPr>
              <a:t>What are the possible causal relationships?</a:t>
            </a:r>
            <a:endParaRPr sz="11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100"/>
              <a:buFont typeface="Century Gothic"/>
              <a:buNone/>
            </a:pPr>
            <a:r>
              <a:rPr lang="en" sz="1100">
                <a:solidFill>
                  <a:schemeClr val="dk1"/>
                </a:solidFill>
                <a:latin typeface="Century Gothic"/>
                <a:ea typeface="Century Gothic"/>
                <a:cs typeface="Century Gothic"/>
                <a:sym typeface="Century Gothic"/>
              </a:rPr>
              <a:t>could be unrelated, i.e., coincidence</a:t>
            </a:r>
            <a:endParaRPr sz="11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100"/>
              <a:buFont typeface="Century Gothic"/>
              <a:buNone/>
            </a:pPr>
            <a:r>
              <a:rPr lang="en" sz="1100">
                <a:solidFill>
                  <a:schemeClr val="dk1"/>
                </a:solidFill>
                <a:latin typeface="Century Gothic"/>
                <a:ea typeface="Century Gothic"/>
                <a:cs typeface="Century Gothic"/>
                <a:sym typeface="Century Gothic"/>
              </a:rPr>
              <a:t>reverse causation</a:t>
            </a:r>
            <a:endParaRPr sz="1100">
              <a:solidFill>
                <a:schemeClr val="dk1"/>
              </a:solidFill>
              <a:latin typeface="Century Gothic"/>
              <a:ea typeface="Century Gothic"/>
              <a:cs typeface="Century Gothic"/>
              <a:sym typeface="Century Gothic"/>
            </a:endParaRPr>
          </a:p>
          <a:p>
            <a:pPr indent="-228600" lvl="2" marL="1371600" rtl="0" algn="l">
              <a:lnSpc>
                <a:spcPct val="150000"/>
              </a:lnSpc>
              <a:spcBef>
                <a:spcPts val="0"/>
              </a:spcBef>
              <a:spcAft>
                <a:spcPts val="0"/>
              </a:spcAft>
              <a:buClr>
                <a:schemeClr val="dk1"/>
              </a:buClr>
              <a:buSzPts val="1100"/>
              <a:buFont typeface="Century Gothic"/>
              <a:buNone/>
            </a:pPr>
            <a:r>
              <a:rPr lang="en" sz="1100">
                <a:solidFill>
                  <a:schemeClr val="dk1"/>
                </a:solidFill>
                <a:latin typeface="Century Gothic"/>
                <a:ea typeface="Century Gothic"/>
                <a:cs typeface="Century Gothic"/>
                <a:sym typeface="Century Gothic"/>
              </a:rPr>
              <a:t>every time windmills are spinning it's really windy</a:t>
            </a:r>
            <a:endParaRPr sz="1100">
              <a:solidFill>
                <a:schemeClr val="dk1"/>
              </a:solidFill>
              <a:latin typeface="Century Gothic"/>
              <a:ea typeface="Century Gothic"/>
              <a:cs typeface="Century Gothic"/>
              <a:sym typeface="Century Gothic"/>
            </a:endParaRPr>
          </a:p>
          <a:p>
            <a:pPr indent="-298450" lvl="0" marL="457200" rtl="0" algn="l">
              <a:lnSpc>
                <a:spcPct val="150000"/>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missed variable, i.e., some other factor causes both</a:t>
            </a:r>
            <a:endParaRPr sz="1100">
              <a:solidFill>
                <a:schemeClr val="dk1"/>
              </a:solidFill>
              <a:latin typeface="Century Gothic"/>
              <a:ea typeface="Century Gothic"/>
              <a:cs typeface="Century Gothic"/>
              <a:sym typeface="Century Gothic"/>
            </a:endParaRPr>
          </a:p>
          <a:p>
            <a:pPr indent="-228600" lvl="1" marL="914400" rtl="0" algn="l">
              <a:lnSpc>
                <a:spcPct val="150000"/>
              </a:lnSpc>
              <a:spcBef>
                <a:spcPts val="0"/>
              </a:spcBef>
              <a:spcAft>
                <a:spcPts val="0"/>
              </a:spcAft>
              <a:buClr>
                <a:schemeClr val="dk1"/>
              </a:buClr>
              <a:buSzPts val="1100"/>
              <a:buFont typeface="Century Gothic"/>
              <a:buNone/>
            </a:pPr>
            <a:r>
              <a:rPr lang="en" sz="1100">
                <a:solidFill>
                  <a:schemeClr val="dk1"/>
                </a:solidFill>
                <a:latin typeface="Century Gothic"/>
                <a:ea typeface="Century Gothic"/>
                <a:cs typeface="Century Gothic"/>
                <a:sym typeface="Century Gothic"/>
              </a:rPr>
              <a:t>whenever I go to sleep with my shoes on I wake u</a:t>
            </a:r>
            <a:r>
              <a:rPr lang="en" sz="1100">
                <a:solidFill>
                  <a:schemeClr val="dk1"/>
                </a:solidFill>
                <a:latin typeface="Century Gothic"/>
                <a:ea typeface="Century Gothic"/>
                <a:cs typeface="Century Gothic"/>
                <a:sym typeface="Century Gothic"/>
              </a:rPr>
              <a:t>p </a:t>
            </a:r>
            <a:r>
              <a:rPr lang="en" sz="1100">
                <a:solidFill>
                  <a:schemeClr val="dk1"/>
                </a:solidFill>
                <a:latin typeface="Century Gothic"/>
                <a:ea typeface="Century Gothic"/>
                <a:cs typeface="Century Gothic"/>
                <a:sym typeface="Century Gothic"/>
              </a:rPr>
              <a:t>with a headache when it rains, every time I see a flash I hear a boom</a:t>
            </a:r>
            <a:endParaRPr sz="1100">
              <a:solidFill>
                <a:schemeClr val="dk1"/>
              </a:solidFill>
              <a:latin typeface="Century Gothic"/>
              <a:ea typeface="Century Gothic"/>
              <a:cs typeface="Century Gothic"/>
              <a:sym typeface="Century Gothic"/>
            </a:endParaRPr>
          </a:p>
          <a:p>
            <a:pPr indent="-298450" lvl="0" marL="457200" rtl="0" algn="l">
              <a:lnSpc>
                <a:spcPct val="150000"/>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bi-directional relationships: temperature and pressure</a:t>
            </a:r>
            <a:endParaRPr sz="1100">
              <a:solidFill>
                <a:schemeClr val="dk1"/>
              </a:solidFill>
              <a:latin typeface="Century Gothic"/>
              <a:ea typeface="Century Gothic"/>
              <a:cs typeface="Century Gothic"/>
              <a:sym typeface="Century Gothic"/>
            </a:endParaRPr>
          </a:p>
          <a:p>
            <a:pPr indent="-298450" lvl="0" marL="457200" rtl="0" algn="l">
              <a:lnSpc>
                <a:spcPct val="150000"/>
              </a:lnSpc>
              <a:spcBef>
                <a:spcPts val="0"/>
              </a:spcBef>
              <a:spcAft>
                <a:spcPts val="0"/>
              </a:spcAft>
              <a:buClr>
                <a:schemeClr val="dk1"/>
              </a:buClr>
              <a:buSzPts val="1100"/>
              <a:buFont typeface="Century Gothic"/>
              <a:buChar char="●"/>
            </a:pPr>
            <a:r>
              <a:rPr lang="en" sz="1100">
                <a:solidFill>
                  <a:schemeClr val="dk1"/>
                </a:solidFill>
                <a:latin typeface="Century Gothic"/>
                <a:ea typeface="Century Gothic"/>
                <a:cs typeface="Century Gothic"/>
                <a:sym typeface="Century Gothic"/>
              </a:rPr>
              <a:t>or they are actually the same thing: ºF goes up as ºC goes up</a:t>
            </a:r>
            <a:endParaRPr sz="1100">
              <a:solidFill>
                <a:schemeClr val="dk1"/>
              </a:solidFill>
              <a:latin typeface="Century Gothic"/>
              <a:ea typeface="Century Gothic"/>
              <a:cs typeface="Century Gothic"/>
              <a:sym typeface="Century Gothic"/>
            </a:endParaRPr>
          </a:p>
        </p:txBody>
      </p:sp>
      <p:sp>
        <p:nvSpPr>
          <p:cNvPr id="1058" name="Google Shape;1058;p10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059" name="Google Shape;1059;p105"/>
          <p:cNvPicPr preferRelativeResize="0"/>
          <p:nvPr/>
        </p:nvPicPr>
        <p:blipFill>
          <a:blip r:embed="rId3">
            <a:alphaModFix/>
          </a:blip>
          <a:stretch>
            <a:fillRect/>
          </a:stretch>
        </p:blipFill>
        <p:spPr>
          <a:xfrm>
            <a:off x="5096650" y="1564425"/>
            <a:ext cx="3799055" cy="20146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63" name="Shape 1063"/>
        <p:cNvGrpSpPr/>
        <p:nvPr/>
      </p:nvGrpSpPr>
      <p:grpSpPr>
        <a:xfrm>
          <a:off x="0" y="0"/>
          <a:ext cx="0" cy="0"/>
          <a:chOff x="0" y="0"/>
          <a:chExt cx="0" cy="0"/>
        </a:xfrm>
      </p:grpSpPr>
      <p:sp>
        <p:nvSpPr>
          <p:cNvPr id="1064" name="Google Shape;1064;p10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Choosing an ML Algorithm</a:t>
            </a:r>
            <a:endParaRPr sz="2000">
              <a:solidFill>
                <a:schemeClr val="dk1"/>
              </a:solidFill>
              <a:latin typeface="Century Gothic"/>
              <a:ea typeface="Century Gothic"/>
              <a:cs typeface="Century Gothic"/>
              <a:sym typeface="Century Gothic"/>
            </a:endParaRPr>
          </a:p>
        </p:txBody>
      </p:sp>
      <p:sp>
        <p:nvSpPr>
          <p:cNvPr id="1065" name="Google Shape;1065;p106"/>
          <p:cNvSpPr txBox="1"/>
          <p:nvPr/>
        </p:nvSpPr>
        <p:spPr>
          <a:xfrm>
            <a:off x="638350" y="976950"/>
            <a:ext cx="8148000" cy="3986700"/>
          </a:xfrm>
          <a:prstGeom prst="rect">
            <a:avLst/>
          </a:prstGeom>
          <a:noFill/>
          <a:ln>
            <a:noFill/>
          </a:ln>
        </p:spPr>
        <p:txBody>
          <a:bodyPr anchorCtr="0" anchor="t" bIns="91425" lIns="91425" spcFirstLastPara="1" rIns="91425" wrap="square" tIns="91425">
            <a:spAutoFit/>
          </a:bodyPr>
          <a:lstStyle/>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Now that we’ve seen a few (and there are MANY more), how do we know what to choose?</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from an exploratory data analysis standpoint, we might try</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things and see what works</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but if we can't map it back to the business function, it</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doesn't matter</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if it does work, but doesn't work from an operational</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standpoint, you can't use it either</a:t>
            </a:r>
            <a:endParaRPr sz="1300">
              <a:solidFill>
                <a:schemeClr val="dk1"/>
              </a:solidFill>
              <a:latin typeface="Century Gothic"/>
              <a:ea typeface="Century Gothic"/>
              <a:cs typeface="Century Gothic"/>
              <a:sym typeface="Century Gothic"/>
            </a:endParaRPr>
          </a:p>
          <a:p>
            <a:pPr indent="-311150" lvl="1" marL="9144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e.g., can't run on a phone, or breaks email</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therefore, not everything that works is available to us</a:t>
            </a:r>
            <a:endParaRPr sz="1300">
              <a:solidFill>
                <a:schemeClr val="dk1"/>
              </a:solidFill>
              <a:latin typeface="Century Gothic"/>
              <a:ea typeface="Century Gothic"/>
              <a:cs typeface="Century Gothic"/>
              <a:sym typeface="Century Gothic"/>
            </a:endParaRPr>
          </a:p>
          <a:p>
            <a:pPr indent="-311150" lvl="0" marL="457200" rtl="0" algn="l">
              <a:lnSpc>
                <a:spcPct val="150000"/>
              </a:lnSpc>
              <a:spcBef>
                <a:spcPts val="0"/>
              </a:spcBef>
              <a:spcAft>
                <a:spcPts val="0"/>
              </a:spcAft>
              <a:buClr>
                <a:schemeClr val="dk1"/>
              </a:buClr>
              <a:buSzPts val="1300"/>
              <a:buFont typeface="Century Gothic"/>
              <a:buChar char="●"/>
            </a:pPr>
            <a:r>
              <a:rPr lang="en" sz="1300">
                <a:solidFill>
                  <a:schemeClr val="dk1"/>
                </a:solidFill>
                <a:latin typeface="Century Gothic"/>
                <a:ea typeface="Century Gothic"/>
                <a:cs typeface="Century Gothic"/>
                <a:sym typeface="Century Gothic"/>
              </a:rPr>
              <a:t>sometimes things work well in one domain but don't</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work well in another … in ML we say:</a:t>
            </a:r>
            <a:br>
              <a:rPr lang="en" sz="1300">
                <a:solidFill>
                  <a:schemeClr val="dk1"/>
                </a:solidFill>
                <a:latin typeface="Century Gothic"/>
                <a:ea typeface="Century Gothic"/>
                <a:cs typeface="Century Gothic"/>
                <a:sym typeface="Century Gothic"/>
              </a:rPr>
            </a:br>
            <a:r>
              <a:rPr lang="en" sz="1300">
                <a:solidFill>
                  <a:schemeClr val="dk1"/>
                </a:solidFill>
                <a:latin typeface="Century Gothic"/>
                <a:ea typeface="Century Gothic"/>
                <a:cs typeface="Century Gothic"/>
                <a:sym typeface="Century Gothic"/>
              </a:rPr>
              <a:t>				“</a:t>
            </a:r>
            <a:r>
              <a:rPr b="1" lang="en" sz="1300">
                <a:solidFill>
                  <a:schemeClr val="dk1"/>
                </a:solidFill>
                <a:latin typeface="Century Gothic"/>
                <a:ea typeface="Century Gothic"/>
                <a:cs typeface="Century Gothic"/>
                <a:sym typeface="Century Gothic"/>
              </a:rPr>
              <a:t>THERE IS NO FREE LUNCH</a:t>
            </a:r>
            <a:r>
              <a:rPr lang="en" sz="1300">
                <a:solidFill>
                  <a:schemeClr val="dk1"/>
                </a:solidFill>
                <a:latin typeface="Century Gothic"/>
                <a:ea typeface="Century Gothic"/>
                <a:cs typeface="Century Gothic"/>
                <a:sym typeface="Century Gothic"/>
              </a:rPr>
              <a:t>!”</a:t>
            </a:r>
            <a:endParaRPr sz="1300">
              <a:solidFill>
                <a:schemeClr val="dk1"/>
              </a:solidFill>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300">
              <a:solidFill>
                <a:schemeClr val="dk1"/>
              </a:solidFill>
              <a:latin typeface="Century Gothic"/>
              <a:ea typeface="Century Gothic"/>
              <a:cs typeface="Century Gothic"/>
              <a:sym typeface="Century Gothic"/>
            </a:endParaRPr>
          </a:p>
        </p:txBody>
      </p:sp>
      <p:sp>
        <p:nvSpPr>
          <p:cNvPr id="1066" name="Google Shape;1066;p10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0" name="Shape 1070"/>
        <p:cNvGrpSpPr/>
        <p:nvPr/>
      </p:nvGrpSpPr>
      <p:grpSpPr>
        <a:xfrm>
          <a:off x="0" y="0"/>
          <a:ext cx="0" cy="0"/>
          <a:chOff x="0" y="0"/>
          <a:chExt cx="0" cy="0"/>
        </a:xfrm>
      </p:grpSpPr>
      <p:sp>
        <p:nvSpPr>
          <p:cNvPr id="1071" name="Google Shape;1071;p107"/>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Bias/Variance Tradeoff</a:t>
            </a:r>
            <a:endParaRPr sz="2000">
              <a:solidFill>
                <a:schemeClr val="dk1"/>
              </a:solidFill>
              <a:latin typeface="Century Gothic"/>
              <a:ea typeface="Century Gothic"/>
              <a:cs typeface="Century Gothic"/>
              <a:sym typeface="Century Gothic"/>
            </a:endParaRPr>
          </a:p>
        </p:txBody>
      </p:sp>
      <p:sp>
        <p:nvSpPr>
          <p:cNvPr id="1072" name="Google Shape;1072;p107"/>
          <p:cNvSpPr txBox="1"/>
          <p:nvPr/>
        </p:nvSpPr>
        <p:spPr>
          <a:xfrm>
            <a:off x="638350" y="876750"/>
            <a:ext cx="4367100" cy="4032900"/>
          </a:xfrm>
          <a:prstGeom prst="rect">
            <a:avLst/>
          </a:prstGeom>
          <a:noFill/>
          <a:ln>
            <a:noFill/>
          </a:ln>
        </p:spPr>
        <p:txBody>
          <a:bodyPr anchorCtr="0" anchor="t" bIns="91425" lIns="91425" spcFirstLastPara="1" rIns="91425" wrap="square" tIns="91425">
            <a:spAutoFit/>
          </a:bodyPr>
          <a:lstStyle/>
          <a:p>
            <a:pPr indent="-292100" lvl="0" marL="4572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A </a:t>
            </a:r>
            <a:r>
              <a:rPr i="1" lang="en" sz="1000">
                <a:solidFill>
                  <a:schemeClr val="dk1"/>
                </a:solidFill>
                <a:latin typeface="Century Gothic"/>
                <a:ea typeface="Century Gothic"/>
                <a:cs typeface="Century Gothic"/>
                <a:sym typeface="Century Gothic"/>
              </a:rPr>
              <a:t>model</a:t>
            </a:r>
            <a:r>
              <a:rPr lang="en" sz="1000">
                <a:solidFill>
                  <a:schemeClr val="dk1"/>
                </a:solidFill>
                <a:latin typeface="Century Gothic"/>
                <a:ea typeface="Century Gothic"/>
                <a:cs typeface="Century Gothic"/>
                <a:sym typeface="Century Gothic"/>
              </a:rPr>
              <a:t> is the "function" which is produced from an ML algorithm </a:t>
            </a:r>
            <a:endParaRPr sz="1000">
              <a:solidFill>
                <a:schemeClr val="dk1"/>
              </a:solidFill>
              <a:latin typeface="Century Gothic"/>
              <a:ea typeface="Century Gothic"/>
              <a:cs typeface="Century Gothic"/>
              <a:sym typeface="Century Gothic"/>
            </a:endParaRPr>
          </a:p>
          <a:p>
            <a:pPr indent="-292100" lvl="0" marL="457200" rtl="0" algn="l">
              <a:lnSpc>
                <a:spcPct val="150000"/>
              </a:lnSpc>
              <a:spcBef>
                <a:spcPts val="0"/>
              </a:spcBef>
              <a:spcAft>
                <a:spcPts val="0"/>
              </a:spcAft>
              <a:buClr>
                <a:schemeClr val="dk1"/>
              </a:buClr>
              <a:buSzPts val="1000"/>
              <a:buFont typeface="Century Gothic"/>
              <a:buChar char="●"/>
            </a:pPr>
            <a:r>
              <a:rPr i="1" lang="en" sz="1000">
                <a:solidFill>
                  <a:schemeClr val="dk1"/>
                </a:solidFill>
                <a:latin typeface="Century Gothic"/>
                <a:ea typeface="Century Gothic"/>
                <a:cs typeface="Century Gothic"/>
                <a:sym typeface="Century Gothic"/>
              </a:rPr>
              <a:t>bias</a:t>
            </a:r>
            <a:r>
              <a:rPr lang="en" sz="1000">
                <a:solidFill>
                  <a:schemeClr val="dk1"/>
                </a:solidFill>
                <a:latin typeface="Century Gothic"/>
                <a:ea typeface="Century Gothic"/>
                <a:cs typeface="Century Gothic"/>
                <a:sym typeface="Century Gothic"/>
              </a:rPr>
              <a:t> refers to errors made when our model is too simple–i.e., it doesn’t consider enough features </a:t>
            </a:r>
            <a:endParaRPr sz="1000">
              <a:solidFill>
                <a:schemeClr val="dk1"/>
              </a:solidFill>
              <a:latin typeface="Century Gothic"/>
              <a:ea typeface="Century Gothic"/>
              <a:cs typeface="Century Gothic"/>
              <a:sym typeface="Century Gothic"/>
            </a:endParaRPr>
          </a:p>
          <a:p>
            <a:pPr indent="-292100" lvl="0" marL="4572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high bias means our model is making errors because it doesn’t</a:t>
            </a:r>
            <a:br>
              <a:rPr lang="en" sz="1000">
                <a:solidFill>
                  <a:schemeClr val="dk1"/>
                </a:solidFill>
                <a:latin typeface="Century Gothic"/>
                <a:ea typeface="Century Gothic"/>
                <a:cs typeface="Century Gothic"/>
                <a:sym typeface="Century Gothic"/>
              </a:rPr>
            </a:br>
            <a:r>
              <a:rPr lang="en" sz="1000">
                <a:solidFill>
                  <a:schemeClr val="dk1"/>
                </a:solidFill>
                <a:latin typeface="Century Gothic"/>
                <a:ea typeface="Century Gothic"/>
                <a:cs typeface="Century Gothic"/>
                <a:sym typeface="Century Gothic"/>
              </a:rPr>
              <a:t>know enough...also called </a:t>
            </a:r>
            <a:r>
              <a:rPr i="1" lang="en" sz="1000">
                <a:solidFill>
                  <a:schemeClr val="dk1"/>
                </a:solidFill>
                <a:latin typeface="Century Gothic"/>
                <a:ea typeface="Century Gothic"/>
                <a:cs typeface="Century Gothic"/>
                <a:sym typeface="Century Gothic"/>
              </a:rPr>
              <a:t>underfitting</a:t>
            </a:r>
            <a:endParaRPr i="1" sz="1000">
              <a:solidFill>
                <a:schemeClr val="dk1"/>
              </a:solidFill>
              <a:latin typeface="Century Gothic"/>
              <a:ea typeface="Century Gothic"/>
              <a:cs typeface="Century Gothic"/>
              <a:sym typeface="Century Gothic"/>
            </a:endParaRPr>
          </a:p>
          <a:p>
            <a:pPr indent="-292100" lvl="1" marL="9144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Credit scoring...what if we consider only income?</a:t>
            </a:r>
            <a:endParaRPr sz="1000">
              <a:solidFill>
                <a:schemeClr val="dk1"/>
              </a:solidFill>
              <a:latin typeface="Century Gothic"/>
              <a:ea typeface="Century Gothic"/>
              <a:cs typeface="Century Gothic"/>
              <a:sym typeface="Century Gothic"/>
            </a:endParaRPr>
          </a:p>
          <a:p>
            <a:pPr indent="-292100" lvl="0" marL="457200" rtl="0" algn="l">
              <a:lnSpc>
                <a:spcPct val="150000"/>
              </a:lnSpc>
              <a:spcBef>
                <a:spcPts val="0"/>
              </a:spcBef>
              <a:spcAft>
                <a:spcPts val="0"/>
              </a:spcAft>
              <a:buClr>
                <a:schemeClr val="dk1"/>
              </a:buClr>
              <a:buSzPts val="1000"/>
              <a:buFont typeface="Century Gothic"/>
              <a:buChar char="●"/>
            </a:pPr>
            <a:r>
              <a:rPr b="1" i="1" lang="en" sz="1000">
                <a:solidFill>
                  <a:schemeClr val="dk1"/>
                </a:solidFill>
                <a:latin typeface="Century Gothic"/>
                <a:ea typeface="Century Gothic"/>
                <a:cs typeface="Century Gothic"/>
                <a:sym typeface="Century Gothic"/>
              </a:rPr>
              <a:t>variance</a:t>
            </a:r>
            <a:r>
              <a:rPr lang="en" sz="1000">
                <a:solidFill>
                  <a:schemeClr val="dk1"/>
                </a:solidFill>
                <a:latin typeface="Century Gothic"/>
                <a:ea typeface="Century Gothic"/>
                <a:cs typeface="Century Gothic"/>
                <a:sym typeface="Century Gothic"/>
              </a:rPr>
              <a:t> refers to poor generalization to new, unseen data</a:t>
            </a:r>
            <a:endParaRPr sz="1000">
              <a:solidFill>
                <a:schemeClr val="dk1"/>
              </a:solidFill>
              <a:latin typeface="Century Gothic"/>
              <a:ea typeface="Century Gothic"/>
              <a:cs typeface="Century Gothic"/>
              <a:sym typeface="Century Gothic"/>
            </a:endParaRPr>
          </a:p>
          <a:p>
            <a:pPr indent="-292100" lvl="1" marL="9144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Our model knows too much or we are feeding it too many features–some of them aren’t predictive of the target in general</a:t>
            </a:r>
            <a:endParaRPr sz="1000">
              <a:solidFill>
                <a:schemeClr val="dk1"/>
              </a:solidFill>
              <a:latin typeface="Century Gothic"/>
              <a:ea typeface="Century Gothic"/>
              <a:cs typeface="Century Gothic"/>
              <a:sym typeface="Century Gothic"/>
            </a:endParaRPr>
          </a:p>
          <a:p>
            <a:pPr indent="-292100" lvl="1" marL="9144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...also called </a:t>
            </a:r>
            <a:r>
              <a:rPr i="1" lang="en" sz="1000">
                <a:solidFill>
                  <a:schemeClr val="dk1"/>
                </a:solidFill>
                <a:latin typeface="Century Gothic"/>
                <a:ea typeface="Century Gothic"/>
                <a:cs typeface="Century Gothic"/>
                <a:sym typeface="Century Gothic"/>
              </a:rPr>
              <a:t>overfitting</a:t>
            </a:r>
            <a:endParaRPr i="1" sz="1000">
              <a:solidFill>
                <a:schemeClr val="dk1"/>
              </a:solidFill>
              <a:latin typeface="Century Gothic"/>
              <a:ea typeface="Century Gothic"/>
              <a:cs typeface="Century Gothic"/>
              <a:sym typeface="Century Gothic"/>
            </a:endParaRPr>
          </a:p>
          <a:p>
            <a:pPr indent="-292100" lvl="0" marL="4572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Goldilocks once again</a:t>
            </a:r>
            <a:endParaRPr sz="1000">
              <a:solidFill>
                <a:schemeClr val="dk1"/>
              </a:solidFill>
              <a:latin typeface="Century Gothic"/>
              <a:ea typeface="Century Gothic"/>
              <a:cs typeface="Century Gothic"/>
              <a:sym typeface="Century Gothic"/>
            </a:endParaRPr>
          </a:p>
          <a:p>
            <a:pPr indent="-292100" lvl="1" marL="914400" rtl="0" algn="l">
              <a:lnSpc>
                <a:spcPct val="150000"/>
              </a:lnSpc>
              <a:spcBef>
                <a:spcPts val="0"/>
              </a:spcBef>
              <a:spcAft>
                <a:spcPts val="0"/>
              </a:spcAft>
              <a:buClr>
                <a:schemeClr val="dk1"/>
              </a:buClr>
              <a:buSzPts val="1000"/>
              <a:buFont typeface="Century Gothic"/>
              <a:buChar char="○"/>
            </a:pPr>
            <a:r>
              <a:rPr lang="en" sz="1000">
                <a:solidFill>
                  <a:schemeClr val="dk1"/>
                </a:solidFill>
                <a:latin typeface="Century Gothic"/>
                <a:ea typeface="Century Gothic"/>
                <a:cs typeface="Century Gothic"/>
                <a:sym typeface="Century Gothic"/>
              </a:rPr>
              <a:t>As we add more features, bias </a:t>
            </a:r>
            <a:r>
              <a:rPr i="1" lang="en" sz="1000">
                <a:solidFill>
                  <a:schemeClr val="dk1"/>
                </a:solidFill>
                <a:latin typeface="Century Gothic"/>
                <a:ea typeface="Century Gothic"/>
                <a:cs typeface="Century Gothic"/>
                <a:sym typeface="Century Gothic"/>
              </a:rPr>
              <a:t>decreases</a:t>
            </a:r>
            <a:r>
              <a:rPr lang="en" sz="1000">
                <a:solidFill>
                  <a:schemeClr val="dk1"/>
                </a:solidFill>
                <a:latin typeface="Century Gothic"/>
                <a:ea typeface="Century Gothic"/>
                <a:cs typeface="Century Gothic"/>
                <a:sym typeface="Century Gothic"/>
              </a:rPr>
              <a:t>, but when we add too many, variance increases</a:t>
            </a:r>
            <a:endParaRPr i="1" sz="1000">
              <a:solidFill>
                <a:schemeClr val="dk1"/>
              </a:solidFill>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000">
              <a:solidFill>
                <a:schemeClr val="dk1"/>
              </a:solidFill>
              <a:latin typeface="Century Gothic"/>
              <a:ea typeface="Century Gothic"/>
              <a:cs typeface="Century Gothic"/>
              <a:sym typeface="Century Gothic"/>
            </a:endParaRPr>
          </a:p>
        </p:txBody>
      </p:sp>
      <p:sp>
        <p:nvSpPr>
          <p:cNvPr id="1073" name="Google Shape;1073;p10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074" name="Google Shape;1074;p107"/>
          <p:cNvPicPr preferRelativeResize="0"/>
          <p:nvPr/>
        </p:nvPicPr>
        <p:blipFill rotWithShape="1">
          <a:blip r:embed="rId3">
            <a:alphaModFix/>
          </a:blip>
          <a:srcRect b="13146" l="10174" r="17514" t="5147"/>
          <a:stretch/>
        </p:blipFill>
        <p:spPr>
          <a:xfrm>
            <a:off x="5154975" y="1232287"/>
            <a:ext cx="3690624" cy="27791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8" name="Shape 1078"/>
        <p:cNvGrpSpPr/>
        <p:nvPr/>
      </p:nvGrpSpPr>
      <p:grpSpPr>
        <a:xfrm>
          <a:off x="0" y="0"/>
          <a:ext cx="0" cy="0"/>
          <a:chOff x="0" y="0"/>
          <a:chExt cx="0" cy="0"/>
        </a:xfrm>
      </p:grpSpPr>
      <p:sp>
        <p:nvSpPr>
          <p:cNvPr id="1079" name="Google Shape;1079;p108"/>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Bias/Variance Tradeoff (cont’d)</a:t>
            </a:r>
            <a:endParaRPr sz="2000">
              <a:solidFill>
                <a:schemeClr val="dk1"/>
              </a:solidFill>
              <a:latin typeface="Century Gothic"/>
              <a:ea typeface="Century Gothic"/>
              <a:cs typeface="Century Gothic"/>
              <a:sym typeface="Century Gothic"/>
            </a:endParaRPr>
          </a:p>
        </p:txBody>
      </p:sp>
      <p:sp>
        <p:nvSpPr>
          <p:cNvPr id="1080" name="Google Shape;1080;p108"/>
          <p:cNvSpPr txBox="1"/>
          <p:nvPr/>
        </p:nvSpPr>
        <p:spPr>
          <a:xfrm>
            <a:off x="5072125" y="976950"/>
            <a:ext cx="3714300" cy="36789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Clr>
                <a:schemeClr val="dk1"/>
              </a:buClr>
              <a:buSzPts val="1500"/>
              <a:buChar char="●"/>
            </a:pPr>
            <a:r>
              <a:rPr b="1" lang="en" sz="1500">
                <a:solidFill>
                  <a:schemeClr val="dk1"/>
                </a:solidFill>
                <a:latin typeface="Calibri"/>
                <a:ea typeface="Calibri"/>
                <a:cs typeface="Calibri"/>
                <a:sym typeface="Calibri"/>
              </a:rPr>
              <a:t>Lower left</a:t>
            </a:r>
            <a:r>
              <a:rPr lang="en" sz="1500">
                <a:solidFill>
                  <a:schemeClr val="dk1"/>
                </a:solidFill>
                <a:latin typeface="Calibri"/>
                <a:ea typeface="Calibri"/>
                <a:cs typeface="Calibri"/>
                <a:sym typeface="Calibri"/>
              </a:rPr>
              <a:t>: where we’d like to be...training data reflects the population we are trying to predict, good selection of features, good choice of algorithm, etc.</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Char char="●"/>
            </a:pPr>
            <a:r>
              <a:rPr b="1" lang="en" sz="1500">
                <a:solidFill>
                  <a:schemeClr val="dk1"/>
                </a:solidFill>
                <a:latin typeface="Calibri"/>
                <a:ea typeface="Calibri"/>
                <a:cs typeface="Calibri"/>
                <a:sym typeface="Calibri"/>
              </a:rPr>
              <a:t>Upper left</a:t>
            </a:r>
            <a:r>
              <a:rPr lang="en" sz="1500">
                <a:solidFill>
                  <a:schemeClr val="dk1"/>
                </a:solidFill>
                <a:latin typeface="Calibri"/>
                <a:ea typeface="Calibri"/>
                <a:cs typeface="Calibri"/>
                <a:sym typeface="Calibri"/>
              </a:rPr>
              <a:t>: underfit...we’re consistently wrong (our model is too simple)</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Char char="●"/>
            </a:pPr>
            <a:r>
              <a:rPr b="1" lang="en" sz="1500">
                <a:solidFill>
                  <a:schemeClr val="dk1"/>
                </a:solidFill>
                <a:latin typeface="Calibri"/>
                <a:ea typeface="Calibri"/>
                <a:cs typeface="Calibri"/>
                <a:sym typeface="Calibri"/>
              </a:rPr>
              <a:t>Lower right</a:t>
            </a:r>
            <a:r>
              <a:rPr lang="en" sz="1500">
                <a:solidFill>
                  <a:schemeClr val="dk1"/>
                </a:solidFill>
                <a:latin typeface="Calibri"/>
                <a:ea typeface="Calibri"/>
                <a:cs typeface="Calibri"/>
                <a:sym typeface="Calibri"/>
              </a:rPr>
              <a:t>: overfit, we do well on our test data, but we’ll generalize poorly to new data</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Char char="●"/>
            </a:pPr>
            <a:r>
              <a:rPr b="1" lang="en" sz="1500">
                <a:solidFill>
                  <a:schemeClr val="dk1"/>
                </a:solidFill>
                <a:latin typeface="Calibri"/>
                <a:ea typeface="Calibri"/>
                <a:cs typeface="Calibri"/>
                <a:sym typeface="Calibri"/>
              </a:rPr>
              <a:t>Upper right</a:t>
            </a:r>
            <a:r>
              <a:rPr lang="en" sz="1500">
                <a:solidFill>
                  <a:schemeClr val="dk1"/>
                </a:solidFill>
                <a:latin typeface="Calibri"/>
                <a:ea typeface="Calibri"/>
                <a:cs typeface="Calibri"/>
                <a:sym typeface="Calibri"/>
              </a:rPr>
              <a:t>: good algorithms +</a:t>
            </a:r>
            <a:br>
              <a:rPr lang="en" sz="1500">
                <a:solidFill>
                  <a:schemeClr val="dk1"/>
                </a:solidFill>
                <a:latin typeface="Calibri"/>
                <a:ea typeface="Calibri"/>
                <a:cs typeface="Calibri"/>
                <a:sym typeface="Calibri"/>
              </a:rPr>
            </a:br>
            <a:r>
              <a:rPr lang="en" sz="1500">
                <a:solidFill>
                  <a:schemeClr val="dk1"/>
                </a:solidFill>
                <a:latin typeface="Calibri"/>
                <a:ea typeface="Calibri"/>
                <a:cs typeface="Calibri"/>
                <a:sym typeface="Calibri"/>
              </a:rPr>
              <a:t>		      bad data = garbage</a:t>
            </a:r>
            <a:br>
              <a:rPr lang="en" sz="1500">
                <a:solidFill>
                  <a:schemeClr val="dk1"/>
                </a:solidFill>
                <a:latin typeface="Calibri"/>
                <a:ea typeface="Calibri"/>
                <a:cs typeface="Calibri"/>
                <a:sym typeface="Calibri"/>
              </a:rPr>
            </a:br>
            <a:r>
              <a:rPr lang="en" sz="1500">
                <a:solidFill>
                  <a:schemeClr val="dk1"/>
                </a:solidFill>
                <a:latin typeface="Calibri"/>
                <a:ea typeface="Calibri"/>
                <a:cs typeface="Calibri"/>
                <a:sym typeface="Calibri"/>
              </a:rPr>
              <a:t>...imagine building a model of credit worthiness based on favorite color</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
        <p:nvSpPr>
          <p:cNvPr id="1081" name="Google Shape;1081;p108"/>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082" name="Google Shape;1082;p108"/>
          <p:cNvPicPr preferRelativeResize="0"/>
          <p:nvPr/>
        </p:nvPicPr>
        <p:blipFill rotWithShape="1">
          <a:blip r:embed="rId3">
            <a:alphaModFix/>
          </a:blip>
          <a:srcRect b="0" l="0" r="0" t="0"/>
          <a:stretch/>
        </p:blipFill>
        <p:spPr>
          <a:xfrm>
            <a:off x="752477" y="917700"/>
            <a:ext cx="3930474" cy="3840049"/>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86" name="Shape 1086"/>
        <p:cNvGrpSpPr/>
        <p:nvPr/>
      </p:nvGrpSpPr>
      <p:grpSpPr>
        <a:xfrm>
          <a:off x="0" y="0"/>
          <a:ext cx="0" cy="0"/>
          <a:chOff x="0" y="0"/>
          <a:chExt cx="0" cy="0"/>
        </a:xfrm>
      </p:grpSpPr>
      <p:sp>
        <p:nvSpPr>
          <p:cNvPr id="1087" name="Google Shape;1087;p109"/>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Feature Selection</a:t>
            </a:r>
            <a:endParaRPr sz="2000">
              <a:solidFill>
                <a:schemeClr val="dk1"/>
              </a:solidFill>
              <a:latin typeface="Century Gothic"/>
              <a:ea typeface="Century Gothic"/>
              <a:cs typeface="Century Gothic"/>
              <a:sym typeface="Century Gothic"/>
            </a:endParaRPr>
          </a:p>
        </p:txBody>
      </p:sp>
      <p:sp>
        <p:nvSpPr>
          <p:cNvPr id="1088" name="Google Shape;1088;p109"/>
          <p:cNvSpPr txBox="1"/>
          <p:nvPr/>
        </p:nvSpPr>
        <p:spPr>
          <a:xfrm>
            <a:off x="713500" y="976950"/>
            <a:ext cx="8073000" cy="35556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Given that features can make or break our model, we need to be thoughtful about which features to include (or exclude)</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Too many/few features result in overfitting/underfitting</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We’ve seen some scatterplots where we are able to identify the features which are </a:t>
            </a:r>
            <a:r>
              <a:rPr i="1" lang="en" sz="1700">
                <a:solidFill>
                  <a:schemeClr val="dk1"/>
                </a:solidFill>
                <a:latin typeface="Calibri"/>
                <a:ea typeface="Calibri"/>
                <a:cs typeface="Calibri"/>
                <a:sym typeface="Calibri"/>
              </a:rPr>
              <a:t>predictive</a:t>
            </a:r>
            <a:r>
              <a:rPr lang="en" sz="1700">
                <a:solidFill>
                  <a:schemeClr val="dk1"/>
                </a:solidFill>
                <a:latin typeface="Calibri"/>
                <a:ea typeface="Calibri"/>
                <a:cs typeface="Calibri"/>
                <a:sym typeface="Calibri"/>
              </a:rPr>
              <a:t> of our target–that’s a</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good place to start</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Discard features that aren’t predictive of the target</a:t>
            </a:r>
            <a:endParaRPr sz="1700">
              <a:solidFill>
                <a:schemeClr val="dk1"/>
              </a:solidFill>
              <a:latin typeface="Calibri"/>
              <a:ea typeface="Calibri"/>
              <a:cs typeface="Calibri"/>
              <a:sym typeface="Calibri"/>
            </a:endParaRPr>
          </a:p>
          <a:p>
            <a:pPr indent="-336550" lvl="1" marL="9144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Our intuition is often bad–look at the data!</a:t>
            </a:r>
            <a:endParaRPr sz="1700">
              <a:solidFill>
                <a:schemeClr val="dk1"/>
              </a:solidFill>
              <a:latin typeface="Calibri"/>
              <a:ea typeface="Calibri"/>
              <a:cs typeface="Calibri"/>
              <a:sym typeface="Calibri"/>
            </a:endParaRPr>
          </a:p>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Be careful of correlations between features, which is</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known as multicollinearity–we typically would discard</a:t>
            </a:r>
            <a:br>
              <a:rPr lang="en" sz="1700">
                <a:solidFill>
                  <a:schemeClr val="dk1"/>
                </a:solidFill>
                <a:latin typeface="Calibri"/>
                <a:ea typeface="Calibri"/>
                <a:cs typeface="Calibri"/>
                <a:sym typeface="Calibri"/>
              </a:rPr>
            </a:br>
            <a:r>
              <a:rPr lang="en" sz="1700">
                <a:solidFill>
                  <a:schemeClr val="dk1"/>
                </a:solidFill>
                <a:latin typeface="Calibri"/>
                <a:ea typeface="Calibri"/>
                <a:cs typeface="Calibri"/>
                <a:sym typeface="Calibri"/>
              </a:rPr>
              <a:t>a feature which is highly correlated with another</a:t>
            </a:r>
            <a:endParaRPr sz="1700">
              <a:solidFill>
                <a:schemeClr val="dk1"/>
              </a:solidFill>
              <a:latin typeface="Calibri"/>
              <a:ea typeface="Calibri"/>
              <a:cs typeface="Calibri"/>
              <a:sym typeface="Calibri"/>
            </a:endParaRPr>
          </a:p>
          <a:p>
            <a:pPr indent="0" lvl="0" marL="914400" rtl="0" algn="l">
              <a:spcBef>
                <a:spcPts val="0"/>
              </a:spcBef>
              <a:spcAft>
                <a:spcPts val="0"/>
              </a:spcAft>
              <a:buClr>
                <a:schemeClr val="dk1"/>
              </a:buClr>
              <a:buSzPts val="1500"/>
              <a:buFont typeface="Arial"/>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b="1" sz="1500">
              <a:solidFill>
                <a:schemeClr val="dk1"/>
              </a:solidFill>
              <a:latin typeface="Calibri"/>
              <a:ea typeface="Calibri"/>
              <a:cs typeface="Calibri"/>
              <a:sym typeface="Calibri"/>
            </a:endParaRPr>
          </a:p>
        </p:txBody>
      </p:sp>
      <p:sp>
        <p:nvSpPr>
          <p:cNvPr id="1089" name="Google Shape;1089;p109"/>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93" name="Shape 1093"/>
        <p:cNvGrpSpPr/>
        <p:nvPr/>
      </p:nvGrpSpPr>
      <p:grpSpPr>
        <a:xfrm>
          <a:off x="0" y="0"/>
          <a:ext cx="0" cy="0"/>
          <a:chOff x="0" y="0"/>
          <a:chExt cx="0" cy="0"/>
        </a:xfrm>
      </p:grpSpPr>
      <p:sp>
        <p:nvSpPr>
          <p:cNvPr id="1094" name="Google Shape;1094;p110"/>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a:t>
            </a:r>
            <a:endParaRPr sz="2000">
              <a:solidFill>
                <a:schemeClr val="dk1"/>
              </a:solidFill>
              <a:latin typeface="Century Gothic"/>
              <a:ea typeface="Century Gothic"/>
              <a:cs typeface="Century Gothic"/>
              <a:sym typeface="Century Gothic"/>
            </a:endParaRPr>
          </a:p>
        </p:txBody>
      </p:sp>
      <p:sp>
        <p:nvSpPr>
          <p:cNvPr id="1095" name="Google Shape;1095;p110"/>
          <p:cNvSpPr txBox="1"/>
          <p:nvPr/>
        </p:nvSpPr>
        <p:spPr>
          <a:xfrm>
            <a:off x="713500" y="976950"/>
            <a:ext cx="8073000" cy="29400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Models which don’t consider “enough” features do not make good predictions (e.g., credit scoring)</a:t>
            </a:r>
            <a:endParaRPr sz="1800">
              <a:solidFill>
                <a:schemeClr val="dk1"/>
              </a:solidFill>
              <a:latin typeface="Calibri"/>
              <a:ea typeface="Calibri"/>
              <a:cs typeface="Calibri"/>
              <a:sym typeface="Calibri"/>
            </a:endParaRPr>
          </a:p>
          <a:p>
            <a:pPr indent="-342900" lvl="1" marL="9144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Technically “underfitting”...but hold that thought</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Our intuition is that considering more features is always better, but that is not always true</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The more features we consider, the more data we need to train our model</a:t>
            </a:r>
            <a:endParaRPr sz="18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In other words, as dimensionality increases, the volume of the space increases and the data become sparse</a:t>
            </a:r>
            <a:endParaRPr sz="18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500"/>
              <a:buFont typeface="Arial"/>
              <a:buNone/>
            </a:pPr>
            <a:r>
              <a:t/>
            </a:r>
            <a:endParaRPr sz="1800">
              <a:solidFill>
                <a:schemeClr val="dk1"/>
              </a:solidFill>
              <a:latin typeface="Calibri"/>
              <a:ea typeface="Calibri"/>
              <a:cs typeface="Calibri"/>
              <a:sym typeface="Calibri"/>
            </a:endParaRPr>
          </a:p>
          <a:p>
            <a:pPr indent="0" lvl="0" marL="0" rtl="0" algn="l">
              <a:spcBef>
                <a:spcPts val="0"/>
              </a:spcBef>
              <a:spcAft>
                <a:spcPts val="0"/>
              </a:spcAft>
              <a:buNone/>
            </a:pPr>
            <a:r>
              <a:t/>
            </a:r>
            <a:endParaRPr sz="1700">
              <a:solidFill>
                <a:schemeClr val="dk1"/>
              </a:solidFill>
              <a:latin typeface="Calibri"/>
              <a:ea typeface="Calibri"/>
              <a:cs typeface="Calibri"/>
              <a:sym typeface="Calibri"/>
            </a:endParaRPr>
          </a:p>
        </p:txBody>
      </p:sp>
      <p:sp>
        <p:nvSpPr>
          <p:cNvPr id="1096" name="Google Shape;1096;p110"/>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0" name="Shape 1100"/>
        <p:cNvGrpSpPr/>
        <p:nvPr/>
      </p:nvGrpSpPr>
      <p:grpSpPr>
        <a:xfrm>
          <a:off x="0" y="0"/>
          <a:ext cx="0" cy="0"/>
          <a:chOff x="0" y="0"/>
          <a:chExt cx="0" cy="0"/>
        </a:xfrm>
      </p:grpSpPr>
      <p:sp>
        <p:nvSpPr>
          <p:cNvPr id="1101" name="Google Shape;1101;p111"/>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02" name="Google Shape;1102;p111"/>
          <p:cNvSpPr txBox="1"/>
          <p:nvPr/>
        </p:nvSpPr>
        <p:spPr>
          <a:xfrm>
            <a:off x="713500" y="976950"/>
            <a:ext cx="8073000" cy="1246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dk1"/>
              </a:buClr>
              <a:buSzPts val="1700"/>
              <a:buChar char="●"/>
            </a:pPr>
            <a:r>
              <a:rPr lang="en" sz="1700">
                <a:solidFill>
                  <a:schemeClr val="dk1"/>
                </a:solidFill>
                <a:latin typeface="Calibri"/>
                <a:ea typeface="Calibri"/>
                <a:cs typeface="Calibri"/>
                <a:sym typeface="Calibri"/>
              </a:rPr>
              <a:t>Hughes Phenomenon: predictive power of a classifier or regressor increases as number of dimensions/features considered increases, then decreases</a:t>
            </a:r>
            <a:endParaRPr sz="1700">
              <a:solidFill>
                <a:schemeClr val="dk1"/>
              </a:solidFill>
              <a:latin typeface="Calibri"/>
              <a:ea typeface="Calibri"/>
              <a:cs typeface="Calibri"/>
              <a:sym typeface="Calibri"/>
            </a:endParaRPr>
          </a:p>
          <a:p>
            <a:pPr indent="0" lvl="0" marL="0" rtl="0" algn="l">
              <a:spcBef>
                <a:spcPts val="0"/>
              </a:spcBef>
              <a:spcAft>
                <a:spcPts val="0"/>
              </a:spcAft>
              <a:buClr>
                <a:schemeClr val="dk1"/>
              </a:buClr>
              <a:buSzPts val="1500"/>
              <a:buFont typeface="Arial"/>
              <a:buNone/>
            </a:pPr>
            <a:r>
              <a:t/>
            </a:r>
            <a:endParaRPr sz="1700">
              <a:solidFill>
                <a:schemeClr val="dk1"/>
              </a:solidFill>
              <a:latin typeface="Calibri"/>
              <a:ea typeface="Calibri"/>
              <a:cs typeface="Calibri"/>
              <a:sym typeface="Calibri"/>
            </a:endParaRPr>
          </a:p>
          <a:p>
            <a:pPr indent="0" lvl="0" marL="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3" name="Google Shape;1103;p111"/>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104" name="Google Shape;1104;p111"/>
          <p:cNvPicPr preferRelativeResize="0"/>
          <p:nvPr/>
        </p:nvPicPr>
        <p:blipFill rotWithShape="1">
          <a:blip r:embed="rId3">
            <a:alphaModFix/>
          </a:blip>
          <a:srcRect b="0" l="0" r="0" t="0"/>
          <a:stretch/>
        </p:blipFill>
        <p:spPr>
          <a:xfrm>
            <a:off x="2092538" y="1899775"/>
            <a:ext cx="4380275" cy="258435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8" name="Shape 1108"/>
        <p:cNvGrpSpPr/>
        <p:nvPr/>
      </p:nvGrpSpPr>
      <p:grpSpPr>
        <a:xfrm>
          <a:off x="0" y="0"/>
          <a:ext cx="0" cy="0"/>
          <a:chOff x="0" y="0"/>
          <a:chExt cx="0" cy="0"/>
        </a:xfrm>
      </p:grpSpPr>
      <p:sp>
        <p:nvSpPr>
          <p:cNvPr id="1109" name="Google Shape;1109;p112"/>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10" name="Google Shape;1110;p112"/>
          <p:cNvSpPr txBox="1"/>
          <p:nvPr/>
        </p:nvSpPr>
        <p:spPr>
          <a:xfrm>
            <a:off x="713500" y="976950"/>
            <a:ext cx="8073000" cy="3309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Char char="●"/>
            </a:pPr>
            <a:r>
              <a:rPr lang="en">
                <a:solidFill>
                  <a:schemeClr val="dk1"/>
                </a:solidFill>
                <a:latin typeface="Century Gothic"/>
                <a:ea typeface="Century Gothic"/>
                <a:cs typeface="Century Gothic"/>
                <a:sym typeface="Century Gothic"/>
              </a:rPr>
              <a:t>Suppose we have 20 data points, </a:t>
            </a:r>
            <a:r>
              <a:rPr b="1" lang="en">
                <a:solidFill>
                  <a:schemeClr val="dk1"/>
                </a:solidFill>
                <a:latin typeface="Century Gothic"/>
                <a:ea typeface="Century Gothic"/>
                <a:cs typeface="Century Gothic"/>
                <a:sym typeface="Century Gothic"/>
              </a:rPr>
              <a:t>x</a:t>
            </a:r>
            <a:r>
              <a:rPr b="1" baseline="-25000" lang="en">
                <a:solidFill>
                  <a:schemeClr val="dk1"/>
                </a:solidFill>
                <a:latin typeface="Century Gothic"/>
                <a:ea typeface="Century Gothic"/>
                <a:cs typeface="Century Gothic"/>
                <a:sym typeface="Century Gothic"/>
              </a:rPr>
              <a:t>1</a:t>
            </a:r>
            <a:r>
              <a:rPr b="1" lang="en">
                <a:solidFill>
                  <a:schemeClr val="dk1"/>
                </a:solidFill>
                <a:latin typeface="Century Gothic"/>
                <a:ea typeface="Century Gothic"/>
                <a:cs typeface="Century Gothic"/>
                <a:sym typeface="Century Gothic"/>
              </a:rPr>
              <a:t>, x</a:t>
            </a:r>
            <a:r>
              <a:rPr b="1" baseline="-25000" lang="en">
                <a:solidFill>
                  <a:schemeClr val="dk1"/>
                </a:solidFill>
                <a:latin typeface="Century Gothic"/>
                <a:ea typeface="Century Gothic"/>
                <a:cs typeface="Century Gothic"/>
                <a:sym typeface="Century Gothic"/>
              </a:rPr>
              <a:t>2</a:t>
            </a:r>
            <a:r>
              <a:rPr b="1" lang="en">
                <a:solidFill>
                  <a:schemeClr val="dk1"/>
                </a:solidFill>
                <a:latin typeface="Century Gothic"/>
                <a:ea typeface="Century Gothic"/>
                <a:cs typeface="Century Gothic"/>
                <a:sym typeface="Century Gothic"/>
              </a:rPr>
              <a:t>, …, x</a:t>
            </a:r>
            <a:r>
              <a:rPr b="1" baseline="-25000" lang="en">
                <a:solidFill>
                  <a:schemeClr val="dk1"/>
                </a:solidFill>
                <a:latin typeface="Century Gothic"/>
                <a:ea typeface="Century Gothic"/>
                <a:cs typeface="Century Gothic"/>
                <a:sym typeface="Century Gothic"/>
              </a:rPr>
              <a:t>20</a:t>
            </a:r>
            <a:endParaRPr b="1" baseline="-25000">
              <a:solidFill>
                <a:schemeClr val="dk1"/>
              </a:solidFill>
              <a:latin typeface="Century Gothic"/>
              <a:ea typeface="Century Gothic"/>
              <a:cs typeface="Century Gothic"/>
              <a:sym typeface="Century Gothic"/>
            </a:endParaRPr>
          </a:p>
          <a:p>
            <a:pPr indent="-317500" lvl="1" marL="914400" rtl="0" algn="l">
              <a:lnSpc>
                <a:spcPct val="150000"/>
              </a:lnSpc>
              <a:spcBef>
                <a:spcPts val="0"/>
              </a:spcBef>
              <a:spcAft>
                <a:spcPts val="0"/>
              </a:spcAft>
              <a:buClr>
                <a:schemeClr val="dk1"/>
              </a:buClr>
              <a:buSzPts val="1400"/>
              <a:buFont typeface="Century Gothic"/>
              <a:buChar char="○"/>
            </a:pPr>
            <a:r>
              <a:rPr lang="en">
                <a:solidFill>
                  <a:schemeClr val="dk1"/>
                </a:solidFill>
                <a:latin typeface="Century Gothic"/>
                <a:ea typeface="Century Gothic"/>
                <a:cs typeface="Century Gothic"/>
                <a:sym typeface="Century Gothic"/>
              </a:rPr>
              <a:t>e.g., perhaps they are gross revenue for companies that are in the trial phase with our SaaS product</a:t>
            </a:r>
            <a:endParaRPr>
              <a:solidFill>
                <a:schemeClr val="dk1"/>
              </a:solidFill>
              <a:latin typeface="Century Gothic"/>
              <a:ea typeface="Century Gothic"/>
              <a:cs typeface="Century Gothic"/>
              <a:sym typeface="Century Gothic"/>
            </a:endParaRPr>
          </a:p>
          <a:p>
            <a:pPr indent="-317500" lvl="0" marL="457200" rtl="0" algn="l">
              <a:lnSpc>
                <a:spcPct val="150000"/>
              </a:lnSpc>
              <a:spcBef>
                <a:spcPts val="0"/>
              </a:spcBef>
              <a:spcAft>
                <a:spcPts val="0"/>
              </a:spcAft>
              <a:buClr>
                <a:schemeClr val="dk1"/>
              </a:buClr>
              <a:buSzPts val="1400"/>
              <a:buChar char="●"/>
            </a:pPr>
            <a:r>
              <a:rPr lang="en">
                <a:solidFill>
                  <a:schemeClr val="dk1"/>
                </a:solidFill>
                <a:latin typeface="Century Gothic"/>
                <a:ea typeface="Century Gothic"/>
                <a:cs typeface="Century Gothic"/>
                <a:sym typeface="Century Gothic"/>
              </a:rPr>
              <a:t>We also have 20 target values, </a:t>
            </a:r>
            <a:r>
              <a:rPr b="1" lang="en">
                <a:solidFill>
                  <a:schemeClr val="dk1"/>
                </a:solidFill>
                <a:latin typeface="Century Gothic"/>
                <a:ea typeface="Century Gothic"/>
                <a:cs typeface="Century Gothic"/>
                <a:sym typeface="Century Gothic"/>
              </a:rPr>
              <a:t>t</a:t>
            </a:r>
            <a:r>
              <a:rPr b="1" baseline="-25000" lang="en">
                <a:solidFill>
                  <a:schemeClr val="dk1"/>
                </a:solidFill>
                <a:latin typeface="Century Gothic"/>
                <a:ea typeface="Century Gothic"/>
                <a:cs typeface="Century Gothic"/>
                <a:sym typeface="Century Gothic"/>
              </a:rPr>
              <a:t>1</a:t>
            </a:r>
            <a:r>
              <a:rPr b="1" lang="en">
                <a:solidFill>
                  <a:schemeClr val="dk1"/>
                </a:solidFill>
                <a:latin typeface="Century Gothic"/>
                <a:ea typeface="Century Gothic"/>
                <a:cs typeface="Century Gothic"/>
                <a:sym typeface="Century Gothic"/>
              </a:rPr>
              <a:t>, t</a:t>
            </a:r>
            <a:r>
              <a:rPr b="1" baseline="-25000" lang="en">
                <a:solidFill>
                  <a:schemeClr val="dk1"/>
                </a:solidFill>
                <a:latin typeface="Century Gothic"/>
                <a:ea typeface="Century Gothic"/>
                <a:cs typeface="Century Gothic"/>
                <a:sym typeface="Century Gothic"/>
              </a:rPr>
              <a:t>2</a:t>
            </a:r>
            <a:r>
              <a:rPr b="1" lang="en">
                <a:solidFill>
                  <a:schemeClr val="dk1"/>
                </a:solidFill>
                <a:latin typeface="Century Gothic"/>
                <a:ea typeface="Century Gothic"/>
                <a:cs typeface="Century Gothic"/>
                <a:sym typeface="Century Gothic"/>
              </a:rPr>
              <a:t>, …, t</a:t>
            </a:r>
            <a:r>
              <a:rPr b="1" baseline="-25000" lang="en">
                <a:solidFill>
                  <a:schemeClr val="dk1"/>
                </a:solidFill>
                <a:latin typeface="Century Gothic"/>
                <a:ea typeface="Century Gothic"/>
                <a:cs typeface="Century Gothic"/>
                <a:sym typeface="Century Gothic"/>
              </a:rPr>
              <a:t>20</a:t>
            </a:r>
            <a:endParaRPr b="1">
              <a:solidFill>
                <a:schemeClr val="dk1"/>
              </a:solidFill>
              <a:latin typeface="Century Gothic"/>
              <a:ea typeface="Century Gothic"/>
              <a:cs typeface="Century Gothic"/>
              <a:sym typeface="Century Gothic"/>
            </a:endParaRPr>
          </a:p>
          <a:p>
            <a:pPr indent="-317500" lvl="1" marL="914400" rtl="0" algn="l">
              <a:lnSpc>
                <a:spcPct val="150000"/>
              </a:lnSpc>
              <a:spcBef>
                <a:spcPts val="0"/>
              </a:spcBef>
              <a:spcAft>
                <a:spcPts val="0"/>
              </a:spcAft>
              <a:buClr>
                <a:schemeClr val="dk1"/>
              </a:buClr>
              <a:buSzPts val="1400"/>
              <a:buChar char="○"/>
            </a:pPr>
            <a:r>
              <a:rPr b="1" lang="en">
                <a:solidFill>
                  <a:schemeClr val="dk1"/>
                </a:solidFill>
                <a:latin typeface="Century Gothic"/>
                <a:ea typeface="Century Gothic"/>
                <a:cs typeface="Century Gothic"/>
                <a:sym typeface="Century Gothic"/>
              </a:rPr>
              <a:t>red</a:t>
            </a:r>
            <a:r>
              <a:rPr lang="en">
                <a:solidFill>
                  <a:schemeClr val="dk1"/>
                </a:solidFill>
                <a:latin typeface="Century Gothic"/>
                <a:ea typeface="Century Gothic"/>
                <a:cs typeface="Century Gothic"/>
                <a:sym typeface="Century Gothic"/>
              </a:rPr>
              <a:t> = won’t convert, i.e., won’t pay for our product</a:t>
            </a:r>
            <a:endParaRPr>
              <a:solidFill>
                <a:schemeClr val="dk1"/>
              </a:solidFill>
              <a:latin typeface="Century Gothic"/>
              <a:ea typeface="Century Gothic"/>
              <a:cs typeface="Century Gothic"/>
              <a:sym typeface="Century Gothic"/>
            </a:endParaRPr>
          </a:p>
          <a:p>
            <a:pPr indent="-317500" lvl="1" marL="914400" rtl="0" algn="l">
              <a:lnSpc>
                <a:spcPct val="150000"/>
              </a:lnSpc>
              <a:spcBef>
                <a:spcPts val="0"/>
              </a:spcBef>
              <a:spcAft>
                <a:spcPts val="0"/>
              </a:spcAft>
              <a:buClr>
                <a:schemeClr val="dk1"/>
              </a:buClr>
              <a:buSzPts val="1400"/>
              <a:buChar char="○"/>
            </a:pPr>
            <a:r>
              <a:rPr b="1" lang="en">
                <a:solidFill>
                  <a:schemeClr val="dk1"/>
                </a:solidFill>
                <a:latin typeface="Century Gothic"/>
                <a:ea typeface="Century Gothic"/>
                <a:cs typeface="Century Gothic"/>
                <a:sym typeface="Century Gothic"/>
              </a:rPr>
              <a:t>green</a:t>
            </a:r>
            <a:r>
              <a:rPr lang="en">
                <a:solidFill>
                  <a:schemeClr val="dk1"/>
                </a:solidFill>
                <a:latin typeface="Century Gothic"/>
                <a:ea typeface="Century Gothic"/>
                <a:cs typeface="Century Gothic"/>
                <a:sym typeface="Century Gothic"/>
              </a:rPr>
              <a:t> = converts, i.e., will be a paying customer</a:t>
            </a:r>
            <a:endParaRPr>
              <a:solidFill>
                <a:schemeClr val="dk1"/>
              </a:solidFill>
              <a:latin typeface="Century Gothic"/>
              <a:ea typeface="Century Gothic"/>
              <a:cs typeface="Century Gothic"/>
              <a:sym typeface="Century Gothic"/>
            </a:endParaRPr>
          </a:p>
          <a:p>
            <a:pPr indent="-317500" lvl="0" marL="457200" rtl="0" algn="l">
              <a:lnSpc>
                <a:spcPct val="150000"/>
              </a:lnSpc>
              <a:spcBef>
                <a:spcPts val="0"/>
              </a:spcBef>
              <a:spcAft>
                <a:spcPts val="0"/>
              </a:spcAft>
              <a:buClr>
                <a:schemeClr val="dk1"/>
              </a:buClr>
              <a:buSzPts val="1400"/>
              <a:buChar char="●"/>
            </a:pPr>
            <a:r>
              <a:rPr lang="en">
                <a:solidFill>
                  <a:schemeClr val="dk1"/>
                </a:solidFill>
                <a:latin typeface="Century Gothic"/>
                <a:ea typeface="Century Gothic"/>
                <a:cs typeface="Century Gothic"/>
                <a:sym typeface="Century Gothic"/>
              </a:rPr>
              <a:t>We want an ML classifier to tell us the probability of a customer converting, </a:t>
            </a:r>
            <a:r>
              <a:rPr b="1" lang="en">
                <a:solidFill>
                  <a:schemeClr val="dk1"/>
                </a:solidFill>
                <a:latin typeface="Century Gothic"/>
                <a:ea typeface="Century Gothic"/>
                <a:cs typeface="Century Gothic"/>
                <a:sym typeface="Century Gothic"/>
              </a:rPr>
              <a:t>p(t</a:t>
            </a:r>
            <a:r>
              <a:rPr b="1" baseline="-25000" lang="en">
                <a:solidFill>
                  <a:schemeClr val="dk1"/>
                </a:solidFill>
                <a:latin typeface="Century Gothic"/>
                <a:ea typeface="Century Gothic"/>
                <a:cs typeface="Century Gothic"/>
                <a:sym typeface="Century Gothic"/>
              </a:rPr>
              <a:t>n</a:t>
            </a:r>
            <a:r>
              <a:rPr b="1" lang="en">
                <a:solidFill>
                  <a:schemeClr val="dk1"/>
                </a:solidFill>
                <a:latin typeface="Century Gothic"/>
                <a:ea typeface="Century Gothic"/>
                <a:cs typeface="Century Gothic"/>
                <a:sym typeface="Century Gothic"/>
              </a:rPr>
              <a:t> = g|x</a:t>
            </a:r>
            <a:r>
              <a:rPr b="1" baseline="-25000" lang="en">
                <a:solidFill>
                  <a:schemeClr val="dk1"/>
                </a:solidFill>
                <a:latin typeface="Century Gothic"/>
                <a:ea typeface="Century Gothic"/>
                <a:cs typeface="Century Gothic"/>
                <a:sym typeface="Century Gothic"/>
              </a:rPr>
              <a:t>n</a:t>
            </a:r>
            <a:r>
              <a:rPr b="1" lang="en">
                <a:solidFill>
                  <a:schemeClr val="dk1"/>
                </a:solidFill>
                <a:latin typeface="Century Gothic"/>
                <a:ea typeface="Century Gothic"/>
                <a:cs typeface="Century Gothic"/>
                <a:sym typeface="Century Gothic"/>
              </a:rPr>
              <a:t>)</a:t>
            </a:r>
            <a:endParaRPr b="1">
              <a:solidFill>
                <a:schemeClr val="dk1"/>
              </a:solidFill>
              <a:latin typeface="Century Gothic"/>
              <a:ea typeface="Century Gothic"/>
              <a:cs typeface="Century Gothic"/>
              <a:sym typeface="Century Gothic"/>
            </a:endParaRPr>
          </a:p>
          <a:p>
            <a:pPr indent="-317500" lvl="0" marL="457200" rtl="0" algn="l">
              <a:lnSpc>
                <a:spcPct val="150000"/>
              </a:lnSpc>
              <a:spcBef>
                <a:spcPts val="0"/>
              </a:spcBef>
              <a:spcAft>
                <a:spcPts val="0"/>
              </a:spcAft>
              <a:buClr>
                <a:schemeClr val="dk1"/>
              </a:buClr>
              <a:buSzPts val="1400"/>
              <a:buFont typeface="Lora"/>
              <a:buChar char="●"/>
            </a:pPr>
            <a:r>
              <a:rPr lang="en">
                <a:solidFill>
                  <a:schemeClr val="dk1"/>
                </a:solidFill>
                <a:latin typeface="Century Gothic"/>
                <a:ea typeface="Century Gothic"/>
                <a:cs typeface="Century Gothic"/>
                <a:sym typeface="Century Gothic"/>
              </a:rPr>
              <a:t>First cut, we’ll partition </a:t>
            </a:r>
            <a:r>
              <a:rPr b="1" lang="en">
                <a:solidFill>
                  <a:schemeClr val="dk1"/>
                </a:solidFill>
                <a:latin typeface="Century Gothic"/>
                <a:ea typeface="Century Gothic"/>
                <a:cs typeface="Century Gothic"/>
                <a:sym typeface="Century Gothic"/>
              </a:rPr>
              <a:t>x</a:t>
            </a:r>
            <a:r>
              <a:rPr lang="en">
                <a:solidFill>
                  <a:schemeClr val="dk1"/>
                </a:solidFill>
                <a:latin typeface="Century Gothic"/>
                <a:ea typeface="Century Gothic"/>
                <a:cs typeface="Century Gothic"/>
                <a:sym typeface="Century Gothic"/>
              </a:rPr>
              <a:t> into four equal-sized regions</a:t>
            </a:r>
            <a:endParaRPr b="1">
              <a:solidFill>
                <a:schemeClr val="dk1"/>
              </a:solidFill>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a:solidFill>
                <a:schemeClr val="dk1"/>
              </a:solidFill>
              <a:latin typeface="Century Gothic"/>
              <a:ea typeface="Century Gothic"/>
              <a:cs typeface="Century Gothic"/>
              <a:sym typeface="Century Gothic"/>
            </a:endParaRPr>
          </a:p>
        </p:txBody>
      </p:sp>
      <p:sp>
        <p:nvSpPr>
          <p:cNvPr id="1111" name="Google Shape;1111;p112"/>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15" name="Shape 1115"/>
        <p:cNvGrpSpPr/>
        <p:nvPr/>
      </p:nvGrpSpPr>
      <p:grpSpPr>
        <a:xfrm>
          <a:off x="0" y="0"/>
          <a:ext cx="0" cy="0"/>
          <a:chOff x="0" y="0"/>
          <a:chExt cx="0" cy="0"/>
        </a:xfrm>
      </p:grpSpPr>
      <p:sp>
        <p:nvSpPr>
          <p:cNvPr id="1116" name="Google Shape;1116;p113"/>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17" name="Google Shape;1117;p113"/>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pic>
        <p:nvPicPr>
          <p:cNvPr id="1118" name="Google Shape;1118;p113"/>
          <p:cNvPicPr preferRelativeResize="0"/>
          <p:nvPr/>
        </p:nvPicPr>
        <p:blipFill rotWithShape="1">
          <a:blip r:embed="rId3">
            <a:alphaModFix/>
          </a:blip>
          <a:srcRect b="0" l="0" r="0" t="0"/>
          <a:stretch/>
        </p:blipFill>
        <p:spPr>
          <a:xfrm>
            <a:off x="1919575" y="968650"/>
            <a:ext cx="4207572" cy="3810325"/>
          </a:xfrm>
          <a:prstGeom prst="rect">
            <a:avLst/>
          </a:prstGeom>
          <a:noFill/>
          <a:ln>
            <a:noFill/>
          </a:ln>
        </p:spPr>
      </p:pic>
      <p:pic>
        <p:nvPicPr>
          <p:cNvPr id="1119" name="Google Shape;1119;p113"/>
          <p:cNvPicPr preferRelativeResize="0"/>
          <p:nvPr/>
        </p:nvPicPr>
        <p:blipFill rotWithShape="1">
          <a:blip r:embed="rId4">
            <a:alphaModFix/>
          </a:blip>
          <a:srcRect b="0" l="0" r="0" t="0"/>
          <a:stretch/>
        </p:blipFill>
        <p:spPr>
          <a:xfrm>
            <a:off x="2794755" y="3424250"/>
            <a:ext cx="2457220" cy="615600"/>
          </a:xfrm>
          <a:prstGeom prst="rect">
            <a:avLst/>
          </a:prstGeom>
          <a:noFill/>
          <a:ln>
            <a:noFill/>
          </a:ln>
        </p:spPr>
      </p:pic>
      <p:pic>
        <p:nvPicPr>
          <p:cNvPr id="1120" name="Google Shape;1120;p113"/>
          <p:cNvPicPr preferRelativeResize="0"/>
          <p:nvPr/>
        </p:nvPicPr>
        <p:blipFill rotWithShape="1">
          <a:blip r:embed="rId5">
            <a:alphaModFix/>
          </a:blip>
          <a:srcRect b="0" l="0" r="0" t="0"/>
          <a:stretch/>
        </p:blipFill>
        <p:spPr>
          <a:xfrm>
            <a:off x="2267025" y="4000450"/>
            <a:ext cx="3512674" cy="672775"/>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24" name="Shape 1124"/>
        <p:cNvGrpSpPr/>
        <p:nvPr/>
      </p:nvGrpSpPr>
      <p:grpSpPr>
        <a:xfrm>
          <a:off x="0" y="0"/>
          <a:ext cx="0" cy="0"/>
          <a:chOff x="0" y="0"/>
          <a:chExt cx="0" cy="0"/>
        </a:xfrm>
      </p:grpSpPr>
      <p:sp>
        <p:nvSpPr>
          <p:cNvPr id="1125" name="Google Shape;1125;p114"/>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26" name="Google Shape;1126;p114"/>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1127" name="Google Shape;1127;p114"/>
          <p:cNvSpPr txBox="1"/>
          <p:nvPr/>
        </p:nvSpPr>
        <p:spPr>
          <a:xfrm>
            <a:off x="617875" y="875950"/>
            <a:ext cx="7309800" cy="461700"/>
          </a:xfrm>
          <a:prstGeom prst="rect">
            <a:avLst/>
          </a:prstGeom>
          <a:noFill/>
          <a:ln>
            <a:noFill/>
          </a:ln>
        </p:spPr>
        <p:txBody>
          <a:bodyPr anchorCtr="0" anchor="t" bIns="91425" lIns="91425" spcFirstLastPara="1" rIns="91425" wrap="square" tIns="91425">
            <a:spAutoFit/>
          </a:bodyPr>
          <a:lstStyle/>
          <a:p>
            <a:pPr indent="-342900" lvl="0" marL="457200" rtl="0" algn="l">
              <a:spcBef>
                <a:spcPts val="0"/>
              </a:spcBef>
              <a:spcAft>
                <a:spcPts val="0"/>
              </a:spcAft>
              <a:buClr>
                <a:schemeClr val="dk1"/>
              </a:buClr>
              <a:buSzPts val="1800"/>
              <a:buChar char="●"/>
            </a:pPr>
            <a:r>
              <a:rPr lang="en" sz="1800">
                <a:solidFill>
                  <a:schemeClr val="dk1"/>
                </a:solidFill>
                <a:latin typeface="Calibri"/>
                <a:ea typeface="Calibri"/>
                <a:cs typeface="Calibri"/>
                <a:sym typeface="Calibri"/>
              </a:rPr>
              <a:t>Now let’s consider an additional dimension (e.g., # of employees)</a:t>
            </a:r>
            <a:endParaRPr sz="1800">
              <a:solidFill>
                <a:schemeClr val="dk1"/>
              </a:solidFill>
              <a:latin typeface="Calibri"/>
              <a:ea typeface="Calibri"/>
              <a:cs typeface="Calibri"/>
              <a:sym typeface="Calibri"/>
            </a:endParaRPr>
          </a:p>
        </p:txBody>
      </p:sp>
      <p:pic>
        <p:nvPicPr>
          <p:cNvPr id="1128" name="Google Shape;1128;p114"/>
          <p:cNvPicPr preferRelativeResize="0"/>
          <p:nvPr/>
        </p:nvPicPr>
        <p:blipFill rotWithShape="1">
          <a:blip r:embed="rId3">
            <a:alphaModFix/>
          </a:blip>
          <a:srcRect b="0" l="0" r="0" t="0"/>
          <a:stretch/>
        </p:blipFill>
        <p:spPr>
          <a:xfrm>
            <a:off x="1004413" y="1337650"/>
            <a:ext cx="3368475" cy="3441550"/>
          </a:xfrm>
          <a:prstGeom prst="rect">
            <a:avLst/>
          </a:prstGeom>
          <a:noFill/>
          <a:ln>
            <a:noFill/>
          </a:ln>
        </p:spPr>
      </p:pic>
      <p:pic>
        <p:nvPicPr>
          <p:cNvPr id="1129" name="Google Shape;1129;p114"/>
          <p:cNvPicPr preferRelativeResize="0"/>
          <p:nvPr/>
        </p:nvPicPr>
        <p:blipFill rotWithShape="1">
          <a:blip r:embed="rId4">
            <a:alphaModFix/>
          </a:blip>
          <a:srcRect b="0" l="0" r="0" t="0"/>
          <a:stretch/>
        </p:blipFill>
        <p:spPr>
          <a:xfrm>
            <a:off x="4602888" y="1337650"/>
            <a:ext cx="2747250" cy="68681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3" name="Shape 1133"/>
        <p:cNvGrpSpPr/>
        <p:nvPr/>
      </p:nvGrpSpPr>
      <p:grpSpPr>
        <a:xfrm>
          <a:off x="0" y="0"/>
          <a:ext cx="0" cy="0"/>
          <a:chOff x="0" y="0"/>
          <a:chExt cx="0" cy="0"/>
        </a:xfrm>
      </p:grpSpPr>
      <p:sp>
        <p:nvSpPr>
          <p:cNvPr id="1134" name="Google Shape;1134;p115"/>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35" name="Google Shape;1135;p115"/>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1136" name="Google Shape;1136;p115"/>
          <p:cNvSpPr txBox="1"/>
          <p:nvPr>
            <p:ph idx="4294967295" type="body"/>
          </p:nvPr>
        </p:nvSpPr>
        <p:spPr>
          <a:xfrm>
            <a:off x="592300" y="917688"/>
            <a:ext cx="8253300" cy="904800"/>
          </a:xfrm>
          <a:prstGeom prst="rect">
            <a:avLst/>
          </a:prstGeom>
          <a:noFill/>
          <a:ln>
            <a:noFill/>
          </a:ln>
        </p:spPr>
        <p:txBody>
          <a:bodyPr anchorCtr="0" anchor="t" bIns="91400" lIns="91400" spcFirstLastPara="1" rIns="91400" wrap="square" tIns="91400">
            <a:noAutofit/>
          </a:bodyPr>
          <a:lstStyle/>
          <a:p>
            <a:pPr indent="-342900" lvl="0" marL="457200" rtl="0" algn="l">
              <a:lnSpc>
                <a:spcPct val="100000"/>
              </a:lnSpc>
              <a:spcBef>
                <a:spcPts val="0"/>
              </a:spcBef>
              <a:spcAft>
                <a:spcPts val="0"/>
              </a:spcAft>
              <a:buSzPts val="1800"/>
              <a:buChar char="●"/>
            </a:pPr>
            <a:r>
              <a:rPr lang="en" sz="1800"/>
              <a:t>Now let’s consider an additional dimension (e.g., years in business)</a:t>
            </a:r>
            <a:endParaRPr sz="1800"/>
          </a:p>
        </p:txBody>
      </p:sp>
      <p:pic>
        <p:nvPicPr>
          <p:cNvPr id="1137" name="Google Shape;1137;p115"/>
          <p:cNvPicPr preferRelativeResize="0"/>
          <p:nvPr/>
        </p:nvPicPr>
        <p:blipFill rotWithShape="1">
          <a:blip r:embed="rId3">
            <a:alphaModFix/>
          </a:blip>
          <a:srcRect b="0" l="0" r="0" t="0"/>
          <a:stretch/>
        </p:blipFill>
        <p:spPr>
          <a:xfrm>
            <a:off x="688850" y="1485013"/>
            <a:ext cx="3775224" cy="3233975"/>
          </a:xfrm>
          <a:prstGeom prst="rect">
            <a:avLst/>
          </a:prstGeom>
          <a:noFill/>
          <a:ln cap="flat" cmpd="sng" w="9525">
            <a:solidFill>
              <a:srgbClr val="000000"/>
            </a:solidFill>
            <a:prstDash val="solid"/>
            <a:round/>
            <a:headEnd len="sm" w="sm" type="none"/>
            <a:tailEnd len="sm" w="sm" type="none"/>
          </a:ln>
        </p:spPr>
      </p:pic>
      <p:pic>
        <p:nvPicPr>
          <p:cNvPr id="1138" name="Google Shape;1138;p115"/>
          <p:cNvPicPr preferRelativeResize="0"/>
          <p:nvPr/>
        </p:nvPicPr>
        <p:blipFill rotWithShape="1">
          <a:blip r:embed="rId4">
            <a:alphaModFix/>
          </a:blip>
          <a:srcRect b="0" l="0" r="0" t="0"/>
          <a:stretch/>
        </p:blipFill>
        <p:spPr>
          <a:xfrm>
            <a:off x="4647146" y="1485012"/>
            <a:ext cx="2843300" cy="764800"/>
          </a:xfrm>
          <a:prstGeom prst="rect">
            <a:avLst/>
          </a:prstGeom>
          <a:noFill/>
          <a:ln>
            <a:noFill/>
          </a:ln>
        </p:spPr>
      </p:pic>
      <p:pic>
        <p:nvPicPr>
          <p:cNvPr id="1139" name="Google Shape;1139;p115"/>
          <p:cNvPicPr preferRelativeResize="0"/>
          <p:nvPr/>
        </p:nvPicPr>
        <p:blipFill rotWithShape="1">
          <a:blip r:embed="rId5">
            <a:alphaModFix/>
          </a:blip>
          <a:srcRect b="0" l="0" r="0" t="0"/>
          <a:stretch/>
        </p:blipFill>
        <p:spPr>
          <a:xfrm>
            <a:off x="4647150" y="2449914"/>
            <a:ext cx="4198450" cy="1051112"/>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43" name="Shape 1143"/>
        <p:cNvGrpSpPr/>
        <p:nvPr/>
      </p:nvGrpSpPr>
      <p:grpSpPr>
        <a:xfrm>
          <a:off x="0" y="0"/>
          <a:ext cx="0" cy="0"/>
          <a:chOff x="0" y="0"/>
          <a:chExt cx="0" cy="0"/>
        </a:xfrm>
      </p:grpSpPr>
      <p:sp>
        <p:nvSpPr>
          <p:cNvPr id="1144" name="Google Shape;1144;p116"/>
          <p:cNvSpPr/>
          <p:nvPr/>
        </p:nvSpPr>
        <p:spPr>
          <a:xfrm>
            <a:off x="752475" y="502200"/>
            <a:ext cx="6849600" cy="41550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SzPts val="1100"/>
              <a:buNone/>
            </a:pPr>
            <a:r>
              <a:rPr lang="en" sz="2000">
                <a:solidFill>
                  <a:schemeClr val="dk1"/>
                </a:solidFill>
                <a:latin typeface="Century Gothic"/>
                <a:ea typeface="Century Gothic"/>
                <a:cs typeface="Century Gothic"/>
                <a:sym typeface="Century Gothic"/>
              </a:rPr>
              <a:t>Curse of Dimensionality (cont’d)</a:t>
            </a:r>
            <a:endParaRPr sz="2000">
              <a:solidFill>
                <a:schemeClr val="dk1"/>
              </a:solidFill>
              <a:latin typeface="Century Gothic"/>
              <a:ea typeface="Century Gothic"/>
              <a:cs typeface="Century Gothic"/>
              <a:sym typeface="Century Gothic"/>
            </a:endParaRPr>
          </a:p>
        </p:txBody>
      </p:sp>
      <p:sp>
        <p:nvSpPr>
          <p:cNvPr id="1145" name="Google Shape;1145;p116"/>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1146" name="Google Shape;1146;p116"/>
          <p:cNvSpPr txBox="1"/>
          <p:nvPr>
            <p:ph idx="4294967295" type="body"/>
          </p:nvPr>
        </p:nvSpPr>
        <p:spPr>
          <a:xfrm>
            <a:off x="592300" y="917725"/>
            <a:ext cx="8103600" cy="3056100"/>
          </a:xfrm>
          <a:prstGeom prst="rect">
            <a:avLst/>
          </a:prstGeom>
          <a:noFill/>
          <a:ln>
            <a:noFill/>
          </a:ln>
        </p:spPr>
        <p:txBody>
          <a:bodyPr anchorCtr="0" anchor="t" bIns="91400" lIns="91400" spcFirstLastPara="1" rIns="91400" wrap="square" tIns="91400">
            <a:noAutofit/>
          </a:bodyPr>
          <a:lstStyle/>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As the number of dimensions increases, number of samples we need grows exponentially</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We need enough dimensions to have ample variation to detect the classification of each input–too many dimensions requires too much data, two few does not have enough feature variation to detect anything</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In addition, considering too many features can lead to “overfitting”–our model learns idiosyncrasies of our training data and does not generalize well</a:t>
            </a:r>
            <a:endParaRPr sz="1300">
              <a:latin typeface="Century Gothic"/>
              <a:ea typeface="Century Gothic"/>
              <a:cs typeface="Century Gothic"/>
              <a:sym typeface="Century Gothic"/>
            </a:endParaRPr>
          </a:p>
          <a:p>
            <a:pPr indent="0" lvl="0" marL="0" rtl="0" algn="l">
              <a:lnSpc>
                <a:spcPct val="150000"/>
              </a:lnSpc>
              <a:spcBef>
                <a:spcPts val="0"/>
              </a:spcBef>
              <a:spcAft>
                <a:spcPts val="0"/>
              </a:spcAft>
              <a:buNone/>
            </a:pPr>
            <a:r>
              <a:rPr lang="en" sz="1300">
                <a:latin typeface="Century Gothic"/>
                <a:ea typeface="Century Gothic"/>
                <a:cs typeface="Century Gothic"/>
                <a:sym typeface="Century Gothic"/>
              </a:rPr>
              <a:t>Goldilocks is the answer yet again...</a:t>
            </a:r>
            <a:endParaRPr sz="1400">
              <a:latin typeface="Century Gothic"/>
              <a:ea typeface="Century Gothic"/>
              <a:cs typeface="Century Gothic"/>
              <a:sym typeface="Century Gothic"/>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50" name="Shape 1150"/>
        <p:cNvGrpSpPr/>
        <p:nvPr/>
      </p:nvGrpSpPr>
      <p:grpSpPr>
        <a:xfrm>
          <a:off x="0" y="0"/>
          <a:ext cx="0" cy="0"/>
          <a:chOff x="0" y="0"/>
          <a:chExt cx="0" cy="0"/>
        </a:xfrm>
      </p:grpSpPr>
      <p:sp>
        <p:nvSpPr>
          <p:cNvPr id="1151" name="Google Shape;1151;p117"/>
          <p:cNvSpPr txBox="1"/>
          <p:nvPr>
            <p:ph idx="12" type="sldNum"/>
          </p:nvPr>
        </p:nvSpPr>
        <p:spPr>
          <a:xfrm>
            <a:off x="8094694" y="4778981"/>
            <a:ext cx="750900" cy="250500"/>
          </a:xfrm>
          <a:prstGeom prst="rect">
            <a:avLst/>
          </a:prstGeom>
        </p:spPr>
        <p:txBody>
          <a:bodyPr anchorCtr="0" anchor="ctr" bIns="34275" lIns="68575" spcFirstLastPara="1" rIns="68575" wrap="square" tIns="34275">
            <a:noAutofit/>
          </a:bodyPr>
          <a:lstStyle/>
          <a:p>
            <a:pPr indent="0" lvl="0" marL="0" rtl="0" algn="ctr">
              <a:spcBef>
                <a:spcPts val="0"/>
              </a:spcBef>
              <a:spcAft>
                <a:spcPts val="0"/>
              </a:spcAft>
              <a:buNone/>
            </a:pPr>
            <a:fld id="{00000000-1234-1234-1234-123412341234}" type="slidenum">
              <a:rPr lang="en"/>
              <a:t>‹#›</a:t>
            </a:fld>
            <a:endParaRPr/>
          </a:p>
        </p:txBody>
      </p:sp>
      <p:sp>
        <p:nvSpPr>
          <p:cNvPr id="1152" name="Google Shape;1152;p117"/>
          <p:cNvSpPr/>
          <p:nvPr/>
        </p:nvSpPr>
        <p:spPr>
          <a:xfrm>
            <a:off x="3772387" y="2225076"/>
            <a:ext cx="2181300" cy="829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1153" name="Google Shape;1153;p117"/>
          <p:cNvGrpSpPr/>
          <p:nvPr/>
        </p:nvGrpSpPr>
        <p:grpSpPr>
          <a:xfrm>
            <a:off x="2249719" y="726566"/>
            <a:ext cx="4419451" cy="3826922"/>
            <a:chOff x="3099100" y="1113850"/>
            <a:chExt cx="5511224" cy="4904424"/>
          </a:xfrm>
        </p:grpSpPr>
        <p:pic>
          <p:nvPicPr>
            <p:cNvPr id="1154" name="Google Shape;1154;p117"/>
            <p:cNvPicPr preferRelativeResize="0"/>
            <p:nvPr/>
          </p:nvPicPr>
          <p:blipFill rotWithShape="1">
            <a:blip r:embed="rId3">
              <a:alphaModFix/>
            </a:blip>
            <a:srcRect b="11124" l="3830" r="11252" t="13308"/>
            <a:stretch/>
          </p:blipFill>
          <p:spPr>
            <a:xfrm>
              <a:off x="3099100" y="1113850"/>
              <a:ext cx="5511224" cy="4904424"/>
            </a:xfrm>
            <a:prstGeom prst="rect">
              <a:avLst/>
            </a:prstGeom>
            <a:noFill/>
            <a:ln>
              <a:noFill/>
            </a:ln>
          </p:spPr>
        </p:pic>
        <p:sp>
          <p:nvSpPr>
            <p:cNvPr id="1155" name="Google Shape;1155;p117"/>
            <p:cNvSpPr/>
            <p:nvPr/>
          </p:nvSpPr>
          <p:spPr>
            <a:xfrm>
              <a:off x="4990775" y="3039375"/>
              <a:ext cx="2685300" cy="10188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sp>
        <p:nvSpPr>
          <p:cNvPr id="1156" name="Google Shape;1156;p117"/>
          <p:cNvSpPr txBox="1"/>
          <p:nvPr>
            <p:ph idx="4294967295" type="title"/>
          </p:nvPr>
        </p:nvSpPr>
        <p:spPr>
          <a:xfrm>
            <a:off x="3745713" y="2094131"/>
            <a:ext cx="2451300" cy="959700"/>
          </a:xfrm>
          <a:prstGeom prst="rect">
            <a:avLst/>
          </a:prstGeom>
          <a:noFill/>
          <a:ln>
            <a:noFill/>
          </a:ln>
        </p:spPr>
        <p:txBody>
          <a:bodyPr anchorCtr="0" anchor="t" bIns="0" lIns="0" spcFirstLastPara="1" rIns="0" wrap="square" tIns="0">
            <a:spAutoFit/>
          </a:bodyPr>
          <a:lstStyle/>
          <a:p>
            <a:pPr indent="0" lvl="0" marL="0" rtl="0" algn="r">
              <a:lnSpc>
                <a:spcPct val="115000"/>
              </a:lnSpc>
              <a:spcBef>
                <a:spcPts val="0"/>
              </a:spcBef>
              <a:spcAft>
                <a:spcPts val="0"/>
              </a:spcAft>
              <a:buClr>
                <a:srgbClr val="28BA73"/>
              </a:buClr>
              <a:buSzPts val="2600"/>
              <a:buFont typeface="Trebuchet MS"/>
              <a:buNone/>
            </a:pPr>
            <a:r>
              <a:rPr lang="en" sz="2900">
                <a:latin typeface="Impact"/>
                <a:ea typeface="Impact"/>
                <a:cs typeface="Impact"/>
                <a:sym typeface="Impact"/>
              </a:rPr>
              <a:t>ANY </a:t>
            </a:r>
            <a:endParaRPr sz="2900">
              <a:latin typeface="Impact"/>
              <a:ea typeface="Impact"/>
              <a:cs typeface="Impact"/>
              <a:sym typeface="Impact"/>
            </a:endParaRPr>
          </a:p>
          <a:p>
            <a:pPr indent="0" lvl="0" marL="0" rtl="0" algn="r">
              <a:lnSpc>
                <a:spcPct val="115000"/>
              </a:lnSpc>
              <a:spcBef>
                <a:spcPts val="0"/>
              </a:spcBef>
              <a:spcAft>
                <a:spcPts val="0"/>
              </a:spcAft>
              <a:buClr>
                <a:srgbClr val="28BA73"/>
              </a:buClr>
              <a:buSzPts val="2600"/>
              <a:buFont typeface="Trebuchet MS"/>
              <a:buNone/>
            </a:pPr>
            <a:r>
              <a:rPr b="1" lang="en" sz="2900">
                <a:solidFill>
                  <a:srgbClr val="CC0000"/>
                </a:solidFill>
                <a:latin typeface="Impact"/>
                <a:ea typeface="Impact"/>
                <a:cs typeface="Impact"/>
                <a:sym typeface="Impact"/>
              </a:rPr>
              <a:t>QUESTIONS ?</a:t>
            </a:r>
            <a:endParaRPr sz="2900">
              <a:solidFill>
                <a:srgbClr val="CC0000"/>
              </a:solidFill>
              <a:latin typeface="Impact"/>
              <a:ea typeface="Impact"/>
              <a:cs typeface="Impact"/>
              <a:sym typeface="Impact"/>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pic>
        <p:nvPicPr>
          <p:cNvPr id="1162" name="Google Shape;1162;p118"/>
          <p:cNvPicPr preferRelativeResize="0"/>
          <p:nvPr/>
        </p:nvPicPr>
        <p:blipFill rotWithShape="1">
          <a:blip r:embed="rId3">
            <a:alphaModFix/>
          </a:blip>
          <a:srcRect b="0" l="0" r="0" t="27347"/>
          <a:stretch/>
        </p:blipFill>
        <p:spPr>
          <a:xfrm>
            <a:off x="0" y="0"/>
            <a:ext cx="9365268" cy="5393794"/>
          </a:xfrm>
          <a:prstGeom prst="rect">
            <a:avLst/>
          </a:prstGeom>
          <a:noFill/>
          <a:ln>
            <a:noFill/>
          </a:ln>
        </p:spPr>
      </p:pic>
      <p:sp>
        <p:nvSpPr>
          <p:cNvPr id="1163" name="Google Shape;1163;p118"/>
          <p:cNvSpPr/>
          <p:nvPr/>
        </p:nvSpPr>
        <p:spPr>
          <a:xfrm>
            <a:off x="56" y="0"/>
            <a:ext cx="9365100" cy="5393700"/>
          </a:xfrm>
          <a:prstGeom prst="rect">
            <a:avLst/>
          </a:prstGeom>
          <a:solidFill>
            <a:srgbClr val="00070A">
              <a:alpha val="51959"/>
            </a:srgbClr>
          </a:solidFill>
          <a:ln cap="flat" cmpd="sng" w="9525">
            <a:solidFill>
              <a:schemeClr val="dk2"/>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4" name="Google Shape;1164;p118"/>
          <p:cNvSpPr/>
          <p:nvPr/>
        </p:nvSpPr>
        <p:spPr>
          <a:xfrm>
            <a:off x="1009650" y="1752600"/>
            <a:ext cx="8134500" cy="1752600"/>
          </a:xfrm>
          <a:prstGeom prst="rect">
            <a:avLst/>
          </a:prstGeom>
          <a:solidFill>
            <a:srgbClr val="000000">
              <a:alpha val="8039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65" name="Google Shape;1165;p118"/>
          <p:cNvSpPr/>
          <p:nvPr/>
        </p:nvSpPr>
        <p:spPr>
          <a:xfrm>
            <a:off x="3676650" y="-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66" name="Google Shape;1166;p118"/>
          <p:cNvSpPr/>
          <p:nvPr/>
        </p:nvSpPr>
        <p:spPr>
          <a:xfrm>
            <a:off x="1129393" y="3245303"/>
            <a:ext cx="750900" cy="500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
        <p:nvSpPr>
          <p:cNvPr id="1167" name="Google Shape;1167;p118"/>
          <p:cNvSpPr/>
          <p:nvPr/>
        </p:nvSpPr>
        <p:spPr>
          <a:xfrm>
            <a:off x="1129393" y="3816463"/>
            <a:ext cx="750900" cy="202200"/>
          </a:xfrm>
          <a:prstGeom prst="rect">
            <a:avLst/>
          </a:prstGeom>
          <a:solidFill>
            <a:srgbClr val="000000"/>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1168" name="Google Shape;1168;p118"/>
          <p:cNvSpPr txBox="1"/>
          <p:nvPr/>
        </p:nvSpPr>
        <p:spPr>
          <a:xfrm>
            <a:off x="1810826" y="2063920"/>
            <a:ext cx="5522400" cy="101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 sz="6600">
                <a:solidFill>
                  <a:schemeClr val="lt1"/>
                </a:solidFill>
                <a:latin typeface="Century Gothic"/>
                <a:ea typeface="Century Gothic"/>
                <a:cs typeface="Century Gothic"/>
                <a:sym typeface="Century Gothic"/>
              </a:rPr>
              <a:t>THANK </a:t>
            </a:r>
            <a:r>
              <a:rPr lang="en" sz="6600">
                <a:solidFill>
                  <a:schemeClr val="lt1"/>
                </a:solidFill>
                <a:latin typeface="Century Gothic"/>
                <a:ea typeface="Century Gothic"/>
                <a:cs typeface="Century Gothic"/>
                <a:sym typeface="Century Gothic"/>
              </a:rPr>
              <a:t>YOU</a:t>
            </a:r>
            <a:endParaRPr sz="1100"/>
          </a:p>
        </p:txBody>
      </p:sp>
      <p:sp>
        <p:nvSpPr>
          <p:cNvPr id="1169" name="Google Shape;1169;p118"/>
          <p:cNvSpPr/>
          <p:nvPr/>
        </p:nvSpPr>
        <p:spPr>
          <a:xfrm>
            <a:off x="7119257" y="2865581"/>
            <a:ext cx="1790700" cy="1901700"/>
          </a:xfrm>
          <a:prstGeom prst="rect">
            <a:avLst/>
          </a:prstGeom>
          <a:solidFill>
            <a:srgbClr val="990000">
              <a:alpha val="76470"/>
            </a:srgbClr>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